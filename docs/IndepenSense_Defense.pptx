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distinguished panel members. We are Group 5 of the Computer Engineering Department, and we present IndepenSense: the design and implementation of an IoT-based smart cane with computer vision and remote guardian monitoring. Our work addresses a concrete engineering problem: a conventional white cane tells its user only what it touches, and tells the user's family nothing at all. Over the next minutes we will show how we closed both gaps with a Raspberry Pi 5 edge platform, dual ultrasonic sensing, inertial fall detection and LTE telemetry. We will report our bench and field results as measured, including the tests that failed, because the failures define the boundary of what this prototype can claim.</a:t>
            </a:r>
          </a:p>
          <a:p/>
          <a:p>
            <a:r>
              <a:t>AUTHOR NOTE: ⚠ match to the approved manuscript title, item 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Vision carries most of the information a person uses to move through space. The World Health Organization reports that billions of people live with some form of visual impairment, and in the Philippines the 2018 National Blindness Survey places the prevalence at 1.98 percent, driven by cataract, refractive error and glaucoma. The literature is consistent that the cost goes beyond the medical. Visually impaired Filipinos face mobility barriers that affect employment, delay health care because travel requires an escort, and raise their exposure to accidents in unfamiliar, crowded environments. Every one of these outcomes traces back to a single deficit: limited awareness of the immediate surroundings. That deficit is the engineering target of this project.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ground the design in local need rather than assumption, we interviewed visually impaired adults living in Lipa City, selected through purposive sampling. Three challenges came up repeatedly. First, identifying obstacles: a cane reports an obstacle only on contact, and never what it is. Second, unfamiliar spaces: participants were confident on routes they knew, but travel to new places usually meant depending on another person. Third, falls: participants described falls on raised road surfaces and humps, which are common on local pedestrian paths. These three findings map directly to three subsystems of IndepenSense: proximity sensing and vision, voice-guided navigation, and inertial fall detection with guardian alerting.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review traces three tiers of prior work. Local studies prove the feasibility of ultrasonic sensing with GPS tracking but stop at distance thresholds. National work adds GSM-based SMS alerts, but the emergency model is reactive and offers guardians no continuous view. International systems add object detection, LiDAR and depth cameras, and pay for it in power, latency, cost and, critically, cognitive overload when every detection is announced. The gap we target is therefore integration. Most systems optimise one subsystem in isolation and place every component on the cane itself. IndepenSense combines sensing, vision, voice and guardian monitoring in one architecture and redistributes the weight to the body.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contrast frames the contribution. The white cane is affordable, reliable and trusted, and we do not claim to replace the skill of using it. We extend what the cane can sense. The white cane's range is its length, at ground level, by contact. IndepenSense adds two ultrasonic sensors, one aimed at ground obstacles and one at upper-body and head-level hazards that a cane sweep physically cannot reach. On request, a camera identifies what is ahead and reads text aloud. An inertial measurement unit watches for falls continuously. Finally, the guardian moves from zero visibility to live location and immediate alerts.</a:t>
            </a:r>
          </a:p>
          <a:p/>
          <a:p>
            <a:r>
              <a:t>AUTHOR NOTE: this slide uses current-build facts (⚑ in the draft) not yet in the manuscript. Update Chapters 2–3 before citing them.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IndepenSense serves two people at once. For the user, feedback is split by urgency, following Multimodal Interaction and Cognitive Load theory. Proximity is delivered through touch, where the vibration rate rises as an obstacle approaches, much like a car's parking sensor. Descriptive information such as object names, signs and directions is delivered through speech, so the two channels never compete. For the guardian, the device reports a heartbeat every thirty seconds and pushes an alert the moment an SOS, a fall or a low battery occurs. Because mobile data is not always available, every alert also travels by SMS. The project supports SDG 9 on innovation and SDG 10 on reduced inequalities.</a:t>
            </a:r>
          </a:p>
          <a:p/>
          <a:p>
            <a:r>
              <a:t>AUTHOR NOTE: this slide uses current-build facts (⚑ in the draft) not yet in the manuscript. Update Chapters 2–3 before citing them.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general objective was to design and develop IndepenSense, an AI-powered, IoT-based smart cane integrating computer vision, multi-sensor input and remote guardian monitoring, in order to improve three outcomes for visually impaired users: navigation, safety and situational awareness. These three words are the measures of success that the rest of this presentation reports against. Every subsystem we describe, and every test we report, traces back to at least one of them. Where a test failed, we will say which of the three outcomes it limits.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six specific objectives in the manuscript resolve into three engineering goals. Goal A is the hardware architecture: the sensor suite, the dual-channel feedback system, and object recognition as a supplementary aid, which we deliberately frame as supplementary because vision is the least reliable sensor under real lighting. Goal B is the IoT layer: GPS-based outdoor navigation, the emergency pipeline, and the guardian platform. Goal C is validation, carried out in three stages: component bench tests, calibration procedures, and an on-site trial with a visually impaired participant. Every objective traces to at least one results table, so the panel can check each claim against its evidence.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scope is a functional prototype integrating five subsystems. Ultrasonic tracking uses two DYP-A22 sensors on UART. Computer vision uses the Raspberry Pi Camera Module 3, run on demand when the user asks, rather than continuously, which keeps it from draining the battery. Fall detection uses the MPU-6050, sampled at one hundred hertz and mounted on the vest, where the motion reflects the body rather than the swinging cane. The SIM7600G-H provides LTE data, SMS, and the GNSS receiver used for location. The guardian platform, web and Android, completes the loop. The intended environment is outdoor pedestrian travel where satellite and cellular coverage exist.</a:t>
            </a:r>
          </a:p>
          <a:p/>
          <a:p>
            <a:r>
              <a:t>AUTHOR NOTE: this slide uses current-build facts (⚑ in the draft) not yet in the manuscript. Update Chapters 2–3 before citing them.</a:t>
            </a:r>
          </a:p>
          <a:p>
            <a:r>
              <a:t>AUTHOR NOTE: ⚠ item 2</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bound our claims explicitly. Physically, detection is forward-facing. Our bench tests validated a cone of roughly thirty-five to forty-five degrees, and an obstacle beside the user is outside it. The three vibration motors sit in one handle, and their vibration couples through the shell, so the user feels intensity, not direction. We therefore never use them to signal left or right. Environmentally, the guardian features depend completely on cellular coverage, GNSS accuracy falls indoors, and vision is sensitive to lighting. Our design response is that the safety-critical functions, obstacle warnings and fall detection with its local alarm, run entirely on the device and survive any network outage.</a:t>
            </a:r>
          </a:p>
          <a:p/>
          <a:p>
            <a:r>
              <a:t>AUTHOR NOTE: this slide uses current-build facts (⚑ in the draft) not yet in the manuscript. Update Chapters 2–3 before citing them.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IndepenSense follows the Edge/Hybrid Computing paradigm from our framework. Everything safety-critical runs on the Raspberry Pi 5: obstacle sensing, fall detection, haptic and buzzer output, object detection and text reading. Pedestrian routing and geocoding also run locally, so navigation does not need cloud maps. The cloud is optional. It improves intent classification accuracy and Tagalog speech quality, and it carries telemetry to the guardian. Each cloud stage has a local fallback. The design principle is graceful degradation: with no network, the device still detects obstacles, detects falls, sounds its alarm and speaks; it loses only the guardian's live view.</a:t>
            </a:r>
          </a:p>
          <a:p/>
          <a:p>
            <a:r>
              <a:t>AUTHOR NOTE: this slide uses current-build facts (⚑ in the draft) not yet in the manuscript. Update Chapters 2–3 before citing them.</a:t>
            </a:r>
          </a:p>
          <a:p>
            <a:r>
              <a:t>AUTHOR NOTE: The manuscript describes cloud scene description. In the build, vision is fully local (item 5)</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Raspberry Pi 5 was chosen because it is the lowest-power board able to run object detection and speech recognition locally, with roughly twelve watts at worst case and a large ecosystem of compatible peripherals. An active cooler holds clock speed during sustained inference. Power comes from a single Waveshare UPS HAT E with four 21700 cells, which replaced our earlier dual-supply design and simplified the wiring. Summing our component table gives about 11.7 watts typical, with the LTE modem transmitting in bursts of up to two amps. One finding deserves mention. The HAT's own gauge read about fifty-eight percent on an empty pack, so we rescale it; otherwise the low-battery warning could never have fired.</a:t>
            </a:r>
          </a:p>
          <a:p/>
          <a:p>
            <a:r>
              <a:t>AUTHOR NOTE: this slide uses current-build facts (⚑ in the draft) not yet in the manuscript. Update Chapters 2–3 before citing them.</a:t>
            </a:r>
          </a:p>
          <a:p>
            <a:r>
              <a:t>AUTHOR NOTE: No measured runtime in the manuscript (item 15)</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perception layer has five sensors on three buses. Two DYP-A22 ultrasonic sensors sit on separate UARTs. The bottom sensor watches for ground obstacles such as curbs, walls and planters. The top sensor watches for hazards at upper-body and head height, which the cane tip physically cannot reach. The MPU-6050 and the QMC5883P magnetometer share the I²C bus and are mounted on the vest. That placement is deliberate: an IMU on the cane would read every sweep as violent motion, while one on the chest reads the body. The Camera Module 3 connects over CSI. One integration lesson: the magnetometer sold to us as a QMC5883L was in fact a QMC5883P at a different address.</a:t>
            </a:r>
          </a:p>
          <a:p/>
          <a:p>
            <a:r>
              <a:t>AUTHOR NOTE: this slide uses current-build facts (⚑ in the draft) not yet in the manuscript. Update Chapters 2–3 before citing them.</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SIM7600G-H is the device's only link to the outside world, and it carries three independent channels. LTE data carries the thirty-second heartbeat and immediate alert events to the backend over HTTPS, with buffering and retry when the link drops. SMS carries the same emergency, fall and low-battery alerts directly to the guardian's phone, because SMS needs only signal, not a working data connection. Finally, its integrated GNSS receiver streams position. We also found that on a failing link, a single name lookup could hang for twenty seconds, three times per voice command. Bounding DNS and adding a circuit breaker turned that into one slow command followed by local operation.</a:t>
            </a:r>
          </a:p>
          <a:p/>
          <a:p>
            <a:r>
              <a:t>AUTHOR NOTE: this slide uses current-build facts (⚑ in the draft) not yet in the manuscript. Update Chapters 2–3 before citing them.</a:t>
            </a:r>
          </a:p>
          <a:p>
            <a:r>
              <a:t>AUTHOR NOTE: The manuscript names a separate u-blox NEO-F10N for GPS (item 2)</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output design follows one rule: each channel has a single meaning. Three vibration motors, each driven through a 2N2222 transistor with a flyback diode, signal obstacle proximity. One motor warns, and all three signal danger inside fifty centimetres. The buzzer is reserved for emergencies, because it is the only output a bystander can hear. If it also sounded for an awning, it would mean nothing in a real emergency. The three waterproof buttons are placed by touch: right for push-to-talk, front for SOS, left for repeat or stop. Audio is delivered through an open-ear USB headset, so the user never loses the sound of traffic.</a:t>
            </a:r>
          </a:p>
          <a:p/>
          <a:p>
            <a:r>
              <a:t>AUTHOR NOTE: this slide uses current-build facts (⚑ in the draft) not yet in the manuscript. Update Chapters 2–3 before citing them.</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important mechanical decision was to split the system across two bodies. Anything that must sense the path, or be touched, stays on the cane: the ultrasonic sensors, the camera, the motors, the buzzer and the buttons. Everything heavy moves to a reflective vest: the processor, the battery pack, the modem and the inertial sensors. There are two reasons. A cane loaded with four 21700 cells and a Raspberry Pi would fatigue the wrist within minutes. And the IMU must be on the torso to measure the body's fall rather than the cane's swing. The wiring tube that joins them also tethers the cane, so it cannot be dropped and lost, which was confirmed comfortable during field testing.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block diagram consolidates the architecture into four subsystems. Reading left to right: the cane subsystem gathers proximity, image and button input and returns vibration and buzzer output. The vest subsystem processes everything through the Raspberry Pi 5, with the IMU and magnetometer on I²C. The power subsystem provides one unified rail from the UPS HAT. The communication subsystem, through the SIM7600G-H, links the device to the backend, the guardian application, and SMS. Each subsystem uses a distinct bus, UART, I²C, CSI, USB or GPIO, which let us validate each one independently on the bench before integration, as the methods section will show.</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complete prototype cost twenty-two thousand four hundred fifty-four pesos and eighty-eight centavos. Sixty percent of that is the Raspberry Pi 5 and the SIM7600G-H modem: the compute needed to run vision and speech locally, and the cellular link needed for guardian monitoring. The sensors themselves are inexpensive. Two waterproof ultrasonic sensors, an IMU and a magnetometer together cost under two thousand five hundred pesos. This distribution matters for future cost reduction: the price falls with the compute platform and the modem, not with the sensing. A production version could trade the Pi 5 for a smaller module once the vision model is quantized.</a:t>
            </a:r>
          </a:p>
          <a:p/>
          <a:p>
            <a:r>
              <a:t>AUTHOR NOTE: The BOM lists u-blox GPS (₱219) and 1 vibration motor (₱117). Reconcile with the build (items 2–3)</a:t>
            </a:r>
          </a:p>
          <a:p>
            <a:r>
              <a:t>AUTHOR NOTE: The Waveshare UPS HAT (E) has no BOM line. Add it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the flowcharts, the governing rule: the main loop never blocks. One loop reads the IMU at one hundred hertz and polls both ultrasonic sensors, and does nothing slow. Everything that can take time runs on its own named thread: speech output, voice commands, vibration patterns, the heartbeat, retries and the GPS cache. We learned this the hard way. In an early build, each spoken turn instruction played inline and halted fall detection and obstacle sensing for three to four seconds, every time. Moving speech to a dedicated announcer thread removed that gap entirely. A safety device cannot stop watching while it is talking.</a:t>
            </a:r>
          </a:p>
          <a:p/>
          <a:p>
            <a:r>
              <a:t>AUTHOR NOTE: this slide uses current-build facts (⚑ in the draft) not yet in the manuscript. Update Chapters 2–3 before citing them.</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Startup is ordered by safety priority. At power-on, a pre-recorded announcement plays immediately, because silence from an assistive device is indistinguishable from failure. Within seconds, the inertial sensor, both ultrasonic sensors, the buttons, the motors and the alert path are live, so the user is protected while the heavier components load. The voice stack, comprising speech recognition, speech synthesis, the intent parser and the vision models, loads on a separate thread. That took about two hundred seconds from the SD card, and the safety features used to wait behind it. When the stack is ready, the device greets the user and announces the battery level.</a:t>
            </a:r>
          </a:p>
          <a:p/>
          <a:p>
            <a:r>
              <a:t>AUTHOR NOTE: this slide uses current-build facts (⚑ in the draft) not yet in the manuscript. Update Chapters 2–3 before citing them.</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scanning loop runs read, decide and signal on every pass. It reads the IMU and the latest distances from both ultrasonic sensors. It then decides two things: whether the wearer is walking or standing, and how close the nearest obstacle is. The vibration encodes distance as pulse rate rather than strength, exactly like a car's parking sensor. It is silent beyond two metres, roughly one pulse per second at one metre, and up to eight per second inside thirty centimetres, with all three motors firing inside fifty. We chose rate because people judge rhythm far better than amplitude, and skin adapts to a steady buzz within seconds. A fifteen-centimetre hysteresis band prevents normal cane sway from causing false alerts.</a:t>
            </a:r>
          </a:p>
          <a:p/>
          <a:p>
            <a:r>
              <a:t>AUTHOR NOTE: this slide uses current-build facts (⚑ in the draft) not yet in the manuscript. Update Chapters 2–3 before citing them.</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voice command follows five stages. The user presses push-to-talk, hears a chime and speaks. Speech is transcribed on the device for English in about one point one seconds. Tagalog, which local models handled poorly, goes to a cloud transcription server, with the local model kept as a fallback. The transcript is classified in three tiers. A fast on-device embedding matcher answers about half of all commands in thirty milliseconds; the rest go to a cloud language model, and to a local model if the cloud is unreachable. The intent then executes and the answer is spoken. The camera wakes only when the intent needs it, which protects battery life.</a:t>
            </a:r>
          </a:p>
          <a:p/>
          <a:p>
            <a:r>
              <a:t>AUTHOR NOTE: this slide uses current-build facts (⚑ in the draft) not yet in the manuscript. Update Chapters 2–3 before citing them.</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Feedback runs on two arbitrated paths. Haptic patterns run on short-lived worker threads under a mutex, so two warnings can never collide. Because all three motors are in the same handle, the hand feels one vibrator with three intensities, not three directions. So the motors carry proximity, and every navigation instruction is spoken. The audio path is owned by a single announcer thread. Static phrases are synthesised once and replayed from storage, which makes the emergency messages instant even with no network. Critical messages such as a fall or a dead battery interrupt whatever is playing. The repeat button replays the last message or, while the device is speaking, stops it.</a:t>
            </a:r>
          </a:p>
          <a:p/>
          <a:p>
            <a:r>
              <a:t>AUTHOR NOTE: this slide uses current-build facts (⚑ in the draft) not yet in the manuscript. Update Chapters 2–3 before citing them.</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triggers bypass everything else. The emergency button fires on its own callback thread, cancels any voice command in progress, and starts delivery immediately. A second press within ten seconds is acknowledged but not re-sent, unless the first delivery failed. Fall detection runs two routes. A straight collapse appears as free fall, then impact, then stillness. A trip does not: a chest sensor in a trip pivots about the feet and never goes weightless, so the second route looks for impact, then a horizontal torso, then stillness. Both triggers produce the same response: buzzer and motors locally, a spoken confirmation, a GPS-tagged alert to the dashboard, and an SMS in parallel.</a:t>
            </a:r>
          </a:p>
          <a:p/>
          <a:p>
            <a:r>
              <a:t>AUTHOR NOTE: this slide uses current-build facts (⚑ in the draft) not yet in the manuscript. Update Chapters 2–3 before citing them.</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followed an engineering planning and design methodology in four stages. We identified the problem through technical research and in-person interviews with visually impaired residents, selected by purposive sampling with informed consent. We modelled a solution, choosing components and deciding the cane-and-vest split. We developed iteratively under Agile, building and verifying each feature on its own before integrating it. Every hardware module has a mock, so the full runtime is unit-tested on a laptop, and every physical component has a manual test script run on the device. Finally, we tested in four layers, from individual circuits up to the complete system in the field.</a:t>
            </a:r>
          </a:p>
          <a:p/>
          <a:p>
            <a:r>
              <a:t>AUTHOR NOTE: this slide uses current-build facts (⚑ in the draft) not yet in the manuscript. Update Chapters 2–3 before citing them.</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Hardware was built in two stages. On a breadboard, we verified each component in isolation: correct pins, clean signals and expected firmware responses, confirmed with a multimeter for voltage, continuity and current. Once every module passed, we migrated the circuit to a universal PCB with soldered joints. The reason is mechanical. A cane is swung and tapped thousands of times per walk, and breadboard contacts loosen under exactly that vibration. The board carries the transistor and diode drivers for the motors. Every connection is recorded in one wiring document that serves as the single source of truth for the build.</a:t>
            </a:r>
          </a:p>
          <a:p/>
          <a:p>
            <a:r>
              <a:t>AUTHOR NOTE: this slide uses current-build facts (⚑ in the draft) not yet in the manuscript. Update Chapters 2–3 before citing them.</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magnetometer reads every nearby piece of metal and current as well as Earth's field. The vest carries a battery pack, a modem and a processor, so a factory calibration is meaningless here. We therefore calibrated the QMC5883P in its operating position on the vest, rotating it through many orientations and fitting the offsets that shift the measured ellipse back to a centred circle. We then compared headings against a phone compass. The calibrated compass enables turn-to-face guidance, with a fifteen-degree tolerance band, and detects a missed turn within about ten metres of walking. We acknowledge that only five of the eight compass points have been verified so far.</a:t>
            </a:r>
          </a:p>
          <a:p/>
          <a:p>
            <a:r>
              <a:t>AUTHOR NOTE: this slide uses current-build facts (⚑ in the draft) not yet in the manuscript. Update Chapters 2–3 before citing them.</a:t>
            </a:r>
          </a:p>
          <a:p>
            <a:r>
              <a:t>AUTHOR NOTE: W, SW, NW not yet verified (item 16)</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Testing proceeded in four layers, each gating the next. Circuit testing confirmed correct voltage and continuity. Component testing put each module through defined cases under controlled conditions. Software testing exercised the guardian platform and the device logic, including behaviour under an unstable network. System testing ran in two phases: first in a controlled environment, then on site with a visually impaired participant. Every test case defines an expected result in advance and is scored pass or fail against it, and we report the totals per module. The qualitative side, comfort and usability, came from interviews before and after the field trial.</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interviews produced requirements, not just context. Participants were adults over thirty-one, so the controls had to be simple and tactile. Their vision ranged from shadow perception to none, so we committed to both audio and vibration rather than either alone. Most already used a cane, so we extended it rather than replacing it. Their stated challenges, identifying obstacles, unfamiliar places and falls, became the three core subsystems. They asked specifically for distinguishable feedback, which became our decision to encode distance in the vibration rate. Each row on this slide is a design decision we can trace back to a participant's words.</a:t>
            </a:r>
          </a:p>
          <a:p/>
          <a:p>
            <a:r>
              <a:t>AUTHOR NOTE: this slide uses current-build facts (⚑ in the draft) not yet in the manuscript. Update Chapters 2–3 before citing them.</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DYP-A22 ultrasonic sensors were tested at thirty centimetres, sixty centimetres and one metre, and against an object placed thirty-five to forty-five degrees off the sensor axis. Both sensors read the exact expected distance in every case and detected the angled object, for eight of eight passes. Two points matter for interpretation. First, these distances span our entire warning range, from the first pulse to maximum alert. Second, the angled test is what defines our forward cone. It tells us where coverage ends, which is exactly why lateral sensors appear among our recommendations.</a:t>
            </a:r>
          </a:p>
          <a:p/>
          <a:p>
            <a:r>
              <a:t>AUTHOR NOTE: Manuscript typo: "100 meters" should be 100 cm (item 9)</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user-interface hardware passed every bench case. All three push buttons registered single presses reliably and, just as importantly, produced no false triggers when idle, which rules out floating inputs on the GPIO lines. The vibration motors activated on command, stopped on their own after the pattern ended, stayed silent when idle, and ran through repeated alert cycles without dropout or overheating. The buzzer passed six cases, including rejection of invalid signals and correct operation after power loss, which matters because it is the emergency output. In total, sixteen of sixteen. These are the components the user touches and relies on in an emergency.</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communication chain passed end to end. The SIM7600G-H powered up, recognised the SIM, registered on the network, sent and received SMS, opened an LTE data connection, and reconnected on its own after we interrupted the signal: nine of nine. On the guardian side, the application connected to the device, received the SOS notification, displayed the user's live location and device status, and received alert notifications: five of five. The spoken output path also passed all five cases for intelligibility and clarity. Together, these results validate the second engineering goal: IoT cellular notification from device to guardian.</a:t>
            </a:r>
          </a:p>
          <a:p/>
          <a:p>
            <a:r>
              <a:t>AUTHOR NOTE: ⚠ (item 11</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compass results show why calibration is not optional. Before recalibration, all five tested headings were wrong, and south was reported as north. That one-hundred-eighty-degree inversion is the classic signature of a hard-iron offset, here from the battery pack and electronics on the vest. After recalibration in the mounted position, all five headings were identified correctly, from zero of five to five of five. We are careful about the limits of this claim. It is direction classification, not a measured error in degrees, and the western headings remain untested. Both gaps are clearly defined and are the next calibration step.</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MPU-6050 passed every functional case: initialisation, stability, movement, rotation, sudden motion, disconnection and vibration noise. It produced one failure and one pass on the same multi-hour continuous test, so we report its long-run reliability as mixed, not confirmed. The fall trials were more revealing. Our first detector missed a standing fall and a partial fall, and caught only a fall from a push-up position. The cause is physical: in a trip, a chest sensor rotates about the feet and never goes weightless, so a free-fall detector never fires. We added a second route based on impact and torso tilt, which caught all three recorded falls and rejected seven ordinary activities on replayed traces. Live confirmation is still pending.</a:t>
            </a:r>
          </a:p>
          <a:p/>
          <a:p>
            <a:r>
              <a:t>AUTHOR NOTE: this slide uses current-build facts (⚑ in the draft) not yet in the manuscript. Update Chapters 2–3 before citing them.</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audio input block failed two of its eight cases, and they are related. It failed to capture low-volume speech, and it failed to isolate background noise. Both trace to the same design trade-off. We chose an open-ear headset so the user keeps hearing traffic, but its microphone sits farther from the mouth and has no noise-suppression stage. In a quiet room this is fine. In a busy public space, the transcriber receives a weaker voice inside more noise. The output side passed all its cases, including clean playback and safe handling of a disconnected device. Our recommendations address input specifically.</a:t>
            </a:r>
          </a:p>
          <a:p/>
          <a:p>
            <a:r>
              <a:t>AUTHOR NOTE: this slide uses current-build facts (⚑ in the draft) not yet in the manuscript. Update Chapters 2–3 before citing them.</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GPS passed five of seven cases. Detection, satellite acquisition, stationary stability, live tracking and recovery after obstruction all worked. The critical failure is accuracy: the reported fix deviated beyond our ten-metre tolerance. For a pedestrian that matters, because a turn or an entrance can be closer than ten metres. Since stationary readings were stable, the error is a consistent offset rather than noise, which points to antenna placement on the body and multipath near buildings. We designed around this where we could. The compass tolerance of fifteen degrees exists precisely because the bearing we compute already carries several metres of GPS uncertainty.</a:t>
            </a:r>
          </a:p>
          <a:p/>
          <a:p>
            <a:r>
              <a:t>AUTHOR NOTE: this slide uses current-build facts (⚑ in the draft) not yet in the manuscript. Update Chapters 2–3 before citing them.</a:t>
            </a:r>
          </a:p>
          <a:p>
            <a:r>
              <a:t>AUTHOR NOTE: ⚠ (the behaviour matched its expectation, item 12</a:t>
            </a:r>
          </a:p>
          <a:p>
            <a:r>
              <a:t>AUTHOR NOTE: ⚠ item 2</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vision pipeline passed every functional stage. The camera initialised, a voice command activated it, images were captured and processed, objects were recognised and the description was spoken: five of five. It failed the robustness case. Recognition varied with distance and lighting. Distant objects occupy too few pixels for reliable detection, and poor or harsh lighting pushes confidence below our threshold. We designed for this failure. When the camera recognises nothing, the device does not say 'nothing there'. It reports the ultrasonic distance, so the user is never told a path is clear when it is not.</a:t>
            </a:r>
          </a:p>
          <a:p/>
          <a:p>
            <a:r>
              <a:t>AUTHOR NOTE: this slide uses current-build facts (⚑ in the draft) not yet in the manuscript. Update Chapters 2–3 before citing them.</a:t>
            </a:r>
          </a:p>
          <a:p>
            <a:r>
              <a:t>AUTHOR NOTE: ⚠ item 4: paper says v8n</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matrix consolidates the bench evidence. Across twelve modules, sixty-seven of seventy-four cases passed, about ninety and a half percent. The distribution matters more than the aggregate. Every component in the emergency chain passed completely: the buttons, the motors, the buzzer, the modem's SMS and data links, and the guardian application. Every failure sits in a block that perceives a noisy, variable world: microphone capture, satellite positioning, vision under changing light, and multi-hour IMU stability. That pattern is consistent with our architecture. The actuation path we control is reliable, and the perception path is where future work belongs.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field trial was held at Robinsons Lipa with one adult visually impaired participant, across eighteen defined test cases. We chose the venue deliberately. Travelling to an unfamiliar outdoor site poses real transport and safety risks for a visually impaired participant, and a mall offers realistic obstacles such as walls, displays, chairs and crowds, in a controlled and accessible setting. Moving between indoor and outdoor areas also let us observe GNSS loss and recovery. Seventeen of eighteen cases passed. We state the main threat to validity plainly: one participant in one session establishes feasibility, not generalisable performance.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strongest field result is the haptic channel. The participant received vibration alerts before every collision with walls, chairs and displays. More significantly, they used the vibration to judge how far away an obstacle was as they walked toward it and away from it. That is the exact behaviour the parking-sensor rhythm was designed to produce, and it was understood intuitively, without prior training. They described the vibration as comfortable and useful, and said that in an unfamiliar place the device gave them additional awareness. This validates our decision to put proximity on touch and keep speech for description.</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remaining usability results validate the ergonomic and connectivity decisions. The participant found the system lightweight and manageable, and credited the vest for making it easier to carry, which is direct confirmation of the cane-and-vest split. All buttons, including the power switch, were found by touch without assistance. On the safety side, the SOS alert reached the guardian application, live location and status updates arrived, and GNSS reconnected across indoor-outdoor transitions. The hardware ran for the full session with no unexpected shutdown. The participant also found the camera helpful in principle, which brings us to the failures.</a:t>
            </a:r>
          </a:p>
          <a:p/>
          <a:p>
            <a:r>
              <a:t>AUTHOR NOTE: ⚠ item 13: fix the note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Object recognition in the field is our most significant failure, and we report it as such. With signs, chairs, tables and displays, accuracy fell markedly under public indoor lighting and at varying distances, signs were not read reliably, and on one or two occasions a misdetection changed the spoken description. There are three causes. Mall lighting produces glare and back-lit surfaces. Distant objects fall below the detector's effective resolution. And text reading needs a sharp, frontal view that a user without sight cannot easily aim for. The safety boundary held, however: no collision depended on vision, because obstacle avoidance is carried by the ultrasonic sensors.</a:t>
            </a:r>
          </a:p>
          <a:p/>
          <a:p>
            <a:r>
              <a:t>AUTHOR NOTE: this slide uses current-build facts (⚑ in the draft) not yet in the manuscript. Update Chapters 2–3 before citing them.</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further results need careful framing. The audio assistant was audible and understandable, but the participant noted a heavy accent. Our English voice runs on the device, while Tagalog uses a Filipino-trained cloud voice and falls back to a noticeably less natural local model when the network is weak, so a localised voice is a clear recommendation. On fall detection, the system responded to simulated falls, but we cannot claim accuracy in live use. The reason is ethical: we cannot ask a visually impaired participant to actually fall. Validating this feature properly needs controlled trials with sighted volunteers and padded surfaces, which we propose as future work.</a:t>
            </a:r>
          </a:p>
          <a:p/>
          <a:p>
            <a:r>
              <a:t>AUTHOR NOTE: this slide uses current-build facts (⚑ in the draft) not yet in the manuscript. Update Chapters 2–3 before citing them.</a:t>
            </a:r>
          </a:p>
          <a:p>
            <a:r>
              <a:t>AUTHOR NOTE: Present as "triggered in simulation, accuracy unconfirmed", not as an unqualified PASS (item 13)</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post-test interview confirms the pattern in the quantitative results. The participant's overall response was positive, and the features they valued most were obstacle detection, vibration, audio output and the camera. Physical design and controls drew no complaints. Two improvements were requested: object recognition accuracy, which matches our bench and field failures, and directional guidance, meaning knowing which side an obstacle is on. That second request is significant, because our current hardware cannot provide it. Both sensors face forward and all motors share one handle. It directly motivates one of our recommendations.</a:t>
            </a:r>
          </a:p>
          <a:p/>
          <a:p>
            <a:r>
              <a:t>AUTHOR NOTE: this slide uses current-build facts (⚑ in the draft) not yet in the manuscript. Update Chapters 2–3 before citing them.</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conclude that all primary objectives were achieved at the prototype level, and this table shows the evidence for each. The sensor-equipped cane, the dual-channel feedback, the emergency response and the guardian platform are fully supported by passing tests. Object recognition and GPS navigation were implemented and demonstrated, but with measured accuracy limits that we have reported rather than hidden. Across the bench, ninety point five percent of cases passed; in the field, seventeen of eighteen. Most importantly, the components a user depends on in an emergency passed every test we ran.</a:t>
            </a:r>
          </a:p>
          <a:p/>
          <a:p>
            <a:r>
              <a:t>AUTHOR NOTE: see the manuscript errata table in docs/defense-presentation.md.</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Beyond the objectives, the prototype validates three claims. First, multi-modal integration is feasible on a single embedded platform: sensing, vision, voice and cellular alerting coexist without compromising the safety loop. Second, the ergonomic split between a light cane and a weighted vest works, as the participant confirmed. Third, safety can be distributed: a local alarm, two independent channels to the guardian, and safety functions that survive a network outage. Together these establish a baseline for user spatial safety, with a clearly defined frontier. That is our contribution to a literature that has largely improved one subsystem at a time.</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first recommendation targets the largest field failure. The current detector runs at full precision on the Pi's CPU, which limits how many frames we can analyse per request. Quantizing the model to eight-bit integers and exporting it to an ARM-optimised runtime would substantially shorten inference. That speed matters less for its own sake than for what it enables: analysing several frames and voting, which smooths over a single bad frame under glare. We also recommend benchmarking smaller model variants against a locally collected dataset of Lipa signage and indoor fixtures, and fine-tuning on it.</a:t>
            </a:r>
          </a:p>
          <a:p/>
          <a:p>
            <a:r>
              <a:t>AUTHOR NOTE: this slide uses current-build facts (⚑ in the draft) not yet in the manuscript. Update Chapters 2–3 before citing them.</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second recommendation answers the participant's request for directional guidance. Today both ultrasonic sensors face forward, covering a cone of about thirty-five to forty-five degrees. We recommend adding angled left and right sensors. Detection alone is not enough, however, and this is a finding we want to emphasise. Our three motors sit in the same handle, and the hand cannot tell which one is vibrating. So directional feedback also requires moving the motors onto separate parts of the body, such as wrist bands or the vest's shoulders, or using left- and right-ear audio cues. A sensor upgrade without a feedback upgrade would detect the side but could not tell the user.</a:t>
            </a:r>
          </a:p>
          <a:p/>
          <a:p>
            <a:r>
              <a:t>AUTHOR NOTE: this slide uses current-build facts (⚑ in the draft) not yet in the manuscript. Update Chapters 2–3 before citing them.</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third recommendation is power. The first step is measurement: a published runtime under defined usage profiles, which the current manuscript does not yet report. From the estimated baseline of about twelve watts, the main levers are compute and peripherals. Quantized vision reduces CPU load. The processor can scale down when idle, the camera can be fully powered off between requests, and the modem can be duty-cycled where alert latency allows. We also recommend replacing the SD card. Model loading from it took about two hundred seconds, and our card failed read-back verification, which threatens both boot time and data integrity.</a:t>
            </a:r>
          </a:p>
          <a:p/>
          <a:p>
            <a:r>
              <a:t>AUTHOR NOTE: this slide uses current-build facts (⚑ in the draft) not yet in the manuscript. Update Chapters 2–3 before citing them.</a:t>
            </a:r>
          </a:p>
          <a:p>
            <a:r>
              <a:t>AUTHOR NOTE: ⚠ item 15</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fourth recommendation is mechanical. The participant identified the cane's overall dimensions as an area for improvement, and length has an electronic consequence as well as an ergonomic one. Cane length sets the angle at which the sensors meet the path, so a cane sized for one user aims its sensors wrongly for another. We recommend a telescoping shaft with fixed length stops, sensor brackets that hold their angle across lengths, and a per-user height setting so the obstacle thresholds scale with the geometry. This must be validated with several users of different heights, which ties into our broader recommendation for more participants.</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fifth recommendation covers both directions of speech. On output, the participant noted a heavy accent. We recommend a voice trained on local Filipino and Tagalog speakers and, ideally, running it on the device, so its quality does not drop when the network does. That should be validated with listening tests by visually impaired users, the people who depend on it most. On input, the two bench failures, quiet speech and background noise, call for a noise-suppression and voice-activity stage before transcription, and a more directional microphone that still leaves the ear open. Local Tagalog transcription also needs to get faster than real time.</a:t>
            </a:r>
          </a:p>
          <a:p/>
          <a:p>
            <a:r>
              <a:t>AUTHOR NOTE: this slide uses current-build facts (⚑ in the draft) not yet in the manuscript. Update Chapters 2–3 before citing them.</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final recommendation group strengthens the evidence itself. First, more participants and more environments, including outdoor streets, night and rain, to move from feasibility toward generalisable performance. Second, a proper fall-detection study using sighted volunteers falling onto crash mats, reporting sensitivity and specificity, together with multi-hour soak tests to resolve the IMU's mixed long-run result. Third, GNSS accuracy measured against surveyed reference points, with an external antenna and dead-reckoning from the IMU and compass. Finally, a formal turn-by-turn navigation test, and continued development of the guardian application.</a:t>
            </a:r>
          </a:p>
          <a:p/>
          <a:p>
            <a:r>
              <a:t>AUTHOR NOTE: ⚠ item 14</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summarise: IndepenSense integrates dual ultrasonic sensing, on-demand computer vision, inertial fall detection and cellular guardian monitoring into a single wearable system. Its safety chain passed every bench test, and in the field it gave a visually impaired participant usable, intuitive awareness of their surroundings. We have reported its limits as precisely as its successes: vision robustness, GPS accuracy, audio capture and unconfirmed live fall detection. Those limits define the next stage of this work. Thank you for your attention. The prototype is here for demonstration, and we welcome the panel's questions.</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the panel asks about our theoretical grounding: the HAAT model frames the device as a system of human, activity, technology and context, which is why guardian monitoring belongs inside the design rather than beside it. Multi-sensor fusion justifies combining sensors whose weaknesses are complementary. The edge-hybrid paradigm determines what must run locally, namely everything safety-critical. Cognitive Load Theory is why the device does not announce every detection. Multimodal Interaction Theory is why urgency goes to touch and description goes to speech, so the two channels never compete for the user's attention.</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how reliable voice commands are: classification is three-staged. A local embedding matcher answers about half of all commands in thirty milliseconds. The remainder goes to a cloud model, with a small local model as the fallback when offline. On our 226-utterance benchmark across English, Tagalog and adversarial phrasings, the cloud scored 98.7 percent against the local model's 82.3. The adversarial group, where a misclassification would trigger a real action, rose from 66.7 to one hundred percent. These figures come from the current build and should be added to the manuscript before being cited in the defense.</a:t>
            </a:r>
          </a:p>
          <a:p/>
          <a:p>
            <a:r>
              <a:t>AUTHOR NOTE: this slide uses current-build facts (⚑ in the draft) not yet in the manuscript. Update Chapters 2–3 before citing them.</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what happens without a network: everything that protects the user keeps working. Obstacle warnings, fall detection, the local alarm and the SOS button are fully local, and SMS needs only cellular signal, not data. Routing and geocoding run on the Pi itself. English speech is on the device. What degrades is Tagalog speech quality, intent accuracy and the guardian's live dashboard, which buffers and retries. We also fixed a subtle failure: on a dying link, each name lookup hung for twenty seconds. Bounding it and skipping a failed host for thirty seconds turns that into one slow command, then local operation.</a:t>
            </a:r>
          </a:p>
          <a:p/>
          <a:p>
            <a:r>
              <a:t>AUTHOR NOTE: this slide uses current-build facts (⚑ in the draft) not yet in the manuscript. Update Chapters 2–3 before citing them.</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for preparation only and is not presented. Each answer is short, factual and concedes the limitation before defending the decision, which is the posture a panel respects. The most likely pressure points are the single participant, the indoor venue for an outdoor-scoped system, the fall-detection status, and the missing runtime figure. Rehearse these four until each answer is under twenty seconds. If a panel member identifies an inconsistency that is listed in the errata table at the top of this document, acknowledge it directly, state the corrected value, and note that the manuscript will be amended.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jp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5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Figure 1" descr="p65_X242.jpg"/>
          <p:cNvPicPr>
            <a:picLocks noChangeAspect="1"/>
          </p:cNvPicPr>
          <p:nvPr/>
        </p:nvPicPr>
        <p:blipFill>
          <a:blip r:embed="rId2"/>
          <a:stretch>
            <a:fillRect/>
          </a:stretch>
        </p:blipFill>
        <p:spPr>
          <a:xfrm>
            <a:off x="7818120" y="1371600"/>
            <a:ext cx="3931920" cy="3931920"/>
          </a:xfrm>
          <a:prstGeom prst="rect">
            <a:avLst/>
          </a:prstGeom>
          <a:ln w="9525">
            <a:solidFill>
              <a:srgbClr val="D9D9D9"/>
            </a:solidFill>
          </a:ln>
        </p:spPr>
      </p:pic>
      <p:sp>
        <p:nvSpPr>
          <p:cNvPr id="3" name="Kicker"/>
          <p:cNvSpPr txBox="1"/>
          <p:nvPr/>
        </p:nvSpPr>
        <p:spPr>
          <a:xfrm>
            <a:off x="1280160" y="685800"/>
            <a:ext cx="6080759" cy="320040"/>
          </a:xfrm>
          <a:prstGeom prst="rect">
            <a:avLst/>
          </a:prstGeom>
          <a:noFill/>
        </p:spPr>
        <p:txBody>
          <a:bodyPr wrap="square" lIns="0" rIns="0" tIns="0" bIns="0" anchor="t">
            <a:noAutofit/>
          </a:bodyPr>
          <a:lstStyle/>
          <a:p>
            <a:r>
              <a:rPr sz="1200" b="1" i="0">
                <a:solidFill>
                  <a:srgbClr val="6B6B6B"/>
                </a:solidFill>
                <a:latin typeface="Arial"/>
              </a:rPr>
              <a:t>FINAL PROJECT DEFENSE · CpE PRACTICE AND DESIGN 1</a:t>
            </a:r>
          </a:p>
        </p:txBody>
      </p:sp>
      <p:sp>
        <p:nvSpPr>
          <p:cNvPr id="4" name="Title"/>
          <p:cNvSpPr txBox="1"/>
          <p:nvPr/>
        </p:nvSpPr>
        <p:spPr>
          <a:xfrm>
            <a:off x="1280160" y="1097280"/>
            <a:ext cx="6080759" cy="2327910"/>
          </a:xfrm>
          <a:prstGeom prst="rect">
            <a:avLst/>
          </a:prstGeom>
          <a:noFill/>
        </p:spPr>
        <p:txBody>
          <a:bodyPr wrap="square" lIns="0" rIns="0" tIns="0" bIns="0" anchor="t">
            <a:noAutofit/>
          </a:bodyPr>
          <a:lstStyle/>
          <a:p>
            <a:r>
              <a:rPr sz="3000" b="1" i="0">
                <a:solidFill>
                  <a:srgbClr val="00943A"/>
                </a:solidFill>
                <a:latin typeface="Arial"/>
              </a:rPr>
              <a:t>IndepenSense: Design and Implementation of an IoT-Based Smart Cane with Computer Vision and Remote Guardian Monitoring</a:t>
            </a:r>
          </a:p>
        </p:txBody>
      </p:sp>
      <p:sp>
        <p:nvSpPr>
          <p:cNvPr id="5" name="Institution"/>
          <p:cNvSpPr txBox="1"/>
          <p:nvPr/>
        </p:nvSpPr>
        <p:spPr>
          <a:xfrm>
            <a:off x="1280160" y="3653790"/>
            <a:ext cx="6080759" cy="1116330"/>
          </a:xfrm>
          <a:prstGeom prst="rect">
            <a:avLst/>
          </a:prstGeom>
          <a:noFill/>
        </p:spPr>
        <p:txBody>
          <a:bodyPr wrap="square" lIns="0" rIns="0" tIns="0" bIns="0" anchor="t">
            <a:noAutofit/>
          </a:bodyPr>
          <a:lstStyle/>
          <a:p>
            <a:pPr>
              <a:spcAft>
                <a:spcPts val="500"/>
              </a:spcAft>
            </a:pPr>
            <a:r>
              <a:rPr sz="1500" b="1" i="0">
                <a:solidFill>
                  <a:srgbClr val="006B2A"/>
                </a:solidFill>
                <a:latin typeface="Arial"/>
              </a:rPr>
              <a:t>De La Salle Lipa</a:t>
            </a:r>
            <a:r>
              <a:rPr sz="1500" b="0" i="0">
                <a:solidFill>
                  <a:srgbClr val="2B2B2B"/>
                </a:solidFill>
                <a:latin typeface="Arial"/>
              </a:rPr>
              <a:t> · College of Information Technology and Engineering (</a:t>
            </a:r>
            <a:r>
              <a:rPr sz="1500" b="1" i="0">
                <a:solidFill>
                  <a:srgbClr val="006B2A"/>
                </a:solidFill>
                <a:latin typeface="Arial"/>
              </a:rPr>
              <a:t>CITE</a:t>
            </a:r>
            <a:r>
              <a:rPr sz="1500" b="0" i="0">
                <a:solidFill>
                  <a:srgbClr val="2B2B2B"/>
                </a:solidFill>
                <a:latin typeface="Arial"/>
              </a:rPr>
              <a:t>)</a:t>
            </a:r>
          </a:p>
          <a:p>
            <a:pPr>
              <a:spcAft>
                <a:spcPts val="500"/>
              </a:spcAft>
            </a:pPr>
            <a:r>
              <a:rPr sz="1500" b="1" i="0">
                <a:solidFill>
                  <a:srgbClr val="006B2A"/>
                </a:solidFill>
                <a:latin typeface="Arial"/>
              </a:rPr>
              <a:t>Computer Engineering Department</a:t>
            </a:r>
          </a:p>
          <a:p>
            <a:pPr>
              <a:spcAft>
                <a:spcPts val="500"/>
              </a:spcAft>
            </a:pPr>
            <a:r>
              <a:rPr sz="1500" b="0" i="0">
                <a:solidFill>
                  <a:srgbClr val="2B2B2B"/>
                </a:solidFill>
                <a:latin typeface="Arial"/>
              </a:rPr>
              <a:t>CpE Practice and Design 1 · </a:t>
            </a:r>
            <a:r>
              <a:rPr sz="1500" b="1" i="0">
                <a:solidFill>
                  <a:srgbClr val="006B2A"/>
                </a:solidFill>
                <a:latin typeface="Arial"/>
              </a:rPr>
              <a:t>Group 5</a:t>
            </a:r>
          </a:p>
        </p:txBody>
      </p:sp>
      <p:sp>
        <p:nvSpPr>
          <p:cNvPr id="6" name="Authors"/>
          <p:cNvSpPr txBox="1"/>
          <p:nvPr/>
        </p:nvSpPr>
        <p:spPr>
          <a:xfrm>
            <a:off x="1280160" y="5044440"/>
            <a:ext cx="6080759" cy="944879"/>
          </a:xfrm>
          <a:prstGeom prst="rect">
            <a:avLst/>
          </a:prstGeom>
          <a:noFill/>
        </p:spPr>
        <p:txBody>
          <a:bodyPr wrap="square" lIns="0" rIns="0" tIns="0" bIns="0" anchor="t">
            <a:noAutofit/>
          </a:bodyPr>
          <a:lstStyle/>
          <a:p>
            <a:pPr>
              <a:spcAft>
                <a:spcPts val="300"/>
              </a:spcAft>
            </a:pPr>
            <a:r>
              <a:rPr sz="1400" b="1" i="0">
                <a:solidFill>
                  <a:srgbClr val="2B2B2B"/>
                </a:solidFill>
                <a:latin typeface="Arial"/>
              </a:rPr>
              <a:t>Lubay, Cian Eythan Jeremy</a:t>
            </a:r>
          </a:p>
          <a:p>
            <a:pPr>
              <a:spcAft>
                <a:spcPts val="300"/>
              </a:spcAft>
            </a:pPr>
            <a:r>
              <a:rPr sz="1400" b="1" i="0">
                <a:solidFill>
                  <a:srgbClr val="2B2B2B"/>
                </a:solidFill>
                <a:latin typeface="Arial"/>
              </a:rPr>
              <a:t>Odi, Mearck Francis Voughn</a:t>
            </a:r>
          </a:p>
          <a:p>
            <a:pPr>
              <a:spcAft>
                <a:spcPts val="300"/>
              </a:spcAft>
            </a:pPr>
            <a:r>
              <a:rPr sz="1400" b="1" i="0">
                <a:solidFill>
                  <a:srgbClr val="2B2B2B"/>
                </a:solidFill>
                <a:latin typeface="Arial"/>
              </a:rPr>
              <a:t>Rivera, Katelyn Denise</a:t>
            </a:r>
          </a:p>
          <a:p>
            <a:pPr>
              <a:spcAft>
                <a:spcPts val="300"/>
              </a:spcAft>
            </a:pPr>
            <a:r>
              <a:rPr sz="1400" b="1" i="0">
                <a:solidFill>
                  <a:srgbClr val="2B2B2B"/>
                </a:solidFill>
                <a:latin typeface="Arial"/>
              </a:rPr>
              <a:t>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tion kicker"/>
          <p:cNvSpPr txBox="1"/>
          <p:nvPr/>
        </p:nvSpPr>
        <p:spPr>
          <a:xfrm>
            <a:off x="1280160" y="292608"/>
            <a:ext cx="8686800" cy="256032"/>
          </a:xfrm>
          <a:prstGeom prst="rect">
            <a:avLst/>
          </a:prstGeom>
          <a:noFill/>
        </p:spPr>
        <p:txBody>
          <a:bodyPr wrap="square" lIns="0" rIns="0" tIns="0" bIns="0" anchor="t">
            <a:noAutofit/>
          </a:bodyPr>
          <a:lstStyle/>
          <a:p>
            <a:r>
              <a:rPr sz="1100" b="1" i="0">
                <a:solidFill>
                  <a:srgbClr val="6B6B6B"/>
                </a:solidFill>
                <a:latin typeface="Arial"/>
              </a:rPr>
              <a:t>INTRODUCTION</a:t>
            </a:r>
          </a:p>
        </p:txBody>
      </p:sp>
      <p:sp>
        <p:nvSpPr>
          <p:cNvPr id="3" name="Title"/>
          <p:cNvSpPr txBox="1"/>
          <p:nvPr/>
        </p:nvSpPr>
        <p:spPr>
          <a:xfrm>
            <a:off x="1280160" y="502920"/>
            <a:ext cx="10469880" cy="731520"/>
          </a:xfrm>
          <a:prstGeom prst="rect">
            <a:avLst/>
          </a:prstGeom>
          <a:noFill/>
        </p:spPr>
        <p:txBody>
          <a:bodyPr wrap="square" lIns="0" rIns="0" tIns="0" bIns="0" anchor="ctr">
            <a:noAutofit/>
          </a:bodyPr>
          <a:lstStyle/>
          <a:p>
            <a:r>
              <a:rPr sz="2800" b="1" i="0">
                <a:solidFill>
                  <a:srgbClr val="00943A"/>
                </a:solidFill>
                <a:latin typeface="Arial"/>
              </a:rPr>
              <a:t>Visual Impairment: A Persistent Mobility Burden</a:t>
            </a:r>
          </a:p>
        </p:txBody>
      </p:sp>
      <p:sp>
        <p:nvSpPr>
          <p:cNvPr id="4" name="Slide number"/>
          <p:cNvSpPr txBox="1"/>
          <p:nvPr/>
        </p:nvSpPr>
        <p:spPr>
          <a:xfrm>
            <a:off x="1280160" y="6327648"/>
            <a:ext cx="2286000" cy="274320"/>
          </a:xfrm>
          <a:prstGeom prst="rect">
            <a:avLst/>
          </a:prstGeom>
          <a:noFill/>
        </p:spPr>
        <p:txBody>
          <a:bodyPr wrap="square" lIns="0" rIns="0" tIns="0" bIns="0" anchor="t">
            <a:noAutofit/>
          </a:bodyPr>
          <a:lstStyle/>
          <a:p>
            <a:r>
              <a:rPr sz="1000" b="0" i="0">
                <a:solidFill>
                  <a:srgbClr val="6B6B6B"/>
                </a:solidFill>
                <a:latin typeface="Arial"/>
              </a:rPr>
              <a:t>IndepenSense · 2</a:t>
            </a:r>
          </a:p>
        </p:txBody>
      </p:sp>
      <p:sp>
        <p:nvSpPr>
          <p:cNvPr id="5" name="Field 1 card"/>
          <p:cNvSpPr/>
          <p:nvPr/>
        </p:nvSpPr>
        <p:spPr>
          <a:xfrm>
            <a:off x="1280160" y="1371600"/>
            <a:ext cx="5128114" cy="4617720"/>
          </a:xfrm>
          <a:prstGeom prst="roundRect">
            <a:avLst>
              <a:gd name="adj" fmla="val 3564"/>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ield 1 text"/>
          <p:cNvSpPr txBox="1"/>
          <p:nvPr/>
        </p:nvSpPr>
        <p:spPr>
          <a:xfrm>
            <a:off x="1463039" y="1554480"/>
            <a:ext cx="4762354" cy="4251959"/>
          </a:xfrm>
          <a:prstGeom prst="rect">
            <a:avLst/>
          </a:prstGeom>
          <a:noFill/>
        </p:spPr>
        <p:txBody>
          <a:bodyPr wrap="square" lIns="0" rIns="0" tIns="0" bIns="0" anchor="t">
            <a:noAutofit/>
          </a:bodyPr>
          <a:lstStyle/>
          <a:p>
            <a:pPr marL="201168" indent="-201168">
              <a:spcAft>
                <a:spcPts val="684"/>
              </a:spcAft>
              <a:buClr>
                <a:srgbClr val="00943A"/>
              </a:buClr>
              <a:buFont typeface="Arial"/>
              <a:buChar char="•"/>
            </a:pPr>
            <a:r>
              <a:rPr sz="1800" b="0" i="0">
                <a:solidFill>
                  <a:srgbClr val="2B2B2B"/>
                </a:solidFill>
                <a:latin typeface="Arial"/>
              </a:rPr>
              <a:t>Vision is the primary sense for </a:t>
            </a:r>
            <a:r>
              <a:rPr sz="1800" b="1" i="0">
                <a:solidFill>
                  <a:srgbClr val="2B2B2B"/>
                </a:solidFill>
                <a:latin typeface="Arial"/>
              </a:rPr>
              <a:t>spatial awareness and navigation</a:t>
            </a:r>
          </a:p>
          <a:p>
            <a:pPr marL="201168" indent="-201168">
              <a:spcAft>
                <a:spcPts val="684"/>
              </a:spcAft>
              <a:buClr>
                <a:srgbClr val="00943A"/>
              </a:buClr>
              <a:buFont typeface="Arial"/>
              <a:buChar char="•"/>
            </a:pPr>
            <a:r>
              <a:rPr sz="1800" b="1" i="0">
                <a:solidFill>
                  <a:srgbClr val="2B2B2B"/>
                </a:solidFill>
                <a:latin typeface="Arial"/>
              </a:rPr>
              <a:t>Billions</a:t>
            </a:r>
            <a:r>
              <a:rPr sz="1800" b="0" i="0">
                <a:solidFill>
                  <a:srgbClr val="2B2B2B"/>
                </a:solidFill>
                <a:latin typeface="Arial"/>
              </a:rPr>
              <a:t> worldwide live with some form of visual impairment (</a:t>
            </a:r>
            <a:r>
              <a:rPr sz="1800" b="1" i="0">
                <a:solidFill>
                  <a:srgbClr val="2B2B2B"/>
                </a:solidFill>
                <a:latin typeface="Arial"/>
              </a:rPr>
              <a:t>WHO, 2026</a:t>
            </a:r>
            <a:r>
              <a:rPr sz="1800" b="0" i="0">
                <a:solidFill>
                  <a:srgbClr val="2B2B2B"/>
                </a:solidFill>
                <a:latin typeface="Arial"/>
              </a:rPr>
              <a:t>)</a:t>
            </a:r>
          </a:p>
          <a:p>
            <a:pPr marL="201168" indent="-201168">
              <a:spcAft>
                <a:spcPts val="684"/>
              </a:spcAft>
              <a:buClr>
                <a:srgbClr val="00943A"/>
              </a:buClr>
              <a:buFont typeface="Arial"/>
              <a:buChar char="•"/>
            </a:pPr>
            <a:r>
              <a:rPr sz="1800" b="0" i="0">
                <a:solidFill>
                  <a:srgbClr val="2B2B2B"/>
                </a:solidFill>
                <a:latin typeface="Arial"/>
              </a:rPr>
              <a:t>Philippines: </a:t>
            </a:r>
            <a:r>
              <a:rPr sz="1800" b="1" i="0">
                <a:solidFill>
                  <a:srgbClr val="2B2B2B"/>
                </a:solidFill>
                <a:latin typeface="Arial"/>
              </a:rPr>
              <a:t>1.98% prevalence</a:t>
            </a:r>
            <a:r>
              <a:rPr sz="1800" b="0" i="0">
                <a:solidFill>
                  <a:srgbClr val="2B2B2B"/>
                </a:solidFill>
                <a:latin typeface="Arial"/>
              </a:rPr>
              <a:t> of visual impairment and blindness (</a:t>
            </a:r>
            <a:r>
              <a:rPr sz="1800" b="1" i="0">
                <a:solidFill>
                  <a:srgbClr val="2B2B2B"/>
                </a:solidFill>
                <a:latin typeface="Arial"/>
              </a:rPr>
              <a:t>2018 Philippine National Blindness Survey</a:t>
            </a:r>
            <a:r>
              <a:rPr sz="1800" b="0" i="0">
                <a:solidFill>
                  <a:srgbClr val="2B2B2B"/>
                </a:solidFill>
                <a:latin typeface="Arial"/>
              </a:rPr>
              <a:t>)</a:t>
            </a:r>
          </a:p>
          <a:p>
            <a:pPr marL="201168" indent="-201168">
              <a:spcAft>
                <a:spcPts val="684"/>
              </a:spcAft>
              <a:buClr>
                <a:srgbClr val="00943A"/>
              </a:buClr>
              <a:buFont typeface="Arial"/>
              <a:buChar char="•"/>
            </a:pPr>
            <a:r>
              <a:rPr sz="1800" b="0" i="0">
                <a:solidFill>
                  <a:srgbClr val="2B2B2B"/>
                </a:solidFill>
                <a:latin typeface="Arial"/>
              </a:rPr>
              <a:t>Leading causes: </a:t>
            </a:r>
            <a:r>
              <a:rPr sz="1800" b="1" i="0">
                <a:solidFill>
                  <a:srgbClr val="2B2B2B"/>
                </a:solidFill>
                <a:latin typeface="Arial"/>
              </a:rPr>
              <a:t>cataract</a:t>
            </a:r>
            <a:r>
              <a:rPr sz="1800" b="0" i="0">
                <a:solidFill>
                  <a:srgbClr val="2B2B2B"/>
                </a:solidFill>
                <a:latin typeface="Arial"/>
              </a:rPr>
              <a:t>, </a:t>
            </a:r>
            <a:r>
              <a:rPr sz="1800" b="1" i="0">
                <a:solidFill>
                  <a:srgbClr val="2B2B2B"/>
                </a:solidFill>
                <a:latin typeface="Arial"/>
              </a:rPr>
              <a:t>uncorrected refractive error</a:t>
            </a:r>
            <a:r>
              <a:rPr sz="1800" b="0" i="0">
                <a:solidFill>
                  <a:srgbClr val="2B2B2B"/>
                </a:solidFill>
                <a:latin typeface="Arial"/>
              </a:rPr>
              <a:t>, </a:t>
            </a:r>
            <a:r>
              <a:rPr sz="1800" b="1" i="0">
                <a:solidFill>
                  <a:srgbClr val="2B2B2B"/>
                </a:solidFill>
                <a:latin typeface="Arial"/>
              </a:rPr>
              <a:t>glaucoma</a:t>
            </a:r>
            <a:r>
              <a:rPr sz="1800" b="0" i="0">
                <a:solidFill>
                  <a:srgbClr val="2B2B2B"/>
                </a:solidFill>
                <a:latin typeface="Arial"/>
              </a:rPr>
              <a:t>, and many cases still undiagnosed (</a:t>
            </a:r>
            <a:r>
              <a:rPr sz="1800" b="1" i="0">
                <a:solidFill>
                  <a:srgbClr val="2B2B2B"/>
                </a:solidFill>
                <a:latin typeface="Arial"/>
              </a:rPr>
              <a:t>Garcia et al., 2022</a:t>
            </a:r>
            <a:r>
              <a:rPr sz="1800" b="0" i="0">
                <a:solidFill>
                  <a:srgbClr val="2B2B2B"/>
                </a:solidFill>
                <a:latin typeface="Arial"/>
              </a:rPr>
              <a:t>)</a:t>
            </a:r>
          </a:p>
        </p:txBody>
      </p:sp>
      <p:sp>
        <p:nvSpPr>
          <p:cNvPr id="7" name="Field 2 card"/>
          <p:cNvSpPr/>
          <p:nvPr/>
        </p:nvSpPr>
        <p:spPr>
          <a:xfrm>
            <a:off x="6664306" y="1371600"/>
            <a:ext cx="5085733" cy="4617720"/>
          </a:xfrm>
          <a:prstGeom prst="roundRect">
            <a:avLst>
              <a:gd name="adj" fmla="val 3564"/>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Field 2 text"/>
          <p:cNvSpPr txBox="1"/>
          <p:nvPr/>
        </p:nvSpPr>
        <p:spPr>
          <a:xfrm>
            <a:off x="6847186" y="1554480"/>
            <a:ext cx="4719973" cy="4251959"/>
          </a:xfrm>
          <a:prstGeom prst="rect">
            <a:avLst/>
          </a:prstGeom>
          <a:noFill/>
        </p:spPr>
        <p:txBody>
          <a:bodyPr wrap="square" lIns="0" rIns="0" tIns="0" bIns="0" anchor="t">
            <a:noAutofit/>
          </a:bodyPr>
          <a:lstStyle/>
          <a:p>
            <a:pPr marL="201168" indent="-201168">
              <a:spcAft>
                <a:spcPts val="684"/>
              </a:spcAft>
              <a:buClr>
                <a:srgbClr val="00943A"/>
              </a:buClr>
              <a:buFont typeface="Arial"/>
              <a:buChar char="•"/>
            </a:pPr>
            <a:r>
              <a:rPr sz="1800" b="1" i="0">
                <a:solidFill>
                  <a:srgbClr val="2B2B2B"/>
                </a:solidFill>
                <a:latin typeface="Arial"/>
              </a:rPr>
              <a:t>Mobility barriers</a:t>
            </a:r>
            <a:r>
              <a:rPr sz="1800" b="0" i="0">
                <a:solidFill>
                  <a:srgbClr val="2B2B2B"/>
                </a:solidFill>
                <a:latin typeface="Arial"/>
              </a:rPr>
              <a:t>, hiring discrimination and limited resources (</a:t>
            </a:r>
            <a:r>
              <a:rPr sz="1800" b="1" i="0">
                <a:solidFill>
                  <a:srgbClr val="2B2B2B"/>
                </a:solidFill>
                <a:latin typeface="Arial"/>
              </a:rPr>
              <a:t>Oberes et al., 2023</a:t>
            </a:r>
            <a:r>
              <a:rPr sz="1800" b="0" i="0">
                <a:solidFill>
                  <a:srgbClr val="2B2B2B"/>
                </a:solidFill>
                <a:latin typeface="Arial"/>
              </a:rPr>
              <a:t>)</a:t>
            </a:r>
          </a:p>
          <a:p>
            <a:pPr marL="201168" indent="-201168">
              <a:spcAft>
                <a:spcPts val="684"/>
              </a:spcAft>
              <a:buClr>
                <a:srgbClr val="00943A"/>
              </a:buClr>
              <a:buFont typeface="Arial"/>
              <a:buChar char="•"/>
            </a:pPr>
            <a:r>
              <a:rPr sz="1800" b="0" i="0">
                <a:solidFill>
                  <a:srgbClr val="2B2B2B"/>
                </a:solidFill>
                <a:latin typeface="Arial"/>
              </a:rPr>
              <a:t>Medical care </a:t>
            </a:r>
            <a:r>
              <a:rPr sz="1800" b="1" i="0">
                <a:solidFill>
                  <a:srgbClr val="2B2B2B"/>
                </a:solidFill>
                <a:latin typeface="Arial"/>
              </a:rPr>
              <a:t>delayed or avoided</a:t>
            </a:r>
            <a:r>
              <a:rPr sz="1800" b="0" i="0">
                <a:solidFill>
                  <a:srgbClr val="2B2B2B"/>
                </a:solidFill>
                <a:latin typeface="Arial"/>
              </a:rPr>
              <a:t> because of transport and the need for an escort (</a:t>
            </a:r>
            <a:r>
              <a:rPr sz="1800" b="1" i="0">
                <a:solidFill>
                  <a:srgbClr val="2B2B2B"/>
                </a:solidFill>
                <a:latin typeface="Arial"/>
              </a:rPr>
              <a:t>Butalid et al., 2024</a:t>
            </a:r>
            <a:r>
              <a:rPr sz="1800" b="0" i="0">
                <a:solidFill>
                  <a:srgbClr val="2B2B2B"/>
                </a:solidFill>
                <a:latin typeface="Arial"/>
              </a:rPr>
              <a:t>)</a:t>
            </a:r>
          </a:p>
          <a:p>
            <a:pPr marL="201168" indent="-201168">
              <a:spcAft>
                <a:spcPts val="684"/>
              </a:spcAft>
              <a:buClr>
                <a:srgbClr val="00943A"/>
              </a:buClr>
              <a:buFont typeface="Arial"/>
              <a:buChar char="•"/>
            </a:pPr>
            <a:r>
              <a:rPr sz="1800" b="1" i="0">
                <a:solidFill>
                  <a:srgbClr val="2B2B2B"/>
                </a:solidFill>
                <a:latin typeface="Arial"/>
              </a:rPr>
              <a:t>Higher accident and injury risk</a:t>
            </a:r>
            <a:r>
              <a:rPr sz="1800" b="0" i="0">
                <a:solidFill>
                  <a:srgbClr val="2B2B2B"/>
                </a:solidFill>
                <a:latin typeface="Arial"/>
              </a:rPr>
              <a:t> in crowded, unfamiliar spaces (</a:t>
            </a:r>
            <a:r>
              <a:rPr sz="1800" b="1" i="0">
                <a:solidFill>
                  <a:srgbClr val="2B2B2B"/>
                </a:solidFill>
                <a:latin typeface="Arial"/>
              </a:rPr>
              <a:t>Hoogsteen &amp; Szpiro, 2023</a:t>
            </a:r>
            <a:r>
              <a:rPr sz="1800" b="0" i="0">
                <a:solidFill>
                  <a:srgbClr val="2B2B2B"/>
                </a:solidFill>
                <a:latin typeface="Arial"/>
              </a:rPr>
              <a:t>)</a:t>
            </a:r>
          </a:p>
          <a:p>
            <a:pPr marL="201168" indent="-201168">
              <a:spcAft>
                <a:spcPts val="684"/>
              </a:spcAft>
              <a:buClr>
                <a:srgbClr val="00943A"/>
              </a:buClr>
              <a:buFont typeface="Arial"/>
              <a:buChar char="•"/>
            </a:pPr>
            <a:r>
              <a:rPr sz="1800" b="0" i="0">
                <a:solidFill>
                  <a:srgbClr val="2B2B2B"/>
                </a:solidFill>
                <a:latin typeface="Arial"/>
              </a:rPr>
              <a:t>The impact goes beyond injury to </a:t>
            </a:r>
            <a:r>
              <a:rPr sz="1800" b="1" i="0">
                <a:solidFill>
                  <a:srgbClr val="2B2B2B"/>
                </a:solidFill>
                <a:latin typeface="Arial"/>
              </a:rPr>
              <a:t>confidence, independence and psychological well-being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tion kicker"/>
          <p:cNvSpPr txBox="1"/>
          <p:nvPr/>
        </p:nvSpPr>
        <p:spPr>
          <a:xfrm>
            <a:off x="1280160" y="292608"/>
            <a:ext cx="8686800" cy="256032"/>
          </a:xfrm>
          <a:prstGeom prst="rect">
            <a:avLst/>
          </a:prstGeom>
          <a:noFill/>
        </p:spPr>
        <p:txBody>
          <a:bodyPr wrap="square" lIns="0" rIns="0" tIns="0" bIns="0" anchor="t">
            <a:noAutofit/>
          </a:bodyPr>
          <a:lstStyle/>
          <a:p>
            <a:r>
              <a:rPr sz="1100" b="1" i="0">
                <a:solidFill>
                  <a:srgbClr val="6B6B6B"/>
                </a:solidFill>
                <a:latin typeface="Arial"/>
              </a:rPr>
              <a:t>INTRODUCTION</a:t>
            </a:r>
          </a:p>
        </p:txBody>
      </p:sp>
      <p:sp>
        <p:nvSpPr>
          <p:cNvPr id="3" name="Title"/>
          <p:cNvSpPr txBox="1"/>
          <p:nvPr/>
        </p:nvSpPr>
        <p:spPr>
          <a:xfrm>
            <a:off x="1280160" y="502920"/>
            <a:ext cx="10469880" cy="731520"/>
          </a:xfrm>
          <a:prstGeom prst="rect">
            <a:avLst/>
          </a:prstGeom>
          <a:noFill/>
        </p:spPr>
        <p:txBody>
          <a:bodyPr wrap="square" lIns="0" rIns="0" tIns="0" bIns="0" anchor="ctr">
            <a:noAutofit/>
          </a:bodyPr>
          <a:lstStyle/>
          <a:p>
            <a:r>
              <a:rPr sz="3200" b="1" i="0">
                <a:solidFill>
                  <a:srgbClr val="00943A"/>
                </a:solidFill>
                <a:latin typeface="Arial"/>
              </a:rPr>
              <a:t>The Mobility Crisis in Lipa City</a:t>
            </a:r>
          </a:p>
        </p:txBody>
      </p:sp>
      <p:sp>
        <p:nvSpPr>
          <p:cNvPr id="4" name="Slide number"/>
          <p:cNvSpPr txBox="1"/>
          <p:nvPr/>
        </p:nvSpPr>
        <p:spPr>
          <a:xfrm>
            <a:off x="1280160" y="6327648"/>
            <a:ext cx="2286000" cy="274320"/>
          </a:xfrm>
          <a:prstGeom prst="rect">
            <a:avLst/>
          </a:prstGeom>
          <a:noFill/>
        </p:spPr>
        <p:txBody>
          <a:bodyPr wrap="square" lIns="0" rIns="0" tIns="0" bIns="0" anchor="t">
            <a:noAutofit/>
          </a:bodyPr>
          <a:lstStyle/>
          <a:p>
            <a:r>
              <a:rPr sz="1000" b="0" i="0">
                <a:solidFill>
                  <a:srgbClr val="6B6B6B"/>
                </a:solidFill>
                <a:latin typeface="Arial"/>
              </a:rPr>
              <a:t>IndepenSense · 3</a:t>
            </a:r>
          </a:p>
        </p:txBody>
      </p:sp>
      <p:sp>
        <p:nvSpPr>
          <p:cNvPr id="5" name="Step 1 card"/>
          <p:cNvSpPr/>
          <p:nvPr/>
        </p:nvSpPr>
        <p:spPr>
          <a:xfrm>
            <a:off x="1280160" y="1371600"/>
            <a:ext cx="3294887" cy="2572715"/>
          </a:xfrm>
          <a:prstGeom prst="roundRect">
            <a:avLst>
              <a:gd name="adj" fmla="val 6397"/>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Step 1 text"/>
          <p:cNvSpPr txBox="1"/>
          <p:nvPr/>
        </p:nvSpPr>
        <p:spPr>
          <a:xfrm>
            <a:off x="1463039" y="1554480"/>
            <a:ext cx="2929128" cy="2206955"/>
          </a:xfrm>
          <a:prstGeom prst="rect">
            <a:avLst/>
          </a:prstGeom>
          <a:noFill/>
        </p:spPr>
        <p:txBody>
          <a:bodyPr wrap="square" lIns="0" rIns="0" tIns="0" bIns="0" anchor="t">
            <a:noAutofit/>
          </a:bodyPr>
          <a:lstStyle/>
          <a:p>
            <a:pPr>
              <a:spcAft>
                <a:spcPts val="630"/>
              </a:spcAft>
              <a:buNone/>
            </a:pPr>
            <a:r>
              <a:rPr sz="1600" b="1" i="0">
                <a:solidFill>
                  <a:srgbClr val="006B2A"/>
                </a:solidFill>
                <a:latin typeface="Arial"/>
              </a:rPr>
              <a:t>Challenge 1: Identifying obstacles</a:t>
            </a:r>
          </a:p>
          <a:p>
            <a:pPr>
              <a:spcAft>
                <a:spcPts val="532"/>
              </a:spcAft>
              <a:buNone/>
            </a:pPr>
            <a:r>
              <a:rPr sz="1400" b="0" i="0">
                <a:solidFill>
                  <a:srgbClr val="2B2B2B"/>
                </a:solidFill>
                <a:latin typeface="Arial"/>
              </a:rPr>
              <a:t>The cane detects only on </a:t>
            </a:r>
            <a:r>
              <a:rPr sz="1400" b="1" i="0">
                <a:solidFill>
                  <a:srgbClr val="2B2B2B"/>
                </a:solidFill>
                <a:latin typeface="Arial"/>
              </a:rPr>
              <a:t>physical contact</a:t>
            </a:r>
            <a:r>
              <a:rPr sz="1400" b="0" i="0">
                <a:solidFill>
                  <a:srgbClr val="2B2B2B"/>
                </a:solidFill>
                <a:latin typeface="Arial"/>
              </a:rPr>
              <a:t> and cannot say </a:t>
            </a:r>
            <a:r>
              <a:rPr sz="1400" b="0" i="1">
                <a:solidFill>
                  <a:srgbClr val="2B2B2B"/>
                </a:solidFill>
                <a:latin typeface="Arial"/>
              </a:rPr>
              <a:t>what</a:t>
            </a:r>
            <a:r>
              <a:rPr sz="1400" b="0" i="0">
                <a:solidFill>
                  <a:srgbClr val="2B2B2B"/>
                </a:solidFill>
                <a:latin typeface="Arial"/>
              </a:rPr>
              <a:t> the obstacle is</a:t>
            </a:r>
          </a:p>
        </p:txBody>
      </p:sp>
      <p:sp>
        <p:nvSpPr>
          <p:cNvPr id="7" name="Arrow 1"/>
          <p:cNvSpPr/>
          <p:nvPr/>
        </p:nvSpPr>
        <p:spPr>
          <a:xfrm>
            <a:off x="4620767" y="2539085"/>
            <a:ext cx="201168" cy="237744"/>
          </a:xfrm>
          <a:prstGeom prst="rightArrow">
            <a:avLst/>
          </a:prstGeom>
          <a:solidFill>
            <a:srgbClr val="009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tep 2 card"/>
          <p:cNvSpPr/>
          <p:nvPr/>
        </p:nvSpPr>
        <p:spPr>
          <a:xfrm>
            <a:off x="4867655" y="1371600"/>
            <a:ext cx="3294887" cy="2572715"/>
          </a:xfrm>
          <a:prstGeom prst="roundRect">
            <a:avLst>
              <a:gd name="adj" fmla="val 6397"/>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Step 2 text"/>
          <p:cNvSpPr txBox="1"/>
          <p:nvPr/>
        </p:nvSpPr>
        <p:spPr>
          <a:xfrm>
            <a:off x="5050535" y="1554480"/>
            <a:ext cx="2929128" cy="2206955"/>
          </a:xfrm>
          <a:prstGeom prst="rect">
            <a:avLst/>
          </a:prstGeom>
          <a:noFill/>
        </p:spPr>
        <p:txBody>
          <a:bodyPr wrap="square" lIns="0" rIns="0" tIns="0" bIns="0" anchor="t">
            <a:noAutofit/>
          </a:bodyPr>
          <a:lstStyle/>
          <a:p>
            <a:pPr>
              <a:spcAft>
                <a:spcPts val="630"/>
              </a:spcAft>
              <a:buNone/>
            </a:pPr>
            <a:r>
              <a:rPr sz="1600" b="1" i="0">
                <a:solidFill>
                  <a:srgbClr val="006B2A"/>
                </a:solidFill>
                <a:latin typeface="Arial"/>
              </a:rPr>
              <a:t>Challenge 2: Navigating unfamiliar spaces independently</a:t>
            </a:r>
          </a:p>
          <a:p>
            <a:pPr>
              <a:spcAft>
                <a:spcPts val="532"/>
              </a:spcAft>
              <a:buNone/>
            </a:pPr>
            <a:r>
              <a:rPr sz="1400" b="0" i="0">
                <a:solidFill>
                  <a:srgbClr val="2B2B2B"/>
                </a:solidFill>
                <a:latin typeface="Arial"/>
              </a:rPr>
              <a:t>Confidence is high on familiar routes and drops sharply in new places, and many users </a:t>
            </a:r>
            <a:r>
              <a:rPr sz="1400" b="1" i="0">
                <a:solidFill>
                  <a:srgbClr val="2B2B2B"/>
                </a:solidFill>
                <a:latin typeface="Arial"/>
              </a:rPr>
              <a:t>rely on another person</a:t>
            </a:r>
          </a:p>
        </p:txBody>
      </p:sp>
      <p:sp>
        <p:nvSpPr>
          <p:cNvPr id="10" name="Arrow 2"/>
          <p:cNvSpPr/>
          <p:nvPr/>
        </p:nvSpPr>
        <p:spPr>
          <a:xfrm>
            <a:off x="8208264" y="2539085"/>
            <a:ext cx="201168" cy="237744"/>
          </a:xfrm>
          <a:prstGeom prst="rightArrow">
            <a:avLst/>
          </a:prstGeom>
          <a:solidFill>
            <a:srgbClr val="009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tep 3 card"/>
          <p:cNvSpPr/>
          <p:nvPr/>
        </p:nvSpPr>
        <p:spPr>
          <a:xfrm>
            <a:off x="8455152" y="1371600"/>
            <a:ext cx="3294887" cy="2572715"/>
          </a:xfrm>
          <a:prstGeom prst="roundRect">
            <a:avLst>
              <a:gd name="adj" fmla="val 6397"/>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Step 3 text"/>
          <p:cNvSpPr txBox="1"/>
          <p:nvPr/>
        </p:nvSpPr>
        <p:spPr>
          <a:xfrm>
            <a:off x="8638031" y="1554480"/>
            <a:ext cx="2929128" cy="2206955"/>
          </a:xfrm>
          <a:prstGeom prst="rect">
            <a:avLst/>
          </a:prstGeom>
          <a:noFill/>
        </p:spPr>
        <p:txBody>
          <a:bodyPr wrap="square" lIns="0" rIns="0" tIns="0" bIns="0" anchor="t">
            <a:noAutofit/>
          </a:bodyPr>
          <a:lstStyle/>
          <a:p>
            <a:pPr>
              <a:spcAft>
                <a:spcPts val="630"/>
              </a:spcAft>
              <a:buNone/>
            </a:pPr>
            <a:r>
              <a:rPr sz="1600" b="1" i="0">
                <a:solidFill>
                  <a:srgbClr val="006B2A"/>
                </a:solidFill>
                <a:latin typeface="Arial"/>
              </a:rPr>
              <a:t>Challenge 3: Frequent falls</a:t>
            </a:r>
          </a:p>
          <a:p>
            <a:pPr>
              <a:spcAft>
                <a:spcPts val="532"/>
              </a:spcAft>
              <a:buNone/>
            </a:pPr>
            <a:r>
              <a:rPr sz="1400" b="0" i="0">
                <a:solidFill>
                  <a:srgbClr val="2B2B2B"/>
                </a:solidFill>
                <a:latin typeface="Arial"/>
              </a:rPr>
              <a:t>Users reported falls on </a:t>
            </a:r>
            <a:r>
              <a:rPr sz="1400" b="1" i="0">
                <a:solidFill>
                  <a:srgbClr val="2B2B2B"/>
                </a:solidFill>
                <a:latin typeface="Arial"/>
              </a:rPr>
              <a:t>raised road surfaces and humps</a:t>
            </a:r>
            <a:r>
              <a:rPr sz="1400" b="0" i="0">
                <a:solidFill>
                  <a:srgbClr val="2B2B2B"/>
                </a:solidFill>
                <a:latin typeface="Arial"/>
              </a:rPr>
              <a:t> and on unexpected changes underfoot</a:t>
            </a:r>
          </a:p>
        </p:txBody>
      </p:sp>
      <p:sp>
        <p:nvSpPr>
          <p:cNvPr id="13" name="Field 2 card"/>
          <p:cNvSpPr/>
          <p:nvPr/>
        </p:nvSpPr>
        <p:spPr>
          <a:xfrm>
            <a:off x="1280160" y="4200347"/>
            <a:ext cx="10469880" cy="1788972"/>
          </a:xfrm>
          <a:prstGeom prst="roundRect">
            <a:avLst>
              <a:gd name="adj" fmla="val 92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Field 2 text 1"/>
          <p:cNvSpPr txBox="1"/>
          <p:nvPr/>
        </p:nvSpPr>
        <p:spPr>
          <a:xfrm>
            <a:off x="1463039" y="4383227"/>
            <a:ext cx="4914899" cy="1423212"/>
          </a:xfrm>
          <a:prstGeom prst="rect">
            <a:avLst/>
          </a:prstGeom>
          <a:noFill/>
        </p:spPr>
        <p:txBody>
          <a:bodyPr wrap="square" lIns="0" rIns="0" tIns="0" bIns="0" anchor="t">
            <a:noAutofit/>
          </a:bodyPr>
          <a:lstStyle/>
          <a:p>
            <a:pPr marL="201168" indent="-201168">
              <a:spcAft>
                <a:spcPts val="532"/>
              </a:spcAft>
              <a:buClr>
                <a:srgbClr val="00943A"/>
              </a:buClr>
              <a:buFont typeface="Arial"/>
              <a:buChar char="•"/>
            </a:pPr>
            <a:r>
              <a:rPr sz="1400" b="1" i="0">
                <a:solidFill>
                  <a:srgbClr val="2B2B2B"/>
                </a:solidFill>
                <a:latin typeface="Arial"/>
              </a:rPr>
              <a:t>Source:</a:t>
            </a:r>
            <a:r>
              <a:rPr sz="1400" b="0" i="0">
                <a:solidFill>
                  <a:srgbClr val="2B2B2B"/>
                </a:solidFill>
                <a:latin typeface="Arial"/>
              </a:rPr>
              <a:t> in-person </a:t>
            </a:r>
            <a:r>
              <a:rPr sz="1400" b="1" i="0">
                <a:solidFill>
                  <a:srgbClr val="2B2B2B"/>
                </a:solidFill>
                <a:latin typeface="Arial"/>
              </a:rPr>
              <a:t>unstructured interviews</a:t>
            </a:r>
            <a:r>
              <a:rPr sz="1400" b="0" i="0">
                <a:solidFill>
                  <a:srgbClr val="2B2B2B"/>
                </a:solidFill>
                <a:latin typeface="Arial"/>
              </a:rPr>
              <a:t>, with participants chosen by </a:t>
            </a:r>
            <a:r>
              <a:rPr sz="1400" b="1" i="0">
                <a:solidFill>
                  <a:srgbClr val="2B2B2B"/>
                </a:solidFill>
                <a:latin typeface="Arial"/>
              </a:rPr>
              <a:t>purposive sampling</a:t>
            </a:r>
          </a:p>
          <a:p>
            <a:pPr marL="201168" indent="-201168">
              <a:spcAft>
                <a:spcPts val="532"/>
              </a:spcAft>
              <a:buClr>
                <a:srgbClr val="00943A"/>
              </a:buClr>
              <a:buFont typeface="Arial"/>
              <a:buChar char="•"/>
            </a:pPr>
            <a:r>
              <a:rPr sz="1400" b="1" i="0">
                <a:solidFill>
                  <a:srgbClr val="2B2B2B"/>
                </a:solidFill>
                <a:latin typeface="Arial"/>
              </a:rPr>
              <a:t>Participants:</a:t>
            </a:r>
            <a:r>
              <a:rPr sz="1400" b="0" i="0">
                <a:solidFill>
                  <a:srgbClr val="2B2B2B"/>
                </a:solidFill>
                <a:latin typeface="Arial"/>
              </a:rPr>
              <a:t> visually impaired adults </a:t>
            </a:r>
            <a:r>
              <a:rPr sz="1400" b="1" i="0">
                <a:solidFill>
                  <a:srgbClr val="2B2B2B"/>
                </a:solidFill>
                <a:latin typeface="Arial"/>
              </a:rPr>
              <a:t>aged 31+</a:t>
            </a:r>
            <a:r>
              <a:rPr sz="1400" b="0" i="0">
                <a:solidFill>
                  <a:srgbClr val="2B2B2B"/>
                </a:solidFill>
                <a:latin typeface="Arial"/>
              </a:rPr>
              <a:t> living in </a:t>
            </a:r>
            <a:r>
              <a:rPr sz="1400" b="1" i="0">
                <a:solidFill>
                  <a:srgbClr val="2B2B2B"/>
                </a:solidFill>
                <a:latin typeface="Arial"/>
              </a:rPr>
              <a:t>Lipa City, Batangas</a:t>
            </a:r>
          </a:p>
        </p:txBody>
      </p:sp>
      <p:sp>
        <p:nvSpPr>
          <p:cNvPr id="15" name="Field 2 text 2"/>
          <p:cNvSpPr txBox="1"/>
          <p:nvPr/>
        </p:nvSpPr>
        <p:spPr>
          <a:xfrm>
            <a:off x="6652259" y="4383227"/>
            <a:ext cx="4914899" cy="1423212"/>
          </a:xfrm>
          <a:prstGeom prst="rect">
            <a:avLst/>
          </a:prstGeom>
          <a:noFill/>
        </p:spPr>
        <p:txBody>
          <a:bodyPr wrap="square" lIns="0" rIns="0" tIns="0" bIns="0" anchor="t">
            <a:noAutofit/>
          </a:bodyPr>
          <a:lstStyle/>
          <a:p>
            <a:pPr marL="201168" indent="-201168">
              <a:spcAft>
                <a:spcPts val="532"/>
              </a:spcAft>
              <a:buClr>
                <a:srgbClr val="00943A"/>
              </a:buClr>
              <a:buFont typeface="Arial"/>
              <a:buChar char="•"/>
            </a:pPr>
            <a:r>
              <a:rPr sz="1400" b="1" i="0">
                <a:solidFill>
                  <a:srgbClr val="2B2B2B"/>
                </a:solidFill>
                <a:latin typeface="Arial"/>
              </a:rPr>
              <a:t>Range of vision:</a:t>
            </a:r>
            <a:r>
              <a:rPr sz="1400" b="0" i="0">
                <a:solidFill>
                  <a:srgbClr val="2B2B2B"/>
                </a:solidFill>
                <a:latin typeface="Arial"/>
              </a:rPr>
              <a:t> from residual light and shadow perception to </a:t>
            </a:r>
            <a:r>
              <a:rPr sz="1400" b="1" i="0">
                <a:solidFill>
                  <a:srgbClr val="2B2B2B"/>
                </a:solidFill>
                <a:latin typeface="Arial"/>
              </a:rPr>
              <a:t>little or no vision</a:t>
            </a:r>
          </a:p>
          <a:p>
            <a:pPr marL="201168" indent="-201168">
              <a:spcAft>
                <a:spcPts val="532"/>
              </a:spcAft>
              <a:buClr>
                <a:srgbClr val="00943A"/>
              </a:buClr>
              <a:buFont typeface="Arial"/>
              <a:buChar char="•"/>
            </a:pPr>
            <a:r>
              <a:rPr sz="1400" b="1" i="0">
                <a:solidFill>
                  <a:srgbClr val="2B2B2B"/>
                </a:solidFill>
                <a:latin typeface="Arial"/>
              </a:rPr>
              <a:t>Current aid:</a:t>
            </a:r>
            <a:r>
              <a:rPr sz="1400" b="0" i="0">
                <a:solidFill>
                  <a:srgbClr val="2B2B2B"/>
                </a:solidFill>
                <a:latin typeface="Arial"/>
              </a:rPr>
              <a:t> mostly a </a:t>
            </a:r>
            <a:r>
              <a:rPr sz="1400" b="1" i="0">
                <a:solidFill>
                  <a:srgbClr val="2B2B2B"/>
                </a:solidFill>
                <a:latin typeface="Arial"/>
              </a:rPr>
              <a:t>traditional cane or stick</a:t>
            </a:r>
          </a:p>
          <a:p>
            <a:pPr marL="201168" indent="-201168">
              <a:spcAft>
                <a:spcPts val="532"/>
              </a:spcAft>
              <a:buClr>
                <a:srgbClr val="00943A"/>
              </a:buClr>
              <a:buFont typeface="Arial"/>
              <a:buChar char="•"/>
            </a:pPr>
            <a:r>
              <a:rPr sz="1400" b="1" i="0">
                <a:solidFill>
                  <a:srgbClr val="2B2B2B"/>
                </a:solidFill>
                <a:latin typeface="Arial"/>
              </a:rPr>
              <a:t>Their requests:</a:t>
            </a:r>
            <a:r>
              <a:rPr sz="1400" b="0" i="0">
                <a:solidFill>
                  <a:srgbClr val="2B2B2B"/>
                </a:solidFill>
                <a:latin typeface="Arial"/>
              </a:rPr>
              <a:t> </a:t>
            </a:r>
            <a:r>
              <a:rPr sz="1400" b="1" i="0">
                <a:solidFill>
                  <a:srgbClr val="2B2B2B"/>
                </a:solidFill>
                <a:latin typeface="Arial"/>
              </a:rPr>
              <a:t>different vibration or audio patterns per obstacle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tion kicker"/>
          <p:cNvSpPr txBox="1"/>
          <p:nvPr/>
        </p:nvSpPr>
        <p:spPr>
          <a:xfrm>
            <a:off x="1280160" y="292608"/>
            <a:ext cx="8686800" cy="256032"/>
          </a:xfrm>
          <a:prstGeom prst="rect">
            <a:avLst/>
          </a:prstGeom>
          <a:noFill/>
        </p:spPr>
        <p:txBody>
          <a:bodyPr wrap="square" lIns="0" rIns="0" tIns="0" bIns="0" anchor="t">
            <a:noAutofit/>
          </a:bodyPr>
          <a:lstStyle/>
          <a:p>
            <a:r>
              <a:rPr sz="1100" b="1" i="0">
                <a:solidFill>
                  <a:srgbClr val="6B6B6B"/>
                </a:solidFill>
                <a:latin typeface="Arial"/>
              </a:rPr>
              <a:t>INTRODUCTION</a:t>
            </a:r>
          </a:p>
        </p:txBody>
      </p:sp>
      <p:sp>
        <p:nvSpPr>
          <p:cNvPr id="3" name="Title"/>
          <p:cNvSpPr txBox="1"/>
          <p:nvPr/>
        </p:nvSpPr>
        <p:spPr>
          <a:xfrm>
            <a:off x="1280160" y="502920"/>
            <a:ext cx="10469880" cy="731520"/>
          </a:xfrm>
          <a:prstGeom prst="rect">
            <a:avLst/>
          </a:prstGeom>
          <a:noFill/>
        </p:spPr>
        <p:txBody>
          <a:bodyPr wrap="square" lIns="0" rIns="0" tIns="0" bIns="0" anchor="ctr">
            <a:noAutofit/>
          </a:bodyPr>
          <a:lstStyle/>
          <a:p>
            <a:r>
              <a:rPr sz="3200" b="1" i="0">
                <a:solidFill>
                  <a:srgbClr val="00943A"/>
                </a:solidFill>
                <a:latin typeface="Arial"/>
              </a:rPr>
              <a:t>Research Gap in Existing Smart Canes</a:t>
            </a:r>
          </a:p>
        </p:txBody>
      </p:sp>
      <p:sp>
        <p:nvSpPr>
          <p:cNvPr id="4" name="Slide number"/>
          <p:cNvSpPr txBox="1"/>
          <p:nvPr/>
        </p:nvSpPr>
        <p:spPr>
          <a:xfrm>
            <a:off x="1280160" y="6327648"/>
            <a:ext cx="2286000" cy="274320"/>
          </a:xfrm>
          <a:prstGeom prst="rect">
            <a:avLst/>
          </a:prstGeom>
          <a:noFill/>
        </p:spPr>
        <p:txBody>
          <a:bodyPr wrap="square" lIns="0" rIns="0" tIns="0" bIns="0" anchor="t">
            <a:noAutofit/>
          </a:bodyPr>
          <a:lstStyle/>
          <a:p>
            <a:r>
              <a:rPr sz="1000" b="0" i="0">
                <a:solidFill>
                  <a:srgbClr val="6B6B6B"/>
                </a:solidFill>
                <a:latin typeface="Arial"/>
              </a:rPr>
              <a:t>IndepenSense · 4</a:t>
            </a:r>
          </a:p>
        </p:txBody>
      </p:sp>
      <p:sp>
        <p:nvSpPr>
          <p:cNvPr id="5" name="Field 1 card"/>
          <p:cNvSpPr/>
          <p:nvPr/>
        </p:nvSpPr>
        <p:spPr>
          <a:xfrm>
            <a:off x="1280160" y="1371600"/>
            <a:ext cx="4790044" cy="4617720"/>
          </a:xfrm>
          <a:prstGeom prst="roundRect">
            <a:avLst>
              <a:gd name="adj" fmla="val 3564"/>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ield 1 text"/>
          <p:cNvSpPr txBox="1"/>
          <p:nvPr/>
        </p:nvSpPr>
        <p:spPr>
          <a:xfrm>
            <a:off x="1463039" y="1554480"/>
            <a:ext cx="4424284" cy="4251959"/>
          </a:xfrm>
          <a:prstGeom prst="rect">
            <a:avLst/>
          </a:prstGeom>
          <a:noFill/>
        </p:spPr>
        <p:txBody>
          <a:bodyPr wrap="square" lIns="0" rIns="0" tIns="0" bIns="0" anchor="t">
            <a:noAutofit/>
          </a:bodyPr>
          <a:lstStyle/>
          <a:p>
            <a:pPr marL="201168" indent="-201168">
              <a:spcAft>
                <a:spcPts val="684"/>
              </a:spcAft>
              <a:buClr>
                <a:srgbClr val="00943A"/>
              </a:buClr>
              <a:buFont typeface="Arial"/>
              <a:buChar char="•"/>
            </a:pPr>
            <a:r>
              <a:rPr sz="1800" b="1" i="0">
                <a:solidFill>
                  <a:srgbClr val="2B2B2B"/>
                </a:solidFill>
                <a:latin typeface="Arial"/>
              </a:rPr>
              <a:t>Local:</a:t>
            </a:r>
            <a:r>
              <a:rPr sz="1800" b="0" i="0">
                <a:solidFill>
                  <a:srgbClr val="2B2B2B"/>
                </a:solidFill>
                <a:latin typeface="Arial"/>
              </a:rPr>
              <a:t> </a:t>
            </a:r>
            <a:r>
              <a:rPr sz="1800" b="1" i="0">
                <a:solidFill>
                  <a:srgbClr val="2B2B2B"/>
                </a:solidFill>
                <a:latin typeface="Arial"/>
              </a:rPr>
              <a:t>ultrasonic + GPS tracking + basic alerts</a:t>
            </a:r>
            <a:r>
              <a:rPr sz="1800" b="0" i="0">
                <a:solidFill>
                  <a:srgbClr val="2B2B2B"/>
                </a:solidFill>
                <a:latin typeface="Arial"/>
              </a:rPr>
              <a:t> on microcontrollers (</a:t>
            </a:r>
            <a:r>
              <a:rPr sz="1800" b="1" i="0">
                <a:solidFill>
                  <a:srgbClr val="2B2B2B"/>
                </a:solidFill>
                <a:latin typeface="Arial"/>
              </a:rPr>
              <a:t>Aycardo et al., 2020</a:t>
            </a:r>
            <a:r>
              <a:rPr sz="1800" b="0" i="0">
                <a:solidFill>
                  <a:srgbClr val="2B2B2B"/>
                </a:solidFill>
                <a:latin typeface="Arial"/>
              </a:rPr>
              <a:t>)</a:t>
            </a:r>
          </a:p>
          <a:p>
            <a:pPr marL="201168" indent="-201168">
              <a:spcAft>
                <a:spcPts val="684"/>
              </a:spcAft>
              <a:buClr>
                <a:srgbClr val="00943A"/>
              </a:buClr>
              <a:buFont typeface="Arial"/>
              <a:buChar char="•"/>
            </a:pPr>
            <a:r>
              <a:rPr sz="1800" b="1" i="0">
                <a:solidFill>
                  <a:srgbClr val="2B2B2B"/>
                </a:solidFill>
                <a:latin typeface="Arial"/>
              </a:rPr>
              <a:t>National:</a:t>
            </a:r>
            <a:r>
              <a:rPr sz="1800" b="0" i="0">
                <a:solidFill>
                  <a:srgbClr val="2B2B2B"/>
                </a:solidFill>
                <a:latin typeface="Arial"/>
              </a:rPr>
              <a:t> microcontroller canes with </a:t>
            </a:r>
            <a:r>
              <a:rPr sz="1800" b="1" i="0">
                <a:solidFill>
                  <a:srgbClr val="2B2B2B"/>
                </a:solidFill>
                <a:latin typeface="Arial"/>
              </a:rPr>
              <a:t>GSM SMS location</a:t>
            </a:r>
            <a:r>
              <a:rPr sz="1800" b="0" i="0">
                <a:solidFill>
                  <a:srgbClr val="2B2B2B"/>
                </a:solidFill>
                <a:latin typeface="Arial"/>
              </a:rPr>
              <a:t> and sound feedback (</a:t>
            </a:r>
            <a:r>
              <a:rPr sz="1800" b="1" i="0">
                <a:solidFill>
                  <a:srgbClr val="2B2B2B"/>
                </a:solidFill>
                <a:latin typeface="Arial"/>
              </a:rPr>
              <a:t>Merencilla et al., 2021; Delgado et al., 2024</a:t>
            </a:r>
            <a:r>
              <a:rPr sz="1800" b="0" i="0">
                <a:solidFill>
                  <a:srgbClr val="2B2B2B"/>
                </a:solidFill>
                <a:latin typeface="Arial"/>
              </a:rPr>
              <a:t>)</a:t>
            </a:r>
          </a:p>
          <a:p>
            <a:pPr marL="201168" indent="-201168">
              <a:spcAft>
                <a:spcPts val="684"/>
              </a:spcAft>
              <a:buClr>
                <a:srgbClr val="00943A"/>
              </a:buClr>
              <a:buFont typeface="Arial"/>
              <a:buChar char="•"/>
            </a:pPr>
            <a:r>
              <a:rPr sz="1800" b="1" i="0">
                <a:solidFill>
                  <a:srgbClr val="2B2B2B"/>
                </a:solidFill>
                <a:latin typeface="Arial"/>
              </a:rPr>
              <a:t>International:</a:t>
            </a:r>
            <a:r>
              <a:rPr sz="1800" b="0" i="0">
                <a:solidFill>
                  <a:srgbClr val="2B2B2B"/>
                </a:solidFill>
                <a:latin typeface="Arial"/>
              </a:rPr>
              <a:t> </a:t>
            </a:r>
            <a:r>
              <a:rPr sz="1800" b="1" i="0">
                <a:solidFill>
                  <a:srgbClr val="2B2B2B"/>
                </a:solidFill>
                <a:latin typeface="Arial"/>
              </a:rPr>
              <a:t>YOLOv8n</a:t>
            </a:r>
            <a:r>
              <a:rPr sz="1800" b="0" i="0">
                <a:solidFill>
                  <a:srgbClr val="2B2B2B"/>
                </a:solidFill>
                <a:latin typeface="Arial"/>
              </a:rPr>
              <a:t>, RGB-D, </a:t>
            </a:r>
            <a:r>
              <a:rPr sz="1800" b="1" i="0">
                <a:solidFill>
                  <a:srgbClr val="2B2B2B"/>
                </a:solidFill>
                <a:latin typeface="Arial"/>
              </a:rPr>
              <a:t>LiDAR</a:t>
            </a:r>
            <a:r>
              <a:rPr sz="1800" b="0" i="0">
                <a:solidFill>
                  <a:srgbClr val="2B2B2B"/>
                </a:solidFill>
                <a:latin typeface="Arial"/>
              </a:rPr>
              <a:t>, </a:t>
            </a:r>
            <a:r>
              <a:rPr sz="1800" b="1" i="0">
                <a:solidFill>
                  <a:srgbClr val="2B2B2B"/>
                </a:solidFill>
                <a:latin typeface="Arial"/>
              </a:rPr>
              <a:t>ToF</a:t>
            </a:r>
            <a:r>
              <a:rPr sz="1800" b="0" i="0">
                <a:solidFill>
                  <a:srgbClr val="2B2B2B"/>
                </a:solidFill>
                <a:latin typeface="Arial"/>
              </a:rPr>
              <a:t>, IoT tracking (</a:t>
            </a:r>
            <a:r>
              <a:rPr sz="1800" b="1" i="0">
                <a:solidFill>
                  <a:srgbClr val="2B2B2B"/>
                </a:solidFill>
                <a:latin typeface="Arial"/>
              </a:rPr>
              <a:t>Mai et al., 2024; Mungdee et al., 2025; Shah et al., 2026</a:t>
            </a:r>
            <a:r>
              <a:rPr sz="1800" b="0" i="0">
                <a:solidFill>
                  <a:srgbClr val="2B2B2B"/>
                </a:solidFill>
                <a:latin typeface="Arial"/>
              </a:rPr>
              <a:t>)</a:t>
            </a:r>
          </a:p>
        </p:txBody>
      </p:sp>
      <p:sp>
        <p:nvSpPr>
          <p:cNvPr id="7" name="Field 2 card"/>
          <p:cNvSpPr/>
          <p:nvPr/>
        </p:nvSpPr>
        <p:spPr>
          <a:xfrm>
            <a:off x="6326236" y="1371600"/>
            <a:ext cx="5423803" cy="4617720"/>
          </a:xfrm>
          <a:prstGeom prst="roundRect">
            <a:avLst>
              <a:gd name="adj" fmla="val 3564"/>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Field 2 text"/>
          <p:cNvSpPr txBox="1"/>
          <p:nvPr/>
        </p:nvSpPr>
        <p:spPr>
          <a:xfrm>
            <a:off x="6509116" y="1554480"/>
            <a:ext cx="5058043" cy="4251959"/>
          </a:xfrm>
          <a:prstGeom prst="rect">
            <a:avLst/>
          </a:prstGeom>
          <a:noFill/>
        </p:spPr>
        <p:txBody>
          <a:bodyPr wrap="square" lIns="0" rIns="0" tIns="0" bIns="0" anchor="t">
            <a:noAutofit/>
          </a:bodyPr>
          <a:lstStyle/>
          <a:p>
            <a:pPr marL="201168" indent="-201168">
              <a:spcAft>
                <a:spcPts val="684"/>
              </a:spcAft>
              <a:buClr>
                <a:srgbClr val="00943A"/>
              </a:buClr>
              <a:buFont typeface="Arial"/>
              <a:buChar char="•"/>
            </a:pPr>
            <a:r>
              <a:rPr sz="1800" b="0" i="0">
                <a:solidFill>
                  <a:srgbClr val="2B2B2B"/>
                </a:solidFill>
                <a:latin typeface="Arial"/>
              </a:rPr>
              <a:t>Local gap: </a:t>
            </a:r>
            <a:r>
              <a:rPr sz="1800" b="1" i="0">
                <a:solidFill>
                  <a:srgbClr val="2B2B2B"/>
                </a:solidFill>
                <a:latin typeface="Arial"/>
              </a:rPr>
              <a:t>no embedded intelligence</a:t>
            </a:r>
            <a:r>
              <a:rPr sz="1800" b="0" i="0">
                <a:solidFill>
                  <a:srgbClr val="2B2B2B"/>
                </a:solidFill>
                <a:latin typeface="Arial"/>
              </a:rPr>
              <a:t>, no object identity</a:t>
            </a:r>
          </a:p>
          <a:p>
            <a:pPr marL="201168" indent="-201168">
              <a:spcAft>
                <a:spcPts val="684"/>
              </a:spcAft>
              <a:buClr>
                <a:srgbClr val="00943A"/>
              </a:buClr>
              <a:buFont typeface="Arial"/>
              <a:buChar char="•"/>
            </a:pPr>
            <a:r>
              <a:rPr sz="1800" b="0" i="0">
                <a:solidFill>
                  <a:srgbClr val="2B2B2B"/>
                </a:solidFill>
                <a:latin typeface="Arial"/>
              </a:rPr>
              <a:t>National gap: </a:t>
            </a:r>
            <a:r>
              <a:rPr sz="1800" b="1" i="0">
                <a:solidFill>
                  <a:srgbClr val="2B2B2B"/>
                </a:solidFill>
                <a:latin typeface="Arial"/>
              </a:rPr>
              <a:t>threshold-only sensing</a:t>
            </a:r>
            <a:r>
              <a:rPr sz="1800" b="0" i="0">
                <a:solidFill>
                  <a:srgbClr val="2B2B2B"/>
                </a:solidFill>
                <a:latin typeface="Arial"/>
              </a:rPr>
              <a:t>, </a:t>
            </a:r>
            <a:r>
              <a:rPr sz="1800" b="1" i="0">
                <a:solidFill>
                  <a:srgbClr val="2B2B2B"/>
                </a:solidFill>
                <a:latin typeface="Arial"/>
              </a:rPr>
              <a:t>reactive</a:t>
            </a:r>
            <a:r>
              <a:rPr sz="1800" b="0" i="0">
                <a:solidFill>
                  <a:srgbClr val="2B2B2B"/>
                </a:solidFill>
                <a:latin typeface="Arial"/>
              </a:rPr>
              <a:t> emergency models, no continuous guardian view</a:t>
            </a:r>
          </a:p>
          <a:p>
            <a:pPr marL="201168" indent="-201168">
              <a:spcAft>
                <a:spcPts val="684"/>
              </a:spcAft>
              <a:buClr>
                <a:srgbClr val="00943A"/>
              </a:buClr>
              <a:buFont typeface="Arial"/>
              <a:buChar char="•"/>
            </a:pPr>
            <a:r>
              <a:rPr sz="1800" b="0" i="0">
                <a:solidFill>
                  <a:srgbClr val="2B2B2B"/>
                </a:solidFill>
                <a:latin typeface="Arial"/>
              </a:rPr>
              <a:t>International gap: </a:t>
            </a:r>
            <a:r>
              <a:rPr sz="1800" b="1" i="0">
                <a:solidFill>
                  <a:srgbClr val="2B2B2B"/>
                </a:solidFill>
                <a:latin typeface="Arial"/>
              </a:rPr>
              <a:t>high power draw, latency, cost, complexity</a:t>
            </a:r>
            <a:r>
              <a:rPr sz="1800" b="0" i="0">
                <a:solidFill>
                  <a:srgbClr val="2B2B2B"/>
                </a:solidFill>
                <a:latin typeface="Arial"/>
              </a:rPr>
              <a:t>, plus </a:t>
            </a:r>
            <a:r>
              <a:rPr sz="1800" b="1" i="0">
                <a:solidFill>
                  <a:srgbClr val="2B2B2B"/>
                </a:solidFill>
                <a:latin typeface="Arial"/>
              </a:rPr>
              <a:t>cognitive overload</a:t>
            </a:r>
            <a:r>
              <a:rPr sz="1800" b="0" i="0">
                <a:solidFill>
                  <a:srgbClr val="2B2B2B"/>
                </a:solidFill>
                <a:latin typeface="Arial"/>
              </a:rPr>
              <a:t> from unprioritised feedback</a:t>
            </a:r>
          </a:p>
          <a:p>
            <a:pPr marL="201168" indent="-201168">
              <a:spcAft>
                <a:spcPts val="684"/>
              </a:spcAft>
              <a:buClr>
                <a:srgbClr val="00943A"/>
              </a:buClr>
              <a:buFont typeface="Arial"/>
              <a:buChar char="•"/>
            </a:pPr>
            <a:r>
              <a:rPr sz="1800" b="1" i="0">
                <a:solidFill>
                  <a:srgbClr val="2B2B2B"/>
                </a:solidFill>
                <a:latin typeface="Arial"/>
              </a:rPr>
              <a:t>Common gap:</a:t>
            </a:r>
            <a:r>
              <a:rPr sz="1800" b="0" i="0">
                <a:solidFill>
                  <a:srgbClr val="2B2B2B"/>
                </a:solidFill>
                <a:latin typeface="Arial"/>
              </a:rPr>
              <a:t> studies improve </a:t>
            </a:r>
            <a:r>
              <a:rPr sz="1800" b="1" i="0">
                <a:solidFill>
                  <a:srgbClr val="2B2B2B"/>
                </a:solidFill>
                <a:latin typeface="Arial"/>
              </a:rPr>
              <a:t>one subsystem at a time</a:t>
            </a:r>
            <a:r>
              <a:rPr sz="1800" b="0" i="0">
                <a:solidFill>
                  <a:srgbClr val="2B2B2B"/>
                </a:solidFill>
                <a:latin typeface="Arial"/>
              </a:rPr>
              <a:t>, with little attention to </a:t>
            </a:r>
            <a:r>
              <a:rPr sz="1800" b="1" i="0">
                <a:solidFill>
                  <a:srgbClr val="2B2B2B"/>
                </a:solidFill>
                <a:latin typeface="Arial"/>
              </a:rPr>
              <a:t>ergonomic weight distribution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tion kicker"/>
          <p:cNvSpPr txBox="1"/>
          <p:nvPr/>
        </p:nvSpPr>
        <p:spPr>
          <a:xfrm>
            <a:off x="1280160" y="292608"/>
            <a:ext cx="8686800" cy="256032"/>
          </a:xfrm>
          <a:prstGeom prst="rect">
            <a:avLst/>
          </a:prstGeom>
          <a:noFill/>
        </p:spPr>
        <p:txBody>
          <a:bodyPr wrap="square" lIns="0" rIns="0" tIns="0" bIns="0" anchor="t">
            <a:noAutofit/>
          </a:bodyPr>
          <a:lstStyle/>
          <a:p>
            <a:r>
              <a:rPr sz="1100" b="1" i="0">
                <a:solidFill>
                  <a:srgbClr val="6B6B6B"/>
                </a:solidFill>
                <a:latin typeface="Arial"/>
              </a:rPr>
              <a:t>SIGNIFICANCE OF THE PROJECT</a:t>
            </a:r>
          </a:p>
        </p:txBody>
      </p:sp>
      <p:sp>
        <p:nvSpPr>
          <p:cNvPr id="3" name="Title"/>
          <p:cNvSpPr txBox="1"/>
          <p:nvPr/>
        </p:nvSpPr>
        <p:spPr>
          <a:xfrm>
            <a:off x="1280160" y="502920"/>
            <a:ext cx="10469880" cy="731520"/>
          </a:xfrm>
          <a:prstGeom prst="rect">
            <a:avLst/>
          </a:prstGeom>
          <a:noFill/>
        </p:spPr>
        <p:txBody>
          <a:bodyPr wrap="square" lIns="0" rIns="0" tIns="0" bIns="0" anchor="ctr">
            <a:noAutofit/>
          </a:bodyPr>
          <a:lstStyle/>
          <a:p>
            <a:r>
              <a:rPr sz="3200" b="1" i="0">
                <a:solidFill>
                  <a:srgbClr val="00943A"/>
                </a:solidFill>
                <a:latin typeface="Arial"/>
              </a:rPr>
              <a:t>Traditional White Cane versus IndepenSense</a:t>
            </a:r>
          </a:p>
        </p:txBody>
      </p:sp>
      <p:sp>
        <p:nvSpPr>
          <p:cNvPr id="4" name="Slide number"/>
          <p:cNvSpPr txBox="1"/>
          <p:nvPr/>
        </p:nvSpPr>
        <p:spPr>
          <a:xfrm>
            <a:off x="1280160" y="6327648"/>
            <a:ext cx="2286000" cy="274320"/>
          </a:xfrm>
          <a:prstGeom prst="rect">
            <a:avLst/>
          </a:prstGeom>
          <a:noFill/>
        </p:spPr>
        <p:txBody>
          <a:bodyPr wrap="square" lIns="0" rIns="0" tIns="0" bIns="0" anchor="t">
            <a:noAutofit/>
          </a:bodyPr>
          <a:lstStyle/>
          <a:p>
            <a:r>
              <a:rPr sz="1000" b="0" i="0">
                <a:solidFill>
                  <a:srgbClr val="6B6B6B"/>
                </a:solidFill>
                <a:latin typeface="Arial"/>
              </a:rPr>
              <a:t>IndepenSense · 5</a:t>
            </a:r>
          </a:p>
        </p:txBody>
      </p:sp>
      <p:sp>
        <p:nvSpPr>
          <p:cNvPr id="5" name="Field 1 card"/>
          <p:cNvSpPr/>
          <p:nvPr/>
        </p:nvSpPr>
        <p:spPr>
          <a:xfrm>
            <a:off x="1280160" y="1371600"/>
            <a:ext cx="4550311" cy="4617720"/>
          </a:xfrm>
          <a:prstGeom prst="roundRect">
            <a:avLst>
              <a:gd name="adj" fmla="val 3617"/>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ield 1 text"/>
          <p:cNvSpPr txBox="1"/>
          <p:nvPr/>
        </p:nvSpPr>
        <p:spPr>
          <a:xfrm>
            <a:off x="1463039" y="1554480"/>
            <a:ext cx="4184551" cy="4251959"/>
          </a:xfrm>
          <a:prstGeom prst="rect">
            <a:avLst/>
          </a:prstGeom>
          <a:noFill/>
        </p:spPr>
        <p:txBody>
          <a:bodyPr wrap="square" lIns="0" rIns="0" tIns="0" bIns="0" anchor="t">
            <a:noAutofit/>
          </a:bodyPr>
          <a:lstStyle/>
          <a:p>
            <a:pPr>
              <a:spcAft>
                <a:spcPts val="765"/>
              </a:spcAft>
              <a:buNone/>
            </a:pPr>
            <a:r>
              <a:rPr sz="1900" b="1" i="0">
                <a:solidFill>
                  <a:srgbClr val="006B2A"/>
                </a:solidFill>
                <a:latin typeface="Arial"/>
              </a:rPr>
              <a:t>Traditional white cane</a:t>
            </a:r>
          </a:p>
          <a:p>
            <a:pPr marL="201168" indent="-201168">
              <a:spcAft>
                <a:spcPts val="646"/>
              </a:spcAft>
              <a:buClr>
                <a:srgbClr val="00943A"/>
              </a:buClr>
              <a:buFont typeface="Arial"/>
              <a:buChar char="•"/>
            </a:pPr>
            <a:r>
              <a:rPr sz="1700" b="0" i="0">
                <a:solidFill>
                  <a:srgbClr val="2B2B2B"/>
                </a:solidFill>
                <a:latin typeface="Arial"/>
              </a:rPr>
              <a:t>Detection by </a:t>
            </a:r>
            <a:r>
              <a:rPr sz="1700" b="1" i="0">
                <a:solidFill>
                  <a:srgbClr val="2B2B2B"/>
                </a:solidFill>
                <a:latin typeface="Arial"/>
              </a:rPr>
              <a:t>physical contact only</a:t>
            </a:r>
          </a:p>
          <a:p>
            <a:pPr marL="201168" indent="-201168">
              <a:spcAft>
                <a:spcPts val="646"/>
              </a:spcAft>
              <a:buClr>
                <a:srgbClr val="00943A"/>
              </a:buClr>
              <a:buFont typeface="Arial"/>
              <a:buChar char="•"/>
            </a:pPr>
            <a:r>
              <a:rPr sz="1700" b="0" i="0">
                <a:solidFill>
                  <a:srgbClr val="2B2B2B"/>
                </a:solidFill>
                <a:latin typeface="Arial"/>
              </a:rPr>
              <a:t>Range is roughly </a:t>
            </a:r>
            <a:r>
              <a:rPr sz="1700" b="1" i="0">
                <a:solidFill>
                  <a:srgbClr val="2B2B2B"/>
                </a:solidFill>
                <a:latin typeface="Arial"/>
              </a:rPr>
              <a:t>cane length (~1 m)</a:t>
            </a:r>
            <a:r>
              <a:rPr sz="1700" b="0" i="0">
                <a:solidFill>
                  <a:srgbClr val="2B2B2B"/>
                </a:solidFill>
                <a:latin typeface="Arial"/>
              </a:rPr>
              <a:t>, at </a:t>
            </a:r>
            <a:r>
              <a:rPr sz="1700" b="1" i="0">
                <a:solidFill>
                  <a:srgbClr val="2B2B2B"/>
                </a:solidFill>
                <a:latin typeface="Arial"/>
              </a:rPr>
              <a:t>ground level only</a:t>
            </a:r>
          </a:p>
          <a:p>
            <a:pPr marL="201168" indent="-201168">
              <a:spcAft>
                <a:spcPts val="646"/>
              </a:spcAft>
              <a:buClr>
                <a:srgbClr val="00943A"/>
              </a:buClr>
              <a:buFont typeface="Arial"/>
              <a:buChar char="•"/>
            </a:pPr>
            <a:r>
              <a:rPr sz="1700" b="1" i="0">
                <a:solidFill>
                  <a:srgbClr val="2B2B2B"/>
                </a:solidFill>
                <a:latin typeface="Arial"/>
              </a:rPr>
              <a:t>No object identity</a:t>
            </a:r>
            <a:r>
              <a:rPr sz="1700" b="0" i="0">
                <a:solidFill>
                  <a:srgbClr val="2B2B2B"/>
                </a:solidFill>
                <a:latin typeface="Arial"/>
              </a:rPr>
              <a:t>: a pole, a person and a sign all feel the same</a:t>
            </a:r>
          </a:p>
          <a:p>
            <a:pPr marL="201168" indent="-201168">
              <a:spcAft>
                <a:spcPts val="646"/>
              </a:spcAft>
              <a:buClr>
                <a:srgbClr val="00943A"/>
              </a:buClr>
              <a:buFont typeface="Arial"/>
              <a:buChar char="•"/>
            </a:pPr>
            <a:r>
              <a:rPr sz="1700" b="1" i="0">
                <a:solidFill>
                  <a:srgbClr val="2B2B2B"/>
                </a:solidFill>
                <a:latin typeface="Arial"/>
              </a:rPr>
              <a:t>No head-level protection</a:t>
            </a:r>
            <a:r>
              <a:rPr sz="1700" b="0" i="0">
                <a:solidFill>
                  <a:srgbClr val="2B2B2B"/>
                </a:solidFill>
                <a:latin typeface="Arial"/>
              </a:rPr>
              <a:t> (branches, awnings, signage)</a:t>
            </a:r>
          </a:p>
          <a:p>
            <a:pPr marL="201168" indent="-201168">
              <a:spcAft>
                <a:spcPts val="646"/>
              </a:spcAft>
              <a:buClr>
                <a:srgbClr val="00943A"/>
              </a:buClr>
              <a:buFont typeface="Arial"/>
              <a:buChar char="•"/>
            </a:pPr>
            <a:r>
              <a:rPr sz="1700" b="1" i="0">
                <a:solidFill>
                  <a:srgbClr val="2B2B2B"/>
                </a:solidFill>
                <a:latin typeface="Arial"/>
              </a:rPr>
              <a:t>No fall awareness</a:t>
            </a:r>
            <a:r>
              <a:rPr sz="1700" b="0" i="0">
                <a:solidFill>
                  <a:srgbClr val="2B2B2B"/>
                </a:solidFill>
                <a:latin typeface="Arial"/>
              </a:rPr>
              <a:t>, and no way to call for help</a:t>
            </a:r>
          </a:p>
          <a:p>
            <a:pPr marL="201168" indent="-201168">
              <a:spcAft>
                <a:spcPts val="646"/>
              </a:spcAft>
              <a:buClr>
                <a:srgbClr val="00943A"/>
              </a:buClr>
              <a:buFont typeface="Arial"/>
              <a:buChar char="•"/>
            </a:pPr>
            <a:r>
              <a:rPr sz="1700" b="0" i="0">
                <a:solidFill>
                  <a:srgbClr val="2B2B2B"/>
                </a:solidFill>
                <a:latin typeface="Arial"/>
              </a:rPr>
              <a:t>Guardian has </a:t>
            </a:r>
            <a:r>
              <a:rPr sz="1700" b="1" i="0">
                <a:solidFill>
                  <a:srgbClr val="2B2B2B"/>
                </a:solidFill>
                <a:latin typeface="Arial"/>
              </a:rPr>
              <a:t>zero visibility</a:t>
            </a:r>
            <a:r>
              <a:rPr sz="1700" b="0" i="0">
                <a:solidFill>
                  <a:srgbClr val="2B2B2B"/>
                </a:solidFill>
                <a:latin typeface="Arial"/>
              </a:rPr>
              <a:t> of location or status</a:t>
            </a:r>
          </a:p>
        </p:txBody>
      </p:sp>
      <p:sp>
        <p:nvSpPr>
          <p:cNvPr id="7" name="Field 2 card"/>
          <p:cNvSpPr/>
          <p:nvPr/>
        </p:nvSpPr>
        <p:spPr>
          <a:xfrm>
            <a:off x="6086503" y="1371600"/>
            <a:ext cx="5663536" cy="4617720"/>
          </a:xfrm>
          <a:prstGeom prst="roundRect">
            <a:avLst>
              <a:gd name="adj" fmla="val 3564"/>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Field 2 text"/>
          <p:cNvSpPr txBox="1"/>
          <p:nvPr/>
        </p:nvSpPr>
        <p:spPr>
          <a:xfrm>
            <a:off x="6269383" y="1554480"/>
            <a:ext cx="5297776" cy="4251959"/>
          </a:xfrm>
          <a:prstGeom prst="rect">
            <a:avLst/>
          </a:prstGeom>
          <a:noFill/>
        </p:spPr>
        <p:txBody>
          <a:bodyPr wrap="square" lIns="0" rIns="0" tIns="0" bIns="0" anchor="t">
            <a:noAutofit/>
          </a:bodyPr>
          <a:lstStyle/>
          <a:p>
            <a:pPr>
              <a:spcAft>
                <a:spcPts val="765"/>
              </a:spcAft>
              <a:buNone/>
            </a:pPr>
            <a:r>
              <a:rPr sz="1900" b="1" i="0">
                <a:solidFill>
                  <a:srgbClr val="006B2A"/>
                </a:solidFill>
                <a:latin typeface="Arial"/>
              </a:rPr>
              <a:t>IndepenSense</a:t>
            </a:r>
          </a:p>
          <a:p>
            <a:pPr marL="201168" indent="-201168">
              <a:spcAft>
                <a:spcPts val="646"/>
              </a:spcAft>
              <a:buClr>
                <a:srgbClr val="00943A"/>
              </a:buClr>
              <a:buFont typeface="Arial"/>
              <a:buChar char="•"/>
            </a:pPr>
            <a:r>
              <a:rPr sz="1700" b="1" i="0">
                <a:solidFill>
                  <a:srgbClr val="2B2B2B"/>
                </a:solidFill>
                <a:latin typeface="Arial"/>
              </a:rPr>
              <a:t>Contactless detection</a:t>
            </a:r>
            <a:r>
              <a:rPr sz="1700" b="0" i="0">
                <a:solidFill>
                  <a:srgbClr val="2B2B2B"/>
                </a:solidFill>
                <a:latin typeface="Arial"/>
              </a:rPr>
              <a:t>: </a:t>
            </a:r>
            <a:r>
              <a:rPr sz="1700" b="1" i="0">
                <a:solidFill>
                  <a:srgbClr val="2B2B2B"/>
                </a:solidFill>
                <a:latin typeface="Arial"/>
              </a:rPr>
              <a:t>2× DYP-A22 ultrasonic</a:t>
            </a:r>
            <a:r>
              <a:rPr sz="1700" b="0" i="0">
                <a:solidFill>
                  <a:srgbClr val="2B2B2B"/>
                </a:solidFill>
                <a:latin typeface="Arial"/>
              </a:rPr>
              <a:t>, upper and ground level</a:t>
            </a:r>
          </a:p>
          <a:p>
            <a:pPr marL="201168" indent="-201168">
              <a:spcAft>
                <a:spcPts val="646"/>
              </a:spcAft>
              <a:buClr>
                <a:srgbClr val="00943A"/>
              </a:buClr>
              <a:buFont typeface="Arial"/>
              <a:buChar char="•"/>
            </a:pPr>
            <a:r>
              <a:rPr sz="1700" b="0" i="0">
                <a:solidFill>
                  <a:srgbClr val="2B2B2B"/>
                </a:solidFill>
                <a:latin typeface="Arial"/>
              </a:rPr>
              <a:t>Proximity warnings start at </a:t>
            </a:r>
            <a:r>
              <a:rPr sz="1700" b="1" i="0">
                <a:solidFill>
                  <a:srgbClr val="2B2B2B"/>
                </a:solidFill>
                <a:latin typeface="Arial"/>
              </a:rPr>
              <a:t>200 cm</a:t>
            </a:r>
            <a:r>
              <a:rPr sz="1700" b="0" i="0">
                <a:solidFill>
                  <a:srgbClr val="2B2B2B"/>
                </a:solidFill>
                <a:latin typeface="Arial"/>
              </a:rPr>
              <a:t> and </a:t>
            </a:r>
            <a:r>
              <a:rPr sz="1700" b="1" i="0">
                <a:solidFill>
                  <a:srgbClr val="2B2B2B"/>
                </a:solidFill>
                <a:latin typeface="Arial"/>
              </a:rPr>
              <a:t>all 3 motors</a:t>
            </a:r>
            <a:r>
              <a:rPr sz="1700" b="0" i="0">
                <a:solidFill>
                  <a:srgbClr val="2B2B2B"/>
                </a:solidFill>
                <a:latin typeface="Arial"/>
              </a:rPr>
              <a:t> fire inside </a:t>
            </a:r>
            <a:r>
              <a:rPr sz="1700" b="1" i="0">
                <a:solidFill>
                  <a:srgbClr val="2B2B2B"/>
                </a:solidFill>
                <a:latin typeface="Arial"/>
              </a:rPr>
              <a:t>50 cm</a:t>
            </a:r>
          </a:p>
          <a:p>
            <a:pPr marL="201168" indent="-201168">
              <a:spcAft>
                <a:spcPts val="646"/>
              </a:spcAft>
              <a:buClr>
                <a:srgbClr val="00943A"/>
              </a:buClr>
              <a:buFont typeface="Arial"/>
              <a:buChar char="•"/>
            </a:pPr>
            <a:r>
              <a:rPr sz="1700" b="1" i="0">
                <a:solidFill>
                  <a:srgbClr val="2B2B2B"/>
                </a:solidFill>
                <a:latin typeface="Arial"/>
              </a:rPr>
              <a:t>Object recognition</a:t>
            </a:r>
            <a:r>
              <a:rPr sz="1700" b="0" i="0">
                <a:solidFill>
                  <a:srgbClr val="2B2B2B"/>
                </a:solidFill>
                <a:latin typeface="Arial"/>
              </a:rPr>
              <a:t> and </a:t>
            </a:r>
            <a:r>
              <a:rPr sz="1700" b="1" i="0">
                <a:solidFill>
                  <a:srgbClr val="2B2B2B"/>
                </a:solidFill>
                <a:latin typeface="Arial"/>
              </a:rPr>
              <a:t>sign reading</a:t>
            </a:r>
            <a:r>
              <a:rPr sz="1700" b="0" i="0">
                <a:solidFill>
                  <a:srgbClr val="2B2B2B"/>
                </a:solidFill>
                <a:latin typeface="Arial"/>
              </a:rPr>
              <a:t> on demand: </a:t>
            </a:r>
            <a:r>
              <a:rPr sz="1700" b="1" i="0">
                <a:solidFill>
                  <a:srgbClr val="2B2B2B"/>
                </a:solidFill>
                <a:latin typeface="Arial"/>
              </a:rPr>
              <a:t>Camera Module 3 + YOLOv8</a:t>
            </a:r>
            <a:r>
              <a:rPr sz="1700" b="0" i="0">
                <a:solidFill>
                  <a:srgbClr val="2B2B2B"/>
                </a:solidFill>
                <a:latin typeface="Arial"/>
              </a:rPr>
              <a:t> + </a:t>
            </a:r>
            <a:r>
              <a:rPr sz="1700" b="1" i="0">
                <a:solidFill>
                  <a:srgbClr val="2B2B2B"/>
                </a:solidFill>
                <a:latin typeface="Arial"/>
              </a:rPr>
              <a:t>Tesseract OCR</a:t>
            </a:r>
          </a:p>
          <a:p>
            <a:pPr marL="201168" indent="-201168">
              <a:spcAft>
                <a:spcPts val="646"/>
              </a:spcAft>
              <a:buClr>
                <a:srgbClr val="00943A"/>
              </a:buClr>
              <a:buFont typeface="Arial"/>
              <a:buChar char="•"/>
            </a:pPr>
            <a:r>
              <a:rPr sz="1700" b="1" i="0">
                <a:solidFill>
                  <a:srgbClr val="2B2B2B"/>
                </a:solidFill>
                <a:latin typeface="Arial"/>
              </a:rPr>
              <a:t>MPU-6050 fall detection</a:t>
            </a:r>
            <a:r>
              <a:rPr sz="1700" b="0" i="0">
                <a:solidFill>
                  <a:srgbClr val="2B2B2B"/>
                </a:solidFill>
                <a:latin typeface="Arial"/>
              </a:rPr>
              <a:t> at </a:t>
            </a:r>
            <a:r>
              <a:rPr sz="1700" b="1" i="0">
                <a:solidFill>
                  <a:srgbClr val="2B2B2B"/>
                </a:solidFill>
                <a:latin typeface="Arial"/>
              </a:rPr>
              <a:t>100 Hz</a:t>
            </a:r>
            <a:r>
              <a:rPr sz="1700" b="0" i="0">
                <a:solidFill>
                  <a:srgbClr val="2B2B2B"/>
                </a:solidFill>
                <a:latin typeface="Arial"/>
              </a:rPr>
              <a:t> triggers an automatic alarm</a:t>
            </a:r>
          </a:p>
          <a:p>
            <a:pPr marL="201168" indent="-201168">
              <a:spcAft>
                <a:spcPts val="646"/>
              </a:spcAft>
              <a:buClr>
                <a:srgbClr val="00943A"/>
              </a:buClr>
              <a:buFont typeface="Arial"/>
              <a:buChar char="•"/>
            </a:pPr>
            <a:r>
              <a:rPr sz="1700" b="1" i="0">
                <a:solidFill>
                  <a:srgbClr val="2B2B2B"/>
                </a:solidFill>
                <a:latin typeface="Arial"/>
              </a:rPr>
              <a:t>SOS button</a:t>
            </a:r>
            <a:r>
              <a:rPr sz="1700" b="0" i="0">
                <a:solidFill>
                  <a:srgbClr val="2B2B2B"/>
                </a:solidFill>
                <a:latin typeface="Arial"/>
              </a:rPr>
              <a:t> sends a </a:t>
            </a:r>
            <a:r>
              <a:rPr sz="1700" b="1" i="0">
                <a:solidFill>
                  <a:srgbClr val="2B2B2B"/>
                </a:solidFill>
                <a:latin typeface="Arial"/>
              </a:rPr>
              <a:t>GPS-tagged</a:t>
            </a:r>
            <a:r>
              <a:rPr sz="1700" b="0" i="0">
                <a:solidFill>
                  <a:srgbClr val="2B2B2B"/>
                </a:solidFill>
                <a:latin typeface="Arial"/>
              </a:rPr>
              <a:t> alert over </a:t>
            </a:r>
            <a:r>
              <a:rPr sz="1700" b="1" i="0">
                <a:solidFill>
                  <a:srgbClr val="2B2B2B"/>
                </a:solidFill>
                <a:latin typeface="Arial"/>
              </a:rPr>
              <a:t>LTE (HTTPS) + SMS</a:t>
            </a:r>
          </a:p>
          <a:p>
            <a:pPr marL="201168" indent="-201168">
              <a:spcAft>
                <a:spcPts val="646"/>
              </a:spcAft>
              <a:buClr>
                <a:srgbClr val="00943A"/>
              </a:buClr>
              <a:buFont typeface="Arial"/>
              <a:buChar char="•"/>
            </a:pPr>
            <a:r>
              <a:rPr sz="1700" b="1" i="0">
                <a:solidFill>
                  <a:srgbClr val="2B2B2B"/>
                </a:solidFill>
                <a:latin typeface="Arial"/>
              </a:rPr>
              <a:t>Live guardian tracking</a:t>
            </a:r>
            <a:r>
              <a:rPr sz="1700" b="0" i="0">
                <a:solidFill>
                  <a:srgbClr val="2B2B2B"/>
                </a:solidFill>
                <a:latin typeface="Arial"/>
              </a:rPr>
              <a:t> on the </a:t>
            </a:r>
            <a:r>
              <a:rPr sz="1700" b="1" i="0">
                <a:solidFill>
                  <a:srgbClr val="2B2B2B"/>
                </a:solidFill>
                <a:latin typeface="Arial"/>
              </a:rPr>
              <a:t>web + Android</a:t>
            </a:r>
            <a:r>
              <a:rPr sz="1700" b="0" i="0">
                <a:solidFill>
                  <a:srgbClr val="2B2B2B"/>
                </a:solidFill>
                <a:latin typeface="Arial"/>
              </a:rPr>
              <a:t> platform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tion kicker"/>
          <p:cNvSpPr txBox="1"/>
          <p:nvPr/>
        </p:nvSpPr>
        <p:spPr>
          <a:xfrm>
            <a:off x="1280160" y="292608"/>
            <a:ext cx="8686800" cy="256032"/>
          </a:xfrm>
          <a:prstGeom prst="rect">
            <a:avLst/>
          </a:prstGeom>
          <a:noFill/>
        </p:spPr>
        <p:txBody>
          <a:bodyPr wrap="square" lIns="0" rIns="0" tIns="0" bIns="0" anchor="t">
            <a:noAutofit/>
          </a:bodyPr>
          <a:lstStyle/>
          <a:p>
            <a:r>
              <a:rPr sz="1100" b="1" i="0">
                <a:solidFill>
                  <a:srgbClr val="6B6B6B"/>
                </a:solidFill>
                <a:latin typeface="Arial"/>
              </a:rPr>
              <a:t>SIGNIFICANCE OF THE PROJECT</a:t>
            </a:r>
          </a:p>
        </p:txBody>
      </p:sp>
      <p:sp>
        <p:nvSpPr>
          <p:cNvPr id="3" name="Title"/>
          <p:cNvSpPr txBox="1"/>
          <p:nvPr/>
        </p:nvSpPr>
        <p:spPr>
          <a:xfrm>
            <a:off x="1280160" y="502920"/>
            <a:ext cx="10469880" cy="731520"/>
          </a:xfrm>
          <a:prstGeom prst="rect">
            <a:avLst/>
          </a:prstGeom>
          <a:noFill/>
        </p:spPr>
        <p:txBody>
          <a:bodyPr wrap="square" lIns="0" rIns="0" tIns="0" bIns="0" anchor="ctr">
            <a:noAutofit/>
          </a:bodyPr>
          <a:lstStyle/>
          <a:p>
            <a:r>
              <a:rPr sz="3200" b="1" i="0">
                <a:solidFill>
                  <a:srgbClr val="00943A"/>
                </a:solidFill>
                <a:latin typeface="Arial"/>
              </a:rPr>
              <a:t>Dual-Beneficiary Design: User and Guardian</a:t>
            </a:r>
          </a:p>
        </p:txBody>
      </p:sp>
      <p:sp>
        <p:nvSpPr>
          <p:cNvPr id="4" name="Slide number"/>
          <p:cNvSpPr txBox="1"/>
          <p:nvPr/>
        </p:nvSpPr>
        <p:spPr>
          <a:xfrm>
            <a:off x="1280160" y="6327648"/>
            <a:ext cx="2286000" cy="274320"/>
          </a:xfrm>
          <a:prstGeom prst="rect">
            <a:avLst/>
          </a:prstGeom>
          <a:noFill/>
        </p:spPr>
        <p:txBody>
          <a:bodyPr wrap="square" lIns="0" rIns="0" tIns="0" bIns="0" anchor="t">
            <a:noAutofit/>
          </a:bodyPr>
          <a:lstStyle/>
          <a:p>
            <a:r>
              <a:rPr sz="1000" b="0" i="0">
                <a:solidFill>
                  <a:srgbClr val="6B6B6B"/>
                </a:solidFill>
                <a:latin typeface="Arial"/>
              </a:rPr>
              <a:t>IndepenSense · 6</a:t>
            </a:r>
          </a:p>
        </p:txBody>
      </p:sp>
      <p:pic>
        <p:nvPicPr>
          <p:cNvPr id="5" name="Figure 1" descr="p25_X128.png"/>
          <p:cNvPicPr>
            <a:picLocks noChangeAspect="1"/>
          </p:cNvPicPr>
          <p:nvPr/>
        </p:nvPicPr>
        <p:blipFill>
          <a:blip r:embed="rId2"/>
          <a:stretch>
            <a:fillRect/>
          </a:stretch>
        </p:blipFill>
        <p:spPr>
          <a:xfrm>
            <a:off x="9167542" y="1371600"/>
            <a:ext cx="2582497" cy="4325112"/>
          </a:xfrm>
          <a:prstGeom prst="rect">
            <a:avLst/>
          </a:prstGeom>
          <a:ln w="9525">
            <a:solidFill>
              <a:srgbClr val="D9D9D9"/>
            </a:solidFill>
          </a:ln>
        </p:spPr>
      </p:pic>
      <p:sp>
        <p:nvSpPr>
          <p:cNvPr id="6" name="Figure 1 caption"/>
          <p:cNvSpPr txBox="1"/>
          <p:nvPr/>
        </p:nvSpPr>
        <p:spPr>
          <a:xfrm>
            <a:off x="9076102" y="5742431"/>
            <a:ext cx="2765377" cy="274320"/>
          </a:xfrm>
          <a:prstGeom prst="rect">
            <a:avLst/>
          </a:prstGeom>
          <a:noFill/>
        </p:spPr>
        <p:txBody>
          <a:bodyPr wrap="square" lIns="0" rIns="0" tIns="0" bIns="0" anchor="t">
            <a:noAutofit/>
          </a:bodyPr>
          <a:lstStyle/>
          <a:p>
            <a:pPr algn="ctr"/>
            <a:r>
              <a:rPr sz="1000" b="0" i="1">
                <a:solidFill>
                  <a:srgbClr val="6B6B6B"/>
                </a:solidFill>
                <a:latin typeface="Arial"/>
              </a:rPr>
              <a:t>Guardian app: emergency alert view</a:t>
            </a:r>
          </a:p>
        </p:txBody>
      </p:sp>
      <p:sp>
        <p:nvSpPr>
          <p:cNvPr id="7" name="Field 1 card"/>
          <p:cNvSpPr/>
          <p:nvPr/>
        </p:nvSpPr>
        <p:spPr>
          <a:xfrm>
            <a:off x="1280160" y="1371600"/>
            <a:ext cx="4262541" cy="4617720"/>
          </a:xfrm>
          <a:prstGeom prst="roundRect">
            <a:avLst>
              <a:gd name="adj" fmla="val 3861"/>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Field 1 text"/>
          <p:cNvSpPr txBox="1"/>
          <p:nvPr/>
        </p:nvSpPr>
        <p:spPr>
          <a:xfrm>
            <a:off x="1463039" y="1554480"/>
            <a:ext cx="3896781" cy="4251959"/>
          </a:xfrm>
          <a:prstGeom prst="rect">
            <a:avLst/>
          </a:prstGeom>
          <a:noFill/>
        </p:spPr>
        <p:txBody>
          <a:bodyPr wrap="square" lIns="0" rIns="0" tIns="0" bIns="0" anchor="t">
            <a:noAutofit/>
          </a:bodyPr>
          <a:lstStyle/>
          <a:p>
            <a:pPr>
              <a:spcAft>
                <a:spcPts val="585"/>
              </a:spcAft>
              <a:buNone/>
            </a:pPr>
            <a:r>
              <a:rPr sz="1500" b="1" i="0">
                <a:solidFill>
                  <a:srgbClr val="006B2A"/>
                </a:solidFill>
                <a:latin typeface="Arial"/>
              </a:rPr>
              <a:t>Environmental awareness for the user</a:t>
            </a:r>
          </a:p>
          <a:p>
            <a:pPr marL="201168" indent="-201168">
              <a:spcAft>
                <a:spcPts val="494"/>
              </a:spcAft>
              <a:buClr>
                <a:srgbClr val="00943A"/>
              </a:buClr>
              <a:buFont typeface="Arial"/>
              <a:buChar char="•"/>
            </a:pPr>
            <a:r>
              <a:rPr sz="1300" b="1" i="0">
                <a:solidFill>
                  <a:srgbClr val="2B2B2B"/>
                </a:solidFill>
                <a:latin typeface="Arial"/>
              </a:rPr>
              <a:t>Haptic channel:</a:t>
            </a:r>
            <a:r>
              <a:rPr sz="1300" b="0" i="0">
                <a:solidFill>
                  <a:srgbClr val="2B2B2B"/>
                </a:solidFill>
                <a:latin typeface="Arial"/>
              </a:rPr>
              <a:t> urgent proximity cues, </a:t>
            </a:r>
            <a:r>
              <a:rPr sz="1300" b="1" i="0">
                <a:solidFill>
                  <a:srgbClr val="2B2B2B"/>
                </a:solidFill>
                <a:latin typeface="Arial"/>
              </a:rPr>
              <a:t>pulse rate encodes distance</a:t>
            </a:r>
            <a:r>
              <a:rPr sz="1300" b="0" i="0">
                <a:solidFill>
                  <a:srgbClr val="2B2B2B"/>
                </a:solidFill>
                <a:latin typeface="Arial"/>
              </a:rPr>
              <a:t> (parking-sensor model)</a:t>
            </a:r>
          </a:p>
          <a:p>
            <a:pPr marL="201168" indent="-201168">
              <a:spcAft>
                <a:spcPts val="494"/>
              </a:spcAft>
              <a:buClr>
                <a:srgbClr val="00943A"/>
              </a:buClr>
              <a:buFont typeface="Arial"/>
              <a:buChar char="•"/>
            </a:pPr>
            <a:r>
              <a:rPr sz="1300" b="1" i="0">
                <a:solidFill>
                  <a:srgbClr val="2B2B2B"/>
                </a:solidFill>
                <a:latin typeface="Arial"/>
              </a:rPr>
              <a:t>Audio channel:</a:t>
            </a:r>
            <a:r>
              <a:rPr sz="1300" b="0" i="0">
                <a:solidFill>
                  <a:srgbClr val="2B2B2B"/>
                </a:solidFill>
                <a:latin typeface="Arial"/>
              </a:rPr>
              <a:t> descriptive information such as object names, signs, turn instructions and battery status</a:t>
            </a:r>
          </a:p>
          <a:p>
            <a:pPr marL="201168" indent="-201168">
              <a:spcAft>
                <a:spcPts val="494"/>
              </a:spcAft>
              <a:buClr>
                <a:srgbClr val="00943A"/>
              </a:buClr>
              <a:buFont typeface="Arial"/>
              <a:buChar char="•"/>
            </a:pPr>
            <a:r>
              <a:rPr sz="1300" b="1" i="0">
                <a:solidFill>
                  <a:srgbClr val="2B2B2B"/>
                </a:solidFill>
                <a:latin typeface="Arial"/>
              </a:rPr>
              <a:t>Push-to-Talk</a:t>
            </a:r>
            <a:r>
              <a:rPr sz="1300" b="0" i="0">
                <a:solidFill>
                  <a:srgbClr val="2B2B2B"/>
                </a:solidFill>
                <a:latin typeface="Arial"/>
              </a:rPr>
              <a:t> voice commands, so no screen and no visual menu are needed</a:t>
            </a:r>
          </a:p>
          <a:p>
            <a:pPr marL="201168" indent="-201168">
              <a:spcAft>
                <a:spcPts val="494"/>
              </a:spcAft>
              <a:buClr>
                <a:srgbClr val="00943A"/>
              </a:buClr>
              <a:buFont typeface="Arial"/>
              <a:buChar char="•"/>
            </a:pPr>
            <a:r>
              <a:rPr sz="1300" b="1" i="0">
                <a:solidFill>
                  <a:srgbClr val="2B2B2B"/>
                </a:solidFill>
                <a:latin typeface="Arial"/>
              </a:rPr>
              <a:t>Bilingual speech:</a:t>
            </a:r>
            <a:r>
              <a:rPr sz="1300" b="0" i="0">
                <a:solidFill>
                  <a:srgbClr val="2B2B2B"/>
                </a:solidFill>
                <a:latin typeface="Arial"/>
              </a:rPr>
              <a:t> </a:t>
            </a:r>
            <a:r>
              <a:rPr sz="1300" b="1" i="0">
                <a:solidFill>
                  <a:srgbClr val="2B2B2B"/>
                </a:solidFill>
                <a:latin typeface="Arial"/>
              </a:rPr>
              <a:t>English + Tagalog</a:t>
            </a:r>
          </a:p>
          <a:p>
            <a:pPr marL="201168" indent="-201168">
              <a:spcAft>
                <a:spcPts val="494"/>
              </a:spcAft>
              <a:buClr>
                <a:srgbClr val="00943A"/>
              </a:buClr>
              <a:buFont typeface="Arial"/>
              <a:buChar char="•"/>
            </a:pPr>
            <a:r>
              <a:rPr sz="1300" b="0" i="0">
                <a:solidFill>
                  <a:srgbClr val="2B2B2B"/>
                </a:solidFill>
                <a:latin typeface="Arial"/>
              </a:rPr>
              <a:t>Grounded in </a:t>
            </a:r>
            <a:r>
              <a:rPr sz="1300" b="1" i="0">
                <a:solidFill>
                  <a:srgbClr val="2B2B2B"/>
                </a:solidFill>
                <a:latin typeface="Arial"/>
              </a:rPr>
              <a:t>Multimodal Interaction</a:t>
            </a:r>
            <a:r>
              <a:rPr sz="1300" b="0" i="0">
                <a:solidFill>
                  <a:srgbClr val="2B2B2B"/>
                </a:solidFill>
                <a:latin typeface="Arial"/>
              </a:rPr>
              <a:t> and </a:t>
            </a:r>
            <a:r>
              <a:rPr sz="1300" b="1" i="0">
                <a:solidFill>
                  <a:srgbClr val="2B2B2B"/>
                </a:solidFill>
                <a:latin typeface="Arial"/>
              </a:rPr>
              <a:t>Cognitive Load Theory</a:t>
            </a:r>
            <a:r>
              <a:rPr sz="1300" b="0" i="0">
                <a:solidFill>
                  <a:srgbClr val="2B2B2B"/>
                </a:solidFill>
                <a:latin typeface="Arial"/>
              </a:rPr>
              <a:t>: urgent cues go to touch, descriptive information to hearing</a:t>
            </a:r>
          </a:p>
        </p:txBody>
      </p:sp>
      <p:sp>
        <p:nvSpPr>
          <p:cNvPr id="9" name="Field 2 card"/>
          <p:cNvSpPr/>
          <p:nvPr/>
        </p:nvSpPr>
        <p:spPr>
          <a:xfrm>
            <a:off x="5798733" y="1371600"/>
            <a:ext cx="3112777" cy="4617720"/>
          </a:xfrm>
          <a:prstGeom prst="roundRect">
            <a:avLst>
              <a:gd name="adj" fmla="val 5287"/>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Field 2 text"/>
          <p:cNvSpPr txBox="1"/>
          <p:nvPr/>
        </p:nvSpPr>
        <p:spPr>
          <a:xfrm>
            <a:off x="5981613" y="1554480"/>
            <a:ext cx="2747017" cy="4251959"/>
          </a:xfrm>
          <a:prstGeom prst="rect">
            <a:avLst/>
          </a:prstGeom>
          <a:noFill/>
        </p:spPr>
        <p:txBody>
          <a:bodyPr wrap="square" lIns="0" rIns="0" tIns="0" bIns="0" anchor="t">
            <a:noAutofit/>
          </a:bodyPr>
          <a:lstStyle/>
          <a:p>
            <a:pPr>
              <a:spcAft>
                <a:spcPts val="585"/>
              </a:spcAft>
              <a:buNone/>
            </a:pPr>
            <a:r>
              <a:rPr sz="1500" b="1" i="0">
                <a:solidFill>
                  <a:srgbClr val="006B2A"/>
                </a:solidFill>
                <a:latin typeface="Arial"/>
              </a:rPr>
              <a:t>Real-time safety for the guardian</a:t>
            </a:r>
          </a:p>
          <a:p>
            <a:pPr marL="201168" indent="-201168">
              <a:spcAft>
                <a:spcPts val="494"/>
              </a:spcAft>
              <a:buClr>
                <a:srgbClr val="00943A"/>
              </a:buClr>
              <a:buFont typeface="Arial"/>
              <a:buChar char="•"/>
            </a:pPr>
            <a:r>
              <a:rPr sz="1300" b="1" i="0">
                <a:solidFill>
                  <a:srgbClr val="2B2B2B"/>
                </a:solidFill>
                <a:latin typeface="Arial"/>
              </a:rPr>
              <a:t>Live GPS location</a:t>
            </a:r>
            <a:r>
              <a:rPr sz="1300" b="0" i="0">
                <a:solidFill>
                  <a:srgbClr val="2B2B2B"/>
                </a:solidFill>
                <a:latin typeface="Arial"/>
              </a:rPr>
              <a:t> on the </a:t>
            </a:r>
            <a:r>
              <a:rPr sz="1300" b="1" i="0">
                <a:solidFill>
                  <a:srgbClr val="2B2B2B"/>
                </a:solidFill>
                <a:latin typeface="Arial"/>
              </a:rPr>
              <a:t>web dashboard + Android app</a:t>
            </a:r>
          </a:p>
          <a:p>
            <a:pPr marL="201168" indent="-201168">
              <a:spcAft>
                <a:spcPts val="494"/>
              </a:spcAft>
              <a:buClr>
                <a:srgbClr val="00943A"/>
              </a:buClr>
              <a:buFont typeface="Arial"/>
              <a:buChar char="•"/>
            </a:pPr>
            <a:r>
              <a:rPr sz="1300" b="1" i="0">
                <a:solidFill>
                  <a:srgbClr val="2B2B2B"/>
                </a:solidFill>
                <a:latin typeface="Arial"/>
              </a:rPr>
              <a:t>Automatic alerts</a:t>
            </a:r>
            <a:r>
              <a:rPr sz="1300" b="0" i="0">
                <a:solidFill>
                  <a:srgbClr val="2B2B2B"/>
                </a:solidFill>
                <a:latin typeface="Arial"/>
              </a:rPr>
              <a:t> for </a:t>
            </a:r>
            <a:r>
              <a:rPr sz="1300" b="1" i="0">
                <a:solidFill>
                  <a:srgbClr val="2B2B2B"/>
                </a:solidFill>
                <a:latin typeface="Arial"/>
              </a:rPr>
              <a:t>SOS</a:t>
            </a:r>
            <a:r>
              <a:rPr sz="1300" b="0" i="0">
                <a:solidFill>
                  <a:srgbClr val="2B2B2B"/>
                </a:solidFill>
                <a:latin typeface="Arial"/>
              </a:rPr>
              <a:t>, </a:t>
            </a:r>
            <a:r>
              <a:rPr sz="1300" b="1" i="0">
                <a:solidFill>
                  <a:srgbClr val="2B2B2B"/>
                </a:solidFill>
                <a:latin typeface="Arial"/>
              </a:rPr>
              <a:t>fall detection</a:t>
            </a:r>
            <a:r>
              <a:rPr sz="1300" b="0" i="0">
                <a:solidFill>
                  <a:srgbClr val="2B2B2B"/>
                </a:solidFill>
                <a:latin typeface="Arial"/>
              </a:rPr>
              <a:t> and </a:t>
            </a:r>
            <a:r>
              <a:rPr sz="1300" b="1" i="0">
                <a:solidFill>
                  <a:srgbClr val="2B2B2B"/>
                </a:solidFill>
                <a:latin typeface="Arial"/>
              </a:rPr>
              <a:t>low battery</a:t>
            </a:r>
          </a:p>
          <a:p>
            <a:pPr marL="201168" indent="-201168">
              <a:spcAft>
                <a:spcPts val="494"/>
              </a:spcAft>
              <a:buClr>
                <a:srgbClr val="00943A"/>
              </a:buClr>
              <a:buFont typeface="Arial"/>
              <a:buChar char="•"/>
            </a:pPr>
            <a:r>
              <a:rPr sz="1300" b="0" i="0">
                <a:solidFill>
                  <a:srgbClr val="2B2B2B"/>
                </a:solidFill>
                <a:latin typeface="Arial"/>
              </a:rPr>
              <a:t>Device </a:t>
            </a:r>
            <a:r>
              <a:rPr sz="1300" b="1" i="0">
                <a:solidFill>
                  <a:srgbClr val="2B2B2B"/>
                </a:solidFill>
                <a:latin typeface="Arial"/>
              </a:rPr>
              <a:t>heartbeat every 30 s</a:t>
            </a:r>
            <a:r>
              <a:rPr sz="1300" b="0" i="0">
                <a:solidFill>
                  <a:srgbClr val="2B2B2B"/>
                </a:solidFill>
                <a:latin typeface="Arial"/>
              </a:rPr>
              <a:t> carrying battery and cellular status</a:t>
            </a:r>
          </a:p>
          <a:p>
            <a:pPr marL="201168" indent="-201168">
              <a:spcAft>
                <a:spcPts val="494"/>
              </a:spcAft>
              <a:buClr>
                <a:srgbClr val="00943A"/>
              </a:buClr>
              <a:buFont typeface="Arial"/>
              <a:buChar char="•"/>
            </a:pPr>
            <a:r>
              <a:rPr sz="1300" b="1" i="0">
                <a:solidFill>
                  <a:srgbClr val="2B2B2B"/>
                </a:solidFill>
                <a:latin typeface="Arial"/>
              </a:rPr>
              <a:t>SMS fallback</a:t>
            </a:r>
            <a:r>
              <a:rPr sz="1300" b="0" i="0">
                <a:solidFill>
                  <a:srgbClr val="2B2B2B"/>
                </a:solidFill>
                <a:latin typeface="Arial"/>
              </a:rPr>
              <a:t> that needs signal but </a:t>
            </a:r>
            <a:r>
              <a:rPr sz="1300" b="1" i="0">
                <a:solidFill>
                  <a:srgbClr val="2B2B2B"/>
                </a:solidFill>
                <a:latin typeface="Arial"/>
              </a:rPr>
              <a:t>no data connection</a:t>
            </a:r>
          </a:p>
          <a:p>
            <a:pPr marL="201168" indent="-201168">
              <a:spcAft>
                <a:spcPts val="494"/>
              </a:spcAft>
              <a:buClr>
                <a:srgbClr val="00943A"/>
              </a:buClr>
              <a:buFont typeface="Arial"/>
              <a:buChar char="•"/>
            </a:pPr>
            <a:r>
              <a:rPr sz="1300" b="1" i="0">
                <a:solidFill>
                  <a:srgbClr val="2B2B2B"/>
                </a:solidFill>
                <a:latin typeface="Arial"/>
              </a:rPr>
              <a:t>SDG 9:</a:t>
            </a:r>
            <a:r>
              <a:rPr sz="1300" b="0" i="0">
                <a:solidFill>
                  <a:srgbClr val="2B2B2B"/>
                </a:solidFill>
                <a:latin typeface="Arial"/>
              </a:rPr>
              <a:t> Industry, Innovation &amp; Infrastructure · </a:t>
            </a:r>
            <a:r>
              <a:rPr sz="1300" b="1" i="0">
                <a:solidFill>
                  <a:srgbClr val="2B2B2B"/>
                </a:solidFill>
                <a:latin typeface="Arial"/>
              </a:rPr>
              <a:t>SDG 10:</a:t>
            </a:r>
            <a:r>
              <a:rPr sz="1300" b="0" i="0">
                <a:solidFill>
                  <a:srgbClr val="2B2B2B"/>
                </a:solidFill>
                <a:latin typeface="Arial"/>
              </a:rPr>
              <a:t> Reduced Inequalities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tion kicker"/>
          <p:cNvSpPr txBox="1"/>
          <p:nvPr/>
        </p:nvSpPr>
        <p:spPr>
          <a:xfrm>
            <a:off x="1280160" y="292608"/>
            <a:ext cx="8686800" cy="256032"/>
          </a:xfrm>
          <a:prstGeom prst="rect">
            <a:avLst/>
          </a:prstGeom>
          <a:noFill/>
        </p:spPr>
        <p:txBody>
          <a:bodyPr wrap="square" lIns="0" rIns="0" tIns="0" bIns="0" anchor="t">
            <a:noAutofit/>
          </a:bodyPr>
          <a:lstStyle/>
          <a:p>
            <a:r>
              <a:rPr sz="1100" b="1" i="0">
                <a:solidFill>
                  <a:srgbClr val="6B6B6B"/>
                </a:solidFill>
                <a:latin typeface="Arial"/>
              </a:rPr>
              <a:t>PROJECT OBJECTIVES</a:t>
            </a:r>
          </a:p>
        </p:txBody>
      </p:sp>
      <p:sp>
        <p:nvSpPr>
          <p:cNvPr id="3" name="Title"/>
          <p:cNvSpPr txBox="1"/>
          <p:nvPr/>
        </p:nvSpPr>
        <p:spPr>
          <a:xfrm>
            <a:off x="1280160" y="502920"/>
            <a:ext cx="10469880" cy="731520"/>
          </a:xfrm>
          <a:prstGeom prst="rect">
            <a:avLst/>
          </a:prstGeom>
          <a:noFill/>
        </p:spPr>
        <p:txBody>
          <a:bodyPr wrap="square" lIns="0" rIns="0" tIns="0" bIns="0" anchor="ctr">
            <a:noAutofit/>
          </a:bodyPr>
          <a:lstStyle/>
          <a:p>
            <a:r>
              <a:rPr sz="3200" b="1" i="0">
                <a:solidFill>
                  <a:srgbClr val="00943A"/>
                </a:solidFill>
                <a:latin typeface="Arial"/>
              </a:rPr>
              <a:t>General Objective of the Project</a:t>
            </a:r>
          </a:p>
        </p:txBody>
      </p:sp>
      <p:sp>
        <p:nvSpPr>
          <p:cNvPr id="4" name="Slide number"/>
          <p:cNvSpPr txBox="1"/>
          <p:nvPr/>
        </p:nvSpPr>
        <p:spPr>
          <a:xfrm>
            <a:off x="1280160" y="6327648"/>
            <a:ext cx="2286000" cy="274320"/>
          </a:xfrm>
          <a:prstGeom prst="rect">
            <a:avLst/>
          </a:prstGeom>
          <a:noFill/>
        </p:spPr>
        <p:txBody>
          <a:bodyPr wrap="square" lIns="0" rIns="0" tIns="0" bIns="0" anchor="t">
            <a:noAutofit/>
          </a:bodyPr>
          <a:lstStyle/>
          <a:p>
            <a:r>
              <a:rPr sz="1000" b="0" i="0">
                <a:solidFill>
                  <a:srgbClr val="6B6B6B"/>
                </a:solidFill>
                <a:latin typeface="Arial"/>
              </a:rPr>
              <a:t>IndepenSense · 7</a:t>
            </a:r>
          </a:p>
        </p:txBody>
      </p:sp>
      <p:sp>
        <p:nvSpPr>
          <p:cNvPr id="5" name="Statement card"/>
          <p:cNvSpPr/>
          <p:nvPr/>
        </p:nvSpPr>
        <p:spPr>
          <a:xfrm>
            <a:off x="1280160" y="1554480"/>
            <a:ext cx="10469880" cy="2468880"/>
          </a:xfrm>
          <a:prstGeom prst="roundRect">
            <a:avLst>
              <a:gd name="adj" fmla="val 6666"/>
            </a:avLst>
          </a:prstGeom>
          <a:solidFill>
            <a:srgbClr val="FFFFFF"/>
          </a:solidFill>
          <a:ln w="9525">
            <a:solidFill>
              <a:srgbClr val="0094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Statement"/>
          <p:cNvSpPr txBox="1"/>
          <p:nvPr/>
        </p:nvSpPr>
        <p:spPr>
          <a:xfrm>
            <a:off x="1691639" y="1783080"/>
            <a:ext cx="9646919" cy="2011680"/>
          </a:xfrm>
          <a:prstGeom prst="rect">
            <a:avLst/>
          </a:prstGeom>
          <a:noFill/>
        </p:spPr>
        <p:txBody>
          <a:bodyPr wrap="square" lIns="0" rIns="0" tIns="0" bIns="0" anchor="ctr">
            <a:noAutofit/>
          </a:bodyPr>
          <a:lstStyle/>
          <a:p>
            <a:pPr>
              <a:spcAft>
                <a:spcPts val="1000"/>
              </a:spcAft>
            </a:pPr>
            <a:r>
              <a:rPr sz="2400" b="1" i="0">
                <a:solidFill>
                  <a:srgbClr val="006B2A"/>
                </a:solidFill>
                <a:latin typeface="Arial"/>
              </a:rPr>
              <a:t>To design and develop IndepenSense</a:t>
            </a:r>
            <a:r>
              <a:rPr sz="2400" b="0" i="0">
                <a:solidFill>
                  <a:srgbClr val="2B2B2B"/>
                </a:solidFill>
                <a:latin typeface="Arial"/>
              </a:rPr>
              <a:t>, an </a:t>
            </a:r>
            <a:r>
              <a:rPr sz="2400" b="1" i="0">
                <a:solidFill>
                  <a:srgbClr val="006B2A"/>
                </a:solidFill>
                <a:latin typeface="Arial"/>
              </a:rPr>
              <a:t>AI-powered, IoT-based smart cane</a:t>
            </a:r>
            <a:r>
              <a:rPr sz="2400" b="0" i="0">
                <a:solidFill>
                  <a:srgbClr val="2B2B2B"/>
                </a:solidFill>
                <a:latin typeface="Arial"/>
              </a:rPr>
              <a:t> with </a:t>
            </a:r>
            <a:r>
              <a:rPr sz="2400" b="1" i="0">
                <a:solidFill>
                  <a:srgbClr val="006B2A"/>
                </a:solidFill>
                <a:latin typeface="Arial"/>
              </a:rPr>
              <a:t>computer vision</a:t>
            </a:r>
            <a:r>
              <a:rPr sz="2400" b="0" i="0">
                <a:solidFill>
                  <a:srgbClr val="2B2B2B"/>
                </a:solidFill>
                <a:latin typeface="Arial"/>
              </a:rPr>
              <a:t>, </a:t>
            </a:r>
            <a:r>
              <a:rPr sz="2400" b="1" i="0">
                <a:solidFill>
                  <a:srgbClr val="006B2A"/>
                </a:solidFill>
                <a:latin typeface="Arial"/>
              </a:rPr>
              <a:t>sensor integration</a:t>
            </a:r>
            <a:r>
              <a:rPr sz="2400" b="0" i="0">
                <a:solidFill>
                  <a:srgbClr val="2B2B2B"/>
                </a:solidFill>
                <a:latin typeface="Arial"/>
              </a:rPr>
              <a:t> and </a:t>
            </a:r>
            <a:r>
              <a:rPr sz="2400" b="1" i="0">
                <a:solidFill>
                  <a:srgbClr val="006B2A"/>
                </a:solidFill>
                <a:latin typeface="Arial"/>
              </a:rPr>
              <a:t>remote guardian monitoring</a:t>
            </a:r>
          </a:p>
          <a:p>
            <a:pPr>
              <a:spcAft>
                <a:spcPts val="1000"/>
              </a:spcAft>
            </a:pPr>
            <a:r>
              <a:rPr sz="2000" b="1" i="0">
                <a:solidFill>
                  <a:srgbClr val="006B2A"/>
                </a:solidFill>
                <a:latin typeface="Arial"/>
              </a:rPr>
              <a:t>Purpose:</a:t>
            </a:r>
            <a:r>
              <a:rPr sz="2000" b="0" i="0">
                <a:solidFill>
                  <a:srgbClr val="2B2B2B"/>
                </a:solidFill>
                <a:latin typeface="Arial"/>
              </a:rPr>
              <a:t> to improve the </a:t>
            </a:r>
            <a:r>
              <a:rPr sz="2000" b="1" i="0">
                <a:solidFill>
                  <a:srgbClr val="006B2A"/>
                </a:solidFill>
                <a:latin typeface="Arial"/>
              </a:rPr>
              <a:t>navigation</a:t>
            </a:r>
            <a:r>
              <a:rPr sz="2000" b="0" i="0">
                <a:solidFill>
                  <a:srgbClr val="2B2B2B"/>
                </a:solidFill>
                <a:latin typeface="Arial"/>
              </a:rPr>
              <a:t>, </a:t>
            </a:r>
            <a:r>
              <a:rPr sz="2000" b="1" i="0">
                <a:solidFill>
                  <a:srgbClr val="006B2A"/>
                </a:solidFill>
                <a:latin typeface="Arial"/>
              </a:rPr>
              <a:t>safety</a:t>
            </a:r>
            <a:r>
              <a:rPr sz="2000" b="0" i="0">
                <a:solidFill>
                  <a:srgbClr val="2B2B2B"/>
                </a:solidFill>
                <a:latin typeface="Arial"/>
              </a:rPr>
              <a:t> and </a:t>
            </a:r>
            <a:r>
              <a:rPr sz="2000" b="1" i="0">
                <a:solidFill>
                  <a:srgbClr val="006B2A"/>
                </a:solidFill>
                <a:latin typeface="Arial"/>
              </a:rPr>
              <a:t>situational awareness</a:t>
            </a:r>
            <a:r>
              <a:rPr sz="2000" b="0" i="0">
                <a:solidFill>
                  <a:srgbClr val="2B2B2B"/>
                </a:solidFill>
                <a:latin typeface="Arial"/>
              </a:rPr>
              <a:t> of visually impaired individuals</a:t>
            </a:r>
          </a:p>
        </p:txBody>
      </p:sp>
      <p:sp>
        <p:nvSpPr>
          <p:cNvPr id="7" name="Outcome 1"/>
          <p:cNvSpPr/>
          <p:nvPr/>
        </p:nvSpPr>
        <p:spPr>
          <a:xfrm>
            <a:off x="1280160" y="4343400"/>
            <a:ext cx="3319271" cy="1051560"/>
          </a:xfrm>
          <a:prstGeom prst="roundRect">
            <a:avLst>
              <a:gd name="adj" fmla="val 12000"/>
            </a:avLst>
          </a:prstGeom>
          <a:solidFill>
            <a:srgbClr val="009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200" b="1" i="0">
                <a:solidFill>
                  <a:srgbClr val="FFFFFF"/>
                </a:solidFill>
                <a:latin typeface="Arial"/>
              </a:rPr>
              <a:t>NAVIGATION</a:t>
            </a:r>
          </a:p>
        </p:txBody>
      </p:sp>
      <p:sp>
        <p:nvSpPr>
          <p:cNvPr id="8" name="Outcome 2"/>
          <p:cNvSpPr/>
          <p:nvPr/>
        </p:nvSpPr>
        <p:spPr>
          <a:xfrm>
            <a:off x="4855463" y="4343400"/>
            <a:ext cx="3319271" cy="1051560"/>
          </a:xfrm>
          <a:prstGeom prst="roundRect">
            <a:avLst>
              <a:gd name="adj" fmla="val 12000"/>
            </a:avLst>
          </a:prstGeom>
          <a:solidFill>
            <a:srgbClr val="009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200" b="1" i="0">
                <a:solidFill>
                  <a:srgbClr val="FFFFFF"/>
                </a:solidFill>
                <a:latin typeface="Arial"/>
              </a:rPr>
              <a:t>SAFETY</a:t>
            </a:r>
          </a:p>
        </p:txBody>
      </p:sp>
      <p:sp>
        <p:nvSpPr>
          <p:cNvPr id="9" name="Outcome 3"/>
          <p:cNvSpPr/>
          <p:nvPr/>
        </p:nvSpPr>
        <p:spPr>
          <a:xfrm>
            <a:off x="8430767" y="4343400"/>
            <a:ext cx="3319271" cy="1051560"/>
          </a:xfrm>
          <a:prstGeom prst="roundRect">
            <a:avLst>
              <a:gd name="adj" fmla="val 12000"/>
            </a:avLst>
          </a:prstGeom>
          <a:solidFill>
            <a:srgbClr val="009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200" b="1" i="0">
                <a:solidFill>
                  <a:srgbClr val="FFFFFF"/>
                </a:solidFill>
                <a:latin typeface="Arial"/>
              </a:rPr>
              <a:t>SITUATIONAL AWARENESS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tion kicker"/>
          <p:cNvSpPr txBox="1"/>
          <p:nvPr/>
        </p:nvSpPr>
        <p:spPr>
          <a:xfrm>
            <a:off x="1280160" y="292608"/>
            <a:ext cx="8686800" cy="256032"/>
          </a:xfrm>
          <a:prstGeom prst="rect">
            <a:avLst/>
          </a:prstGeom>
          <a:noFill/>
        </p:spPr>
        <p:txBody>
          <a:bodyPr wrap="square" lIns="0" rIns="0" tIns="0" bIns="0" anchor="t">
            <a:noAutofit/>
          </a:bodyPr>
          <a:lstStyle/>
          <a:p>
            <a:r>
              <a:rPr sz="1100" b="1" i="0">
                <a:solidFill>
                  <a:srgbClr val="6B6B6B"/>
                </a:solidFill>
                <a:latin typeface="Arial"/>
              </a:rPr>
              <a:t>PROJECT OBJECTIVES</a:t>
            </a:r>
          </a:p>
        </p:txBody>
      </p:sp>
      <p:sp>
        <p:nvSpPr>
          <p:cNvPr id="3" name="Title"/>
          <p:cNvSpPr txBox="1"/>
          <p:nvPr/>
        </p:nvSpPr>
        <p:spPr>
          <a:xfrm>
            <a:off x="1280160" y="502920"/>
            <a:ext cx="10469880" cy="731520"/>
          </a:xfrm>
          <a:prstGeom prst="rect">
            <a:avLst/>
          </a:prstGeom>
          <a:noFill/>
        </p:spPr>
        <p:txBody>
          <a:bodyPr wrap="square" lIns="0" rIns="0" tIns="0" bIns="0" anchor="ctr">
            <a:noAutofit/>
          </a:bodyPr>
          <a:lstStyle/>
          <a:p>
            <a:r>
              <a:rPr sz="2800" b="1" i="0">
                <a:solidFill>
                  <a:srgbClr val="00943A"/>
                </a:solidFill>
                <a:latin typeface="Arial"/>
              </a:rPr>
              <a:t>Specific Objectives Mapped to Engineering Goals</a:t>
            </a:r>
          </a:p>
        </p:txBody>
      </p:sp>
      <p:sp>
        <p:nvSpPr>
          <p:cNvPr id="4" name="Slide number"/>
          <p:cNvSpPr txBox="1"/>
          <p:nvPr/>
        </p:nvSpPr>
        <p:spPr>
          <a:xfrm>
            <a:off x="1280160" y="6327648"/>
            <a:ext cx="2286000" cy="274320"/>
          </a:xfrm>
          <a:prstGeom prst="rect">
            <a:avLst/>
          </a:prstGeom>
          <a:noFill/>
        </p:spPr>
        <p:txBody>
          <a:bodyPr wrap="square" lIns="0" rIns="0" tIns="0" bIns="0" anchor="t">
            <a:noAutofit/>
          </a:bodyPr>
          <a:lstStyle/>
          <a:p>
            <a:r>
              <a:rPr sz="1000" b="0" i="0">
                <a:solidFill>
                  <a:srgbClr val="6B6B6B"/>
                </a:solidFill>
                <a:latin typeface="Arial"/>
              </a:rPr>
              <a:t>IndepenSense · 8</a:t>
            </a:r>
          </a:p>
        </p:txBody>
      </p:sp>
      <p:sp>
        <p:nvSpPr>
          <p:cNvPr id="5" name="Step 1 card"/>
          <p:cNvSpPr/>
          <p:nvPr/>
        </p:nvSpPr>
        <p:spPr>
          <a:xfrm>
            <a:off x="1280160" y="1371600"/>
            <a:ext cx="5088636" cy="2251405"/>
          </a:xfrm>
          <a:prstGeom prst="roundRect">
            <a:avLst>
              <a:gd name="adj" fmla="val 7310"/>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Step 1 text"/>
          <p:cNvSpPr txBox="1"/>
          <p:nvPr/>
        </p:nvSpPr>
        <p:spPr>
          <a:xfrm>
            <a:off x="1463039" y="1554480"/>
            <a:ext cx="4722875" cy="1885645"/>
          </a:xfrm>
          <a:prstGeom prst="rect">
            <a:avLst/>
          </a:prstGeom>
          <a:noFill/>
        </p:spPr>
        <p:txBody>
          <a:bodyPr wrap="square" lIns="0" rIns="0" tIns="0" bIns="0" anchor="t">
            <a:noAutofit/>
          </a:bodyPr>
          <a:lstStyle/>
          <a:p>
            <a:pPr>
              <a:spcAft>
                <a:spcPts val="585"/>
              </a:spcAft>
              <a:buNone/>
            </a:pPr>
            <a:r>
              <a:rPr sz="1500" b="1" i="0">
                <a:solidFill>
                  <a:srgbClr val="006B2A"/>
                </a:solidFill>
                <a:latin typeface="Arial"/>
              </a:rPr>
              <a:t>Goal A: Develop the hardware architecture</a:t>
            </a:r>
          </a:p>
          <a:p>
            <a:pPr marL="201168" indent="-201168">
              <a:spcAft>
                <a:spcPts val="494"/>
              </a:spcAft>
              <a:buClr>
                <a:srgbClr val="00943A"/>
              </a:buClr>
              <a:buFont typeface="Arial"/>
              <a:buChar char="•"/>
            </a:pPr>
            <a:r>
              <a:rPr sz="1300" b="1" i="0">
                <a:solidFill>
                  <a:srgbClr val="2B2B2B"/>
                </a:solidFill>
                <a:latin typeface="Arial"/>
              </a:rPr>
              <a:t>SO1:</a:t>
            </a:r>
            <a:r>
              <a:rPr sz="1300" b="0" i="0">
                <a:solidFill>
                  <a:srgbClr val="2B2B2B"/>
                </a:solidFill>
                <a:latin typeface="Arial"/>
              </a:rPr>
              <a:t> smart cane with </a:t>
            </a:r>
            <a:r>
              <a:rPr sz="1300" b="1" i="0">
                <a:solidFill>
                  <a:srgbClr val="2B2B2B"/>
                </a:solidFill>
                <a:latin typeface="Arial"/>
              </a:rPr>
              <a:t>ultrasonic, GPS, IMU, camera</a:t>
            </a:r>
            <a:r>
              <a:rPr sz="1300" b="0" i="0">
                <a:solidFill>
                  <a:srgbClr val="2B2B2B"/>
                </a:solidFill>
                <a:latin typeface="Arial"/>
              </a:rPr>
              <a:t> and feedback components</a:t>
            </a:r>
          </a:p>
          <a:p>
            <a:pPr marL="201168" indent="-201168">
              <a:spcAft>
                <a:spcPts val="494"/>
              </a:spcAft>
              <a:buClr>
                <a:srgbClr val="00943A"/>
              </a:buClr>
              <a:buFont typeface="Arial"/>
              <a:buChar char="•"/>
            </a:pPr>
            <a:r>
              <a:rPr sz="1300" b="1" i="0">
                <a:solidFill>
                  <a:srgbClr val="2B2B2B"/>
                </a:solidFill>
                <a:latin typeface="Arial"/>
              </a:rPr>
              <a:t>SO2:</a:t>
            </a:r>
            <a:r>
              <a:rPr sz="1300" b="0" i="0">
                <a:solidFill>
                  <a:srgbClr val="2B2B2B"/>
                </a:solidFill>
                <a:latin typeface="Arial"/>
              </a:rPr>
              <a:t> </a:t>
            </a:r>
            <a:r>
              <a:rPr sz="1300" b="1" i="0">
                <a:solidFill>
                  <a:srgbClr val="2B2B2B"/>
                </a:solidFill>
                <a:latin typeface="Arial"/>
              </a:rPr>
              <a:t>haptic + audio</a:t>
            </a:r>
            <a:r>
              <a:rPr sz="1300" b="0" i="0">
                <a:solidFill>
                  <a:srgbClr val="2B2B2B"/>
                </a:solidFill>
                <a:latin typeface="Arial"/>
              </a:rPr>
              <a:t> feedback for guidance and hazard alerts</a:t>
            </a:r>
          </a:p>
          <a:p>
            <a:pPr marL="201168" indent="-201168">
              <a:spcAft>
                <a:spcPts val="494"/>
              </a:spcAft>
              <a:buClr>
                <a:srgbClr val="00943A"/>
              </a:buClr>
              <a:buFont typeface="Arial"/>
              <a:buChar char="•"/>
            </a:pPr>
            <a:r>
              <a:rPr sz="1300" b="1" i="0">
                <a:solidFill>
                  <a:srgbClr val="2B2B2B"/>
                </a:solidFill>
                <a:latin typeface="Arial"/>
              </a:rPr>
              <a:t>SO3:</a:t>
            </a:r>
            <a:r>
              <a:rPr sz="1300" b="0" i="0">
                <a:solidFill>
                  <a:srgbClr val="2B2B2B"/>
                </a:solidFill>
                <a:latin typeface="Arial"/>
              </a:rPr>
              <a:t> </a:t>
            </a:r>
            <a:r>
              <a:rPr sz="1300" b="1" i="0">
                <a:solidFill>
                  <a:srgbClr val="2B2B2B"/>
                </a:solidFill>
                <a:latin typeface="Arial"/>
              </a:rPr>
              <a:t>AI object recognition</a:t>
            </a:r>
            <a:r>
              <a:rPr sz="1300" b="0" i="0">
                <a:solidFill>
                  <a:srgbClr val="2B2B2B"/>
                </a:solidFill>
                <a:latin typeface="Arial"/>
              </a:rPr>
              <a:t> as supplementary awareness</a:t>
            </a:r>
          </a:p>
        </p:txBody>
      </p:sp>
      <p:sp>
        <p:nvSpPr>
          <p:cNvPr id="7" name="Arrow 1"/>
          <p:cNvSpPr/>
          <p:nvPr/>
        </p:nvSpPr>
        <p:spPr>
          <a:xfrm>
            <a:off x="6414516" y="2378430"/>
            <a:ext cx="201168" cy="237744"/>
          </a:xfrm>
          <a:prstGeom prst="rightArrow">
            <a:avLst/>
          </a:prstGeom>
          <a:solidFill>
            <a:srgbClr val="009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tep 2 card"/>
          <p:cNvSpPr/>
          <p:nvPr/>
        </p:nvSpPr>
        <p:spPr>
          <a:xfrm>
            <a:off x="6661404" y="1371600"/>
            <a:ext cx="5088636" cy="2251405"/>
          </a:xfrm>
          <a:prstGeom prst="roundRect">
            <a:avLst>
              <a:gd name="adj" fmla="val 7310"/>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Step 2 text"/>
          <p:cNvSpPr txBox="1"/>
          <p:nvPr/>
        </p:nvSpPr>
        <p:spPr>
          <a:xfrm>
            <a:off x="6844284" y="1554480"/>
            <a:ext cx="4722875" cy="1885645"/>
          </a:xfrm>
          <a:prstGeom prst="rect">
            <a:avLst/>
          </a:prstGeom>
          <a:noFill/>
        </p:spPr>
        <p:txBody>
          <a:bodyPr wrap="square" lIns="0" rIns="0" tIns="0" bIns="0" anchor="t">
            <a:noAutofit/>
          </a:bodyPr>
          <a:lstStyle/>
          <a:p>
            <a:pPr>
              <a:spcAft>
                <a:spcPts val="585"/>
              </a:spcAft>
              <a:buNone/>
            </a:pPr>
            <a:r>
              <a:rPr sz="1500" b="1" i="0">
                <a:solidFill>
                  <a:srgbClr val="006B2A"/>
                </a:solidFill>
                <a:latin typeface="Arial"/>
              </a:rPr>
              <a:t>Goal B: Integrate IoT cellular notification</a:t>
            </a:r>
          </a:p>
          <a:p>
            <a:pPr marL="201168" indent="-201168">
              <a:spcAft>
                <a:spcPts val="494"/>
              </a:spcAft>
              <a:buClr>
                <a:srgbClr val="00943A"/>
              </a:buClr>
              <a:buFont typeface="Arial"/>
              <a:buChar char="•"/>
            </a:pPr>
            <a:r>
              <a:rPr sz="1300" b="1" i="0">
                <a:solidFill>
                  <a:srgbClr val="2B2B2B"/>
                </a:solidFill>
                <a:latin typeface="Arial"/>
              </a:rPr>
              <a:t>SO4:</a:t>
            </a:r>
            <a:r>
              <a:rPr sz="1300" b="0" i="0">
                <a:solidFill>
                  <a:srgbClr val="2B2B2B"/>
                </a:solidFill>
                <a:latin typeface="Arial"/>
              </a:rPr>
              <a:t> </a:t>
            </a:r>
            <a:r>
              <a:rPr sz="1300" b="1" i="0">
                <a:solidFill>
                  <a:srgbClr val="2B2B2B"/>
                </a:solidFill>
                <a:latin typeface="Arial"/>
              </a:rPr>
              <a:t>GPS/GNSS outdoor navigation</a:t>
            </a:r>
            <a:r>
              <a:rPr sz="1300" b="0" i="0">
                <a:solidFill>
                  <a:srgbClr val="2B2B2B"/>
                </a:solidFill>
                <a:latin typeface="Arial"/>
              </a:rPr>
              <a:t> support within test environments</a:t>
            </a:r>
          </a:p>
          <a:p>
            <a:pPr marL="201168" indent="-201168">
              <a:spcAft>
                <a:spcPts val="494"/>
              </a:spcAft>
              <a:buClr>
                <a:srgbClr val="00943A"/>
              </a:buClr>
              <a:buFont typeface="Arial"/>
              <a:buChar char="•"/>
            </a:pPr>
            <a:r>
              <a:rPr sz="1300" b="1" i="0">
                <a:solidFill>
                  <a:srgbClr val="2B2B2B"/>
                </a:solidFill>
                <a:latin typeface="Arial"/>
              </a:rPr>
              <a:t>SO5:</a:t>
            </a:r>
            <a:r>
              <a:rPr sz="1300" b="0" i="0">
                <a:solidFill>
                  <a:srgbClr val="2B2B2B"/>
                </a:solidFill>
                <a:latin typeface="Arial"/>
              </a:rPr>
              <a:t> </a:t>
            </a:r>
            <a:r>
              <a:rPr sz="1300" b="1" i="0">
                <a:solidFill>
                  <a:srgbClr val="2B2B2B"/>
                </a:solidFill>
                <a:latin typeface="Arial"/>
              </a:rPr>
              <a:t>emergency response</a:t>
            </a:r>
            <a:r>
              <a:rPr sz="1300" b="0" i="0">
                <a:solidFill>
                  <a:srgbClr val="2B2B2B"/>
                </a:solidFill>
                <a:latin typeface="Arial"/>
              </a:rPr>
              <a:t> with notifications and location monitoring</a:t>
            </a:r>
          </a:p>
          <a:p>
            <a:pPr marL="201168" indent="-201168">
              <a:spcAft>
                <a:spcPts val="494"/>
              </a:spcAft>
              <a:buClr>
                <a:srgbClr val="00943A"/>
              </a:buClr>
              <a:buFont typeface="Arial"/>
              <a:buChar char="•"/>
            </a:pPr>
            <a:r>
              <a:rPr sz="1300" b="1" i="0">
                <a:solidFill>
                  <a:srgbClr val="2B2B2B"/>
                </a:solidFill>
                <a:latin typeface="Arial"/>
              </a:rPr>
              <a:t>SO6:</a:t>
            </a:r>
            <a:r>
              <a:rPr sz="1300" b="0" i="0">
                <a:solidFill>
                  <a:srgbClr val="2B2B2B"/>
                </a:solidFill>
                <a:latin typeface="Arial"/>
              </a:rPr>
              <a:t> </a:t>
            </a:r>
            <a:r>
              <a:rPr sz="1300" b="1" i="0">
                <a:solidFill>
                  <a:srgbClr val="2B2B2B"/>
                </a:solidFill>
                <a:latin typeface="Arial"/>
              </a:rPr>
              <a:t>guardian web platform</a:t>
            </a:r>
            <a:r>
              <a:rPr sz="1300" b="0" i="0">
                <a:solidFill>
                  <a:srgbClr val="2B2B2B"/>
                </a:solidFill>
                <a:latin typeface="Arial"/>
              </a:rPr>
              <a:t> for location, alerts and notifications</a:t>
            </a:r>
          </a:p>
        </p:txBody>
      </p:sp>
      <p:sp>
        <p:nvSpPr>
          <p:cNvPr id="10" name="Field 2 card"/>
          <p:cNvSpPr/>
          <p:nvPr/>
        </p:nvSpPr>
        <p:spPr>
          <a:xfrm>
            <a:off x="1280160" y="3879037"/>
            <a:ext cx="10469880" cy="2110282"/>
          </a:xfrm>
          <a:prstGeom prst="roundRect">
            <a:avLst>
              <a:gd name="adj" fmla="val 7799"/>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Field 2 text 1"/>
          <p:cNvSpPr txBox="1"/>
          <p:nvPr/>
        </p:nvSpPr>
        <p:spPr>
          <a:xfrm>
            <a:off x="1463039" y="4061917"/>
            <a:ext cx="4914899" cy="1744522"/>
          </a:xfrm>
          <a:prstGeom prst="rect">
            <a:avLst/>
          </a:prstGeom>
          <a:noFill/>
        </p:spPr>
        <p:txBody>
          <a:bodyPr wrap="square" lIns="0" rIns="0" tIns="0" bIns="0" anchor="t">
            <a:noAutofit/>
          </a:bodyPr>
          <a:lstStyle/>
          <a:p>
            <a:pPr marL="201168" indent="-201168">
              <a:spcAft>
                <a:spcPts val="494"/>
              </a:spcAft>
              <a:buClr>
                <a:srgbClr val="00943A"/>
              </a:buClr>
              <a:buFont typeface="Arial"/>
              <a:buChar char="•"/>
            </a:pPr>
            <a:r>
              <a:rPr sz="1300" b="1" i="0">
                <a:solidFill>
                  <a:srgbClr val="2B2B2B"/>
                </a:solidFill>
                <a:latin typeface="Arial"/>
              </a:rPr>
              <a:t>Goal C: Validate through testing</a:t>
            </a:r>
          </a:p>
          <a:p>
            <a:pPr marL="438912" indent="-182880">
              <a:spcAft>
                <a:spcPts val="494"/>
              </a:spcAft>
              <a:buClr>
                <a:srgbClr val="00943A"/>
              </a:buClr>
              <a:buFont typeface="Arial"/>
              <a:buChar char="–"/>
            </a:pPr>
            <a:r>
              <a:rPr sz="1200" b="1" i="0">
                <a:solidFill>
                  <a:srgbClr val="2B2B2B"/>
                </a:solidFill>
                <a:latin typeface="Arial"/>
              </a:rPr>
              <a:t>Bench:</a:t>
            </a:r>
            <a:r>
              <a:rPr sz="1200" b="0" i="0">
                <a:solidFill>
                  <a:srgbClr val="2B2B2B"/>
                </a:solidFill>
                <a:latin typeface="Arial"/>
              </a:rPr>
              <a:t> component tests on </a:t>
            </a:r>
            <a:r>
              <a:rPr sz="1200" b="1" i="0">
                <a:solidFill>
                  <a:srgbClr val="2B2B2B"/>
                </a:solidFill>
                <a:latin typeface="Arial"/>
              </a:rPr>
              <a:t>15 modules</a:t>
            </a:r>
            <a:r>
              <a:rPr sz="1200" b="0" i="0">
                <a:solidFill>
                  <a:srgbClr val="2B2B2B"/>
                </a:solidFill>
                <a:latin typeface="Arial"/>
              </a:rPr>
              <a:t>, </a:t>
            </a:r>
            <a:r>
              <a:rPr sz="1200" b="1" i="0">
                <a:solidFill>
                  <a:srgbClr val="2B2B2B"/>
                </a:solidFill>
                <a:latin typeface="Arial"/>
              </a:rPr>
              <a:t>100+ test cases</a:t>
            </a:r>
          </a:p>
          <a:p>
            <a:pPr marL="438912" indent="-182880">
              <a:spcAft>
                <a:spcPts val="494"/>
              </a:spcAft>
              <a:buClr>
                <a:srgbClr val="00943A"/>
              </a:buClr>
              <a:buFont typeface="Arial"/>
              <a:buChar char="–"/>
            </a:pPr>
            <a:r>
              <a:rPr sz="1200" b="1" i="0">
                <a:solidFill>
                  <a:srgbClr val="2B2B2B"/>
                </a:solidFill>
                <a:latin typeface="Arial"/>
              </a:rPr>
              <a:t>Calibration:</a:t>
            </a:r>
            <a:r>
              <a:rPr sz="1200" b="0" i="0">
                <a:solidFill>
                  <a:srgbClr val="2B2B2B"/>
                </a:solidFill>
                <a:latin typeface="Arial"/>
              </a:rPr>
              <a:t> magnetometer heading and IMU fall trials</a:t>
            </a:r>
          </a:p>
          <a:p>
            <a:pPr marL="438912" indent="-182880">
              <a:spcAft>
                <a:spcPts val="494"/>
              </a:spcAft>
              <a:buClr>
                <a:srgbClr val="00943A"/>
              </a:buClr>
              <a:buFont typeface="Arial"/>
              <a:buChar char="–"/>
            </a:pPr>
            <a:r>
              <a:rPr sz="1200" b="1" i="0">
                <a:solidFill>
                  <a:srgbClr val="2B2B2B"/>
                </a:solidFill>
                <a:latin typeface="Arial"/>
              </a:rPr>
              <a:t>On-site:</a:t>
            </a:r>
            <a:r>
              <a:rPr sz="1200" b="0" i="0">
                <a:solidFill>
                  <a:srgbClr val="2B2B2B"/>
                </a:solidFill>
                <a:latin typeface="Arial"/>
              </a:rPr>
              <a:t> </a:t>
            </a:r>
            <a:r>
              <a:rPr sz="1200" b="1" i="0">
                <a:solidFill>
                  <a:srgbClr val="2B2B2B"/>
                </a:solidFill>
                <a:latin typeface="Arial"/>
              </a:rPr>
              <a:t>18 field test cases</a:t>
            </a:r>
            <a:r>
              <a:rPr sz="1200" b="0" i="0">
                <a:solidFill>
                  <a:srgbClr val="2B2B2B"/>
                </a:solidFill>
                <a:latin typeface="Arial"/>
              </a:rPr>
              <a:t> at </a:t>
            </a:r>
            <a:r>
              <a:rPr sz="1200" b="1" i="0">
                <a:solidFill>
                  <a:srgbClr val="2B2B2B"/>
                </a:solidFill>
                <a:latin typeface="Arial"/>
              </a:rPr>
              <a:t>Robinsons Lipa</a:t>
            </a:r>
            <a:r>
              <a:rPr sz="1200" b="0" i="0">
                <a:solidFill>
                  <a:srgbClr val="2B2B2B"/>
                </a:solidFill>
                <a:latin typeface="Arial"/>
              </a:rPr>
              <a:t> with an adult visually impaired participant</a:t>
            </a:r>
          </a:p>
        </p:txBody>
      </p:sp>
      <p:sp>
        <p:nvSpPr>
          <p:cNvPr id="12" name="Field 2 text 2"/>
          <p:cNvSpPr txBox="1"/>
          <p:nvPr/>
        </p:nvSpPr>
        <p:spPr>
          <a:xfrm>
            <a:off x="6652259" y="4061917"/>
            <a:ext cx="4914899" cy="1744522"/>
          </a:xfrm>
          <a:prstGeom prst="rect">
            <a:avLst/>
          </a:prstGeom>
          <a:noFill/>
        </p:spPr>
        <p:txBody>
          <a:bodyPr wrap="square" lIns="0" rIns="0" tIns="0" bIns="0" anchor="t">
            <a:noAutofit/>
          </a:bodyPr>
          <a:lstStyle/>
          <a:p>
            <a:pPr marL="201168" indent="-201168">
              <a:spcAft>
                <a:spcPts val="494"/>
              </a:spcAft>
              <a:buClr>
                <a:srgbClr val="00943A"/>
              </a:buClr>
              <a:buFont typeface="Arial"/>
              <a:buChar char="•"/>
            </a:pPr>
            <a:r>
              <a:rPr sz="1300" b="0" i="0">
                <a:solidFill>
                  <a:srgbClr val="2B2B2B"/>
                </a:solidFill>
                <a:latin typeface="Arial"/>
              </a:rPr>
              <a:t>Traceability: each SO maps to at least one results table (</a:t>
            </a:r>
            <a:r>
              <a:rPr sz="1300" b="1" i="0">
                <a:solidFill>
                  <a:srgbClr val="2B2B2B"/>
                </a:solidFill>
                <a:latin typeface="Arial"/>
              </a:rPr>
              <a:t>Tables 5–20</a:t>
            </a:r>
            <a:r>
              <a:rPr sz="1300" b="0" i="0">
                <a:solidFill>
                  <a:srgbClr val="2B2B2B"/>
                </a:solidFill>
                <a:latin typeface="Arial"/>
              </a:rPr>
              <a: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tion kicker"/>
          <p:cNvSpPr txBox="1"/>
          <p:nvPr/>
        </p:nvSpPr>
        <p:spPr>
          <a:xfrm>
            <a:off x="1280160" y="292608"/>
            <a:ext cx="8686800" cy="256032"/>
          </a:xfrm>
          <a:prstGeom prst="rect">
            <a:avLst/>
          </a:prstGeom>
          <a:noFill/>
        </p:spPr>
        <p:txBody>
          <a:bodyPr wrap="square" lIns="0" rIns="0" tIns="0" bIns="0" anchor="t">
            <a:noAutofit/>
          </a:bodyPr>
          <a:lstStyle/>
          <a:p>
            <a:r>
              <a:rPr sz="1100" b="1" i="0">
                <a:solidFill>
                  <a:srgbClr val="6B6B6B"/>
                </a:solidFill>
                <a:latin typeface="Arial"/>
              </a:rPr>
              <a:t>SCOPE AND DELIMITATION</a:t>
            </a:r>
          </a:p>
        </p:txBody>
      </p:sp>
      <p:sp>
        <p:nvSpPr>
          <p:cNvPr id="3" name="Title"/>
          <p:cNvSpPr txBox="1"/>
          <p:nvPr/>
        </p:nvSpPr>
        <p:spPr>
          <a:xfrm>
            <a:off x="1280160" y="502920"/>
            <a:ext cx="10469880" cy="731520"/>
          </a:xfrm>
          <a:prstGeom prst="rect">
            <a:avLst/>
          </a:prstGeom>
          <a:noFill/>
        </p:spPr>
        <p:txBody>
          <a:bodyPr wrap="square" lIns="0" rIns="0" tIns="0" bIns="0" anchor="ctr">
            <a:noAutofit/>
          </a:bodyPr>
          <a:lstStyle/>
          <a:p>
            <a:r>
              <a:rPr sz="3200" b="1" i="0">
                <a:solidFill>
                  <a:srgbClr val="00943A"/>
                </a:solidFill>
                <a:latin typeface="Arial"/>
              </a:rPr>
              <a:t>Project Scope: Integrated Subsystems</a:t>
            </a:r>
          </a:p>
        </p:txBody>
      </p:sp>
      <p:sp>
        <p:nvSpPr>
          <p:cNvPr id="4" name="Slide number"/>
          <p:cNvSpPr txBox="1"/>
          <p:nvPr/>
        </p:nvSpPr>
        <p:spPr>
          <a:xfrm>
            <a:off x="1280160" y="6327648"/>
            <a:ext cx="2286000" cy="274320"/>
          </a:xfrm>
          <a:prstGeom prst="rect">
            <a:avLst/>
          </a:prstGeom>
          <a:noFill/>
        </p:spPr>
        <p:txBody>
          <a:bodyPr wrap="square" lIns="0" rIns="0" tIns="0" bIns="0" anchor="t">
            <a:noAutofit/>
          </a:bodyPr>
          <a:lstStyle/>
          <a:p>
            <a:r>
              <a:rPr sz="1000" b="0" i="0">
                <a:solidFill>
                  <a:srgbClr val="6B6B6B"/>
                </a:solidFill>
                <a:latin typeface="Arial"/>
              </a:rPr>
              <a:t>IndepenSense · 9</a:t>
            </a:r>
          </a:p>
        </p:txBody>
      </p:sp>
      <p:sp>
        <p:nvSpPr>
          <p:cNvPr id="5" name="Field 1 card"/>
          <p:cNvSpPr/>
          <p:nvPr/>
        </p:nvSpPr>
        <p:spPr>
          <a:xfrm>
            <a:off x="1280160" y="1371600"/>
            <a:ext cx="5061596" cy="4617720"/>
          </a:xfrm>
          <a:prstGeom prst="roundRect">
            <a:avLst>
              <a:gd name="adj" fmla="val 3564"/>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ield 1 text"/>
          <p:cNvSpPr txBox="1"/>
          <p:nvPr/>
        </p:nvSpPr>
        <p:spPr>
          <a:xfrm>
            <a:off x="1463039" y="1554480"/>
            <a:ext cx="4695836" cy="4251959"/>
          </a:xfrm>
          <a:prstGeom prst="rect">
            <a:avLst/>
          </a:prstGeom>
          <a:noFill/>
        </p:spPr>
        <p:txBody>
          <a:bodyPr wrap="square" lIns="0" rIns="0" tIns="0" bIns="0" anchor="t">
            <a:noAutofit/>
          </a:bodyPr>
          <a:lstStyle/>
          <a:p>
            <a:pPr marL="201168" indent="-201168">
              <a:spcAft>
                <a:spcPts val="684"/>
              </a:spcAft>
              <a:buClr>
                <a:srgbClr val="00943A"/>
              </a:buClr>
              <a:buFont typeface="Arial"/>
              <a:buChar char="•"/>
            </a:pPr>
            <a:r>
              <a:rPr sz="1800" b="1" i="0">
                <a:solidFill>
                  <a:srgbClr val="2B2B2B"/>
                </a:solidFill>
                <a:latin typeface="Arial"/>
              </a:rPr>
              <a:t>Sensing: ultrasonic tracking.</a:t>
            </a:r>
            <a:r>
              <a:rPr sz="1800" b="0" i="0">
                <a:solidFill>
                  <a:srgbClr val="2B2B2B"/>
                </a:solidFill>
                <a:latin typeface="Arial"/>
              </a:rPr>
              <a:t> </a:t>
            </a:r>
            <a:r>
              <a:rPr sz="1800" b="1" i="0">
                <a:solidFill>
                  <a:srgbClr val="2B2B2B"/>
                </a:solidFill>
                <a:latin typeface="Arial"/>
              </a:rPr>
              <a:t>2× DYP-A22</a:t>
            </a:r>
            <a:r>
              <a:rPr sz="1800" b="0" i="0">
                <a:solidFill>
                  <a:srgbClr val="2B2B2B"/>
                </a:solidFill>
                <a:latin typeface="Arial"/>
              </a:rPr>
              <a:t>, UART, upper and ground level, continuous polling</a:t>
            </a:r>
          </a:p>
          <a:p>
            <a:pPr marL="201168" indent="-201168">
              <a:spcAft>
                <a:spcPts val="684"/>
              </a:spcAft>
              <a:buClr>
                <a:srgbClr val="00943A"/>
              </a:buClr>
              <a:buFont typeface="Arial"/>
              <a:buChar char="•"/>
            </a:pPr>
            <a:r>
              <a:rPr sz="1800" b="1" i="0">
                <a:solidFill>
                  <a:srgbClr val="2B2B2B"/>
                </a:solidFill>
                <a:latin typeface="Arial"/>
              </a:rPr>
              <a:t>Vision: Raspberry Pi Camera Module 3.</a:t>
            </a:r>
            <a:r>
              <a:rPr sz="1800" b="0" i="0">
                <a:solidFill>
                  <a:srgbClr val="2B2B2B"/>
                </a:solidFill>
                <a:latin typeface="Arial"/>
              </a:rPr>
              <a:t> </a:t>
            </a:r>
            <a:r>
              <a:rPr sz="1800" b="1" i="0">
                <a:solidFill>
                  <a:srgbClr val="2B2B2B"/>
                </a:solidFill>
                <a:latin typeface="Arial"/>
              </a:rPr>
              <a:t>12 MP</a:t>
            </a:r>
            <a:r>
              <a:rPr sz="1800" b="0" i="0">
                <a:solidFill>
                  <a:srgbClr val="2B2B2B"/>
                </a:solidFill>
                <a:latin typeface="Arial"/>
              </a:rPr>
              <a:t> sensor, captured at </a:t>
            </a:r>
            <a:r>
              <a:rPr sz="1800" b="1" i="0">
                <a:solidFill>
                  <a:srgbClr val="2B2B2B"/>
                </a:solidFill>
                <a:latin typeface="Arial"/>
              </a:rPr>
              <a:t>1280×720, 15 fps</a:t>
            </a:r>
            <a:r>
              <a:rPr sz="1800" b="0" i="0">
                <a:solidFill>
                  <a:srgbClr val="2B2B2B"/>
                </a:solidFill>
                <a:latin typeface="Arial"/>
              </a:rPr>
              <a:t>, with </a:t>
            </a:r>
            <a:r>
              <a:rPr sz="1800" b="1" i="0">
                <a:solidFill>
                  <a:srgbClr val="2B2B2B"/>
                </a:solidFill>
                <a:latin typeface="Arial"/>
              </a:rPr>
              <a:t>YOLOv8</a:t>
            </a:r>
            <a:r>
              <a:rPr sz="1800" b="0" i="0">
                <a:solidFill>
                  <a:srgbClr val="2B2B2B"/>
                </a:solidFill>
                <a:latin typeface="Arial"/>
              </a:rPr>
              <a:t> detection and </a:t>
            </a:r>
            <a:r>
              <a:rPr sz="1800" b="1" i="0">
                <a:solidFill>
                  <a:srgbClr val="2B2B2B"/>
                </a:solidFill>
                <a:latin typeface="Arial"/>
              </a:rPr>
              <a:t>OCR</a:t>
            </a:r>
            <a:r>
              <a:rPr sz="1800" b="0" i="0">
                <a:solidFill>
                  <a:srgbClr val="2B2B2B"/>
                </a:solidFill>
                <a:latin typeface="Arial"/>
              </a:rPr>
              <a:t>, triggered </a:t>
            </a:r>
            <a:r>
              <a:rPr sz="1800" b="1" i="0">
                <a:solidFill>
                  <a:srgbClr val="2B2B2B"/>
                </a:solidFill>
                <a:latin typeface="Arial"/>
              </a:rPr>
              <a:t>on voice demand</a:t>
            </a:r>
          </a:p>
          <a:p>
            <a:pPr marL="201168" indent="-201168">
              <a:spcAft>
                <a:spcPts val="684"/>
              </a:spcAft>
              <a:buClr>
                <a:srgbClr val="00943A"/>
              </a:buClr>
              <a:buFont typeface="Arial"/>
              <a:buChar char="•"/>
            </a:pPr>
            <a:r>
              <a:rPr sz="1800" b="1" i="0">
                <a:solidFill>
                  <a:srgbClr val="2B2B2B"/>
                </a:solidFill>
                <a:latin typeface="Arial"/>
              </a:rPr>
              <a:t>Safety: MPU-6050 fall detection.</a:t>
            </a:r>
            <a:r>
              <a:rPr sz="1800" b="0" i="0">
                <a:solidFill>
                  <a:srgbClr val="2B2B2B"/>
                </a:solidFill>
                <a:latin typeface="Arial"/>
              </a:rPr>
              <a:t> 3-axis accelerometer + gyroscope, </a:t>
            </a:r>
            <a:r>
              <a:rPr sz="1800" b="1" i="0">
                <a:solidFill>
                  <a:srgbClr val="2B2B2B"/>
                </a:solidFill>
                <a:latin typeface="Arial"/>
              </a:rPr>
              <a:t>I²C</a:t>
            </a:r>
            <a:r>
              <a:rPr sz="1800" b="0" i="0">
                <a:solidFill>
                  <a:srgbClr val="2B2B2B"/>
                </a:solidFill>
                <a:latin typeface="Arial"/>
              </a:rPr>
              <a:t>, sampled at </a:t>
            </a:r>
            <a:r>
              <a:rPr sz="1800" b="1" i="0">
                <a:solidFill>
                  <a:srgbClr val="2B2B2B"/>
                </a:solidFill>
                <a:latin typeface="Arial"/>
              </a:rPr>
              <a:t>100 Hz</a:t>
            </a:r>
            <a:r>
              <a:rPr sz="1800" b="0" i="0">
                <a:solidFill>
                  <a:srgbClr val="2B2B2B"/>
                </a:solidFill>
                <a:latin typeface="Arial"/>
              </a:rPr>
              <a:t> on the chest/vest</a:t>
            </a:r>
          </a:p>
        </p:txBody>
      </p:sp>
      <p:sp>
        <p:nvSpPr>
          <p:cNvPr id="7" name="Field 2 card"/>
          <p:cNvSpPr/>
          <p:nvPr/>
        </p:nvSpPr>
        <p:spPr>
          <a:xfrm>
            <a:off x="6597788" y="1371600"/>
            <a:ext cx="5152251" cy="4617720"/>
          </a:xfrm>
          <a:prstGeom prst="roundRect">
            <a:avLst>
              <a:gd name="adj" fmla="val 3564"/>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Field 2 text"/>
          <p:cNvSpPr txBox="1"/>
          <p:nvPr/>
        </p:nvSpPr>
        <p:spPr>
          <a:xfrm>
            <a:off x="6780668" y="1554480"/>
            <a:ext cx="4786491" cy="4251959"/>
          </a:xfrm>
          <a:prstGeom prst="rect">
            <a:avLst/>
          </a:prstGeom>
          <a:noFill/>
        </p:spPr>
        <p:txBody>
          <a:bodyPr wrap="square" lIns="0" rIns="0" tIns="0" bIns="0" anchor="t">
            <a:noAutofit/>
          </a:bodyPr>
          <a:lstStyle/>
          <a:p>
            <a:pPr marL="201168" indent="-201168">
              <a:spcAft>
                <a:spcPts val="684"/>
              </a:spcAft>
              <a:buClr>
                <a:srgbClr val="00943A"/>
              </a:buClr>
              <a:buFont typeface="Arial"/>
              <a:buChar char="•"/>
            </a:pPr>
            <a:r>
              <a:rPr sz="1800" b="1" i="0">
                <a:solidFill>
                  <a:srgbClr val="2B2B2B"/>
                </a:solidFill>
                <a:latin typeface="Arial"/>
              </a:rPr>
              <a:t>Connectivity: SIM7600G-H.</a:t>
            </a:r>
            <a:r>
              <a:rPr sz="1800" b="0" i="0">
                <a:solidFill>
                  <a:srgbClr val="2B2B2B"/>
                </a:solidFill>
                <a:latin typeface="Arial"/>
              </a:rPr>
              <a:t> </a:t>
            </a:r>
            <a:r>
              <a:rPr sz="1800" b="1" i="0">
                <a:solidFill>
                  <a:srgbClr val="2B2B2B"/>
                </a:solidFill>
                <a:latin typeface="Arial"/>
              </a:rPr>
              <a:t>4G LTE</a:t>
            </a:r>
            <a:r>
              <a:rPr sz="1800" b="0" i="0">
                <a:solidFill>
                  <a:srgbClr val="2B2B2B"/>
                </a:solidFill>
                <a:latin typeface="Arial"/>
              </a:rPr>
              <a:t> data, </a:t>
            </a:r>
            <a:r>
              <a:rPr sz="1800" b="1" i="0">
                <a:solidFill>
                  <a:srgbClr val="2B2B2B"/>
                </a:solidFill>
                <a:latin typeface="Arial"/>
              </a:rPr>
              <a:t>SMS</a:t>
            </a:r>
            <a:r>
              <a:rPr sz="1800" b="0" i="0">
                <a:solidFill>
                  <a:srgbClr val="2B2B2B"/>
                </a:solidFill>
                <a:latin typeface="Arial"/>
              </a:rPr>
              <a:t>, and the </a:t>
            </a:r>
            <a:r>
              <a:rPr sz="1800" b="1" i="0">
                <a:solidFill>
                  <a:srgbClr val="2B2B2B"/>
                </a:solidFill>
                <a:latin typeface="Arial"/>
              </a:rPr>
              <a:t>integrated GNSS</a:t>
            </a:r>
            <a:r>
              <a:rPr sz="1800" b="0" i="0">
                <a:solidFill>
                  <a:srgbClr val="2B2B2B"/>
                </a:solidFill>
                <a:latin typeface="Arial"/>
              </a:rPr>
              <a:t> receiver</a:t>
            </a:r>
          </a:p>
          <a:p>
            <a:pPr marL="201168" indent="-201168">
              <a:spcAft>
                <a:spcPts val="684"/>
              </a:spcAft>
              <a:buClr>
                <a:srgbClr val="00943A"/>
              </a:buClr>
              <a:buFont typeface="Arial"/>
              <a:buChar char="•"/>
            </a:pPr>
            <a:r>
              <a:rPr sz="1800" b="1" i="0">
                <a:solidFill>
                  <a:srgbClr val="2B2B2B"/>
                </a:solidFill>
                <a:latin typeface="Arial"/>
              </a:rPr>
              <a:t>Guardian monitoring:</a:t>
            </a:r>
            <a:r>
              <a:rPr sz="1800" b="0" i="0">
                <a:solidFill>
                  <a:srgbClr val="2B2B2B"/>
                </a:solidFill>
                <a:latin typeface="Arial"/>
              </a:rPr>
              <a:t> </a:t>
            </a:r>
            <a:r>
              <a:rPr sz="1800" b="1" i="0">
                <a:solidFill>
                  <a:srgbClr val="2B2B2B"/>
                </a:solidFill>
                <a:latin typeface="Arial"/>
              </a:rPr>
              <a:t>web dashboard + Android app</a:t>
            </a:r>
            <a:r>
              <a:rPr sz="1800" b="0" i="0">
                <a:solidFill>
                  <a:srgbClr val="2B2B2B"/>
                </a:solidFill>
                <a:latin typeface="Arial"/>
              </a:rPr>
              <a:t> for live location, SOS and fall notifications</a:t>
            </a:r>
          </a:p>
          <a:p>
            <a:pPr marL="201168" indent="-201168">
              <a:spcAft>
                <a:spcPts val="684"/>
              </a:spcAft>
              <a:buClr>
                <a:srgbClr val="00943A"/>
              </a:buClr>
              <a:buFont typeface="Arial"/>
              <a:buChar char="•"/>
            </a:pPr>
            <a:r>
              <a:rPr sz="1800" b="1" i="0">
                <a:solidFill>
                  <a:srgbClr val="2B2B2B"/>
                </a:solidFill>
                <a:latin typeface="Arial"/>
              </a:rPr>
              <a:t>Also in scope:</a:t>
            </a:r>
            <a:r>
              <a:rPr sz="1800" b="0" i="0">
                <a:solidFill>
                  <a:srgbClr val="2B2B2B"/>
                </a:solidFill>
                <a:latin typeface="Arial"/>
              </a:rPr>
              <a:t> </a:t>
            </a:r>
            <a:r>
              <a:rPr sz="1800" b="1" i="0">
                <a:solidFill>
                  <a:srgbClr val="2B2B2B"/>
                </a:solidFill>
                <a:latin typeface="Arial"/>
              </a:rPr>
              <a:t>QMC5883P</a:t>
            </a:r>
            <a:r>
              <a:rPr sz="1800" b="0" i="0">
                <a:solidFill>
                  <a:srgbClr val="2B2B2B"/>
                </a:solidFill>
                <a:latin typeface="Arial"/>
              </a:rPr>
              <a:t> compass heading, </a:t>
            </a:r>
            <a:r>
              <a:rPr sz="1800" b="1" i="0">
                <a:solidFill>
                  <a:srgbClr val="2B2B2B"/>
                </a:solidFill>
                <a:latin typeface="Arial"/>
              </a:rPr>
              <a:t>voice assistant</a:t>
            </a:r>
            <a:r>
              <a:rPr sz="1800" b="0" i="0">
                <a:solidFill>
                  <a:srgbClr val="2B2B2B"/>
                </a:solidFill>
                <a:latin typeface="Arial"/>
              </a:rPr>
              <a:t> (PTT), </a:t>
            </a:r>
            <a:r>
              <a:rPr sz="1800" b="1" i="0">
                <a:solidFill>
                  <a:srgbClr val="2B2B2B"/>
                </a:solidFill>
                <a:latin typeface="Arial"/>
              </a:rPr>
              <a:t>on-device routing</a:t>
            </a:r>
            <a:r>
              <a:rPr sz="1800" b="0" i="0">
                <a:solidFill>
                  <a:srgbClr val="2B2B2B"/>
                </a:solidFill>
                <a:latin typeface="Arial"/>
              </a:rPr>
              <a:t> (GraphHopper + Photon)</a:t>
            </a:r>
          </a:p>
          <a:p>
            <a:pPr marL="201168" indent="-201168">
              <a:spcAft>
                <a:spcPts val="684"/>
              </a:spcAft>
              <a:buClr>
                <a:srgbClr val="00943A"/>
              </a:buClr>
              <a:buFont typeface="Arial"/>
              <a:buChar char="•"/>
            </a:pPr>
            <a:r>
              <a:rPr sz="1800" b="1" i="0">
                <a:solidFill>
                  <a:srgbClr val="2B2B2B"/>
                </a:solidFill>
                <a:latin typeface="Arial"/>
              </a:rPr>
              <a:t>Environment:</a:t>
            </a:r>
            <a:r>
              <a:rPr sz="1800" b="0" i="0">
                <a:solidFill>
                  <a:srgbClr val="2B2B2B"/>
                </a:solidFill>
                <a:latin typeface="Arial"/>
              </a:rPr>
              <a:t> </a:t>
            </a:r>
            <a:r>
              <a:rPr sz="1800" b="1" i="0">
                <a:solidFill>
                  <a:srgbClr val="2B2B2B"/>
                </a:solidFill>
                <a:latin typeface="Arial"/>
              </a:rPr>
              <a:t>outdoor pedestrian</a:t>
            </a:r>
            <a:r>
              <a:rPr sz="1800" b="0" i="0">
                <a:solidFill>
                  <a:srgbClr val="2B2B2B"/>
                </a:solidFill>
                <a:latin typeface="Arial"/>
              </a:rPr>
              <a:t> use with GNSS and cellular coverage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tion kicker"/>
          <p:cNvSpPr txBox="1"/>
          <p:nvPr/>
        </p:nvSpPr>
        <p:spPr>
          <a:xfrm>
            <a:off x="1280160" y="292608"/>
            <a:ext cx="8686800" cy="256032"/>
          </a:xfrm>
          <a:prstGeom prst="rect">
            <a:avLst/>
          </a:prstGeom>
          <a:noFill/>
        </p:spPr>
        <p:txBody>
          <a:bodyPr wrap="square" lIns="0" rIns="0" tIns="0" bIns="0" anchor="t">
            <a:noAutofit/>
          </a:bodyPr>
          <a:lstStyle/>
          <a:p>
            <a:r>
              <a:rPr sz="1100" b="1" i="0">
                <a:solidFill>
                  <a:srgbClr val="6B6B6B"/>
                </a:solidFill>
                <a:latin typeface="Arial"/>
              </a:rPr>
              <a:t>SCOPE AND DELIMITATION</a:t>
            </a:r>
          </a:p>
        </p:txBody>
      </p:sp>
      <p:sp>
        <p:nvSpPr>
          <p:cNvPr id="3" name="Title"/>
          <p:cNvSpPr txBox="1"/>
          <p:nvPr/>
        </p:nvSpPr>
        <p:spPr>
          <a:xfrm>
            <a:off x="1280160" y="502920"/>
            <a:ext cx="10469880" cy="731520"/>
          </a:xfrm>
          <a:prstGeom prst="rect">
            <a:avLst/>
          </a:prstGeom>
          <a:noFill/>
        </p:spPr>
        <p:txBody>
          <a:bodyPr wrap="square" lIns="0" rIns="0" tIns="0" bIns="0" anchor="ctr">
            <a:noAutofit/>
          </a:bodyPr>
          <a:lstStyle/>
          <a:p>
            <a:r>
              <a:rPr sz="3200" b="1" i="0">
                <a:solidFill>
                  <a:srgbClr val="00943A"/>
                </a:solidFill>
                <a:latin typeface="Arial"/>
              </a:rPr>
              <a:t>Delimitations and Operating Boundaries</a:t>
            </a:r>
          </a:p>
        </p:txBody>
      </p:sp>
      <p:sp>
        <p:nvSpPr>
          <p:cNvPr id="4" name="Slide number"/>
          <p:cNvSpPr txBox="1"/>
          <p:nvPr/>
        </p:nvSpPr>
        <p:spPr>
          <a:xfrm>
            <a:off x="1280160" y="6327648"/>
            <a:ext cx="2286000" cy="274320"/>
          </a:xfrm>
          <a:prstGeom prst="rect">
            <a:avLst/>
          </a:prstGeom>
          <a:noFill/>
        </p:spPr>
        <p:txBody>
          <a:bodyPr wrap="square" lIns="0" rIns="0" tIns="0" bIns="0" anchor="t">
            <a:noAutofit/>
          </a:bodyPr>
          <a:lstStyle/>
          <a:p>
            <a:r>
              <a:rPr sz="1000" b="0" i="0">
                <a:solidFill>
                  <a:srgbClr val="6B6B6B"/>
                </a:solidFill>
                <a:latin typeface="Arial"/>
              </a:rPr>
              <a:t>IndepenSense · 10</a:t>
            </a:r>
          </a:p>
        </p:txBody>
      </p:sp>
      <p:sp>
        <p:nvSpPr>
          <p:cNvPr id="5" name="Field 1 card"/>
          <p:cNvSpPr/>
          <p:nvPr/>
        </p:nvSpPr>
        <p:spPr>
          <a:xfrm>
            <a:off x="1280160" y="1371600"/>
            <a:ext cx="4923403" cy="4617720"/>
          </a:xfrm>
          <a:prstGeom prst="roundRect">
            <a:avLst>
              <a:gd name="adj" fmla="val 3564"/>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ield 1 text"/>
          <p:cNvSpPr txBox="1"/>
          <p:nvPr/>
        </p:nvSpPr>
        <p:spPr>
          <a:xfrm>
            <a:off x="1463039" y="1554480"/>
            <a:ext cx="4557643" cy="4251959"/>
          </a:xfrm>
          <a:prstGeom prst="rect">
            <a:avLst/>
          </a:prstGeom>
          <a:noFill/>
        </p:spPr>
        <p:txBody>
          <a:bodyPr wrap="square" lIns="0" rIns="0" tIns="0" bIns="0" anchor="t">
            <a:noAutofit/>
          </a:bodyPr>
          <a:lstStyle/>
          <a:p>
            <a:pPr>
              <a:spcAft>
                <a:spcPts val="720"/>
              </a:spcAft>
              <a:buNone/>
            </a:pPr>
            <a:r>
              <a:rPr sz="1800" b="1" i="0">
                <a:solidFill>
                  <a:srgbClr val="006B2A"/>
                </a:solidFill>
                <a:latin typeface="Arial"/>
              </a:rPr>
              <a:t>Physical / sensing</a:t>
            </a:r>
          </a:p>
          <a:p>
            <a:pPr marL="201168" indent="-201168">
              <a:spcAft>
                <a:spcPts val="608"/>
              </a:spcAft>
              <a:buClr>
                <a:srgbClr val="00943A"/>
              </a:buClr>
              <a:buFont typeface="Arial"/>
              <a:buChar char="•"/>
            </a:pPr>
            <a:r>
              <a:rPr sz="1600" b="1" i="0">
                <a:solidFill>
                  <a:srgbClr val="2B2B2B"/>
                </a:solidFill>
                <a:latin typeface="Arial"/>
              </a:rPr>
              <a:t>Forward-facing detection profile only</a:t>
            </a:r>
            <a:r>
              <a:rPr sz="1600" b="0" i="0">
                <a:solidFill>
                  <a:srgbClr val="2B2B2B"/>
                </a:solidFill>
                <a:latin typeface="Arial"/>
              </a:rPr>
              <a:t>, with an effective </a:t>
            </a:r>
            <a:r>
              <a:rPr sz="1600" b="1" i="0">
                <a:solidFill>
                  <a:srgbClr val="2B2B2B"/>
                </a:solidFill>
                <a:latin typeface="Arial"/>
              </a:rPr>
              <a:t>35°–45° cone</a:t>
            </a:r>
            <a:r>
              <a:rPr sz="1600" b="0" i="0">
                <a:solidFill>
                  <a:srgbClr val="2B2B2B"/>
                </a:solidFill>
                <a:latin typeface="Arial"/>
              </a:rPr>
              <a:t> validated on the bench</a:t>
            </a:r>
          </a:p>
          <a:p>
            <a:pPr marL="201168" indent="-201168">
              <a:spcAft>
                <a:spcPts val="608"/>
              </a:spcAft>
              <a:buClr>
                <a:srgbClr val="00943A"/>
              </a:buClr>
              <a:buFont typeface="Arial"/>
              <a:buChar char="•"/>
            </a:pPr>
            <a:r>
              <a:rPr sz="1600" b="1" i="0">
                <a:solidFill>
                  <a:srgbClr val="2B2B2B"/>
                </a:solidFill>
                <a:latin typeface="Arial"/>
              </a:rPr>
              <a:t>No lateral (left/right) sensing.</a:t>
            </a:r>
            <a:r>
              <a:rPr sz="1600" b="0" i="0">
                <a:solidFill>
                  <a:srgbClr val="2B2B2B"/>
                </a:solidFill>
                <a:latin typeface="Arial"/>
              </a:rPr>
              <a:t> Obstacles beside the user are outside the cone</a:t>
            </a:r>
          </a:p>
          <a:p>
            <a:pPr marL="201168" indent="-201168">
              <a:spcAft>
                <a:spcPts val="608"/>
              </a:spcAft>
              <a:buClr>
                <a:srgbClr val="00943A"/>
              </a:buClr>
              <a:buFont typeface="Arial"/>
              <a:buChar char="•"/>
            </a:pPr>
            <a:r>
              <a:rPr sz="1600" b="0" i="0">
                <a:solidFill>
                  <a:srgbClr val="2B2B2B"/>
                </a:solidFill>
                <a:latin typeface="Arial"/>
              </a:rPr>
              <a:t>The </a:t>
            </a:r>
            <a:r>
              <a:rPr sz="1600" b="1" i="0">
                <a:solidFill>
                  <a:srgbClr val="2B2B2B"/>
                </a:solidFill>
                <a:latin typeface="Arial"/>
              </a:rPr>
              <a:t>3 vibration motors share one handle</a:t>
            </a:r>
            <a:r>
              <a:rPr sz="1600" b="0" i="0">
                <a:solidFill>
                  <a:srgbClr val="2B2B2B"/>
                </a:solidFill>
                <a:latin typeface="Arial"/>
              </a:rPr>
              <a:t>, so they signal </a:t>
            </a:r>
            <a:r>
              <a:rPr sz="1600" b="1" i="0">
                <a:solidFill>
                  <a:srgbClr val="2B2B2B"/>
                </a:solidFill>
                <a:latin typeface="Arial"/>
              </a:rPr>
              <a:t>intensity, not direction</a:t>
            </a:r>
          </a:p>
          <a:p>
            <a:pPr marL="201168" indent="-201168">
              <a:spcAft>
                <a:spcPts val="608"/>
              </a:spcAft>
              <a:buClr>
                <a:srgbClr val="00943A"/>
              </a:buClr>
              <a:buFont typeface="Arial"/>
              <a:buChar char="•"/>
            </a:pPr>
            <a:r>
              <a:rPr sz="1600" b="0" i="0">
                <a:solidFill>
                  <a:srgbClr val="2B2B2B"/>
                </a:solidFill>
                <a:latin typeface="Arial"/>
              </a:rPr>
              <a:t>Vision recognises </a:t>
            </a:r>
            <a:r>
              <a:rPr sz="1600" b="1" i="0">
                <a:solidFill>
                  <a:srgbClr val="2B2B2B"/>
                </a:solidFill>
                <a:latin typeface="Arial"/>
              </a:rPr>
              <a:t>general object classes</a:t>
            </a:r>
            <a:r>
              <a:rPr sz="1600" b="0" i="0">
                <a:solidFill>
                  <a:srgbClr val="2B2B2B"/>
                </a:solidFill>
                <a:latin typeface="Arial"/>
              </a:rPr>
              <a:t> only, with </a:t>
            </a:r>
            <a:r>
              <a:rPr sz="1600" b="1" i="0">
                <a:solidFill>
                  <a:srgbClr val="2B2B2B"/>
                </a:solidFill>
                <a:latin typeface="Arial"/>
              </a:rPr>
              <a:t>no fine-grained scene reasoning</a:t>
            </a:r>
          </a:p>
          <a:p>
            <a:pPr marL="201168" indent="-201168">
              <a:spcAft>
                <a:spcPts val="608"/>
              </a:spcAft>
              <a:buClr>
                <a:srgbClr val="00943A"/>
              </a:buClr>
              <a:buFont typeface="Arial"/>
              <a:buChar char="•"/>
            </a:pPr>
            <a:r>
              <a:rPr sz="1600" b="1" i="0">
                <a:solidFill>
                  <a:srgbClr val="2B2B2B"/>
                </a:solidFill>
                <a:latin typeface="Arial"/>
              </a:rPr>
              <a:t>Fixed cane length</a:t>
            </a:r>
            <a:r>
              <a:rPr sz="1600" b="0" i="0">
                <a:solidFill>
                  <a:srgbClr val="2B2B2B"/>
                </a:solidFill>
                <a:latin typeface="Arial"/>
              </a:rPr>
              <a:t> in the tested build</a:t>
            </a:r>
          </a:p>
        </p:txBody>
      </p:sp>
      <p:sp>
        <p:nvSpPr>
          <p:cNvPr id="7" name="Field 2 card"/>
          <p:cNvSpPr/>
          <p:nvPr/>
        </p:nvSpPr>
        <p:spPr>
          <a:xfrm>
            <a:off x="6459595" y="1371600"/>
            <a:ext cx="5290444" cy="4617720"/>
          </a:xfrm>
          <a:prstGeom prst="roundRect">
            <a:avLst>
              <a:gd name="adj" fmla="val 3564"/>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Field 2 text"/>
          <p:cNvSpPr txBox="1"/>
          <p:nvPr/>
        </p:nvSpPr>
        <p:spPr>
          <a:xfrm>
            <a:off x="6642475" y="1554480"/>
            <a:ext cx="4924684" cy="4251959"/>
          </a:xfrm>
          <a:prstGeom prst="rect">
            <a:avLst/>
          </a:prstGeom>
          <a:noFill/>
        </p:spPr>
        <p:txBody>
          <a:bodyPr wrap="square" lIns="0" rIns="0" tIns="0" bIns="0" anchor="t">
            <a:noAutofit/>
          </a:bodyPr>
          <a:lstStyle/>
          <a:p>
            <a:pPr>
              <a:spcAft>
                <a:spcPts val="720"/>
              </a:spcAft>
              <a:buNone/>
            </a:pPr>
            <a:r>
              <a:rPr sz="1800" b="1" i="0">
                <a:solidFill>
                  <a:srgbClr val="006B2A"/>
                </a:solidFill>
                <a:latin typeface="Arial"/>
              </a:rPr>
              <a:t>Environmental / network</a:t>
            </a:r>
          </a:p>
          <a:p>
            <a:pPr marL="201168" indent="-201168">
              <a:spcAft>
                <a:spcPts val="608"/>
              </a:spcAft>
              <a:buClr>
                <a:srgbClr val="00943A"/>
              </a:buClr>
              <a:buFont typeface="Arial"/>
              <a:buChar char="•"/>
            </a:pPr>
            <a:r>
              <a:rPr sz="1600" b="1" i="0">
                <a:solidFill>
                  <a:srgbClr val="2B2B2B"/>
                </a:solidFill>
                <a:latin typeface="Arial"/>
              </a:rPr>
              <a:t>Absolute cellular dependency</a:t>
            </a:r>
            <a:r>
              <a:rPr sz="1600" b="0" i="0">
                <a:solidFill>
                  <a:srgbClr val="2B2B2B"/>
                </a:solidFill>
                <a:latin typeface="Arial"/>
              </a:rPr>
              <a:t> for guardian telemetry, SMS and cloud speech features</a:t>
            </a:r>
          </a:p>
          <a:p>
            <a:pPr marL="201168" indent="-201168">
              <a:spcAft>
                <a:spcPts val="608"/>
              </a:spcAft>
              <a:buClr>
                <a:srgbClr val="00943A"/>
              </a:buClr>
              <a:buFont typeface="Arial"/>
              <a:buChar char="•"/>
            </a:pPr>
            <a:r>
              <a:rPr sz="1600" b="1" i="0">
                <a:solidFill>
                  <a:srgbClr val="2B2B2B"/>
                </a:solidFill>
                <a:latin typeface="Arial"/>
              </a:rPr>
              <a:t>GNSS degrades indoors</a:t>
            </a:r>
            <a:r>
              <a:rPr sz="1600" b="0" i="0">
                <a:solidFill>
                  <a:srgbClr val="2B2B2B"/>
                </a:solidFill>
                <a:latin typeface="Arial"/>
              </a:rPr>
              <a:t> and under structural obstruction</a:t>
            </a:r>
          </a:p>
          <a:p>
            <a:pPr marL="201168" indent="-201168">
              <a:spcAft>
                <a:spcPts val="608"/>
              </a:spcAft>
              <a:buClr>
                <a:srgbClr val="00943A"/>
              </a:buClr>
              <a:buFont typeface="Arial"/>
              <a:buChar char="•"/>
            </a:pPr>
            <a:r>
              <a:rPr sz="1600" b="1" i="0">
                <a:solidFill>
                  <a:srgbClr val="2B2B2B"/>
                </a:solidFill>
                <a:latin typeface="Arial"/>
              </a:rPr>
              <a:t>CV accuracy degrades</a:t>
            </a:r>
            <a:r>
              <a:rPr sz="1600" b="0" i="0">
                <a:solidFill>
                  <a:srgbClr val="2B2B2B"/>
                </a:solidFill>
                <a:latin typeface="Arial"/>
              </a:rPr>
              <a:t> in </a:t>
            </a:r>
            <a:r>
              <a:rPr sz="1600" b="1" i="0">
                <a:solidFill>
                  <a:srgbClr val="2B2B2B"/>
                </a:solidFill>
                <a:latin typeface="Arial"/>
              </a:rPr>
              <a:t>low light, harsh light, rain</a:t>
            </a:r>
          </a:p>
          <a:p>
            <a:pPr marL="201168" indent="-201168">
              <a:spcAft>
                <a:spcPts val="608"/>
              </a:spcAft>
              <a:buClr>
                <a:srgbClr val="00943A"/>
              </a:buClr>
              <a:buFont typeface="Arial"/>
              <a:buChar char="•"/>
            </a:pPr>
            <a:r>
              <a:rPr sz="1600" b="0" i="0">
                <a:solidFill>
                  <a:srgbClr val="2B2B2B"/>
                </a:solidFill>
                <a:latin typeface="Arial"/>
              </a:rPr>
              <a:t>Higher </a:t>
            </a:r>
            <a:r>
              <a:rPr sz="1600" b="1" i="0">
                <a:solidFill>
                  <a:srgbClr val="2B2B2B"/>
                </a:solidFill>
                <a:latin typeface="Arial"/>
              </a:rPr>
              <a:t>power draw</a:t>
            </a:r>
            <a:r>
              <a:rPr sz="1600" b="0" i="0">
                <a:solidFill>
                  <a:srgbClr val="2B2B2B"/>
                </a:solidFill>
                <a:latin typeface="Arial"/>
              </a:rPr>
              <a:t> when vision is active, which shortens runtime</a:t>
            </a:r>
          </a:p>
          <a:p>
            <a:pPr marL="201168" indent="-201168">
              <a:spcAft>
                <a:spcPts val="608"/>
              </a:spcAft>
              <a:buClr>
                <a:srgbClr val="00943A"/>
              </a:buClr>
              <a:buFont typeface="Arial"/>
              <a:buChar char="•"/>
            </a:pPr>
            <a:r>
              <a:rPr sz="1600" b="1" i="0">
                <a:solidFill>
                  <a:srgbClr val="2B2B2B"/>
                </a:solidFill>
                <a:latin typeface="Arial"/>
              </a:rPr>
              <a:t>Indoor navigation is out of scope</a:t>
            </a:r>
          </a:p>
          <a:p>
            <a:pPr marL="201168" indent="-201168">
              <a:spcAft>
                <a:spcPts val="608"/>
              </a:spcAft>
              <a:buClr>
                <a:srgbClr val="00943A"/>
              </a:buClr>
              <a:buFont typeface="Arial"/>
              <a:buChar char="•"/>
            </a:pPr>
            <a:r>
              <a:rPr sz="1600" b="1" i="0">
                <a:solidFill>
                  <a:srgbClr val="2B2B2B"/>
                </a:solidFill>
                <a:latin typeface="Arial"/>
              </a:rPr>
              <a:t>What survives offline</a:t>
            </a:r>
            <a:r>
              <a:rPr sz="1600" b="0" i="0">
                <a:solidFill>
                  <a:srgbClr val="2B2B2B"/>
                </a:solidFill>
                <a:latin typeface="Arial"/>
              </a:rPr>
              <a:t>: obstacle warnings, fall detection, the local alarm, on-device routing and English speech</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tion kicker"/>
          <p:cNvSpPr txBox="1"/>
          <p:nvPr/>
        </p:nvSpPr>
        <p:spPr>
          <a:xfrm>
            <a:off x="1280160" y="292608"/>
            <a:ext cx="8686800" cy="256032"/>
          </a:xfrm>
          <a:prstGeom prst="rect">
            <a:avLst/>
          </a:prstGeom>
          <a:noFill/>
        </p:spPr>
        <p:txBody>
          <a:bodyPr wrap="square" lIns="0" rIns="0" tIns="0" bIns="0" anchor="t">
            <a:noAutofit/>
          </a:bodyPr>
          <a:lstStyle/>
          <a:p>
            <a:r>
              <a:rPr sz="1100" b="1" i="0">
                <a:solidFill>
                  <a:srgbClr val="6B6B6B"/>
                </a:solidFill>
                <a:latin typeface="Arial"/>
              </a:rPr>
              <a:t>PROJECT DESCRIPTION &amp; HARDWARE ARCHITECTURE</a:t>
            </a:r>
          </a:p>
        </p:txBody>
      </p:sp>
      <p:sp>
        <p:nvSpPr>
          <p:cNvPr id="3" name="Title"/>
          <p:cNvSpPr txBox="1"/>
          <p:nvPr/>
        </p:nvSpPr>
        <p:spPr>
          <a:xfrm>
            <a:off x="1280160" y="502920"/>
            <a:ext cx="10469880" cy="731520"/>
          </a:xfrm>
          <a:prstGeom prst="rect">
            <a:avLst/>
          </a:prstGeom>
          <a:noFill/>
        </p:spPr>
        <p:txBody>
          <a:bodyPr wrap="square" lIns="0" rIns="0" tIns="0" bIns="0" anchor="ctr">
            <a:noAutofit/>
          </a:bodyPr>
          <a:lstStyle/>
          <a:p>
            <a:r>
              <a:rPr sz="2800" b="1" i="0">
                <a:solidFill>
                  <a:srgbClr val="00943A"/>
                </a:solidFill>
                <a:latin typeface="Arial"/>
              </a:rPr>
              <a:t>System Overview: Hybrid Edge–Cloud Architecture</a:t>
            </a:r>
          </a:p>
        </p:txBody>
      </p:sp>
      <p:sp>
        <p:nvSpPr>
          <p:cNvPr id="4" name="Slide number"/>
          <p:cNvSpPr txBox="1"/>
          <p:nvPr/>
        </p:nvSpPr>
        <p:spPr>
          <a:xfrm>
            <a:off x="1280160" y="6327648"/>
            <a:ext cx="2286000" cy="274320"/>
          </a:xfrm>
          <a:prstGeom prst="rect">
            <a:avLst/>
          </a:prstGeom>
          <a:noFill/>
        </p:spPr>
        <p:txBody>
          <a:bodyPr wrap="square" lIns="0" rIns="0" tIns="0" bIns="0" anchor="t">
            <a:noAutofit/>
          </a:bodyPr>
          <a:lstStyle/>
          <a:p>
            <a:r>
              <a:rPr sz="1000" b="0" i="0">
                <a:solidFill>
                  <a:srgbClr val="6B6B6B"/>
                </a:solidFill>
                <a:latin typeface="Arial"/>
              </a:rPr>
              <a:t>IndepenSense · 11</a:t>
            </a:r>
          </a:p>
        </p:txBody>
      </p:sp>
      <p:pic>
        <p:nvPicPr>
          <p:cNvPr id="5" name="Figure 1" descr="p29_X139.jpg"/>
          <p:cNvPicPr>
            <a:picLocks noChangeAspect="1"/>
          </p:cNvPicPr>
          <p:nvPr/>
        </p:nvPicPr>
        <p:blipFill>
          <a:blip r:embed="rId2"/>
          <a:stretch>
            <a:fillRect/>
          </a:stretch>
        </p:blipFill>
        <p:spPr>
          <a:xfrm>
            <a:off x="8183879" y="2475157"/>
            <a:ext cx="3566160" cy="2117997"/>
          </a:xfrm>
          <a:prstGeom prst="rect">
            <a:avLst/>
          </a:prstGeom>
          <a:ln w="9525">
            <a:solidFill>
              <a:srgbClr val="D9D9D9"/>
            </a:solidFill>
          </a:ln>
        </p:spPr>
      </p:pic>
      <p:sp>
        <p:nvSpPr>
          <p:cNvPr id="6" name="Figure 1 caption"/>
          <p:cNvSpPr txBox="1"/>
          <p:nvPr/>
        </p:nvSpPr>
        <p:spPr>
          <a:xfrm>
            <a:off x="8092440" y="4638874"/>
            <a:ext cx="3749039" cy="274320"/>
          </a:xfrm>
          <a:prstGeom prst="rect">
            <a:avLst/>
          </a:prstGeom>
          <a:noFill/>
        </p:spPr>
        <p:txBody>
          <a:bodyPr wrap="square" lIns="0" rIns="0" tIns="0" bIns="0" anchor="t">
            <a:noAutofit/>
          </a:bodyPr>
          <a:lstStyle/>
          <a:p>
            <a:pPr algn="ctr"/>
            <a:r>
              <a:rPr sz="1000" b="0" i="1">
                <a:solidFill>
                  <a:srgbClr val="6B6B6B"/>
                </a:solidFill>
                <a:latin typeface="Arial"/>
              </a:rPr>
              <a:t>Model representation of the prototype</a:t>
            </a:r>
          </a:p>
        </p:txBody>
      </p:sp>
      <p:sp>
        <p:nvSpPr>
          <p:cNvPr id="7" name="Field 1 card"/>
          <p:cNvSpPr/>
          <p:nvPr/>
        </p:nvSpPr>
        <p:spPr>
          <a:xfrm>
            <a:off x="1280160" y="1371600"/>
            <a:ext cx="3856527" cy="4617720"/>
          </a:xfrm>
          <a:prstGeom prst="roundRect">
            <a:avLst>
              <a:gd name="adj" fmla="val 4267"/>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Field 1 text"/>
          <p:cNvSpPr txBox="1"/>
          <p:nvPr/>
        </p:nvSpPr>
        <p:spPr>
          <a:xfrm>
            <a:off x="1463039" y="1554480"/>
            <a:ext cx="3490767" cy="4251959"/>
          </a:xfrm>
          <a:prstGeom prst="rect">
            <a:avLst/>
          </a:prstGeom>
          <a:noFill/>
        </p:spPr>
        <p:txBody>
          <a:bodyPr wrap="square" lIns="0" rIns="0" tIns="0" bIns="0" anchor="t">
            <a:noAutofit/>
          </a:bodyPr>
          <a:lstStyle/>
          <a:p>
            <a:pPr marL="201168" indent="-201168">
              <a:spcAft>
                <a:spcPts val="570"/>
              </a:spcAft>
              <a:buClr>
                <a:srgbClr val="00943A"/>
              </a:buClr>
              <a:buFont typeface="Arial"/>
              <a:buChar char="•"/>
            </a:pPr>
            <a:r>
              <a:rPr sz="1500" b="1" i="0">
                <a:solidFill>
                  <a:srgbClr val="2B2B2B"/>
                </a:solidFill>
                <a:latin typeface="Arial"/>
              </a:rPr>
              <a:t>Edge (Raspberry Pi 5), always on:</a:t>
            </a:r>
            <a:r>
              <a:rPr sz="1500" b="0" i="0">
                <a:solidFill>
                  <a:srgbClr val="2B2B2B"/>
                </a:solidFill>
                <a:latin typeface="Arial"/>
              </a:rPr>
              <a:t> obstacle sensing, fall detection, haptics, buzzer, </a:t>
            </a:r>
            <a:r>
              <a:rPr sz="1500" b="1" i="0">
                <a:solidFill>
                  <a:srgbClr val="2B2B2B"/>
                </a:solidFill>
                <a:latin typeface="Arial"/>
              </a:rPr>
              <a:t>YOLOv8 + OCR</a:t>
            </a:r>
            <a:r>
              <a:rPr sz="1500" b="0" i="0">
                <a:solidFill>
                  <a:srgbClr val="2B2B2B"/>
                </a:solidFill>
                <a:latin typeface="Arial"/>
              </a:rPr>
              <a:t>, </a:t>
            </a:r>
            <a:r>
              <a:rPr sz="1500" b="1" i="0">
                <a:solidFill>
                  <a:srgbClr val="2B2B2B"/>
                </a:solidFill>
                <a:latin typeface="Arial"/>
              </a:rPr>
              <a:t>GraphHopper routing</a:t>
            </a:r>
            <a:r>
              <a:rPr sz="1500" b="0" i="0">
                <a:solidFill>
                  <a:srgbClr val="2B2B2B"/>
                </a:solidFill>
                <a:latin typeface="Arial"/>
              </a:rPr>
              <a:t> and </a:t>
            </a:r>
            <a:r>
              <a:rPr sz="1500" b="1" i="0">
                <a:solidFill>
                  <a:srgbClr val="2B2B2B"/>
                </a:solidFill>
                <a:latin typeface="Arial"/>
              </a:rPr>
              <a:t>Photon geocoding</a:t>
            </a:r>
            <a:r>
              <a:rPr sz="1500" b="0" i="0">
                <a:solidFill>
                  <a:srgbClr val="2B2B2B"/>
                </a:solidFill>
                <a:latin typeface="Arial"/>
              </a:rPr>
              <a:t>, both </a:t>
            </a:r>
            <a:r>
              <a:rPr sz="1500" b="1" i="0">
                <a:solidFill>
                  <a:srgbClr val="2B2B2B"/>
                </a:solidFill>
                <a:latin typeface="Arial"/>
              </a:rPr>
              <a:t>on device</a:t>
            </a:r>
          </a:p>
          <a:p>
            <a:pPr marL="201168" indent="-201168">
              <a:spcAft>
                <a:spcPts val="570"/>
              </a:spcAft>
              <a:buClr>
                <a:srgbClr val="00943A"/>
              </a:buClr>
              <a:buFont typeface="Arial"/>
              <a:buChar char="•"/>
            </a:pPr>
            <a:r>
              <a:rPr sz="1500" b="1" i="0">
                <a:solidFill>
                  <a:srgbClr val="2B2B2B"/>
                </a:solidFill>
                <a:latin typeface="Arial"/>
              </a:rPr>
              <a:t>Cloud (optional, with dotted links):</a:t>
            </a:r>
            <a:r>
              <a:rPr sz="1500" b="0" i="0">
                <a:solidFill>
                  <a:srgbClr val="2B2B2B"/>
                </a:solidFill>
                <a:latin typeface="Arial"/>
              </a:rPr>
              <a:t> </a:t>
            </a:r>
            <a:r>
              <a:rPr sz="1500" b="1" i="0">
                <a:solidFill>
                  <a:srgbClr val="2B2B2B"/>
                </a:solidFill>
                <a:latin typeface="Arial"/>
              </a:rPr>
              <a:t>Mistral</a:t>
            </a:r>
            <a:r>
              <a:rPr sz="1500" b="0" i="0">
                <a:solidFill>
                  <a:srgbClr val="2B2B2B"/>
                </a:solidFill>
                <a:latin typeface="Arial"/>
              </a:rPr>
              <a:t> intent classification and open questions, </a:t>
            </a:r>
            <a:r>
              <a:rPr sz="1500" b="1" i="0">
                <a:solidFill>
                  <a:srgbClr val="2B2B2B"/>
                </a:solidFill>
                <a:latin typeface="Arial"/>
              </a:rPr>
              <a:t>Tagalog speech-to-text and text-to-speech</a:t>
            </a:r>
            <a:r>
              <a:rPr sz="1500" b="0" i="0">
                <a:solidFill>
                  <a:srgbClr val="2B2B2B"/>
                </a:solidFill>
                <a:latin typeface="Arial"/>
              </a:rPr>
              <a:t> server, </a:t>
            </a:r>
            <a:r>
              <a:rPr sz="1500" b="1" i="0">
                <a:solidFill>
                  <a:srgbClr val="2B2B2B"/>
                </a:solidFill>
                <a:latin typeface="Arial"/>
              </a:rPr>
              <a:t>backend API → guardian dashboard</a:t>
            </a:r>
          </a:p>
          <a:p>
            <a:pPr marL="201168" indent="-201168">
              <a:spcAft>
                <a:spcPts val="570"/>
              </a:spcAft>
              <a:buClr>
                <a:srgbClr val="00943A"/>
              </a:buClr>
              <a:buFont typeface="Arial"/>
              <a:buChar char="•"/>
            </a:pPr>
            <a:r>
              <a:rPr sz="1500" b="1" i="0">
                <a:solidFill>
                  <a:srgbClr val="2B2B2B"/>
                </a:solidFill>
                <a:latin typeface="Arial"/>
              </a:rPr>
              <a:t>Cellular, without data:</a:t>
            </a:r>
            <a:r>
              <a:rPr sz="1500" b="0" i="0">
                <a:solidFill>
                  <a:srgbClr val="2B2B2B"/>
                </a:solidFill>
                <a:latin typeface="Arial"/>
              </a:rPr>
              <a:t> </a:t>
            </a:r>
            <a:r>
              <a:rPr sz="1500" b="1" i="0">
                <a:solidFill>
                  <a:srgbClr val="2B2B2B"/>
                </a:solidFill>
                <a:latin typeface="Arial"/>
              </a:rPr>
              <a:t>emergency SMS</a:t>
            </a:r>
            <a:r>
              <a:rPr sz="1500" b="0" i="0">
                <a:solidFill>
                  <a:srgbClr val="2B2B2B"/>
                </a:solidFill>
                <a:latin typeface="Arial"/>
              </a:rPr>
              <a:t> straight to the guardian's phone</a:t>
            </a:r>
          </a:p>
        </p:txBody>
      </p:sp>
      <p:sp>
        <p:nvSpPr>
          <p:cNvPr id="9" name="Field 2 card"/>
          <p:cNvSpPr/>
          <p:nvPr/>
        </p:nvSpPr>
        <p:spPr>
          <a:xfrm>
            <a:off x="5392719" y="1371600"/>
            <a:ext cx="2535128" cy="4617720"/>
          </a:xfrm>
          <a:prstGeom prst="roundRect">
            <a:avLst>
              <a:gd name="adj" fmla="val 6492"/>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Field 2 text"/>
          <p:cNvSpPr txBox="1"/>
          <p:nvPr/>
        </p:nvSpPr>
        <p:spPr>
          <a:xfrm>
            <a:off x="5575599" y="1554480"/>
            <a:ext cx="2169368" cy="4251959"/>
          </a:xfrm>
          <a:prstGeom prst="rect">
            <a:avLst/>
          </a:prstGeom>
          <a:noFill/>
        </p:spPr>
        <p:txBody>
          <a:bodyPr wrap="square" lIns="0" rIns="0" tIns="0" bIns="0" anchor="t">
            <a:noAutofit/>
          </a:bodyPr>
          <a:lstStyle/>
          <a:p>
            <a:pPr marL="201168" indent="-201168">
              <a:spcAft>
                <a:spcPts val="570"/>
              </a:spcAft>
              <a:buClr>
                <a:srgbClr val="00943A"/>
              </a:buClr>
              <a:buFont typeface="Arial"/>
              <a:buChar char="•"/>
            </a:pPr>
            <a:r>
              <a:rPr sz="1500" b="1" i="0">
                <a:solidFill>
                  <a:srgbClr val="2B2B2B"/>
                </a:solidFill>
                <a:latin typeface="Arial"/>
              </a:rPr>
              <a:t>Design rule:</a:t>
            </a:r>
            <a:r>
              <a:rPr sz="1500" b="0" i="0">
                <a:solidFill>
                  <a:srgbClr val="2B2B2B"/>
                </a:solidFill>
                <a:latin typeface="Arial"/>
              </a:rPr>
              <a:t> every cloud stage has a </a:t>
            </a:r>
            <a:r>
              <a:rPr sz="1500" b="1" i="0">
                <a:solidFill>
                  <a:srgbClr val="2B2B2B"/>
                </a:solidFill>
                <a:latin typeface="Arial"/>
              </a:rPr>
              <a:t>local fallback</a:t>
            </a:r>
            <a:r>
              <a:rPr sz="1500" b="0" i="0">
                <a:solidFill>
                  <a:srgbClr val="2B2B2B"/>
                </a:solidFill>
                <a:latin typeface="Arial"/>
              </a:rPr>
              <a:t>, so the device </a:t>
            </a:r>
            <a:r>
              <a:rPr sz="1500" b="1" i="0">
                <a:solidFill>
                  <a:srgbClr val="2B2B2B"/>
                </a:solidFill>
                <a:latin typeface="Arial"/>
              </a:rPr>
              <a:t>degrades</a:t>
            </a:r>
            <a:r>
              <a:rPr sz="1500" b="0" i="0">
                <a:solidFill>
                  <a:srgbClr val="2B2B2B"/>
                </a:solidFill>
                <a:latin typeface="Arial"/>
              </a:rPr>
              <a:t> rather than failing</a:t>
            </a:r>
          </a:p>
          <a:p>
            <a:pPr marL="201168" indent="-201168">
              <a:spcAft>
                <a:spcPts val="570"/>
              </a:spcAft>
              <a:buClr>
                <a:srgbClr val="00943A"/>
              </a:buClr>
              <a:buFont typeface="Arial"/>
              <a:buChar char="•"/>
            </a:pPr>
            <a:r>
              <a:rPr sz="1500" b="0" i="0">
                <a:solidFill>
                  <a:srgbClr val="2B2B2B"/>
                </a:solidFill>
                <a:latin typeface="Arial"/>
              </a:rPr>
              <a:t>Wearer → device: </a:t>
            </a:r>
            <a:r>
              <a:rPr sz="1500" b="1" i="0">
                <a:solidFill>
                  <a:srgbClr val="2B2B2B"/>
                </a:solidFill>
                <a:latin typeface="Arial"/>
              </a:rPr>
              <a:t>voice, 3 buttons, motion, surroundings</a:t>
            </a:r>
          </a:p>
          <a:p>
            <a:pPr marL="201168" indent="-201168">
              <a:spcAft>
                <a:spcPts val="570"/>
              </a:spcAft>
              <a:buClr>
                <a:srgbClr val="00943A"/>
              </a:buClr>
              <a:buFont typeface="Arial"/>
              <a:buChar char="•"/>
            </a:pPr>
            <a:r>
              <a:rPr sz="1500" b="0" i="0">
                <a:solidFill>
                  <a:srgbClr val="2B2B2B"/>
                </a:solidFill>
                <a:latin typeface="Arial"/>
              </a:rPr>
              <a:t>Device → wearer: </a:t>
            </a:r>
            <a:r>
              <a:rPr sz="1500" b="1" i="0">
                <a:solidFill>
                  <a:srgbClr val="2B2B2B"/>
                </a:solidFill>
                <a:latin typeface="Arial"/>
              </a:rPr>
              <a:t>speech, vibration, buzzer</a:t>
            </a:r>
          </a:p>
          <a:p>
            <a:pPr marL="201168" indent="-201168">
              <a:spcAft>
                <a:spcPts val="570"/>
              </a:spcAft>
              <a:buClr>
                <a:srgbClr val="00943A"/>
              </a:buClr>
              <a:buFont typeface="Arial"/>
              <a:buChar char="•"/>
            </a:pPr>
            <a:r>
              <a:rPr sz="1500" b="0" i="0">
                <a:solidFill>
                  <a:srgbClr val="2B2B2B"/>
                </a:solidFill>
                <a:latin typeface="Arial"/>
              </a:rPr>
              <a:t>Device → guardian: </a:t>
            </a:r>
            <a:r>
              <a:rPr sz="1500" b="1" i="0">
                <a:solidFill>
                  <a:srgbClr val="2B2B2B"/>
                </a:solidFill>
                <a:latin typeface="Arial"/>
              </a:rPr>
              <a:t>HTTPS heartbeat + alerts</a:t>
            </a:r>
            <a:r>
              <a:rPr sz="1500" b="0" i="0">
                <a:solidFill>
                  <a:srgbClr val="2B2B2B"/>
                </a:solidFill>
                <a:latin typeface="Arial"/>
              </a:rPr>
              <a:t> over </a:t>
            </a:r>
            <a:r>
              <a:rPr sz="1500" b="1" i="0">
                <a:solidFill>
                  <a:srgbClr val="2B2B2B"/>
                </a:solidFill>
                <a:latin typeface="Arial"/>
              </a:rPr>
              <a:t>4G</a:t>
            </a:r>
            <a:r>
              <a:rPr sz="1500" b="0" i="0">
                <a:solidFill>
                  <a:srgbClr val="2B2B2B"/>
                </a:solidFill>
                <a:latin typeface="Arial"/>
              </a:rPr>
              <a:t>, </a:t>
            </a:r>
            <a:r>
              <a:rPr sz="1500" b="1" i="0">
                <a:solidFill>
                  <a:srgbClr val="2B2B2B"/>
                </a:solidFill>
                <a:latin typeface="Arial"/>
              </a:rPr>
              <a:t>SMS</a:t>
            </a:r>
            <a:r>
              <a:rPr sz="1500" b="0" i="0">
                <a:solidFill>
                  <a:srgbClr val="2B2B2B"/>
                </a:solidFill>
                <a:latin typeface="Arial"/>
              </a:rPr>
              <a:t> for alerts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tion kicker"/>
          <p:cNvSpPr txBox="1"/>
          <p:nvPr/>
        </p:nvSpPr>
        <p:spPr>
          <a:xfrm>
            <a:off x="1280160" y="292608"/>
            <a:ext cx="8686800" cy="256032"/>
          </a:xfrm>
          <a:prstGeom prst="rect">
            <a:avLst/>
          </a:prstGeom>
          <a:noFill/>
        </p:spPr>
        <p:txBody>
          <a:bodyPr wrap="square" lIns="0" rIns="0" tIns="0" bIns="0" anchor="t">
            <a:noAutofit/>
          </a:bodyPr>
          <a:lstStyle/>
          <a:p>
            <a:r>
              <a:rPr sz="1100" b="1" i="0">
                <a:solidFill>
                  <a:srgbClr val="6B6B6B"/>
                </a:solidFill>
                <a:latin typeface="Arial"/>
              </a:rPr>
              <a:t>PROJECT DESCRIPTION &amp; HARDWARE ARCHITECTURE</a:t>
            </a:r>
          </a:p>
        </p:txBody>
      </p:sp>
      <p:sp>
        <p:nvSpPr>
          <p:cNvPr id="3" name="Title"/>
          <p:cNvSpPr txBox="1"/>
          <p:nvPr/>
        </p:nvSpPr>
        <p:spPr>
          <a:xfrm>
            <a:off x="1280160" y="502920"/>
            <a:ext cx="10469880" cy="731520"/>
          </a:xfrm>
          <a:prstGeom prst="rect">
            <a:avLst/>
          </a:prstGeom>
          <a:noFill/>
        </p:spPr>
        <p:txBody>
          <a:bodyPr wrap="square" lIns="0" rIns="0" tIns="0" bIns="0" anchor="ctr">
            <a:noAutofit/>
          </a:bodyPr>
          <a:lstStyle/>
          <a:p>
            <a:r>
              <a:rPr sz="3200" b="1" i="0">
                <a:solidFill>
                  <a:srgbClr val="00943A"/>
                </a:solidFill>
                <a:latin typeface="Arial"/>
              </a:rPr>
              <a:t>Compute and Power Core</a:t>
            </a:r>
          </a:p>
        </p:txBody>
      </p:sp>
      <p:sp>
        <p:nvSpPr>
          <p:cNvPr id="4" name="Slide number"/>
          <p:cNvSpPr txBox="1"/>
          <p:nvPr/>
        </p:nvSpPr>
        <p:spPr>
          <a:xfrm>
            <a:off x="1280160" y="6327648"/>
            <a:ext cx="2286000" cy="274320"/>
          </a:xfrm>
          <a:prstGeom prst="rect">
            <a:avLst/>
          </a:prstGeom>
          <a:noFill/>
        </p:spPr>
        <p:txBody>
          <a:bodyPr wrap="square" lIns="0" rIns="0" tIns="0" bIns="0" anchor="t">
            <a:noAutofit/>
          </a:bodyPr>
          <a:lstStyle/>
          <a:p>
            <a:r>
              <a:rPr sz="1000" b="0" i="0">
                <a:solidFill>
                  <a:srgbClr val="6B6B6B"/>
                </a:solidFill>
                <a:latin typeface="Arial"/>
              </a:rPr>
              <a:t>IndepenSense · 12</a:t>
            </a:r>
          </a:p>
        </p:txBody>
      </p:sp>
      <p:sp>
        <p:nvSpPr>
          <p:cNvPr id="5" name="Field 1 card"/>
          <p:cNvSpPr/>
          <p:nvPr/>
        </p:nvSpPr>
        <p:spPr>
          <a:xfrm>
            <a:off x="1280160" y="1371600"/>
            <a:ext cx="4592167" cy="4617720"/>
          </a:xfrm>
          <a:prstGeom prst="roundRect">
            <a:avLst>
              <a:gd name="adj" fmla="val 3584"/>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ield 1 text"/>
          <p:cNvSpPr txBox="1"/>
          <p:nvPr/>
        </p:nvSpPr>
        <p:spPr>
          <a:xfrm>
            <a:off x="1463039" y="1554480"/>
            <a:ext cx="4226407" cy="4251959"/>
          </a:xfrm>
          <a:prstGeom prst="rect">
            <a:avLst/>
          </a:prstGeom>
          <a:noFill/>
        </p:spPr>
        <p:txBody>
          <a:bodyPr wrap="square" lIns="0" rIns="0" tIns="0" bIns="0" anchor="t">
            <a:noAutofit/>
          </a:bodyPr>
          <a:lstStyle/>
          <a:p>
            <a:pPr>
              <a:spcAft>
                <a:spcPts val="765"/>
              </a:spcAft>
              <a:buNone/>
            </a:pPr>
            <a:r>
              <a:rPr sz="1900" b="1" i="0">
                <a:solidFill>
                  <a:srgbClr val="006B2A"/>
                </a:solidFill>
                <a:latin typeface="Arial"/>
              </a:rPr>
              <a:t>Compute</a:t>
            </a:r>
          </a:p>
          <a:p>
            <a:pPr marL="201168" indent="-201168">
              <a:spcAft>
                <a:spcPts val="646"/>
              </a:spcAft>
              <a:buClr>
                <a:srgbClr val="00943A"/>
              </a:buClr>
              <a:buFont typeface="Arial"/>
              <a:buChar char="•"/>
            </a:pPr>
            <a:r>
              <a:rPr sz="1700" b="1" i="0">
                <a:solidFill>
                  <a:srgbClr val="2B2B2B"/>
                </a:solidFill>
                <a:latin typeface="Arial"/>
              </a:rPr>
              <a:t>Raspberry Pi 5</a:t>
            </a:r>
            <a:r>
              <a:rPr sz="1700" b="0" i="0">
                <a:solidFill>
                  <a:srgbClr val="2B2B2B"/>
                </a:solidFill>
                <a:latin typeface="Arial"/>
              </a:rPr>
              <a:t>: quad-core ARM, </a:t>
            </a:r>
            <a:r>
              <a:rPr sz="1700" b="1" i="0">
                <a:solidFill>
                  <a:srgbClr val="2B2B2B"/>
                </a:solidFill>
                <a:latin typeface="Arial"/>
              </a:rPr>
              <a:t>Raspberry Pi OS Trixie</a:t>
            </a:r>
            <a:r>
              <a:rPr sz="1700" b="0" i="0">
                <a:solidFill>
                  <a:srgbClr val="2B2B2B"/>
                </a:solidFill>
                <a:latin typeface="Arial"/>
              </a:rPr>
              <a:t>, </a:t>
            </a:r>
            <a:r>
              <a:rPr sz="1700" b="1" i="0">
                <a:solidFill>
                  <a:srgbClr val="2B2B2B"/>
                </a:solidFill>
                <a:latin typeface="Arial"/>
              </a:rPr>
              <a:t>Python 3.13</a:t>
            </a:r>
          </a:p>
          <a:p>
            <a:pPr marL="201168" indent="-201168">
              <a:spcAft>
                <a:spcPts val="646"/>
              </a:spcAft>
              <a:buClr>
                <a:srgbClr val="00943A"/>
              </a:buClr>
              <a:buFont typeface="Arial"/>
              <a:buChar char="•"/>
            </a:pPr>
            <a:r>
              <a:rPr sz="1700" b="1" i="0">
                <a:solidFill>
                  <a:srgbClr val="2B2B2B"/>
                </a:solidFill>
                <a:latin typeface="Arial"/>
              </a:rPr>
              <a:t>~12 W peak</a:t>
            </a:r>
            <a:r>
              <a:rPr sz="1700" b="0" i="0">
                <a:solidFill>
                  <a:srgbClr val="2B2B2B"/>
                </a:solidFill>
                <a:latin typeface="Arial"/>
              </a:rPr>
              <a:t> board draw (bare board, worst case)</a:t>
            </a:r>
          </a:p>
          <a:p>
            <a:pPr marL="201168" indent="-201168">
              <a:spcAft>
                <a:spcPts val="646"/>
              </a:spcAft>
              <a:buClr>
                <a:srgbClr val="00943A"/>
              </a:buClr>
              <a:buFont typeface="Arial"/>
              <a:buChar char="•"/>
            </a:pPr>
            <a:r>
              <a:rPr sz="1700" b="1" i="0">
                <a:solidFill>
                  <a:srgbClr val="2B2B2B"/>
                </a:solidFill>
                <a:latin typeface="Arial"/>
              </a:rPr>
              <a:t>Raspberry Pi Active Cooler</a:t>
            </a:r>
            <a:r>
              <a:rPr sz="1700" b="0" i="0">
                <a:solidFill>
                  <a:srgbClr val="2B2B2B"/>
                </a:solidFill>
                <a:latin typeface="Arial"/>
              </a:rPr>
              <a:t> (fan + heatsink) for sustained YOLO and speech inference</a:t>
            </a:r>
          </a:p>
          <a:p>
            <a:pPr marL="201168" indent="-201168">
              <a:spcAft>
                <a:spcPts val="646"/>
              </a:spcAft>
              <a:buClr>
                <a:srgbClr val="00943A"/>
              </a:buClr>
              <a:buFont typeface="Arial"/>
              <a:buChar char="•"/>
            </a:pPr>
            <a:r>
              <a:rPr sz="1700" b="1" i="0">
                <a:solidFill>
                  <a:srgbClr val="2B2B2B"/>
                </a:solidFill>
                <a:latin typeface="Arial"/>
              </a:rPr>
              <a:t>Micro SD</a:t>
            </a:r>
            <a:r>
              <a:rPr sz="1700" b="0" i="0">
                <a:solidFill>
                  <a:srgbClr val="2B2B2B"/>
                </a:solidFill>
                <a:latin typeface="Arial"/>
              </a:rPr>
              <a:t> for OS, models and logs</a:t>
            </a:r>
          </a:p>
          <a:p>
            <a:pPr marL="201168" indent="-201168">
              <a:spcAft>
                <a:spcPts val="646"/>
              </a:spcAft>
              <a:buClr>
                <a:srgbClr val="00943A"/>
              </a:buClr>
              <a:buFont typeface="Arial"/>
              <a:buChar char="•"/>
            </a:pPr>
            <a:r>
              <a:rPr sz="1700" b="0" i="0">
                <a:solidFill>
                  <a:srgbClr val="2B2B2B"/>
                </a:solidFill>
                <a:latin typeface="Arial"/>
              </a:rPr>
              <a:t>Every device sits behind a </a:t>
            </a:r>
            <a:r>
              <a:rPr sz="1700" b="1" i="0">
                <a:solidFill>
                  <a:srgbClr val="2B2B2B"/>
                </a:solidFill>
                <a:latin typeface="Arial"/>
              </a:rPr>
              <a:t>hardware-abstraction protocol</a:t>
            </a:r>
            <a:r>
              <a:rPr sz="1700" b="0" i="0">
                <a:solidFill>
                  <a:srgbClr val="2B2B2B"/>
                </a:solidFill>
                <a:latin typeface="Arial"/>
              </a:rPr>
              <a:t>, so the full runtime runs on a laptop with mocks</a:t>
            </a:r>
          </a:p>
        </p:txBody>
      </p:sp>
      <p:sp>
        <p:nvSpPr>
          <p:cNvPr id="7" name="Field 2 card"/>
          <p:cNvSpPr/>
          <p:nvPr/>
        </p:nvSpPr>
        <p:spPr>
          <a:xfrm>
            <a:off x="6128359" y="1371600"/>
            <a:ext cx="5621680" cy="4617720"/>
          </a:xfrm>
          <a:prstGeom prst="roundRect">
            <a:avLst>
              <a:gd name="adj" fmla="val 3564"/>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Field 2 text"/>
          <p:cNvSpPr txBox="1"/>
          <p:nvPr/>
        </p:nvSpPr>
        <p:spPr>
          <a:xfrm>
            <a:off x="6311239" y="1554480"/>
            <a:ext cx="5255920" cy="4251959"/>
          </a:xfrm>
          <a:prstGeom prst="rect">
            <a:avLst/>
          </a:prstGeom>
          <a:noFill/>
        </p:spPr>
        <p:txBody>
          <a:bodyPr wrap="square" lIns="0" rIns="0" tIns="0" bIns="0" anchor="t">
            <a:noAutofit/>
          </a:bodyPr>
          <a:lstStyle/>
          <a:p>
            <a:pPr>
              <a:spcAft>
                <a:spcPts val="765"/>
              </a:spcAft>
              <a:buNone/>
            </a:pPr>
            <a:r>
              <a:rPr sz="1900" b="1" i="0">
                <a:solidFill>
                  <a:srgbClr val="006B2A"/>
                </a:solidFill>
                <a:latin typeface="Arial"/>
              </a:rPr>
              <a:t>Power</a:t>
            </a:r>
          </a:p>
          <a:p>
            <a:pPr marL="201168" indent="-201168">
              <a:spcAft>
                <a:spcPts val="646"/>
              </a:spcAft>
              <a:buClr>
                <a:srgbClr val="00943A"/>
              </a:buClr>
              <a:buFont typeface="Arial"/>
              <a:buChar char="•"/>
            </a:pPr>
            <a:r>
              <a:rPr sz="1700" b="1" i="0">
                <a:solidFill>
                  <a:srgbClr val="2B2B2B"/>
                </a:solidFill>
                <a:latin typeface="Arial"/>
              </a:rPr>
              <a:t>Waveshare UPS HAT (E)</a:t>
            </a:r>
            <a:r>
              <a:rPr sz="1700" b="0" i="0">
                <a:solidFill>
                  <a:srgbClr val="2B2B2B"/>
                </a:solidFill>
                <a:latin typeface="Arial"/>
              </a:rPr>
              <a:t> with </a:t>
            </a:r>
            <a:r>
              <a:rPr sz="1700" b="1" i="0">
                <a:solidFill>
                  <a:srgbClr val="2B2B2B"/>
                </a:solidFill>
                <a:latin typeface="Arial"/>
              </a:rPr>
              <a:t>4× 21700 Li-ion</a:t>
            </a:r>
            <a:r>
              <a:rPr sz="1700" b="0" i="0">
                <a:solidFill>
                  <a:srgbClr val="2B2B2B"/>
                </a:solidFill>
                <a:latin typeface="Arial"/>
              </a:rPr>
              <a:t> cells (</a:t>
            </a:r>
            <a:r>
              <a:rPr sz="1700" b="1" i="0">
                <a:solidFill>
                  <a:srgbClr val="2B2B2B"/>
                </a:solidFill>
                <a:latin typeface="Arial"/>
              </a:rPr>
              <a:t>3.7 V</a:t>
            </a:r>
            <a:r>
              <a:rPr sz="1700" b="0" i="0">
                <a:solidFill>
                  <a:srgbClr val="2B2B2B"/>
                </a:solidFill>
                <a:latin typeface="Arial"/>
              </a:rPr>
              <a:t> nominal each)</a:t>
            </a:r>
          </a:p>
          <a:p>
            <a:pPr marL="201168" indent="-201168">
              <a:spcAft>
                <a:spcPts val="646"/>
              </a:spcAft>
              <a:buClr>
                <a:srgbClr val="00943A"/>
              </a:buClr>
              <a:buFont typeface="Arial"/>
              <a:buChar char="•"/>
            </a:pPr>
            <a:r>
              <a:rPr sz="1700" b="1" i="0">
                <a:solidFill>
                  <a:srgbClr val="2B2B2B"/>
                </a:solidFill>
                <a:latin typeface="Arial"/>
              </a:rPr>
              <a:t>Single unified supply</a:t>
            </a:r>
            <a:r>
              <a:rPr sz="1700" b="0" i="0">
                <a:solidFill>
                  <a:srgbClr val="2B2B2B"/>
                </a:solidFill>
                <a:latin typeface="Arial"/>
              </a:rPr>
              <a:t> for the Pi and </a:t>
            </a:r>
            <a:r>
              <a:rPr sz="1700" b="1" i="0">
                <a:solidFill>
                  <a:srgbClr val="2B2B2B"/>
                </a:solidFill>
                <a:latin typeface="Arial"/>
              </a:rPr>
              <a:t>all peripherals</a:t>
            </a:r>
            <a:r>
              <a:rPr sz="1700" b="0" i="0">
                <a:solidFill>
                  <a:srgbClr val="2B2B2B"/>
                </a:solidFill>
                <a:latin typeface="Arial"/>
              </a:rPr>
              <a:t>, replacing an earlier dual-source design</a:t>
            </a:r>
          </a:p>
          <a:p>
            <a:pPr marL="201168" indent="-201168">
              <a:spcAft>
                <a:spcPts val="646"/>
              </a:spcAft>
              <a:buClr>
                <a:srgbClr val="00943A"/>
              </a:buClr>
              <a:buFont typeface="Arial"/>
              <a:buChar char="•"/>
            </a:pPr>
            <a:r>
              <a:rPr sz="1700" b="0" i="0">
                <a:solidFill>
                  <a:srgbClr val="2B2B2B"/>
                </a:solidFill>
                <a:latin typeface="Arial"/>
              </a:rPr>
              <a:t>Estimated typical load </a:t>
            </a:r>
            <a:r>
              <a:rPr sz="1700" b="1" i="0">
                <a:solidFill>
                  <a:srgbClr val="2B2B2B"/>
                </a:solidFill>
                <a:latin typeface="Arial"/>
              </a:rPr>
              <a:t>≈ 11.7 W</a:t>
            </a:r>
            <a:r>
              <a:rPr sz="1700" b="0" i="0">
                <a:solidFill>
                  <a:srgbClr val="2B2B2B"/>
                </a:solidFill>
                <a:latin typeface="Arial"/>
              </a:rPr>
              <a:t> (sum of Table 2) · </a:t>
            </a:r>
            <a:r>
              <a:rPr sz="1700" b="1" i="0">
                <a:solidFill>
                  <a:srgbClr val="2B2B2B"/>
                </a:solidFill>
                <a:latin typeface="Arial"/>
              </a:rPr>
              <a:t>SIM7600 transmit peaks up to 2 A</a:t>
            </a:r>
          </a:p>
          <a:p>
            <a:pPr marL="201168" indent="-201168">
              <a:spcAft>
                <a:spcPts val="646"/>
              </a:spcAft>
              <a:buClr>
                <a:srgbClr val="00943A"/>
              </a:buClr>
              <a:buFont typeface="Arial"/>
              <a:buChar char="•"/>
            </a:pPr>
            <a:r>
              <a:rPr sz="1700" b="1" i="0">
                <a:solidFill>
                  <a:srgbClr val="2B2B2B"/>
                </a:solidFill>
                <a:latin typeface="Arial"/>
              </a:rPr>
              <a:t>Corrected battery percentage</a:t>
            </a:r>
            <a:r>
              <a:rPr sz="1700" b="0" i="0">
                <a:solidFill>
                  <a:srgbClr val="2B2B2B"/>
                </a:solidFill>
                <a:latin typeface="Arial"/>
              </a:rPr>
              <a:t>: the HAT's gauge reads </a:t>
            </a:r>
            <a:r>
              <a:rPr sz="1700" b="1" i="0">
                <a:solidFill>
                  <a:srgbClr val="2B2B2B"/>
                </a:solidFill>
                <a:latin typeface="Arial"/>
              </a:rPr>
              <a:t>~57–59 % on a flat pack</a:t>
            </a:r>
            <a:r>
              <a:rPr sz="1700" b="0" i="0">
                <a:solidFill>
                  <a:srgbClr val="2B2B2B"/>
                </a:solidFill>
                <a:latin typeface="Arial"/>
              </a:rPr>
              <a:t>, so the raw value is rescaled</a:t>
            </a:r>
          </a:p>
          <a:p>
            <a:pPr marL="201168" indent="-201168">
              <a:spcAft>
                <a:spcPts val="646"/>
              </a:spcAft>
              <a:buClr>
                <a:srgbClr val="00943A"/>
              </a:buClr>
              <a:buFont typeface="Arial"/>
              <a:buChar char="•"/>
            </a:pPr>
            <a:r>
              <a:rPr sz="1700" b="0" i="0">
                <a:solidFill>
                  <a:srgbClr val="2B2B2B"/>
                </a:solidFill>
                <a:latin typeface="Arial"/>
              </a:rPr>
              <a:t>Battery is </a:t>
            </a:r>
            <a:r>
              <a:rPr sz="1700" b="1" i="0">
                <a:solidFill>
                  <a:srgbClr val="2B2B2B"/>
                </a:solidFill>
                <a:latin typeface="Arial"/>
              </a:rPr>
              <a:t>spoken at boot</a:t>
            </a:r>
            <a:r>
              <a:rPr sz="1700" b="0" i="0">
                <a:solidFill>
                  <a:srgbClr val="2B2B2B"/>
                </a:solidFill>
                <a:latin typeface="Arial"/>
              </a:rPr>
              <a:t> and shown on the guardian platform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tion kicker"/>
          <p:cNvSpPr txBox="1"/>
          <p:nvPr/>
        </p:nvSpPr>
        <p:spPr>
          <a:xfrm>
            <a:off x="1280160" y="292608"/>
            <a:ext cx="8686800" cy="256032"/>
          </a:xfrm>
          <a:prstGeom prst="rect">
            <a:avLst/>
          </a:prstGeom>
          <a:noFill/>
        </p:spPr>
        <p:txBody>
          <a:bodyPr wrap="square" lIns="0" rIns="0" tIns="0" bIns="0" anchor="t">
            <a:noAutofit/>
          </a:bodyPr>
          <a:lstStyle/>
          <a:p>
            <a:r>
              <a:rPr sz="1100" b="1" i="0">
                <a:solidFill>
                  <a:srgbClr val="6B6B6B"/>
                </a:solidFill>
                <a:latin typeface="Arial"/>
              </a:rPr>
              <a:t>PROJECT DESCRIPTION &amp; HARDWARE ARCHITECTURE</a:t>
            </a:r>
          </a:p>
        </p:txBody>
      </p:sp>
      <p:sp>
        <p:nvSpPr>
          <p:cNvPr id="3" name="Title"/>
          <p:cNvSpPr txBox="1"/>
          <p:nvPr/>
        </p:nvSpPr>
        <p:spPr>
          <a:xfrm>
            <a:off x="1280160" y="502920"/>
            <a:ext cx="10469880" cy="731520"/>
          </a:xfrm>
          <a:prstGeom prst="rect">
            <a:avLst/>
          </a:prstGeom>
          <a:noFill/>
        </p:spPr>
        <p:txBody>
          <a:bodyPr wrap="square" lIns="0" rIns="0" tIns="0" bIns="0" anchor="ctr">
            <a:noAutofit/>
          </a:bodyPr>
          <a:lstStyle/>
          <a:p>
            <a:r>
              <a:rPr sz="3200" b="1" i="0">
                <a:solidFill>
                  <a:srgbClr val="00943A"/>
                </a:solidFill>
                <a:latin typeface="Arial"/>
              </a:rPr>
              <a:t>Perception Layer: Sensors and Interfaces</a:t>
            </a:r>
          </a:p>
        </p:txBody>
      </p:sp>
      <p:sp>
        <p:nvSpPr>
          <p:cNvPr id="4" name="Slide number"/>
          <p:cNvSpPr txBox="1"/>
          <p:nvPr/>
        </p:nvSpPr>
        <p:spPr>
          <a:xfrm>
            <a:off x="1280160" y="6327648"/>
            <a:ext cx="2286000" cy="274320"/>
          </a:xfrm>
          <a:prstGeom prst="rect">
            <a:avLst/>
          </a:prstGeom>
          <a:noFill/>
        </p:spPr>
        <p:txBody>
          <a:bodyPr wrap="square" lIns="0" rIns="0" tIns="0" bIns="0" anchor="t">
            <a:noAutofit/>
          </a:bodyPr>
          <a:lstStyle/>
          <a:p>
            <a:r>
              <a:rPr sz="1000" b="0" i="0">
                <a:solidFill>
                  <a:srgbClr val="6B6B6B"/>
                </a:solidFill>
                <a:latin typeface="Arial"/>
              </a:rPr>
              <a:t>IndepenSense · 13</a:t>
            </a:r>
          </a:p>
        </p:txBody>
      </p:sp>
      <p:graphicFrame>
        <p:nvGraphicFramePr>
          <p:cNvPr id="5" name="Results table"/>
          <p:cNvGraphicFramePr>
            <a:graphicFrameLocks noGrp="1"/>
          </p:cNvGraphicFramePr>
          <p:nvPr/>
        </p:nvGraphicFramePr>
        <p:xfrm>
          <a:off x="1280160" y="1371600"/>
          <a:ext cx="6556246" cy="3432048"/>
        </p:xfrm>
        <a:graphic>
          <a:graphicData uri="http://schemas.openxmlformats.org/drawingml/2006/table">
            <a:tbl>
              <a:tblPr firstRow="0" bandRow="0">
                <a:tableStyleId>{5C22544A-7EE6-4342-B048-85BDC9FD1C3A}</a:tableStyleId>
              </a:tblPr>
              <a:tblGrid>
                <a:gridCol w="1843944"/>
                <a:gridCol w="887825"/>
                <a:gridCol w="682942"/>
                <a:gridCol w="3141535"/>
              </a:tblGrid>
              <a:tr h="536448">
                <a:tc>
                  <a:txBody>
                    <a:bodyPr wrap="square"/>
                    <a:lstStyle/>
                    <a:p>
                      <a:r>
                        <a:rPr sz="1400" b="1" i="0">
                          <a:solidFill>
                            <a:srgbClr val="FFFFFF"/>
                          </a:solidFill>
                          <a:latin typeface="Arial"/>
                        </a:rPr>
                        <a:t>Component</a:t>
                      </a:r>
                    </a:p>
                  </a:txBody>
                  <a:tcPr marL="73152" marR="73152" marT="45720" marB="45720" anchor="ctr">
                    <a:solidFill>
                      <a:srgbClr val="00943A"/>
                    </a:solidFill>
                  </a:tcPr>
                </a:tc>
                <a:tc>
                  <a:txBody>
                    <a:bodyPr wrap="square"/>
                    <a:lstStyle/>
                    <a:p>
                      <a:r>
                        <a:rPr sz="1400" b="1" i="0">
                          <a:solidFill>
                            <a:srgbClr val="FFFFFF"/>
                          </a:solidFill>
                          <a:latin typeface="Arial"/>
                        </a:rPr>
                        <a:t>Bus / Port</a:t>
                      </a:r>
                    </a:p>
                  </a:txBody>
                  <a:tcPr marL="73152" marR="73152" marT="45720" marB="45720" anchor="ctr">
                    <a:solidFill>
                      <a:srgbClr val="00943A"/>
                    </a:solidFill>
                  </a:tcPr>
                </a:tc>
                <a:tc>
                  <a:txBody>
                    <a:bodyPr wrap="square"/>
                    <a:lstStyle/>
                    <a:p>
                      <a:r>
                        <a:rPr sz="1400" b="1" i="0">
                          <a:solidFill>
                            <a:srgbClr val="FFFFFF"/>
                          </a:solidFill>
                          <a:latin typeface="Arial"/>
                        </a:rPr>
                        <a:t>Mount</a:t>
                      </a:r>
                    </a:p>
                  </a:txBody>
                  <a:tcPr marL="73152" marR="73152" marT="45720" marB="45720" anchor="ctr">
                    <a:solidFill>
                      <a:srgbClr val="00943A"/>
                    </a:solidFill>
                  </a:tcPr>
                </a:tc>
                <a:tc>
                  <a:txBody>
                    <a:bodyPr wrap="square"/>
                    <a:lstStyle/>
                    <a:p>
                      <a:r>
                        <a:rPr sz="1400" b="1" i="0">
                          <a:solidFill>
                            <a:srgbClr val="FFFFFF"/>
                          </a:solidFill>
                          <a:latin typeface="Arial"/>
                        </a:rPr>
                        <a:t>Role</a:t>
                      </a:r>
                    </a:p>
                  </a:txBody>
                  <a:tcPr marL="73152" marR="73152" marT="45720" marB="45720" anchor="ctr">
                    <a:solidFill>
                      <a:srgbClr val="00943A"/>
                    </a:solidFill>
                  </a:tcPr>
                </a:tc>
              </a:tr>
              <a:tr h="536448">
                <a:tc>
                  <a:txBody>
                    <a:bodyPr wrap="square"/>
                    <a:lstStyle/>
                    <a:p>
                      <a:r>
                        <a:rPr sz="1400" b="1" i="0">
                          <a:solidFill>
                            <a:srgbClr val="2B2B2B"/>
                          </a:solidFill>
                          <a:latin typeface="Arial"/>
                        </a:rPr>
                        <a:t>DYP-A22 Ultrasonic · TOP</a:t>
                      </a:r>
                    </a:p>
                  </a:txBody>
                  <a:tcPr marL="73152" marR="73152" marT="45720" marB="45720" anchor="ctr">
                    <a:solidFill>
                      <a:srgbClr val="FFFFFF"/>
                    </a:solidFill>
                  </a:tcPr>
                </a:tc>
                <a:tc>
                  <a:txBody>
                    <a:bodyPr wrap="square"/>
                    <a:lstStyle/>
                    <a:p>
                      <a:r>
                        <a:rPr sz="1400" b="0" i="0">
                          <a:solidFill>
                            <a:srgbClr val="2B2B2B"/>
                          </a:solidFill>
                          <a:latin typeface="Arial"/>
                        </a:rPr>
                        <a:t>UART ttyAMA0</a:t>
                      </a:r>
                    </a:p>
                  </a:txBody>
                  <a:tcPr marL="73152" marR="73152" marT="45720" marB="45720" anchor="ctr">
                    <a:solidFill>
                      <a:srgbClr val="FFFFFF"/>
                    </a:solidFill>
                  </a:tcPr>
                </a:tc>
                <a:tc>
                  <a:txBody>
                    <a:bodyPr wrap="square"/>
                    <a:lstStyle/>
                    <a:p>
                      <a:r>
                        <a:rPr sz="1400" b="0" i="0">
                          <a:solidFill>
                            <a:srgbClr val="2B2B2B"/>
                          </a:solidFill>
                          <a:latin typeface="Arial"/>
                        </a:rPr>
                        <a:t>Cane</a:t>
                      </a:r>
                    </a:p>
                  </a:txBody>
                  <a:tcPr marL="73152" marR="73152" marT="45720" marB="45720" anchor="ctr">
                    <a:solidFill>
                      <a:srgbClr val="FFFFFF"/>
                    </a:solidFill>
                  </a:tcPr>
                </a:tc>
                <a:tc>
                  <a:txBody>
                    <a:bodyPr wrap="square"/>
                    <a:lstStyle/>
                    <a:p>
                      <a:r>
                        <a:rPr sz="1400" b="0" i="0">
                          <a:solidFill>
                            <a:srgbClr val="2B2B2B"/>
                          </a:solidFill>
                          <a:latin typeface="Arial"/>
                        </a:rPr>
                        <a:t>Upper-body / head-level hazards</a:t>
                      </a:r>
                    </a:p>
                  </a:txBody>
                  <a:tcPr marL="73152" marR="73152" marT="45720" marB="45720" anchor="ctr">
                    <a:solidFill>
                      <a:srgbClr val="FFFFFF"/>
                    </a:solidFill>
                  </a:tcPr>
                </a:tc>
              </a:tr>
              <a:tr h="749808">
                <a:tc>
                  <a:txBody>
                    <a:bodyPr wrap="square"/>
                    <a:lstStyle/>
                    <a:p>
                      <a:r>
                        <a:rPr sz="1400" b="1" i="0">
                          <a:solidFill>
                            <a:srgbClr val="2B2B2B"/>
                          </a:solidFill>
                          <a:latin typeface="Arial"/>
                        </a:rPr>
                        <a:t>DYP-A22 Ultrasonic · BOTTOM</a:t>
                      </a:r>
                    </a:p>
                  </a:txBody>
                  <a:tcPr marL="73152" marR="73152" marT="45720" marB="45720" anchor="ctr">
                    <a:solidFill>
                      <a:srgbClr val="F6F8F6"/>
                    </a:solidFill>
                  </a:tcPr>
                </a:tc>
                <a:tc>
                  <a:txBody>
                    <a:bodyPr wrap="square"/>
                    <a:lstStyle/>
                    <a:p>
                      <a:r>
                        <a:rPr sz="1400" b="0" i="0">
                          <a:solidFill>
                            <a:srgbClr val="2B2B2B"/>
                          </a:solidFill>
                          <a:latin typeface="Arial"/>
                        </a:rPr>
                        <a:t>UART ttyAMA4</a:t>
                      </a:r>
                    </a:p>
                  </a:txBody>
                  <a:tcPr marL="73152" marR="73152" marT="45720" marB="45720" anchor="ctr">
                    <a:solidFill>
                      <a:srgbClr val="F6F8F6"/>
                    </a:solidFill>
                  </a:tcPr>
                </a:tc>
                <a:tc>
                  <a:txBody>
                    <a:bodyPr wrap="square"/>
                    <a:lstStyle/>
                    <a:p>
                      <a:r>
                        <a:rPr sz="1400" b="0" i="0">
                          <a:solidFill>
                            <a:srgbClr val="2B2B2B"/>
                          </a:solidFill>
                          <a:latin typeface="Arial"/>
                        </a:rPr>
                        <a:t>Cane</a:t>
                      </a:r>
                    </a:p>
                  </a:txBody>
                  <a:tcPr marL="73152" marR="73152" marT="45720" marB="45720" anchor="ctr">
                    <a:solidFill>
                      <a:srgbClr val="F6F8F6"/>
                    </a:solidFill>
                  </a:tcPr>
                </a:tc>
                <a:tc>
                  <a:txBody>
                    <a:bodyPr wrap="square"/>
                    <a:lstStyle/>
                    <a:p>
                      <a:r>
                        <a:rPr sz="1400" b="0" i="0">
                          <a:solidFill>
                            <a:srgbClr val="2B2B2B"/>
                          </a:solidFill>
                          <a:latin typeface="Arial"/>
                        </a:rPr>
                        <a:t>Ground-level obstacles (curbs, walls, planters)</a:t>
                      </a:r>
                    </a:p>
                  </a:txBody>
                  <a:tcPr marL="73152" marR="73152" marT="45720" marB="45720" anchor="ctr">
                    <a:solidFill>
                      <a:srgbClr val="F6F8F6"/>
                    </a:solidFill>
                  </a:tcPr>
                </a:tc>
              </a:tr>
              <a:tr h="536448">
                <a:tc>
                  <a:txBody>
                    <a:bodyPr wrap="square"/>
                    <a:lstStyle/>
                    <a:p>
                      <a:r>
                        <a:rPr sz="1400" b="1" i="0">
                          <a:solidFill>
                            <a:srgbClr val="2B2B2B"/>
                          </a:solidFill>
                          <a:latin typeface="Arial"/>
                        </a:rPr>
                        <a:t>MPU-6050 IMU</a:t>
                      </a:r>
                    </a:p>
                  </a:txBody>
                  <a:tcPr marL="73152" marR="73152" marT="45720" marB="45720" anchor="ctr">
                    <a:solidFill>
                      <a:srgbClr val="FFFFFF"/>
                    </a:solidFill>
                  </a:tcPr>
                </a:tc>
                <a:tc>
                  <a:txBody>
                    <a:bodyPr wrap="square"/>
                    <a:lstStyle/>
                    <a:p>
                      <a:r>
                        <a:rPr sz="1400" b="0" i="0">
                          <a:solidFill>
                            <a:srgbClr val="2B2B2B"/>
                          </a:solidFill>
                          <a:latin typeface="Arial"/>
                        </a:rPr>
                        <a:t>I²C</a:t>
                      </a:r>
                    </a:p>
                  </a:txBody>
                  <a:tcPr marL="73152" marR="73152" marT="45720" marB="45720" anchor="ctr">
                    <a:solidFill>
                      <a:srgbClr val="FFFFFF"/>
                    </a:solidFill>
                  </a:tcPr>
                </a:tc>
                <a:tc>
                  <a:txBody>
                    <a:bodyPr wrap="square"/>
                    <a:lstStyle/>
                    <a:p>
                      <a:r>
                        <a:rPr sz="1400" b="0" i="0">
                          <a:solidFill>
                            <a:srgbClr val="2B2B2B"/>
                          </a:solidFill>
                          <a:latin typeface="Arial"/>
                        </a:rPr>
                        <a:t>Vest</a:t>
                      </a:r>
                    </a:p>
                  </a:txBody>
                  <a:tcPr marL="73152" marR="73152" marT="45720" marB="45720" anchor="ctr">
                    <a:solidFill>
                      <a:srgbClr val="FFFFFF"/>
                    </a:solidFill>
                  </a:tcPr>
                </a:tc>
                <a:tc>
                  <a:txBody>
                    <a:bodyPr wrap="square"/>
                    <a:lstStyle/>
                    <a:p>
                      <a:r>
                        <a:rPr sz="1400" b="0" i="0">
                          <a:solidFill>
                            <a:srgbClr val="2B2B2B"/>
                          </a:solidFill>
                          <a:latin typeface="Arial"/>
                        </a:rPr>
                        <a:t>Fall detection, walking/still state</a:t>
                      </a:r>
                    </a:p>
                  </a:txBody>
                  <a:tcPr marL="73152" marR="73152" marT="45720" marB="45720" anchor="ctr">
                    <a:solidFill>
                      <a:srgbClr val="FFFFFF"/>
                    </a:solidFill>
                  </a:tcPr>
                </a:tc>
              </a:tr>
              <a:tr h="536448">
                <a:tc>
                  <a:txBody>
                    <a:bodyPr wrap="square"/>
                    <a:lstStyle/>
                    <a:p>
                      <a:r>
                        <a:rPr sz="1400" b="1" i="0">
                          <a:solidFill>
                            <a:srgbClr val="2B2B2B"/>
                          </a:solidFill>
                          <a:latin typeface="Arial"/>
                        </a:rPr>
                        <a:t>QMC5883P Magnetometer</a:t>
                      </a:r>
                    </a:p>
                  </a:txBody>
                  <a:tcPr marL="73152" marR="73152" marT="45720" marB="45720" anchor="ctr">
                    <a:solidFill>
                      <a:srgbClr val="F6F8F6"/>
                    </a:solidFill>
                  </a:tcPr>
                </a:tc>
                <a:tc>
                  <a:txBody>
                    <a:bodyPr wrap="square"/>
                    <a:lstStyle/>
                    <a:p>
                      <a:r>
                        <a:rPr sz="1400" b="0" i="0">
                          <a:solidFill>
                            <a:srgbClr val="2B2B2B"/>
                          </a:solidFill>
                          <a:latin typeface="Arial"/>
                        </a:rPr>
                        <a:t>I²C 0x2C</a:t>
                      </a:r>
                    </a:p>
                  </a:txBody>
                  <a:tcPr marL="73152" marR="73152" marT="45720" marB="45720" anchor="ctr">
                    <a:solidFill>
                      <a:srgbClr val="F6F8F6"/>
                    </a:solidFill>
                  </a:tcPr>
                </a:tc>
                <a:tc>
                  <a:txBody>
                    <a:bodyPr wrap="square"/>
                    <a:lstStyle/>
                    <a:p>
                      <a:r>
                        <a:rPr sz="1400" b="0" i="0">
                          <a:solidFill>
                            <a:srgbClr val="2B2B2B"/>
                          </a:solidFill>
                          <a:latin typeface="Arial"/>
                        </a:rPr>
                        <a:t>Vest</a:t>
                      </a:r>
                    </a:p>
                  </a:txBody>
                  <a:tcPr marL="73152" marR="73152" marT="45720" marB="45720" anchor="ctr">
                    <a:solidFill>
                      <a:srgbClr val="F6F8F6"/>
                    </a:solidFill>
                  </a:tcPr>
                </a:tc>
                <a:tc>
                  <a:txBody>
                    <a:bodyPr wrap="square"/>
                    <a:lstStyle/>
                    <a:p>
                      <a:r>
                        <a:rPr sz="1400" b="0" i="0">
                          <a:solidFill>
                            <a:srgbClr val="2B2B2B"/>
                          </a:solidFill>
                          <a:latin typeface="Arial"/>
                        </a:rPr>
                        <a:t>Compass heading for navigation</a:t>
                      </a:r>
                    </a:p>
                  </a:txBody>
                  <a:tcPr marL="73152" marR="73152" marT="45720" marB="45720" anchor="ctr">
                    <a:solidFill>
                      <a:srgbClr val="F6F8F6"/>
                    </a:solidFill>
                  </a:tcPr>
                </a:tc>
              </a:tr>
              <a:tr h="536448">
                <a:tc>
                  <a:txBody>
                    <a:bodyPr wrap="square"/>
                    <a:lstStyle/>
                    <a:p>
                      <a:r>
                        <a:rPr sz="1400" b="1" i="0">
                          <a:solidFill>
                            <a:srgbClr val="2B2B2B"/>
                          </a:solidFill>
                          <a:latin typeface="Arial"/>
                        </a:rPr>
                        <a:t>Pi Camera Module 3</a:t>
                      </a:r>
                    </a:p>
                  </a:txBody>
                  <a:tcPr marL="73152" marR="73152" marT="45720" marB="45720" anchor="ctr">
                    <a:solidFill>
                      <a:srgbClr val="FFFFFF"/>
                    </a:solidFill>
                  </a:tcPr>
                </a:tc>
                <a:tc>
                  <a:txBody>
                    <a:bodyPr wrap="square"/>
                    <a:lstStyle/>
                    <a:p>
                      <a:r>
                        <a:rPr sz="1400" b="0" i="0">
                          <a:solidFill>
                            <a:srgbClr val="2B2B2B"/>
                          </a:solidFill>
                          <a:latin typeface="Arial"/>
                        </a:rPr>
                        <a:t>CSI ribbon</a:t>
                      </a:r>
                    </a:p>
                  </a:txBody>
                  <a:tcPr marL="73152" marR="73152" marT="45720" marB="45720" anchor="ctr">
                    <a:solidFill>
                      <a:srgbClr val="FFFFFF"/>
                    </a:solidFill>
                  </a:tcPr>
                </a:tc>
                <a:tc>
                  <a:txBody>
                    <a:bodyPr wrap="square"/>
                    <a:lstStyle/>
                    <a:p>
                      <a:r>
                        <a:rPr sz="1400" b="0" i="0">
                          <a:solidFill>
                            <a:srgbClr val="2B2B2B"/>
                          </a:solidFill>
                          <a:latin typeface="Arial"/>
                        </a:rPr>
                        <a:t>Cane</a:t>
                      </a:r>
                    </a:p>
                  </a:txBody>
                  <a:tcPr marL="73152" marR="73152" marT="45720" marB="45720" anchor="ctr">
                    <a:solidFill>
                      <a:srgbClr val="FFFFFF"/>
                    </a:solidFill>
                  </a:tcPr>
                </a:tc>
                <a:tc>
                  <a:txBody>
                    <a:bodyPr wrap="square"/>
                    <a:lstStyle/>
                    <a:p>
                      <a:r>
                        <a:rPr sz="1400" b="0" i="0">
                          <a:solidFill>
                            <a:srgbClr val="2B2B2B"/>
                          </a:solidFill>
                          <a:latin typeface="Arial"/>
                        </a:rPr>
                        <a:t>Object detection + OCR</a:t>
                      </a:r>
                    </a:p>
                  </a:txBody>
                  <a:tcPr marL="73152" marR="73152" marT="45720" marB="45720" anchor="ctr">
                    <a:solidFill>
                      <a:srgbClr val="FFFFFF"/>
                    </a:solidFill>
                  </a:tcPr>
                </a:tc>
              </a:tr>
            </a:tbl>
          </a:graphicData>
        </a:graphic>
      </p:graphicFrame>
      <p:sp>
        <p:nvSpPr>
          <p:cNvPr id="6" name="Field callouts card"/>
          <p:cNvSpPr/>
          <p:nvPr/>
        </p:nvSpPr>
        <p:spPr>
          <a:xfrm>
            <a:off x="8092439" y="1371600"/>
            <a:ext cx="3657600" cy="4617720"/>
          </a:xfrm>
          <a:prstGeom prst="roundRect">
            <a:avLst>
              <a:gd name="adj" fmla="val 45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Field callouts text"/>
          <p:cNvSpPr txBox="1"/>
          <p:nvPr/>
        </p:nvSpPr>
        <p:spPr>
          <a:xfrm>
            <a:off x="8275319" y="1554480"/>
            <a:ext cx="3291840" cy="4251959"/>
          </a:xfrm>
          <a:prstGeom prst="rect">
            <a:avLst/>
          </a:prstGeom>
          <a:noFill/>
        </p:spPr>
        <p:txBody>
          <a:bodyPr wrap="square" lIns="0" rIns="0" tIns="0" bIns="0" anchor="t">
            <a:noAutofit/>
          </a:bodyPr>
          <a:lstStyle/>
          <a:p>
            <a:pPr marL="201168" indent="-201168">
              <a:spcAft>
                <a:spcPts val="532"/>
              </a:spcAft>
              <a:buClr>
                <a:srgbClr val="00943A"/>
              </a:buClr>
              <a:buFont typeface="Arial"/>
              <a:buChar char="•"/>
            </a:pPr>
            <a:r>
              <a:rPr sz="1400" b="1" i="0">
                <a:solidFill>
                  <a:srgbClr val="2B2B2B"/>
                </a:solidFill>
                <a:latin typeface="Arial"/>
              </a:rPr>
              <a:t>DYP-A22:</a:t>
            </a:r>
            <a:r>
              <a:rPr sz="1400" b="0" i="0">
                <a:solidFill>
                  <a:srgbClr val="2B2B2B"/>
                </a:solidFill>
                <a:latin typeface="Arial"/>
              </a:rPr>
              <a:t> waterproof ultrasonic, </a:t>
            </a:r>
            <a:r>
              <a:rPr sz="1400" b="1" i="0">
                <a:solidFill>
                  <a:srgbClr val="2B2B2B"/>
                </a:solidFill>
                <a:latin typeface="Arial"/>
              </a:rPr>
              <a:t>UART</a:t>
            </a:r>
            <a:r>
              <a:rPr sz="1400" b="0" i="0">
                <a:solidFill>
                  <a:srgbClr val="2B2B2B"/>
                </a:solidFill>
                <a:latin typeface="Arial"/>
              </a:rPr>
              <a:t> output, distance in </a:t>
            </a:r>
            <a:r>
              <a:rPr sz="1400" b="1" i="0">
                <a:solidFill>
                  <a:srgbClr val="2B2B2B"/>
                </a:solidFill>
                <a:latin typeface="Arial"/>
              </a:rPr>
              <a:t>cm</a:t>
            </a:r>
            <a:r>
              <a:rPr sz="1400" b="0" i="0">
                <a:solidFill>
                  <a:srgbClr val="2B2B2B"/>
                </a:solidFill>
                <a:latin typeface="Arial"/>
              </a:rPr>
              <a:t>, about </a:t>
            </a:r>
            <a:r>
              <a:rPr sz="1400" b="1" i="0">
                <a:solidFill>
                  <a:srgbClr val="2B2B2B"/>
                </a:solidFill>
                <a:latin typeface="Arial"/>
              </a:rPr>
              <a:t>15 mA</a:t>
            </a:r>
            <a:r>
              <a:rPr sz="1400" b="0" i="0">
                <a:solidFill>
                  <a:srgbClr val="2B2B2B"/>
                </a:solidFill>
                <a:latin typeface="Arial"/>
              </a:rPr>
              <a:t> each</a:t>
            </a:r>
          </a:p>
          <a:p>
            <a:pPr marL="201168" indent="-201168">
              <a:spcAft>
                <a:spcPts val="532"/>
              </a:spcAft>
              <a:buClr>
                <a:srgbClr val="00943A"/>
              </a:buClr>
              <a:buFont typeface="Arial"/>
              <a:buChar char="•"/>
            </a:pPr>
            <a:r>
              <a:rPr sz="1400" b="1" i="0">
                <a:solidFill>
                  <a:srgbClr val="2B2B2B"/>
                </a:solidFill>
                <a:latin typeface="Arial"/>
              </a:rPr>
              <a:t>MPU-6050:</a:t>
            </a:r>
            <a:r>
              <a:rPr sz="1400" b="0" i="0">
                <a:solidFill>
                  <a:srgbClr val="2B2B2B"/>
                </a:solidFill>
                <a:latin typeface="Arial"/>
              </a:rPr>
              <a:t> accelerometer + gyroscope, </a:t>
            </a:r>
            <a:r>
              <a:rPr sz="1400" b="1" i="0">
                <a:solidFill>
                  <a:srgbClr val="2B2B2B"/>
                </a:solidFill>
                <a:latin typeface="Arial"/>
              </a:rPr>
              <a:t>~4 mA</a:t>
            </a:r>
            <a:r>
              <a:rPr sz="1400" b="0" i="0">
                <a:solidFill>
                  <a:srgbClr val="2B2B2B"/>
                </a:solidFill>
                <a:latin typeface="Arial"/>
              </a:rPr>
              <a:t>, chest-mounted so it measures </a:t>
            </a:r>
            <a:r>
              <a:rPr sz="1400" b="1" i="0">
                <a:solidFill>
                  <a:srgbClr val="2B2B2B"/>
                </a:solidFill>
                <a:latin typeface="Arial"/>
              </a:rPr>
              <a:t>body</a:t>
            </a:r>
            <a:r>
              <a:rPr sz="1400" b="0" i="0">
                <a:solidFill>
                  <a:srgbClr val="2B2B2B"/>
                </a:solidFill>
                <a:latin typeface="Arial"/>
              </a:rPr>
              <a:t> motion rather than cane swing</a:t>
            </a:r>
          </a:p>
          <a:p>
            <a:pPr marL="201168" indent="-201168">
              <a:spcAft>
                <a:spcPts val="532"/>
              </a:spcAft>
              <a:buClr>
                <a:srgbClr val="00943A"/>
              </a:buClr>
              <a:buFont typeface="Arial"/>
              <a:buChar char="•"/>
            </a:pPr>
            <a:r>
              <a:rPr sz="1400" b="1" i="0">
                <a:solidFill>
                  <a:srgbClr val="2B2B2B"/>
                </a:solidFill>
                <a:latin typeface="Arial"/>
              </a:rPr>
              <a:t>QMC5883P:</a:t>
            </a:r>
            <a:r>
              <a:rPr sz="1400" b="0" i="0">
                <a:solidFill>
                  <a:srgbClr val="2B2B2B"/>
                </a:solidFill>
                <a:latin typeface="Arial"/>
              </a:rPr>
              <a:t> sold as a "QMC5883L" but answers at </a:t>
            </a:r>
            <a:r>
              <a:rPr sz="1400" b="1" i="0">
                <a:solidFill>
                  <a:srgbClr val="2B2B2B"/>
                </a:solidFill>
                <a:latin typeface="Arial"/>
              </a:rPr>
              <a:t>0x2C</a:t>
            </a:r>
            <a:r>
              <a:rPr sz="1400" b="0" i="0">
                <a:solidFill>
                  <a:srgbClr val="2B2B2B"/>
                </a:solidFill>
                <a:latin typeface="Arial"/>
              </a:rPr>
              <a:t>. It is </a:t>
            </a:r>
            <a:r>
              <a:rPr sz="1400" b="1" i="0">
                <a:solidFill>
                  <a:srgbClr val="2B2B2B"/>
                </a:solidFill>
                <a:latin typeface="Arial"/>
              </a:rPr>
              <a:t>3.3 V only</a:t>
            </a:r>
          </a:p>
          <a:p>
            <a:pPr marL="201168" indent="-201168">
              <a:spcAft>
                <a:spcPts val="532"/>
              </a:spcAft>
              <a:buClr>
                <a:srgbClr val="00943A"/>
              </a:buClr>
              <a:buFont typeface="Arial"/>
              <a:buChar char="•"/>
            </a:pPr>
            <a:r>
              <a:rPr sz="1400" b="1" i="0">
                <a:solidFill>
                  <a:srgbClr val="2B2B2B"/>
                </a:solidFill>
                <a:latin typeface="Arial"/>
              </a:rPr>
              <a:t>Camera Module 3:</a:t>
            </a:r>
            <a:r>
              <a:rPr sz="1400" b="0" i="0">
                <a:solidFill>
                  <a:srgbClr val="2B2B2B"/>
                </a:solidFill>
                <a:latin typeface="Arial"/>
              </a:rPr>
              <a:t> </a:t>
            </a:r>
            <a:r>
              <a:rPr sz="1400" b="1" i="0">
                <a:solidFill>
                  <a:srgbClr val="2B2B2B"/>
                </a:solidFill>
                <a:latin typeface="Arial"/>
              </a:rPr>
              <a:t>12 MP</a:t>
            </a:r>
            <a:r>
              <a:rPr sz="1400" b="0" i="0">
                <a:solidFill>
                  <a:srgbClr val="2B2B2B"/>
                </a:solidFill>
                <a:latin typeface="Arial"/>
              </a:rPr>
              <a:t>, run at </a:t>
            </a:r>
            <a:r>
              <a:rPr sz="1400" b="1" i="0">
                <a:solidFill>
                  <a:srgbClr val="2B2B2B"/>
                </a:solidFill>
                <a:latin typeface="Arial"/>
              </a:rPr>
              <a:t>1280×720 @ 15 fps</a:t>
            </a:r>
            <a:r>
              <a:rPr sz="1400" b="0" i="0">
                <a:solidFill>
                  <a:srgbClr val="2B2B2B"/>
                </a:solidFill>
                <a:latin typeface="Arial"/>
              </a:rPr>
              <a:t>, </a:t>
            </a:r>
            <a:r>
              <a:rPr sz="1400" b="1" i="0">
                <a:solidFill>
                  <a:srgbClr val="2B2B2B"/>
                </a:solidFill>
                <a:latin typeface="Arial"/>
              </a:rPr>
              <a:t>YOLO confidence 0.3</a:t>
            </a:r>
          </a:p>
          <a:p>
            <a:pPr marL="201168" indent="-201168">
              <a:spcAft>
                <a:spcPts val="532"/>
              </a:spcAft>
              <a:buClr>
                <a:srgbClr val="00943A"/>
              </a:buClr>
              <a:buFont typeface="Arial"/>
              <a:buChar char="•"/>
            </a:pPr>
            <a:r>
              <a:rPr sz="1400" b="1" i="0">
                <a:solidFill>
                  <a:srgbClr val="2B2B2B"/>
                </a:solidFill>
                <a:latin typeface="Arial"/>
              </a:rPr>
              <a:t>Drivers own the protocol:</a:t>
            </a:r>
            <a:r>
              <a:rPr sz="1400" b="0" i="0">
                <a:solidFill>
                  <a:srgbClr val="2B2B2B"/>
                </a:solidFill>
                <a:latin typeface="Arial"/>
              </a:rPr>
              <a:t> frame parsing, checksums and register maps live in the driver, not the application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tion kicker"/>
          <p:cNvSpPr txBox="1"/>
          <p:nvPr/>
        </p:nvSpPr>
        <p:spPr>
          <a:xfrm>
            <a:off x="1280160" y="292608"/>
            <a:ext cx="8686800" cy="256032"/>
          </a:xfrm>
          <a:prstGeom prst="rect">
            <a:avLst/>
          </a:prstGeom>
          <a:noFill/>
        </p:spPr>
        <p:txBody>
          <a:bodyPr wrap="square" lIns="0" rIns="0" tIns="0" bIns="0" anchor="t">
            <a:noAutofit/>
          </a:bodyPr>
          <a:lstStyle/>
          <a:p>
            <a:r>
              <a:rPr sz="1100" b="1" i="0">
                <a:solidFill>
                  <a:srgbClr val="6B6B6B"/>
                </a:solidFill>
                <a:latin typeface="Arial"/>
              </a:rPr>
              <a:t>PROJECT DESCRIPTION &amp; HARDWARE ARCHITECTURE</a:t>
            </a:r>
          </a:p>
        </p:txBody>
      </p:sp>
      <p:sp>
        <p:nvSpPr>
          <p:cNvPr id="3" name="Title"/>
          <p:cNvSpPr txBox="1"/>
          <p:nvPr/>
        </p:nvSpPr>
        <p:spPr>
          <a:xfrm>
            <a:off x="1280160" y="502920"/>
            <a:ext cx="10469880" cy="731520"/>
          </a:xfrm>
          <a:prstGeom prst="rect">
            <a:avLst/>
          </a:prstGeom>
          <a:noFill/>
        </p:spPr>
        <p:txBody>
          <a:bodyPr wrap="square" lIns="0" rIns="0" tIns="0" bIns="0" anchor="ctr">
            <a:noAutofit/>
          </a:bodyPr>
          <a:lstStyle/>
          <a:p>
            <a:r>
              <a:rPr sz="2800" b="1" i="0">
                <a:solidFill>
                  <a:srgbClr val="00943A"/>
                </a:solidFill>
                <a:latin typeface="Arial"/>
              </a:rPr>
              <a:t>Communication Layer: SIM7600G-H Telemetry Module</a:t>
            </a:r>
          </a:p>
        </p:txBody>
      </p:sp>
      <p:sp>
        <p:nvSpPr>
          <p:cNvPr id="4" name="Slide number"/>
          <p:cNvSpPr txBox="1"/>
          <p:nvPr/>
        </p:nvSpPr>
        <p:spPr>
          <a:xfrm>
            <a:off x="1280160" y="6327648"/>
            <a:ext cx="2286000" cy="274320"/>
          </a:xfrm>
          <a:prstGeom prst="rect">
            <a:avLst/>
          </a:prstGeom>
          <a:noFill/>
        </p:spPr>
        <p:txBody>
          <a:bodyPr wrap="square" lIns="0" rIns="0" tIns="0" bIns="0" anchor="t">
            <a:noAutofit/>
          </a:bodyPr>
          <a:lstStyle/>
          <a:p>
            <a:r>
              <a:rPr sz="1000" b="0" i="0">
                <a:solidFill>
                  <a:srgbClr val="6B6B6B"/>
                </a:solidFill>
                <a:latin typeface="Arial"/>
              </a:rPr>
              <a:t>IndepenSense · 14</a:t>
            </a:r>
          </a:p>
        </p:txBody>
      </p:sp>
      <p:sp>
        <p:nvSpPr>
          <p:cNvPr id="5" name="Step 1 card"/>
          <p:cNvSpPr/>
          <p:nvPr/>
        </p:nvSpPr>
        <p:spPr>
          <a:xfrm>
            <a:off x="1280160" y="1371600"/>
            <a:ext cx="3294887" cy="2448356"/>
          </a:xfrm>
          <a:prstGeom prst="roundRect">
            <a:avLst>
              <a:gd name="adj" fmla="val 6722"/>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Step 1 text"/>
          <p:cNvSpPr txBox="1"/>
          <p:nvPr/>
        </p:nvSpPr>
        <p:spPr>
          <a:xfrm>
            <a:off x="1463039" y="1554480"/>
            <a:ext cx="2929128" cy="2082596"/>
          </a:xfrm>
          <a:prstGeom prst="rect">
            <a:avLst/>
          </a:prstGeom>
          <a:noFill/>
        </p:spPr>
        <p:txBody>
          <a:bodyPr wrap="square" lIns="0" rIns="0" tIns="0" bIns="0" anchor="t">
            <a:noAutofit/>
          </a:bodyPr>
          <a:lstStyle/>
          <a:p>
            <a:pPr>
              <a:spcAft>
                <a:spcPts val="630"/>
              </a:spcAft>
              <a:buNone/>
            </a:pPr>
            <a:r>
              <a:rPr sz="1600" b="1" i="0">
                <a:solidFill>
                  <a:srgbClr val="006B2A"/>
                </a:solidFill>
                <a:latin typeface="Arial"/>
              </a:rPr>
              <a:t>Box 1: 4G LTE data (HTTPS)</a:t>
            </a:r>
          </a:p>
          <a:p>
            <a:pPr marL="201168" indent="-201168">
              <a:spcAft>
                <a:spcPts val="532"/>
              </a:spcAft>
              <a:buClr>
                <a:srgbClr val="00943A"/>
              </a:buClr>
              <a:buFont typeface="Arial"/>
              <a:buChar char="•"/>
            </a:pPr>
            <a:r>
              <a:rPr sz="1400" b="1" i="0">
                <a:solidFill>
                  <a:srgbClr val="2B2B2B"/>
                </a:solidFill>
                <a:latin typeface="Arial"/>
              </a:rPr>
              <a:t>Heartbeat every 30 s</a:t>
            </a:r>
            <a:r>
              <a:rPr sz="1400" b="0" i="0">
                <a:solidFill>
                  <a:srgbClr val="2B2B2B"/>
                </a:solidFill>
                <a:latin typeface="Arial"/>
              </a:rPr>
              <a:t>: location, battery, signal</a:t>
            </a:r>
          </a:p>
          <a:p>
            <a:pPr marL="201168" indent="-201168">
              <a:spcAft>
                <a:spcPts val="532"/>
              </a:spcAft>
              <a:buClr>
                <a:srgbClr val="00943A"/>
              </a:buClr>
              <a:buFont typeface="Arial"/>
              <a:buChar char="•"/>
            </a:pPr>
            <a:r>
              <a:rPr sz="1400" b="0" i="0">
                <a:solidFill>
                  <a:srgbClr val="2B2B2B"/>
                </a:solidFill>
                <a:latin typeface="Arial"/>
              </a:rPr>
              <a:t>Alert events pushed </a:t>
            </a:r>
            <a:r>
              <a:rPr sz="1400" b="1" i="0">
                <a:solidFill>
                  <a:srgbClr val="2B2B2B"/>
                </a:solidFill>
                <a:latin typeface="Arial"/>
              </a:rPr>
              <a:t>immediately</a:t>
            </a:r>
          </a:p>
          <a:p>
            <a:pPr marL="201168" indent="-201168">
              <a:spcAft>
                <a:spcPts val="532"/>
              </a:spcAft>
              <a:buClr>
                <a:srgbClr val="00943A"/>
              </a:buClr>
              <a:buFont typeface="Arial"/>
              <a:buChar char="•"/>
            </a:pPr>
            <a:r>
              <a:rPr sz="1400" b="1" i="0">
                <a:solidFill>
                  <a:srgbClr val="2B2B2B"/>
                </a:solidFill>
                <a:latin typeface="Arial"/>
              </a:rPr>
              <a:t>Buffered retry</a:t>
            </a:r>
            <a:r>
              <a:rPr sz="1400" b="0" i="0">
                <a:solidFill>
                  <a:srgbClr val="2B2B2B"/>
                </a:solidFill>
                <a:latin typeface="Arial"/>
              </a:rPr>
              <a:t> when the link is down</a:t>
            </a:r>
          </a:p>
        </p:txBody>
      </p:sp>
      <p:sp>
        <p:nvSpPr>
          <p:cNvPr id="7" name="Arrow 1"/>
          <p:cNvSpPr/>
          <p:nvPr/>
        </p:nvSpPr>
        <p:spPr>
          <a:xfrm>
            <a:off x="4620767" y="2476906"/>
            <a:ext cx="201168" cy="237744"/>
          </a:xfrm>
          <a:prstGeom prst="rightArrow">
            <a:avLst/>
          </a:prstGeom>
          <a:solidFill>
            <a:srgbClr val="009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tep 2 card"/>
          <p:cNvSpPr/>
          <p:nvPr/>
        </p:nvSpPr>
        <p:spPr>
          <a:xfrm>
            <a:off x="4867655" y="1371600"/>
            <a:ext cx="3294887" cy="2448356"/>
          </a:xfrm>
          <a:prstGeom prst="roundRect">
            <a:avLst>
              <a:gd name="adj" fmla="val 6722"/>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Step 2 text"/>
          <p:cNvSpPr txBox="1"/>
          <p:nvPr/>
        </p:nvSpPr>
        <p:spPr>
          <a:xfrm>
            <a:off x="5050535" y="1554480"/>
            <a:ext cx="2929128" cy="2082596"/>
          </a:xfrm>
          <a:prstGeom prst="rect">
            <a:avLst/>
          </a:prstGeom>
          <a:noFill/>
        </p:spPr>
        <p:txBody>
          <a:bodyPr wrap="square" lIns="0" rIns="0" tIns="0" bIns="0" anchor="t">
            <a:noAutofit/>
          </a:bodyPr>
          <a:lstStyle/>
          <a:p>
            <a:pPr>
              <a:spcAft>
                <a:spcPts val="630"/>
              </a:spcAft>
              <a:buNone/>
            </a:pPr>
            <a:r>
              <a:rPr sz="1600" b="1" i="0">
                <a:solidFill>
                  <a:srgbClr val="006B2A"/>
                </a:solidFill>
                <a:latin typeface="Arial"/>
              </a:rPr>
              <a:t>Box 2: SMS</a:t>
            </a:r>
          </a:p>
          <a:p>
            <a:pPr marL="201168" indent="-201168">
              <a:spcAft>
                <a:spcPts val="532"/>
              </a:spcAft>
              <a:buClr>
                <a:srgbClr val="00943A"/>
              </a:buClr>
              <a:buFont typeface="Arial"/>
              <a:buChar char="•"/>
            </a:pPr>
            <a:r>
              <a:rPr sz="1400" b="0" i="0">
                <a:solidFill>
                  <a:srgbClr val="2B2B2B"/>
                </a:solidFill>
                <a:latin typeface="Arial"/>
              </a:rPr>
              <a:t>Sent for </a:t>
            </a:r>
            <a:r>
              <a:rPr sz="1400" b="1" i="0">
                <a:solidFill>
                  <a:srgbClr val="2B2B2B"/>
                </a:solidFill>
                <a:latin typeface="Arial"/>
              </a:rPr>
              <a:t>Emergency, Fall and Low Battery</a:t>
            </a:r>
          </a:p>
          <a:p>
            <a:pPr marL="201168" indent="-201168">
              <a:spcAft>
                <a:spcPts val="532"/>
              </a:spcAft>
              <a:buClr>
                <a:srgbClr val="00943A"/>
              </a:buClr>
              <a:buFont typeface="Arial"/>
              <a:buChar char="•"/>
            </a:pPr>
            <a:r>
              <a:rPr sz="1400" b="0" i="0">
                <a:solidFill>
                  <a:srgbClr val="2B2B2B"/>
                </a:solidFill>
                <a:latin typeface="Arial"/>
              </a:rPr>
              <a:t>Needs </a:t>
            </a:r>
            <a:r>
              <a:rPr sz="1400" b="1" i="0">
                <a:solidFill>
                  <a:srgbClr val="2B2B2B"/>
                </a:solidFill>
                <a:latin typeface="Arial"/>
              </a:rPr>
              <a:t>signal only, no data bearer</a:t>
            </a:r>
          </a:p>
          <a:p>
            <a:pPr marL="201168" indent="-201168">
              <a:spcAft>
                <a:spcPts val="532"/>
              </a:spcAft>
              <a:buClr>
                <a:srgbClr val="00943A"/>
              </a:buClr>
              <a:buFont typeface="Arial"/>
              <a:buChar char="•"/>
            </a:pPr>
            <a:r>
              <a:rPr sz="1400" b="0" i="0">
                <a:solidFill>
                  <a:srgbClr val="2B2B2B"/>
                </a:solidFill>
                <a:latin typeface="Arial"/>
              </a:rPr>
              <a:t>Retried for up to </a:t>
            </a:r>
            <a:r>
              <a:rPr sz="1400" b="1" i="0">
                <a:solidFill>
                  <a:srgbClr val="2B2B2B"/>
                </a:solidFill>
                <a:latin typeface="Arial"/>
              </a:rPr>
              <a:t>5 min</a:t>
            </a:r>
          </a:p>
        </p:txBody>
      </p:sp>
      <p:sp>
        <p:nvSpPr>
          <p:cNvPr id="10" name="Arrow 2"/>
          <p:cNvSpPr/>
          <p:nvPr/>
        </p:nvSpPr>
        <p:spPr>
          <a:xfrm>
            <a:off x="8208264" y="2476906"/>
            <a:ext cx="201168" cy="237744"/>
          </a:xfrm>
          <a:prstGeom prst="rightArrow">
            <a:avLst/>
          </a:prstGeom>
          <a:solidFill>
            <a:srgbClr val="009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tep 3 card"/>
          <p:cNvSpPr/>
          <p:nvPr/>
        </p:nvSpPr>
        <p:spPr>
          <a:xfrm>
            <a:off x="8455152" y="1371600"/>
            <a:ext cx="3294887" cy="2448356"/>
          </a:xfrm>
          <a:prstGeom prst="roundRect">
            <a:avLst>
              <a:gd name="adj" fmla="val 6722"/>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Step 3 text"/>
          <p:cNvSpPr txBox="1"/>
          <p:nvPr/>
        </p:nvSpPr>
        <p:spPr>
          <a:xfrm>
            <a:off x="8638031" y="1554480"/>
            <a:ext cx="2929128" cy="2082596"/>
          </a:xfrm>
          <a:prstGeom prst="rect">
            <a:avLst/>
          </a:prstGeom>
          <a:noFill/>
        </p:spPr>
        <p:txBody>
          <a:bodyPr wrap="square" lIns="0" rIns="0" tIns="0" bIns="0" anchor="t">
            <a:noAutofit/>
          </a:bodyPr>
          <a:lstStyle/>
          <a:p>
            <a:pPr>
              <a:spcAft>
                <a:spcPts val="630"/>
              </a:spcAft>
              <a:buNone/>
            </a:pPr>
            <a:r>
              <a:rPr sz="1600" b="1" i="0">
                <a:solidFill>
                  <a:srgbClr val="006B2A"/>
                </a:solidFill>
                <a:latin typeface="Arial"/>
              </a:rPr>
              <a:t>Box 3: GNSS</a:t>
            </a:r>
          </a:p>
          <a:p>
            <a:pPr marL="201168" indent="-201168">
              <a:spcAft>
                <a:spcPts val="532"/>
              </a:spcAft>
              <a:buClr>
                <a:srgbClr val="00943A"/>
              </a:buClr>
              <a:buFont typeface="Arial"/>
              <a:buChar char="•"/>
            </a:pPr>
            <a:r>
              <a:rPr sz="1400" b="1" i="0">
                <a:solidFill>
                  <a:srgbClr val="2B2B2B"/>
                </a:solidFill>
                <a:latin typeface="Arial"/>
              </a:rPr>
              <a:t>Integrated receiver</a:t>
            </a:r>
            <a:r>
              <a:rPr sz="1400" b="0" i="0">
                <a:solidFill>
                  <a:srgbClr val="2B2B2B"/>
                </a:solidFill>
                <a:latin typeface="Arial"/>
              </a:rPr>
              <a:t> streaming </a:t>
            </a:r>
            <a:r>
              <a:rPr sz="1400" b="1" i="0">
                <a:solidFill>
                  <a:srgbClr val="2B2B2B"/>
                </a:solidFill>
                <a:latin typeface="Arial"/>
              </a:rPr>
              <a:t>NMEA ($GN RMC/GGA)</a:t>
            </a:r>
          </a:p>
          <a:p>
            <a:pPr marL="201168" indent="-201168">
              <a:spcAft>
                <a:spcPts val="532"/>
              </a:spcAft>
              <a:buClr>
                <a:srgbClr val="00943A"/>
              </a:buClr>
              <a:buFont typeface="Arial"/>
              <a:buChar char="•"/>
            </a:pPr>
            <a:r>
              <a:rPr sz="1400" b="0" i="0">
                <a:solidFill>
                  <a:srgbClr val="2B2B2B"/>
                </a:solidFill>
                <a:latin typeface="Arial"/>
              </a:rPr>
              <a:t>Multi-constellation: GPS, GLONASS, BeiDou, Galileo</a:t>
            </a:r>
          </a:p>
        </p:txBody>
      </p:sp>
      <p:sp>
        <p:nvSpPr>
          <p:cNvPr id="13" name="Field 2 card"/>
          <p:cNvSpPr/>
          <p:nvPr/>
        </p:nvSpPr>
        <p:spPr>
          <a:xfrm>
            <a:off x="1280160" y="4075988"/>
            <a:ext cx="10469880" cy="1913331"/>
          </a:xfrm>
          <a:prstGeom prst="roundRect">
            <a:avLst>
              <a:gd name="adj" fmla="val 8602"/>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Field 2 text 1"/>
          <p:cNvSpPr txBox="1"/>
          <p:nvPr/>
        </p:nvSpPr>
        <p:spPr>
          <a:xfrm>
            <a:off x="1463039" y="4258868"/>
            <a:ext cx="4914899" cy="1547571"/>
          </a:xfrm>
          <a:prstGeom prst="rect">
            <a:avLst/>
          </a:prstGeom>
          <a:noFill/>
        </p:spPr>
        <p:txBody>
          <a:bodyPr wrap="square" lIns="0" rIns="0" tIns="0" bIns="0" anchor="t">
            <a:noAutofit/>
          </a:bodyPr>
          <a:lstStyle/>
          <a:p>
            <a:pPr marL="201168" indent="-201168">
              <a:spcAft>
                <a:spcPts val="532"/>
              </a:spcAft>
              <a:buClr>
                <a:srgbClr val="00943A"/>
              </a:buClr>
              <a:buFont typeface="Arial"/>
              <a:buChar char="•"/>
            </a:pPr>
            <a:r>
              <a:rPr sz="1400" b="1" i="0">
                <a:solidFill>
                  <a:srgbClr val="2B2B2B"/>
                </a:solidFill>
                <a:latin typeface="Arial"/>
              </a:rPr>
              <a:t>Interface:</a:t>
            </a:r>
            <a:r>
              <a:rPr sz="1400" b="0" i="0">
                <a:solidFill>
                  <a:srgbClr val="2B2B2B"/>
                </a:solidFill>
                <a:latin typeface="Arial"/>
              </a:rPr>
              <a:t> </a:t>
            </a:r>
            <a:r>
              <a:rPr sz="1400" b="1" i="0">
                <a:solidFill>
                  <a:srgbClr val="2B2B2B"/>
                </a:solidFill>
                <a:latin typeface="Arial"/>
              </a:rPr>
              <a:t>USB</a:t>
            </a:r>
            <a:r>
              <a:rPr sz="1400" b="0" i="0">
                <a:solidFill>
                  <a:srgbClr val="2B2B2B"/>
                </a:solidFill>
                <a:latin typeface="Arial"/>
              </a:rPr>
              <a:t> to the Pi 5, with multiple serial endpoints (AT, NMEA)</a:t>
            </a:r>
          </a:p>
          <a:p>
            <a:pPr marL="201168" indent="-201168">
              <a:spcAft>
                <a:spcPts val="532"/>
              </a:spcAft>
              <a:buClr>
                <a:srgbClr val="00943A"/>
              </a:buClr>
              <a:buFont typeface="Arial"/>
              <a:buChar char="•"/>
            </a:pPr>
            <a:r>
              <a:rPr sz="1400" b="1" i="0">
                <a:solidFill>
                  <a:srgbClr val="2B2B2B"/>
                </a:solidFill>
                <a:latin typeface="Arial"/>
              </a:rPr>
              <a:t>Power:</a:t>
            </a:r>
            <a:r>
              <a:rPr sz="1400" b="0" i="0">
                <a:solidFill>
                  <a:srgbClr val="2B2B2B"/>
                </a:solidFill>
                <a:latin typeface="Arial"/>
              </a:rPr>
              <a:t> </a:t>
            </a:r>
            <a:r>
              <a:rPr sz="1400" b="1" i="0">
                <a:solidFill>
                  <a:srgbClr val="2B2B2B"/>
                </a:solidFill>
                <a:latin typeface="Arial"/>
              </a:rPr>
              <a:t>5 V</a:t>
            </a:r>
            <a:r>
              <a:rPr sz="1400" b="0" i="0">
                <a:solidFill>
                  <a:srgbClr val="2B2B2B"/>
                </a:solidFill>
                <a:latin typeface="Arial"/>
              </a:rPr>
              <a:t>, </a:t>
            </a:r>
            <a:r>
              <a:rPr sz="1400" b="1" i="0">
                <a:solidFill>
                  <a:srgbClr val="2B2B2B"/>
                </a:solidFill>
                <a:latin typeface="Arial"/>
              </a:rPr>
              <a:t>~0.3 A</a:t>
            </a:r>
            <a:r>
              <a:rPr sz="1400" b="0" i="0">
                <a:solidFill>
                  <a:srgbClr val="2B2B2B"/>
                </a:solidFill>
                <a:latin typeface="Arial"/>
              </a:rPr>
              <a:t> typical, </a:t>
            </a:r>
            <a:r>
              <a:rPr sz="1400" b="1" i="0">
                <a:solidFill>
                  <a:srgbClr val="2B2B2B"/>
                </a:solidFill>
                <a:latin typeface="Arial"/>
              </a:rPr>
              <a:t>~2 A transmit peaks</a:t>
            </a:r>
          </a:p>
          <a:p>
            <a:pPr marL="201168" indent="-201168">
              <a:spcAft>
                <a:spcPts val="532"/>
              </a:spcAft>
              <a:buClr>
                <a:srgbClr val="00943A"/>
              </a:buClr>
              <a:buFont typeface="Arial"/>
              <a:buChar char="•"/>
            </a:pPr>
            <a:r>
              <a:rPr sz="1400" b="1" i="0">
                <a:solidFill>
                  <a:srgbClr val="2B2B2B"/>
                </a:solidFill>
                <a:latin typeface="Arial"/>
              </a:rPr>
              <a:t>Cost:</a:t>
            </a:r>
            <a:r>
              <a:rPr sz="1400" b="0" i="0">
                <a:solidFill>
                  <a:srgbClr val="2B2B2B"/>
                </a:solidFill>
                <a:latin typeface="Arial"/>
              </a:rPr>
              <a:t> </a:t>
            </a:r>
            <a:r>
              <a:rPr sz="1400" b="1" i="0">
                <a:solidFill>
                  <a:srgbClr val="2B2B2B"/>
                </a:solidFill>
                <a:latin typeface="Arial"/>
              </a:rPr>
              <a:t>₱5,384.92</a:t>
            </a:r>
            <a:r>
              <a:rPr sz="1400" b="0" i="0">
                <a:solidFill>
                  <a:srgbClr val="2B2B2B"/>
                </a:solidFill>
                <a:latin typeface="Arial"/>
              </a:rPr>
              <a:t>, the second-largest BOM item</a:t>
            </a:r>
          </a:p>
          <a:p>
            <a:pPr marL="201168" indent="-201168">
              <a:spcAft>
                <a:spcPts val="532"/>
              </a:spcAft>
              <a:buClr>
                <a:srgbClr val="00943A"/>
              </a:buClr>
              <a:buFont typeface="Arial"/>
              <a:buChar char="•"/>
            </a:pPr>
            <a:r>
              <a:rPr sz="1400" b="1" i="0">
                <a:solidFill>
                  <a:srgbClr val="2B2B2B"/>
                </a:solidFill>
                <a:latin typeface="Arial"/>
              </a:rPr>
              <a:t>Why one module:</a:t>
            </a:r>
            <a:r>
              <a:rPr sz="1400" b="0" i="0">
                <a:solidFill>
                  <a:srgbClr val="2B2B2B"/>
                </a:solidFill>
                <a:latin typeface="Arial"/>
              </a:rPr>
              <a:t> one antenna system and one USB link carry </a:t>
            </a:r>
            <a:r>
              <a:rPr sz="1400" b="1" i="0">
                <a:solidFill>
                  <a:srgbClr val="2B2B2B"/>
                </a:solidFill>
                <a:latin typeface="Arial"/>
              </a:rPr>
              <a:t>data, SMS and location</a:t>
            </a:r>
          </a:p>
        </p:txBody>
      </p:sp>
      <p:sp>
        <p:nvSpPr>
          <p:cNvPr id="15" name="Field 2 text 2"/>
          <p:cNvSpPr txBox="1"/>
          <p:nvPr/>
        </p:nvSpPr>
        <p:spPr>
          <a:xfrm>
            <a:off x="6652259" y="4258868"/>
            <a:ext cx="4914899" cy="1547571"/>
          </a:xfrm>
          <a:prstGeom prst="rect">
            <a:avLst/>
          </a:prstGeom>
          <a:noFill/>
        </p:spPr>
        <p:txBody>
          <a:bodyPr wrap="square" lIns="0" rIns="0" tIns="0" bIns="0" anchor="t">
            <a:noAutofit/>
          </a:bodyPr>
          <a:lstStyle/>
          <a:p>
            <a:pPr marL="201168" indent="-201168">
              <a:spcAft>
                <a:spcPts val="532"/>
              </a:spcAft>
              <a:buClr>
                <a:srgbClr val="00943A"/>
              </a:buClr>
              <a:buFont typeface="Arial"/>
              <a:buChar char="•"/>
            </a:pPr>
            <a:r>
              <a:rPr sz="1400" b="1" i="0">
                <a:solidFill>
                  <a:srgbClr val="2B2B2B"/>
                </a:solidFill>
                <a:latin typeface="Arial"/>
              </a:rPr>
              <a:t>Offline hardening</a:t>
            </a:r>
            <a:r>
              <a:rPr sz="1400" b="0" i="0">
                <a:solidFill>
                  <a:srgbClr val="2B2B2B"/>
                </a:solidFill>
                <a:latin typeface="Arial"/>
              </a:rPr>
              <a:t>: network route pre-check, per-host circuit breaker, and a </a:t>
            </a:r>
            <a:r>
              <a:rPr sz="1400" b="1" i="0">
                <a:solidFill>
                  <a:srgbClr val="2B2B2B"/>
                </a:solidFill>
                <a:latin typeface="Arial"/>
              </a:rPr>
              <a:t>2 s DNS bound</a:t>
            </a:r>
            <a:r>
              <a:rPr sz="1400" b="0" i="0">
                <a:solidFill>
                  <a:srgbClr val="2B2B2B"/>
                </a:solidFill>
                <a:latin typeface="Arial"/>
              </a:rPr>
              <a:t>, which removed a </a:t>
            </a:r>
            <a:r>
              <a:rPr sz="1400" b="1" i="0">
                <a:solidFill>
                  <a:srgbClr val="2B2B2B"/>
                </a:solidFill>
                <a:latin typeface="Arial"/>
              </a:rPr>
              <a:t>20 s per-lookup stall</a:t>
            </a:r>
            <a:r>
              <a:rPr sz="1400" b="0" i="0">
                <a:solidFill>
                  <a:srgbClr val="2B2B2B"/>
                </a:solidFill>
                <a:latin typeface="Arial"/>
              </a:rPr>
              <a:t> on a dead link</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tion kicker"/>
          <p:cNvSpPr txBox="1"/>
          <p:nvPr/>
        </p:nvSpPr>
        <p:spPr>
          <a:xfrm>
            <a:off x="1280160" y="292608"/>
            <a:ext cx="8686800" cy="256032"/>
          </a:xfrm>
          <a:prstGeom prst="rect">
            <a:avLst/>
          </a:prstGeom>
          <a:noFill/>
        </p:spPr>
        <p:txBody>
          <a:bodyPr wrap="square" lIns="0" rIns="0" tIns="0" bIns="0" anchor="t">
            <a:noAutofit/>
          </a:bodyPr>
          <a:lstStyle/>
          <a:p>
            <a:r>
              <a:rPr sz="1100" b="1" i="0">
                <a:solidFill>
                  <a:srgbClr val="6B6B6B"/>
                </a:solidFill>
                <a:latin typeface="Arial"/>
              </a:rPr>
              <a:t>PROJECT DESCRIPTION &amp; HARDWARE ARCHITECTURE</a:t>
            </a:r>
          </a:p>
        </p:txBody>
      </p:sp>
      <p:sp>
        <p:nvSpPr>
          <p:cNvPr id="3" name="Title"/>
          <p:cNvSpPr txBox="1"/>
          <p:nvPr/>
        </p:nvSpPr>
        <p:spPr>
          <a:xfrm>
            <a:off x="1280160" y="502920"/>
            <a:ext cx="10469880" cy="731520"/>
          </a:xfrm>
          <a:prstGeom prst="rect">
            <a:avLst/>
          </a:prstGeom>
          <a:noFill/>
        </p:spPr>
        <p:txBody>
          <a:bodyPr wrap="square" lIns="0" rIns="0" tIns="0" bIns="0" anchor="ctr">
            <a:noAutofit/>
          </a:bodyPr>
          <a:lstStyle/>
          <a:p>
            <a:r>
              <a:rPr sz="3200" b="1" i="0">
                <a:solidFill>
                  <a:srgbClr val="00943A"/>
                </a:solidFill>
                <a:latin typeface="Arial"/>
              </a:rPr>
              <a:t>Feedback and User Interface Layer</a:t>
            </a:r>
          </a:p>
        </p:txBody>
      </p:sp>
      <p:sp>
        <p:nvSpPr>
          <p:cNvPr id="4" name="Slide number"/>
          <p:cNvSpPr txBox="1"/>
          <p:nvPr/>
        </p:nvSpPr>
        <p:spPr>
          <a:xfrm>
            <a:off x="1280160" y="6327648"/>
            <a:ext cx="2286000" cy="274320"/>
          </a:xfrm>
          <a:prstGeom prst="rect">
            <a:avLst/>
          </a:prstGeom>
          <a:noFill/>
        </p:spPr>
        <p:txBody>
          <a:bodyPr wrap="square" lIns="0" rIns="0" tIns="0" bIns="0" anchor="t">
            <a:noAutofit/>
          </a:bodyPr>
          <a:lstStyle/>
          <a:p>
            <a:r>
              <a:rPr sz="1000" b="0" i="0">
                <a:solidFill>
                  <a:srgbClr val="6B6B6B"/>
                </a:solidFill>
                <a:latin typeface="Arial"/>
              </a:rPr>
              <a:t>IndepenSense · 15</a:t>
            </a:r>
          </a:p>
        </p:txBody>
      </p:sp>
      <p:sp>
        <p:nvSpPr>
          <p:cNvPr id="5" name="Card 1 card"/>
          <p:cNvSpPr/>
          <p:nvPr/>
        </p:nvSpPr>
        <p:spPr>
          <a:xfrm>
            <a:off x="1280160" y="1371600"/>
            <a:ext cx="5106924" cy="2180844"/>
          </a:xfrm>
          <a:prstGeom prst="roundRect">
            <a:avLst>
              <a:gd name="adj" fmla="val 7547"/>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Card 1 text"/>
          <p:cNvSpPr txBox="1"/>
          <p:nvPr/>
        </p:nvSpPr>
        <p:spPr>
          <a:xfrm>
            <a:off x="1463039" y="1554480"/>
            <a:ext cx="4741164" cy="1815084"/>
          </a:xfrm>
          <a:prstGeom prst="rect">
            <a:avLst/>
          </a:prstGeom>
          <a:noFill/>
        </p:spPr>
        <p:txBody>
          <a:bodyPr wrap="square" lIns="0" rIns="0" tIns="0" bIns="0" anchor="t">
            <a:noAutofit/>
          </a:bodyPr>
          <a:lstStyle/>
          <a:p>
            <a:pPr>
              <a:spcAft>
                <a:spcPts val="630"/>
              </a:spcAft>
              <a:buNone/>
            </a:pPr>
            <a:r>
              <a:rPr sz="1600" b="1" i="0">
                <a:solidFill>
                  <a:srgbClr val="006B2A"/>
                </a:solidFill>
                <a:latin typeface="Arial"/>
              </a:rPr>
              <a:t>Haptic: 3× flat vibration motors</a:t>
            </a:r>
          </a:p>
          <a:p>
            <a:pPr>
              <a:spcAft>
                <a:spcPts val="532"/>
              </a:spcAft>
              <a:buNone/>
            </a:pPr>
            <a:r>
              <a:rPr sz="1400" b="0" i="0">
                <a:solidFill>
                  <a:srgbClr val="2B2B2B"/>
                </a:solidFill>
                <a:latin typeface="Arial"/>
              </a:rPr>
              <a:t>on </a:t>
            </a:r>
            <a:r>
              <a:rPr sz="1400" b="1" i="0">
                <a:solidFill>
                  <a:srgbClr val="2B2B2B"/>
                </a:solidFill>
                <a:latin typeface="Arial"/>
              </a:rPr>
              <a:t>GPIO 17 / 27 / 22</a:t>
            </a:r>
            <a:r>
              <a:rPr sz="1400" b="0" i="0">
                <a:solidFill>
                  <a:srgbClr val="2B2B2B"/>
                </a:solidFill>
                <a:latin typeface="Arial"/>
              </a:rPr>
              <a:t>, each switched by a </a:t>
            </a:r>
            <a:r>
              <a:rPr sz="1400" b="1" i="0">
                <a:solidFill>
                  <a:srgbClr val="2B2B2B"/>
                </a:solidFill>
                <a:latin typeface="Arial"/>
              </a:rPr>
              <a:t>2N2222 NPN</a:t>
            </a:r>
            <a:r>
              <a:rPr sz="1400" b="0" i="0">
                <a:solidFill>
                  <a:srgbClr val="2B2B2B"/>
                </a:solidFill>
                <a:latin typeface="Arial"/>
              </a:rPr>
              <a:t> with a </a:t>
            </a:r>
            <a:r>
              <a:rPr sz="1400" b="1" i="0">
                <a:solidFill>
                  <a:srgbClr val="2B2B2B"/>
                </a:solidFill>
                <a:latin typeface="Arial"/>
              </a:rPr>
              <a:t>1N4007 flyback diode</a:t>
            </a:r>
          </a:p>
          <a:p>
            <a:pPr marL="201168" indent="-201168">
              <a:spcAft>
                <a:spcPts val="532"/>
              </a:spcAft>
              <a:buClr>
                <a:srgbClr val="00943A"/>
              </a:buClr>
              <a:buFont typeface="Arial"/>
              <a:buChar char="•"/>
            </a:pPr>
            <a:r>
              <a:rPr sz="1400" b="0" i="0">
                <a:solidFill>
                  <a:srgbClr val="2B2B2B"/>
                </a:solidFill>
                <a:latin typeface="Arial"/>
              </a:rPr>
              <a:t>Front motor alone = </a:t>
            </a:r>
            <a:r>
              <a:rPr sz="1400" b="1" i="0">
                <a:solidFill>
                  <a:srgbClr val="2B2B2B"/>
                </a:solidFill>
                <a:latin typeface="Arial"/>
              </a:rPr>
              <a:t>warning</a:t>
            </a:r>
            <a:r>
              <a:rPr sz="1400" b="0" i="0">
                <a:solidFill>
                  <a:srgbClr val="2B2B2B"/>
                </a:solidFill>
                <a:latin typeface="Arial"/>
              </a:rPr>
              <a:t>, all three = </a:t>
            </a:r>
            <a:r>
              <a:rPr sz="1400" b="1" i="0">
                <a:solidFill>
                  <a:srgbClr val="2B2B2B"/>
                </a:solidFill>
                <a:latin typeface="Arial"/>
              </a:rPr>
              <a:t>danger (&lt; 50 cm)</a:t>
            </a:r>
          </a:p>
        </p:txBody>
      </p:sp>
      <p:sp>
        <p:nvSpPr>
          <p:cNvPr id="7" name="Card 2 card"/>
          <p:cNvSpPr/>
          <p:nvPr/>
        </p:nvSpPr>
        <p:spPr>
          <a:xfrm>
            <a:off x="6643116" y="1371600"/>
            <a:ext cx="5106924" cy="2180844"/>
          </a:xfrm>
          <a:prstGeom prst="roundRect">
            <a:avLst>
              <a:gd name="adj" fmla="val 7547"/>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Card 2 text"/>
          <p:cNvSpPr txBox="1"/>
          <p:nvPr/>
        </p:nvSpPr>
        <p:spPr>
          <a:xfrm>
            <a:off x="6825996" y="1554480"/>
            <a:ext cx="4741164" cy="1815084"/>
          </a:xfrm>
          <a:prstGeom prst="rect">
            <a:avLst/>
          </a:prstGeom>
          <a:noFill/>
        </p:spPr>
        <p:txBody>
          <a:bodyPr wrap="square" lIns="0" rIns="0" tIns="0" bIns="0" anchor="t">
            <a:noAutofit/>
          </a:bodyPr>
          <a:lstStyle/>
          <a:p>
            <a:pPr>
              <a:spcAft>
                <a:spcPts val="630"/>
              </a:spcAft>
              <a:buNone/>
            </a:pPr>
            <a:r>
              <a:rPr sz="1600" b="1" i="0">
                <a:solidFill>
                  <a:srgbClr val="006B2A"/>
                </a:solidFill>
                <a:latin typeface="Arial"/>
              </a:rPr>
              <a:t>Buzzer: piezo tone buzzer</a:t>
            </a:r>
          </a:p>
          <a:p>
            <a:pPr>
              <a:spcAft>
                <a:spcPts val="532"/>
              </a:spcAft>
              <a:buNone/>
            </a:pPr>
            <a:r>
              <a:rPr sz="1400" b="0" i="0">
                <a:solidFill>
                  <a:srgbClr val="2B2B2B"/>
                </a:solidFill>
                <a:latin typeface="Arial"/>
              </a:rPr>
              <a:t>on </a:t>
            </a:r>
            <a:r>
              <a:rPr sz="1400" b="1" i="0">
                <a:solidFill>
                  <a:srgbClr val="2B2B2B"/>
                </a:solidFill>
                <a:latin typeface="Arial"/>
              </a:rPr>
              <a:t>GPIO 18</a:t>
            </a:r>
          </a:p>
          <a:p>
            <a:pPr marL="201168" indent="-201168">
              <a:spcAft>
                <a:spcPts val="532"/>
              </a:spcAft>
              <a:buClr>
                <a:srgbClr val="00943A"/>
              </a:buClr>
              <a:buFont typeface="Arial"/>
              <a:buChar char="•"/>
            </a:pPr>
            <a:r>
              <a:rPr sz="1400" b="1" i="0">
                <a:solidFill>
                  <a:srgbClr val="2B2B2B"/>
                </a:solidFill>
                <a:latin typeface="Arial"/>
              </a:rPr>
              <a:t>Reserved for emergencies only</a:t>
            </a:r>
            <a:r>
              <a:rPr sz="1400" b="0" i="0">
                <a:solidFill>
                  <a:srgbClr val="2B2B2B"/>
                </a:solidFill>
                <a:latin typeface="Arial"/>
              </a:rPr>
              <a:t>, the one output a </a:t>
            </a:r>
            <a:r>
              <a:rPr sz="1400" b="1" i="0">
                <a:solidFill>
                  <a:srgbClr val="2B2B2B"/>
                </a:solidFill>
                <a:latin typeface="Arial"/>
              </a:rPr>
              <a:t>bystander</a:t>
            </a:r>
            <a:r>
              <a:rPr sz="1400" b="0" i="0">
                <a:solidFill>
                  <a:srgbClr val="2B2B2B"/>
                </a:solidFill>
                <a:latin typeface="Arial"/>
              </a:rPr>
              <a:t> can perceive</a:t>
            </a:r>
          </a:p>
        </p:txBody>
      </p:sp>
      <p:sp>
        <p:nvSpPr>
          <p:cNvPr id="9" name="Card 3 card"/>
          <p:cNvSpPr/>
          <p:nvPr/>
        </p:nvSpPr>
        <p:spPr>
          <a:xfrm>
            <a:off x="1280160" y="3808476"/>
            <a:ext cx="5106924" cy="2180844"/>
          </a:xfrm>
          <a:prstGeom prst="roundRect">
            <a:avLst>
              <a:gd name="adj" fmla="val 7547"/>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Card 3 text"/>
          <p:cNvSpPr txBox="1"/>
          <p:nvPr/>
        </p:nvSpPr>
        <p:spPr>
          <a:xfrm>
            <a:off x="1463039" y="3991356"/>
            <a:ext cx="4741164" cy="1815084"/>
          </a:xfrm>
          <a:prstGeom prst="rect">
            <a:avLst/>
          </a:prstGeom>
          <a:noFill/>
        </p:spPr>
        <p:txBody>
          <a:bodyPr wrap="square" lIns="0" rIns="0" tIns="0" bIns="0" anchor="t">
            <a:noAutofit/>
          </a:bodyPr>
          <a:lstStyle/>
          <a:p>
            <a:pPr>
              <a:spcAft>
                <a:spcPts val="630"/>
              </a:spcAft>
              <a:buNone/>
            </a:pPr>
            <a:r>
              <a:rPr sz="1600" b="1" i="0">
                <a:solidFill>
                  <a:srgbClr val="006B2A"/>
                </a:solidFill>
                <a:latin typeface="Arial"/>
              </a:rPr>
              <a:t>Buttons: 3× 12 mm PBS-33B waterproof momentary</a:t>
            </a:r>
          </a:p>
          <a:p>
            <a:pPr>
              <a:spcAft>
                <a:spcPts val="532"/>
              </a:spcAft>
              <a:buNone/>
            </a:pPr>
            <a:r>
              <a:rPr sz="1400" b="0" i="0">
                <a:solidFill>
                  <a:srgbClr val="2B2B2B"/>
                </a:solidFill>
                <a:latin typeface="Arial"/>
              </a:rPr>
              <a:t>body-relative</a:t>
            </a:r>
          </a:p>
          <a:p>
            <a:pPr marL="201168" indent="-201168">
              <a:spcAft>
                <a:spcPts val="532"/>
              </a:spcAft>
              <a:buClr>
                <a:srgbClr val="00943A"/>
              </a:buClr>
              <a:buFont typeface="Arial"/>
              <a:buChar char="•"/>
            </a:pPr>
            <a:r>
              <a:rPr sz="1400" b="1" i="0">
                <a:solidFill>
                  <a:srgbClr val="2B2B2B"/>
                </a:solidFill>
                <a:latin typeface="Arial"/>
              </a:rPr>
              <a:t>Right = Push-to-Talk</a:t>
            </a:r>
            <a:r>
              <a:rPr sz="1400" b="0" i="0">
                <a:solidFill>
                  <a:srgbClr val="2B2B2B"/>
                </a:solidFill>
                <a:latin typeface="Arial"/>
              </a:rPr>
              <a:t> (also the "yes" confirm)</a:t>
            </a:r>
          </a:p>
          <a:p>
            <a:pPr marL="201168" indent="-201168">
              <a:spcAft>
                <a:spcPts val="532"/>
              </a:spcAft>
              <a:buClr>
                <a:srgbClr val="00943A"/>
              </a:buClr>
              <a:buFont typeface="Arial"/>
              <a:buChar char="•"/>
            </a:pPr>
            <a:r>
              <a:rPr sz="1400" b="1" i="0">
                <a:solidFill>
                  <a:srgbClr val="2B2B2B"/>
                </a:solidFill>
                <a:latin typeface="Arial"/>
              </a:rPr>
              <a:t>Front = Emergency SOS</a:t>
            </a:r>
            <a:r>
              <a:rPr sz="1400" b="0" i="0">
                <a:solidFill>
                  <a:srgbClr val="2B2B2B"/>
                </a:solidFill>
                <a:latin typeface="Arial"/>
              </a:rPr>
              <a:t> (GPIO 25)</a:t>
            </a:r>
          </a:p>
          <a:p>
            <a:pPr marL="201168" indent="-201168">
              <a:spcAft>
                <a:spcPts val="532"/>
              </a:spcAft>
              <a:buClr>
                <a:srgbClr val="00943A"/>
              </a:buClr>
              <a:buFont typeface="Arial"/>
              <a:buChar char="•"/>
            </a:pPr>
            <a:r>
              <a:rPr sz="1400" b="1" i="0">
                <a:solidFill>
                  <a:srgbClr val="2B2B2B"/>
                </a:solidFill>
                <a:latin typeface="Arial"/>
              </a:rPr>
              <a:t>Left = Repeat / Stop</a:t>
            </a:r>
            <a:r>
              <a:rPr sz="1400" b="0" i="0">
                <a:solidFill>
                  <a:srgbClr val="2B2B2B"/>
                </a:solidFill>
                <a:latin typeface="Arial"/>
              </a:rPr>
              <a:t> (also "no")</a:t>
            </a:r>
          </a:p>
        </p:txBody>
      </p:sp>
      <p:sp>
        <p:nvSpPr>
          <p:cNvPr id="11" name="Card 4 card"/>
          <p:cNvSpPr/>
          <p:nvPr/>
        </p:nvSpPr>
        <p:spPr>
          <a:xfrm>
            <a:off x="6643116" y="3808476"/>
            <a:ext cx="5106924" cy="2180844"/>
          </a:xfrm>
          <a:prstGeom prst="roundRect">
            <a:avLst>
              <a:gd name="adj" fmla="val 7547"/>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Card 4 text"/>
          <p:cNvSpPr txBox="1"/>
          <p:nvPr/>
        </p:nvSpPr>
        <p:spPr>
          <a:xfrm>
            <a:off x="6825996" y="3991356"/>
            <a:ext cx="4741164" cy="1815084"/>
          </a:xfrm>
          <a:prstGeom prst="rect">
            <a:avLst/>
          </a:prstGeom>
          <a:noFill/>
        </p:spPr>
        <p:txBody>
          <a:bodyPr wrap="square" lIns="0" rIns="0" tIns="0" bIns="0" anchor="t">
            <a:noAutofit/>
          </a:bodyPr>
          <a:lstStyle/>
          <a:p>
            <a:pPr>
              <a:spcAft>
                <a:spcPts val="630"/>
              </a:spcAft>
              <a:buNone/>
            </a:pPr>
            <a:r>
              <a:rPr sz="1600" b="1" i="0">
                <a:solidFill>
                  <a:srgbClr val="006B2A"/>
                </a:solidFill>
                <a:latin typeface="Arial"/>
              </a:rPr>
              <a:t>Audio: USB open-ear headset</a:t>
            </a:r>
          </a:p>
          <a:p>
            <a:pPr>
              <a:spcAft>
                <a:spcPts val="532"/>
              </a:spcAft>
              <a:buNone/>
            </a:pPr>
            <a:r>
              <a:rPr sz="1400" b="0" i="0">
                <a:solidFill>
                  <a:srgbClr val="2B2B2B"/>
                </a:solidFill>
                <a:latin typeface="Arial"/>
              </a:rPr>
              <a:t>with mic and speaker</a:t>
            </a:r>
          </a:p>
          <a:p>
            <a:pPr marL="201168" indent="-201168">
              <a:spcAft>
                <a:spcPts val="532"/>
              </a:spcAft>
              <a:buClr>
                <a:srgbClr val="00943A"/>
              </a:buClr>
              <a:buFont typeface="Arial"/>
              <a:buChar char="•"/>
            </a:pPr>
            <a:r>
              <a:rPr sz="1400" b="0" i="0">
                <a:solidFill>
                  <a:srgbClr val="2B2B2B"/>
                </a:solidFill>
                <a:latin typeface="Arial"/>
              </a:rPr>
              <a:t>Pi 5 has </a:t>
            </a:r>
            <a:r>
              <a:rPr sz="1400" b="1" i="0">
                <a:solidFill>
                  <a:srgbClr val="2B2B2B"/>
                </a:solidFill>
                <a:latin typeface="Arial"/>
              </a:rPr>
              <a:t>no 3.5 mm jack</a:t>
            </a:r>
          </a:p>
          <a:p>
            <a:pPr marL="201168" indent="-201168">
              <a:spcAft>
                <a:spcPts val="532"/>
              </a:spcAft>
              <a:buClr>
                <a:srgbClr val="00943A"/>
              </a:buClr>
              <a:buFont typeface="Arial"/>
              <a:buChar char="•"/>
            </a:pPr>
            <a:r>
              <a:rPr sz="1400" b="1" i="0">
                <a:solidFill>
                  <a:srgbClr val="2B2B2B"/>
                </a:solidFill>
                <a:latin typeface="Arial"/>
              </a:rPr>
              <a:t>Open-ear</a:t>
            </a:r>
            <a:r>
              <a:rPr sz="1400" b="0" i="0">
                <a:solidFill>
                  <a:srgbClr val="2B2B2B"/>
                </a:solidFill>
                <a:latin typeface="Arial"/>
              </a:rPr>
              <a:t> keeps the user's </a:t>
            </a:r>
            <a:r>
              <a:rPr sz="1400" b="1" i="0">
                <a:solidFill>
                  <a:srgbClr val="2B2B2B"/>
                </a:solidFill>
                <a:latin typeface="Arial"/>
              </a:rPr>
              <a:t>ambient hearing</a:t>
            </a:r>
            <a:r>
              <a:rPr sz="1400" b="0" i="0">
                <a:solidFill>
                  <a:srgbClr val="2B2B2B"/>
                </a:solidFill>
                <a:latin typeface="Arial"/>
              </a:rPr>
              <a:t> for traffic</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tion kicker"/>
          <p:cNvSpPr txBox="1"/>
          <p:nvPr/>
        </p:nvSpPr>
        <p:spPr>
          <a:xfrm>
            <a:off x="1280160" y="292608"/>
            <a:ext cx="8686800" cy="256032"/>
          </a:xfrm>
          <a:prstGeom prst="rect">
            <a:avLst/>
          </a:prstGeom>
          <a:noFill/>
        </p:spPr>
        <p:txBody>
          <a:bodyPr wrap="square" lIns="0" rIns="0" tIns="0" bIns="0" anchor="t">
            <a:noAutofit/>
          </a:bodyPr>
          <a:lstStyle/>
          <a:p>
            <a:r>
              <a:rPr sz="1100" b="1" i="0">
                <a:solidFill>
                  <a:srgbClr val="6B6B6B"/>
                </a:solidFill>
                <a:latin typeface="Arial"/>
              </a:rPr>
              <a:t>PROJECT DESCRIPTION &amp; HARDWARE ARCHITECTURE</a:t>
            </a:r>
          </a:p>
        </p:txBody>
      </p:sp>
      <p:sp>
        <p:nvSpPr>
          <p:cNvPr id="3" name="Title"/>
          <p:cNvSpPr txBox="1"/>
          <p:nvPr/>
        </p:nvSpPr>
        <p:spPr>
          <a:xfrm>
            <a:off x="1280160" y="502920"/>
            <a:ext cx="10469880" cy="731520"/>
          </a:xfrm>
          <a:prstGeom prst="rect">
            <a:avLst/>
          </a:prstGeom>
          <a:noFill/>
        </p:spPr>
        <p:txBody>
          <a:bodyPr wrap="square" lIns="0" rIns="0" tIns="0" bIns="0" anchor="ctr">
            <a:noAutofit/>
          </a:bodyPr>
          <a:lstStyle/>
          <a:p>
            <a:r>
              <a:rPr sz="3200" b="1" i="0">
                <a:solidFill>
                  <a:srgbClr val="00943A"/>
                </a:solidFill>
                <a:latin typeface="Arial"/>
              </a:rPr>
              <a:t>Ergonomic Split: Cane and Wearable Vest</a:t>
            </a:r>
          </a:p>
        </p:txBody>
      </p:sp>
      <p:sp>
        <p:nvSpPr>
          <p:cNvPr id="4" name="Slide number"/>
          <p:cNvSpPr txBox="1"/>
          <p:nvPr/>
        </p:nvSpPr>
        <p:spPr>
          <a:xfrm>
            <a:off x="1280160" y="6327648"/>
            <a:ext cx="2286000" cy="274320"/>
          </a:xfrm>
          <a:prstGeom prst="rect">
            <a:avLst/>
          </a:prstGeom>
          <a:noFill/>
        </p:spPr>
        <p:txBody>
          <a:bodyPr wrap="square" lIns="0" rIns="0" tIns="0" bIns="0" anchor="t">
            <a:noAutofit/>
          </a:bodyPr>
          <a:lstStyle/>
          <a:p>
            <a:r>
              <a:rPr sz="1000" b="0" i="0">
                <a:solidFill>
                  <a:srgbClr val="6B6B6B"/>
                </a:solidFill>
                <a:latin typeface="Arial"/>
              </a:rPr>
              <a:t>IndepenSense · 16</a:t>
            </a:r>
          </a:p>
        </p:txBody>
      </p:sp>
      <p:pic>
        <p:nvPicPr>
          <p:cNvPr id="5" name="Figure 1" descr="p29_X139.jpg"/>
          <p:cNvPicPr>
            <a:picLocks noChangeAspect="1"/>
          </p:cNvPicPr>
          <p:nvPr/>
        </p:nvPicPr>
        <p:blipFill>
          <a:blip r:embed="rId2"/>
          <a:stretch>
            <a:fillRect/>
          </a:stretch>
        </p:blipFill>
        <p:spPr>
          <a:xfrm>
            <a:off x="8183879" y="2475157"/>
            <a:ext cx="3566160" cy="2117997"/>
          </a:xfrm>
          <a:prstGeom prst="rect">
            <a:avLst/>
          </a:prstGeom>
          <a:ln w="9525">
            <a:solidFill>
              <a:srgbClr val="D9D9D9"/>
            </a:solidFill>
          </a:ln>
        </p:spPr>
      </p:pic>
      <p:sp>
        <p:nvSpPr>
          <p:cNvPr id="6" name="Figure 1 caption"/>
          <p:cNvSpPr txBox="1"/>
          <p:nvPr/>
        </p:nvSpPr>
        <p:spPr>
          <a:xfrm>
            <a:off x="8092440" y="4638874"/>
            <a:ext cx="3749039" cy="274320"/>
          </a:xfrm>
          <a:prstGeom prst="rect">
            <a:avLst/>
          </a:prstGeom>
          <a:noFill/>
        </p:spPr>
        <p:txBody>
          <a:bodyPr wrap="square" lIns="0" rIns="0" tIns="0" bIns="0" anchor="t">
            <a:noAutofit/>
          </a:bodyPr>
          <a:lstStyle/>
          <a:p>
            <a:pPr algn="ctr"/>
            <a:r>
              <a:rPr sz="1000" b="0" i="1">
                <a:solidFill>
                  <a:srgbClr val="6B6B6B"/>
                </a:solidFill>
                <a:latin typeface="Arial"/>
              </a:rPr>
              <a:t>Cane–vest split with tube harness</a:t>
            </a:r>
          </a:p>
        </p:txBody>
      </p:sp>
      <p:sp>
        <p:nvSpPr>
          <p:cNvPr id="7" name="Field 1 card"/>
          <p:cNvSpPr/>
          <p:nvPr/>
        </p:nvSpPr>
        <p:spPr>
          <a:xfrm>
            <a:off x="1280160" y="1371600"/>
            <a:ext cx="2757821" cy="4617720"/>
          </a:xfrm>
          <a:prstGeom prst="roundRect">
            <a:avLst>
              <a:gd name="adj" fmla="val 5968"/>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Field 1 text"/>
          <p:cNvSpPr txBox="1"/>
          <p:nvPr/>
        </p:nvSpPr>
        <p:spPr>
          <a:xfrm>
            <a:off x="1463039" y="1554480"/>
            <a:ext cx="2392061" cy="4251959"/>
          </a:xfrm>
          <a:prstGeom prst="rect">
            <a:avLst/>
          </a:prstGeom>
          <a:noFill/>
        </p:spPr>
        <p:txBody>
          <a:bodyPr wrap="square" lIns="0" rIns="0" tIns="0" bIns="0" anchor="t">
            <a:noAutofit/>
          </a:bodyPr>
          <a:lstStyle/>
          <a:p>
            <a:pPr>
              <a:spcAft>
                <a:spcPts val="630"/>
              </a:spcAft>
              <a:buNone/>
            </a:pPr>
            <a:r>
              <a:rPr sz="1600" b="1" i="0">
                <a:solidFill>
                  <a:srgbClr val="006B2A"/>
                </a:solidFill>
                <a:latin typeface="Arial"/>
              </a:rPr>
              <a:t>Cane assembly (kept light)</a:t>
            </a:r>
          </a:p>
          <a:p>
            <a:pPr marL="201168" indent="-201168">
              <a:spcAft>
                <a:spcPts val="532"/>
              </a:spcAft>
              <a:buClr>
                <a:srgbClr val="00943A"/>
              </a:buClr>
              <a:buFont typeface="Arial"/>
              <a:buChar char="•"/>
            </a:pPr>
            <a:r>
              <a:rPr sz="1400" b="1" i="0">
                <a:solidFill>
                  <a:srgbClr val="2B2B2B"/>
                </a:solidFill>
                <a:latin typeface="Arial"/>
              </a:rPr>
              <a:t>2× DYP-A22 ultrasonic</a:t>
            </a:r>
            <a:r>
              <a:rPr sz="1400" b="0" i="0">
                <a:solidFill>
                  <a:srgbClr val="2B2B2B"/>
                </a:solidFill>
                <a:latin typeface="Arial"/>
              </a:rPr>
              <a:t> sensors, which must face the path</a:t>
            </a:r>
          </a:p>
          <a:p>
            <a:pPr marL="201168" indent="-201168">
              <a:spcAft>
                <a:spcPts val="532"/>
              </a:spcAft>
              <a:buClr>
                <a:srgbClr val="00943A"/>
              </a:buClr>
              <a:buFont typeface="Arial"/>
              <a:buChar char="•"/>
            </a:pPr>
            <a:r>
              <a:rPr sz="1400" b="1" i="0">
                <a:solidFill>
                  <a:srgbClr val="2B2B2B"/>
                </a:solidFill>
                <a:latin typeface="Arial"/>
              </a:rPr>
              <a:t>Pi Camera Module 3</a:t>
            </a:r>
            <a:r>
              <a:rPr sz="1400" b="0" i="0">
                <a:solidFill>
                  <a:srgbClr val="2B2B2B"/>
                </a:solidFill>
                <a:latin typeface="Arial"/>
              </a:rPr>
              <a:t>, which the user can aim by angling the cane</a:t>
            </a:r>
          </a:p>
          <a:p>
            <a:pPr marL="201168" indent="-201168">
              <a:spcAft>
                <a:spcPts val="532"/>
              </a:spcAft>
              <a:buClr>
                <a:srgbClr val="00943A"/>
              </a:buClr>
              <a:buFont typeface="Arial"/>
              <a:buChar char="•"/>
            </a:pPr>
            <a:r>
              <a:rPr sz="1400" b="1" i="0">
                <a:solidFill>
                  <a:srgbClr val="2B2B2B"/>
                </a:solidFill>
                <a:latin typeface="Arial"/>
              </a:rPr>
              <a:t>3 vibration motors</a:t>
            </a:r>
            <a:r>
              <a:rPr sz="1400" b="0" i="0">
                <a:solidFill>
                  <a:srgbClr val="2B2B2B"/>
                </a:solidFill>
                <a:latin typeface="Arial"/>
              </a:rPr>
              <a:t>, </a:t>
            </a:r>
            <a:r>
              <a:rPr sz="1400" b="1" i="0">
                <a:solidFill>
                  <a:srgbClr val="2B2B2B"/>
                </a:solidFill>
                <a:latin typeface="Arial"/>
              </a:rPr>
              <a:t>buzzer</a:t>
            </a:r>
            <a:r>
              <a:rPr sz="1400" b="0" i="0">
                <a:solidFill>
                  <a:srgbClr val="2B2B2B"/>
                </a:solidFill>
                <a:latin typeface="Arial"/>
              </a:rPr>
              <a:t> and </a:t>
            </a:r>
            <a:r>
              <a:rPr sz="1400" b="1" i="0">
                <a:solidFill>
                  <a:srgbClr val="2B2B2B"/>
                </a:solidFill>
                <a:latin typeface="Arial"/>
              </a:rPr>
              <a:t>3 buttons</a:t>
            </a:r>
            <a:r>
              <a:rPr sz="1400" b="0" i="0">
                <a:solidFill>
                  <a:srgbClr val="2B2B2B"/>
                </a:solidFill>
                <a:latin typeface="Arial"/>
              </a:rPr>
              <a:t> in a </a:t>
            </a:r>
            <a:r>
              <a:rPr sz="1400" b="1" i="0">
                <a:solidFill>
                  <a:srgbClr val="2B2B2B"/>
                </a:solidFill>
                <a:latin typeface="Arial"/>
              </a:rPr>
              <a:t>3D-printed handle casing</a:t>
            </a:r>
          </a:p>
          <a:p>
            <a:pPr marL="201168" indent="-201168">
              <a:spcAft>
                <a:spcPts val="532"/>
              </a:spcAft>
              <a:buClr>
                <a:srgbClr val="00943A"/>
              </a:buClr>
              <a:buFont typeface="Arial"/>
              <a:buChar char="•"/>
            </a:pPr>
            <a:r>
              <a:rPr sz="1400" b="1" i="0">
                <a:solidFill>
                  <a:srgbClr val="2B2B2B"/>
                </a:solidFill>
                <a:latin typeface="Arial"/>
              </a:rPr>
              <a:t>Adjustable, foldable aluminium cane</a:t>
            </a:r>
            <a:r>
              <a:rPr sz="1400" b="0" i="0">
                <a:solidFill>
                  <a:srgbClr val="2B2B2B"/>
                </a:solidFill>
                <a:latin typeface="Arial"/>
              </a:rPr>
              <a:t> (₱165)</a:t>
            </a:r>
          </a:p>
        </p:txBody>
      </p:sp>
      <p:sp>
        <p:nvSpPr>
          <p:cNvPr id="9" name="Field 2 card"/>
          <p:cNvSpPr/>
          <p:nvPr/>
        </p:nvSpPr>
        <p:spPr>
          <a:xfrm>
            <a:off x="4294013" y="1371600"/>
            <a:ext cx="3633834" cy="4617720"/>
          </a:xfrm>
          <a:prstGeom prst="roundRect">
            <a:avLst>
              <a:gd name="adj" fmla="val 4529"/>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Field 2 text"/>
          <p:cNvSpPr txBox="1"/>
          <p:nvPr/>
        </p:nvSpPr>
        <p:spPr>
          <a:xfrm>
            <a:off x="4476893" y="1554480"/>
            <a:ext cx="3268074" cy="4251959"/>
          </a:xfrm>
          <a:prstGeom prst="rect">
            <a:avLst/>
          </a:prstGeom>
          <a:noFill/>
        </p:spPr>
        <p:txBody>
          <a:bodyPr wrap="square" lIns="0" rIns="0" tIns="0" bIns="0" anchor="t">
            <a:noAutofit/>
          </a:bodyPr>
          <a:lstStyle/>
          <a:p>
            <a:pPr>
              <a:spcAft>
                <a:spcPts val="630"/>
              </a:spcAft>
              <a:buNone/>
            </a:pPr>
            <a:r>
              <a:rPr sz="1600" b="1" i="0">
                <a:solidFill>
                  <a:srgbClr val="006B2A"/>
                </a:solidFill>
                <a:latin typeface="Arial"/>
              </a:rPr>
              <a:t>Vest enclosure (carries the weight)</a:t>
            </a:r>
          </a:p>
          <a:p>
            <a:pPr marL="201168" indent="-201168">
              <a:spcAft>
                <a:spcPts val="532"/>
              </a:spcAft>
              <a:buClr>
                <a:srgbClr val="00943A"/>
              </a:buClr>
              <a:buFont typeface="Arial"/>
              <a:buChar char="•"/>
            </a:pPr>
            <a:r>
              <a:rPr sz="1400" b="1" i="0">
                <a:solidFill>
                  <a:srgbClr val="2B2B2B"/>
                </a:solidFill>
                <a:latin typeface="Arial"/>
              </a:rPr>
              <a:t>Raspberry Pi 5 + Active Cooler</a:t>
            </a:r>
            <a:r>
              <a:rPr sz="1400" b="0" i="0">
                <a:solidFill>
                  <a:srgbClr val="2B2B2B"/>
                </a:solidFill>
                <a:latin typeface="Arial"/>
              </a:rPr>
              <a:t> in a </a:t>
            </a:r>
            <a:r>
              <a:rPr sz="1400" b="1" i="0">
                <a:solidFill>
                  <a:srgbClr val="2B2B2B"/>
                </a:solidFill>
                <a:latin typeface="Arial"/>
              </a:rPr>
              <a:t>3D-printed case</a:t>
            </a:r>
          </a:p>
          <a:p>
            <a:pPr marL="201168" indent="-201168">
              <a:spcAft>
                <a:spcPts val="532"/>
              </a:spcAft>
              <a:buClr>
                <a:srgbClr val="00943A"/>
              </a:buClr>
              <a:buFont typeface="Arial"/>
              <a:buChar char="•"/>
            </a:pPr>
            <a:r>
              <a:rPr sz="1400" b="1" i="0">
                <a:solidFill>
                  <a:srgbClr val="2B2B2B"/>
                </a:solidFill>
                <a:latin typeface="Arial"/>
              </a:rPr>
              <a:t>Waveshare UPS HAT (E) + 4× 21700</a:t>
            </a:r>
            <a:r>
              <a:rPr sz="1400" b="0" i="0">
                <a:solidFill>
                  <a:srgbClr val="2B2B2B"/>
                </a:solidFill>
                <a:latin typeface="Arial"/>
              </a:rPr>
              <a:t> cells, the heaviest single item</a:t>
            </a:r>
          </a:p>
          <a:p>
            <a:pPr marL="201168" indent="-201168">
              <a:spcAft>
                <a:spcPts val="532"/>
              </a:spcAft>
              <a:buClr>
                <a:srgbClr val="00943A"/>
              </a:buClr>
              <a:buFont typeface="Arial"/>
              <a:buChar char="•"/>
            </a:pPr>
            <a:r>
              <a:rPr sz="1400" b="1" i="0">
                <a:solidFill>
                  <a:srgbClr val="2B2B2B"/>
                </a:solidFill>
                <a:latin typeface="Arial"/>
              </a:rPr>
              <a:t>SIM7600G-H</a:t>
            </a:r>
            <a:r>
              <a:rPr sz="1400" b="0" i="0">
                <a:solidFill>
                  <a:srgbClr val="2B2B2B"/>
                </a:solidFill>
                <a:latin typeface="Arial"/>
              </a:rPr>
              <a:t>, </a:t>
            </a:r>
            <a:r>
              <a:rPr sz="1400" b="1" i="0">
                <a:solidFill>
                  <a:srgbClr val="2B2B2B"/>
                </a:solidFill>
                <a:latin typeface="Arial"/>
              </a:rPr>
              <a:t>MPU-6050</a:t>
            </a:r>
            <a:r>
              <a:rPr sz="1400" b="0" i="0">
                <a:solidFill>
                  <a:srgbClr val="2B2B2B"/>
                </a:solidFill>
                <a:latin typeface="Arial"/>
              </a:rPr>
              <a:t>, </a:t>
            </a:r>
            <a:r>
              <a:rPr sz="1400" b="1" i="0">
                <a:solidFill>
                  <a:srgbClr val="2B2B2B"/>
                </a:solidFill>
                <a:latin typeface="Arial"/>
              </a:rPr>
              <a:t>QMC5883P</a:t>
            </a:r>
            <a:r>
              <a:rPr sz="1400" b="0" i="0">
                <a:solidFill>
                  <a:srgbClr val="2B2B2B"/>
                </a:solidFill>
                <a:latin typeface="Arial"/>
              </a:rPr>
              <a:t>, headset interface</a:t>
            </a:r>
          </a:p>
          <a:p>
            <a:pPr marL="201168" indent="-201168">
              <a:spcAft>
                <a:spcPts val="532"/>
              </a:spcAft>
              <a:buClr>
                <a:srgbClr val="00943A"/>
              </a:buClr>
              <a:buFont typeface="Arial"/>
              <a:buChar char="•"/>
            </a:pPr>
            <a:r>
              <a:rPr sz="1400" b="1" i="0">
                <a:solidFill>
                  <a:srgbClr val="2B2B2B"/>
                </a:solidFill>
                <a:latin typeface="Arial"/>
              </a:rPr>
              <a:t>High-visibility reflective vest</a:t>
            </a:r>
            <a:r>
              <a:rPr sz="1400" b="0" i="0">
                <a:solidFill>
                  <a:srgbClr val="2B2B2B"/>
                </a:solidFill>
                <a:latin typeface="Arial"/>
              </a:rPr>
              <a:t> for night safety (₱358)</a:t>
            </a:r>
          </a:p>
          <a:p>
            <a:pPr marL="201168" indent="-201168">
              <a:spcAft>
                <a:spcPts val="532"/>
              </a:spcAft>
              <a:buClr>
                <a:srgbClr val="00943A"/>
              </a:buClr>
              <a:buFont typeface="Arial"/>
              <a:buChar char="•"/>
            </a:pPr>
            <a:r>
              <a:rPr sz="1400" b="1" i="0">
                <a:solidFill>
                  <a:srgbClr val="2B2B2B"/>
                </a:solidFill>
                <a:latin typeface="Arial"/>
              </a:rPr>
              <a:t>Tube-like harness</a:t>
            </a:r>
            <a:r>
              <a:rPr sz="1400" b="0" i="0">
                <a:solidFill>
                  <a:srgbClr val="2B2B2B"/>
                </a:solidFill>
                <a:latin typeface="Arial"/>
              </a:rPr>
              <a:t> hides the cane-to-vest wiring and doubles as an </a:t>
            </a:r>
            <a:r>
              <a:rPr sz="1400" b="1" i="0">
                <a:solidFill>
                  <a:srgbClr val="2B2B2B"/>
                </a:solidFill>
                <a:latin typeface="Arial"/>
              </a:rPr>
              <a:t>anti-loss tether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tion kicker"/>
          <p:cNvSpPr txBox="1"/>
          <p:nvPr/>
        </p:nvSpPr>
        <p:spPr>
          <a:xfrm>
            <a:off x="1280160" y="292608"/>
            <a:ext cx="8686800" cy="256032"/>
          </a:xfrm>
          <a:prstGeom prst="rect">
            <a:avLst/>
          </a:prstGeom>
          <a:noFill/>
        </p:spPr>
        <p:txBody>
          <a:bodyPr wrap="square" lIns="0" rIns="0" tIns="0" bIns="0" anchor="t">
            <a:noAutofit/>
          </a:bodyPr>
          <a:lstStyle/>
          <a:p>
            <a:r>
              <a:rPr sz="1100" b="1" i="0">
                <a:solidFill>
                  <a:srgbClr val="6B6B6B"/>
                </a:solidFill>
                <a:latin typeface="Arial"/>
              </a:rPr>
              <a:t>PROJECT DESCRIPTION &amp; HARDWARE ARCHITECTURE</a:t>
            </a:r>
          </a:p>
        </p:txBody>
      </p:sp>
      <p:sp>
        <p:nvSpPr>
          <p:cNvPr id="3" name="Title"/>
          <p:cNvSpPr txBox="1"/>
          <p:nvPr/>
        </p:nvSpPr>
        <p:spPr>
          <a:xfrm>
            <a:off x="1280160" y="502920"/>
            <a:ext cx="10469880" cy="731520"/>
          </a:xfrm>
          <a:prstGeom prst="rect">
            <a:avLst/>
          </a:prstGeom>
          <a:noFill/>
        </p:spPr>
        <p:txBody>
          <a:bodyPr wrap="square" lIns="0" rIns="0" tIns="0" bIns="0" anchor="ctr">
            <a:noAutofit/>
          </a:bodyPr>
          <a:lstStyle/>
          <a:p>
            <a:r>
              <a:rPr sz="3200" b="1" i="0">
                <a:solidFill>
                  <a:srgbClr val="00943A"/>
                </a:solidFill>
                <a:latin typeface="Arial"/>
              </a:rPr>
              <a:t>Hardware Block Diagram: Four Subsystems</a:t>
            </a:r>
          </a:p>
        </p:txBody>
      </p:sp>
      <p:sp>
        <p:nvSpPr>
          <p:cNvPr id="4" name="Slide number"/>
          <p:cNvSpPr txBox="1"/>
          <p:nvPr/>
        </p:nvSpPr>
        <p:spPr>
          <a:xfrm>
            <a:off x="1280160" y="6327648"/>
            <a:ext cx="2286000" cy="274320"/>
          </a:xfrm>
          <a:prstGeom prst="rect">
            <a:avLst/>
          </a:prstGeom>
          <a:noFill/>
        </p:spPr>
        <p:txBody>
          <a:bodyPr wrap="square" lIns="0" rIns="0" tIns="0" bIns="0" anchor="t">
            <a:noAutofit/>
          </a:bodyPr>
          <a:lstStyle/>
          <a:p>
            <a:r>
              <a:rPr sz="1000" b="0" i="0">
                <a:solidFill>
                  <a:srgbClr val="6B6B6B"/>
                </a:solidFill>
                <a:latin typeface="Arial"/>
              </a:rPr>
              <a:t>IndepenSense · 17</a:t>
            </a:r>
          </a:p>
        </p:txBody>
      </p:sp>
      <p:pic>
        <p:nvPicPr>
          <p:cNvPr id="5" name="Figure 1" descr="p58_X224.png"/>
          <p:cNvPicPr>
            <a:picLocks noChangeAspect="1"/>
          </p:cNvPicPr>
          <p:nvPr/>
        </p:nvPicPr>
        <p:blipFill>
          <a:blip r:embed="rId2"/>
          <a:stretch>
            <a:fillRect/>
          </a:stretch>
        </p:blipFill>
        <p:spPr>
          <a:xfrm>
            <a:off x="8679897" y="1371600"/>
            <a:ext cx="3070142" cy="4325112"/>
          </a:xfrm>
          <a:prstGeom prst="rect">
            <a:avLst/>
          </a:prstGeom>
          <a:ln w="9525">
            <a:solidFill>
              <a:srgbClr val="D9D9D9"/>
            </a:solidFill>
          </a:ln>
        </p:spPr>
      </p:pic>
      <p:sp>
        <p:nvSpPr>
          <p:cNvPr id="6" name="Figure 1 caption"/>
          <p:cNvSpPr txBox="1"/>
          <p:nvPr/>
        </p:nvSpPr>
        <p:spPr>
          <a:xfrm>
            <a:off x="8588457" y="5742431"/>
            <a:ext cx="3253022" cy="274320"/>
          </a:xfrm>
          <a:prstGeom prst="rect">
            <a:avLst/>
          </a:prstGeom>
          <a:noFill/>
        </p:spPr>
        <p:txBody>
          <a:bodyPr wrap="square" lIns="0" rIns="0" tIns="0" bIns="0" anchor="t">
            <a:noAutofit/>
          </a:bodyPr>
          <a:lstStyle/>
          <a:p>
            <a:pPr algn="ctr"/>
            <a:r>
              <a:rPr sz="1000" b="0" i="1">
                <a:solidFill>
                  <a:srgbClr val="6B6B6B"/>
                </a:solidFill>
                <a:latin typeface="Arial"/>
              </a:rPr>
              <a:t>Prototype block diagram</a:t>
            </a:r>
          </a:p>
        </p:txBody>
      </p:sp>
      <p:sp>
        <p:nvSpPr>
          <p:cNvPr id="7" name="Field 1 card"/>
          <p:cNvSpPr/>
          <p:nvPr/>
        </p:nvSpPr>
        <p:spPr>
          <a:xfrm>
            <a:off x="1280160" y="1371600"/>
            <a:ext cx="3207325" cy="4617720"/>
          </a:xfrm>
          <a:prstGeom prst="roundRect">
            <a:avLst>
              <a:gd name="adj" fmla="val 5131"/>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Field 1 text"/>
          <p:cNvSpPr txBox="1"/>
          <p:nvPr/>
        </p:nvSpPr>
        <p:spPr>
          <a:xfrm>
            <a:off x="1463039" y="1554480"/>
            <a:ext cx="2841565" cy="4251959"/>
          </a:xfrm>
          <a:prstGeom prst="rect">
            <a:avLst/>
          </a:prstGeom>
          <a:noFill/>
        </p:spPr>
        <p:txBody>
          <a:bodyPr wrap="square" lIns="0" rIns="0" tIns="0" bIns="0" anchor="t">
            <a:noAutofit/>
          </a:bodyPr>
          <a:lstStyle/>
          <a:p>
            <a:pPr marL="201168" indent="-201168">
              <a:spcAft>
                <a:spcPts val="608"/>
              </a:spcAft>
              <a:buClr>
                <a:srgbClr val="00943A"/>
              </a:buClr>
              <a:buFont typeface="Arial"/>
              <a:buChar char="•"/>
            </a:pPr>
            <a:r>
              <a:rPr sz="1600" b="1" i="0">
                <a:solidFill>
                  <a:srgbClr val="2B2B2B"/>
                </a:solidFill>
                <a:latin typeface="Arial"/>
              </a:rPr>
              <a:t>① Cane perception &amp; feedback:</a:t>
            </a:r>
            <a:r>
              <a:rPr sz="1600" b="0" i="0">
                <a:solidFill>
                  <a:srgbClr val="2B2B2B"/>
                </a:solidFill>
                <a:latin typeface="Arial"/>
              </a:rPr>
              <a:t> ultrasonics, camera, buttons → motors, buzzer</a:t>
            </a:r>
          </a:p>
          <a:p>
            <a:pPr marL="201168" indent="-201168">
              <a:spcAft>
                <a:spcPts val="608"/>
              </a:spcAft>
              <a:buClr>
                <a:srgbClr val="00943A"/>
              </a:buClr>
              <a:buFont typeface="Arial"/>
              <a:buChar char="•"/>
            </a:pPr>
            <a:r>
              <a:rPr sz="1600" b="1" i="0">
                <a:solidFill>
                  <a:srgbClr val="2B2B2B"/>
                </a:solidFill>
                <a:latin typeface="Arial"/>
              </a:rPr>
              <a:t>② Vest core processing:</a:t>
            </a:r>
            <a:r>
              <a:rPr sz="1600" b="0" i="0">
                <a:solidFill>
                  <a:srgbClr val="2B2B2B"/>
                </a:solidFill>
                <a:latin typeface="Arial"/>
              </a:rPr>
              <a:t> </a:t>
            </a:r>
            <a:r>
              <a:rPr sz="1600" b="1" i="0">
                <a:solidFill>
                  <a:srgbClr val="2B2B2B"/>
                </a:solidFill>
                <a:latin typeface="Arial"/>
              </a:rPr>
              <a:t>Raspberry Pi 5</a:t>
            </a:r>
            <a:r>
              <a:rPr sz="1600" b="0" i="0">
                <a:solidFill>
                  <a:srgbClr val="2B2B2B"/>
                </a:solidFill>
                <a:latin typeface="Arial"/>
              </a:rPr>
              <a:t>, IMU, magnetometer, headset</a:t>
            </a:r>
          </a:p>
          <a:p>
            <a:pPr marL="201168" indent="-201168">
              <a:spcAft>
                <a:spcPts val="608"/>
              </a:spcAft>
              <a:buClr>
                <a:srgbClr val="00943A"/>
              </a:buClr>
              <a:buFont typeface="Arial"/>
              <a:buChar char="•"/>
            </a:pPr>
            <a:r>
              <a:rPr sz="1600" b="1" i="0">
                <a:solidFill>
                  <a:srgbClr val="2B2B2B"/>
                </a:solidFill>
                <a:latin typeface="Arial"/>
              </a:rPr>
              <a:t>③ Power management:</a:t>
            </a:r>
            <a:r>
              <a:rPr sz="1600" b="0" i="0">
                <a:solidFill>
                  <a:srgbClr val="2B2B2B"/>
                </a:solidFill>
                <a:latin typeface="Arial"/>
              </a:rPr>
              <a:t> </a:t>
            </a:r>
            <a:r>
              <a:rPr sz="1600" b="1" i="0">
                <a:solidFill>
                  <a:srgbClr val="2B2B2B"/>
                </a:solidFill>
                <a:latin typeface="Arial"/>
              </a:rPr>
              <a:t>UPS HAT (E)</a:t>
            </a:r>
            <a:r>
              <a:rPr sz="1600" b="0" i="0">
                <a:solidFill>
                  <a:srgbClr val="2B2B2B"/>
                </a:solidFill>
                <a:latin typeface="Arial"/>
              </a:rPr>
              <a:t>, </a:t>
            </a:r>
            <a:r>
              <a:rPr sz="1600" b="1" i="0">
                <a:solidFill>
                  <a:srgbClr val="2B2B2B"/>
                </a:solidFill>
                <a:latin typeface="Arial"/>
              </a:rPr>
              <a:t>4× 21700</a:t>
            </a:r>
            <a:r>
              <a:rPr sz="1600" b="0" i="0">
                <a:solidFill>
                  <a:srgbClr val="2B2B2B"/>
                </a:solidFill>
                <a:latin typeface="Arial"/>
              </a:rPr>
              <a:t>, unified </a:t>
            </a:r>
            <a:r>
              <a:rPr sz="1600" b="1" i="0">
                <a:solidFill>
                  <a:srgbClr val="2B2B2B"/>
                </a:solidFill>
                <a:latin typeface="Arial"/>
              </a:rPr>
              <a:t>5 V</a:t>
            </a:r>
            <a:r>
              <a:rPr sz="1600" b="0" i="0">
                <a:solidFill>
                  <a:srgbClr val="2B2B2B"/>
                </a:solidFill>
                <a:latin typeface="Arial"/>
              </a:rPr>
              <a:t> rail</a:t>
            </a:r>
          </a:p>
          <a:p>
            <a:pPr marL="201168" indent="-201168">
              <a:spcAft>
                <a:spcPts val="608"/>
              </a:spcAft>
              <a:buClr>
                <a:srgbClr val="00943A"/>
              </a:buClr>
              <a:buFont typeface="Arial"/>
              <a:buChar char="•"/>
            </a:pPr>
            <a:r>
              <a:rPr sz="1600" b="1" i="0">
                <a:solidFill>
                  <a:srgbClr val="2B2B2B"/>
                </a:solidFill>
                <a:latin typeface="Arial"/>
              </a:rPr>
              <a:t>④ External communication:</a:t>
            </a:r>
            <a:r>
              <a:rPr sz="1600" b="0" i="0">
                <a:solidFill>
                  <a:srgbClr val="2B2B2B"/>
                </a:solidFill>
                <a:latin typeface="Arial"/>
              </a:rPr>
              <a:t> </a:t>
            </a:r>
            <a:r>
              <a:rPr sz="1600" b="1" i="0">
                <a:solidFill>
                  <a:srgbClr val="2B2B2B"/>
                </a:solidFill>
                <a:latin typeface="Arial"/>
              </a:rPr>
              <a:t>SIM7600G-H</a:t>
            </a:r>
            <a:r>
              <a:rPr sz="1600" b="0" i="0">
                <a:solidFill>
                  <a:srgbClr val="2B2B2B"/>
                </a:solidFill>
                <a:latin typeface="Arial"/>
              </a:rPr>
              <a:t> to the backend and guardian app, plus SMS</a:t>
            </a:r>
          </a:p>
        </p:txBody>
      </p:sp>
      <p:sp>
        <p:nvSpPr>
          <p:cNvPr id="9" name="Field 2 card"/>
          <p:cNvSpPr/>
          <p:nvPr/>
        </p:nvSpPr>
        <p:spPr>
          <a:xfrm>
            <a:off x="4743517" y="1371600"/>
            <a:ext cx="3680347" cy="4617720"/>
          </a:xfrm>
          <a:prstGeom prst="roundRect">
            <a:avLst>
              <a:gd name="adj" fmla="val 4472"/>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Field 2 text"/>
          <p:cNvSpPr txBox="1"/>
          <p:nvPr/>
        </p:nvSpPr>
        <p:spPr>
          <a:xfrm>
            <a:off x="4926397" y="1554480"/>
            <a:ext cx="3314587" cy="4251959"/>
          </a:xfrm>
          <a:prstGeom prst="rect">
            <a:avLst/>
          </a:prstGeom>
          <a:noFill/>
        </p:spPr>
        <p:txBody>
          <a:bodyPr wrap="square" lIns="0" rIns="0" tIns="0" bIns="0" anchor="t">
            <a:noAutofit/>
          </a:bodyPr>
          <a:lstStyle/>
          <a:p>
            <a:pPr marL="201168" indent="-201168">
              <a:spcAft>
                <a:spcPts val="608"/>
              </a:spcAft>
              <a:buClr>
                <a:srgbClr val="00943A"/>
              </a:buClr>
              <a:buFont typeface="Arial"/>
              <a:buChar char="•"/>
            </a:pPr>
            <a:r>
              <a:rPr sz="1600" b="1" i="0">
                <a:solidFill>
                  <a:srgbClr val="2B2B2B"/>
                </a:solidFill>
                <a:latin typeface="Arial"/>
              </a:rPr>
              <a:t>Buses:</a:t>
            </a:r>
            <a:r>
              <a:rPr sz="1600" b="0" i="0">
                <a:solidFill>
                  <a:srgbClr val="2B2B2B"/>
                </a:solidFill>
                <a:latin typeface="Arial"/>
              </a:rPr>
              <a:t> </a:t>
            </a:r>
            <a:r>
              <a:rPr sz="1600" b="1" i="0">
                <a:solidFill>
                  <a:srgbClr val="2B2B2B"/>
                </a:solidFill>
                <a:latin typeface="Arial"/>
              </a:rPr>
              <a:t>UART</a:t>
            </a:r>
            <a:r>
              <a:rPr sz="1600" b="0" i="0">
                <a:solidFill>
                  <a:srgbClr val="2B2B2B"/>
                </a:solidFill>
                <a:latin typeface="Arial"/>
              </a:rPr>
              <a:t> (ultrasonics) · </a:t>
            </a:r>
            <a:r>
              <a:rPr sz="1600" b="1" i="0">
                <a:solidFill>
                  <a:srgbClr val="2B2B2B"/>
                </a:solidFill>
                <a:latin typeface="Arial"/>
              </a:rPr>
              <a:t>I²C</a:t>
            </a:r>
            <a:r>
              <a:rPr sz="1600" b="0" i="0">
                <a:solidFill>
                  <a:srgbClr val="2B2B2B"/>
                </a:solidFill>
                <a:latin typeface="Arial"/>
              </a:rPr>
              <a:t> (IMU, compass, UPS gauge) · </a:t>
            </a:r>
            <a:r>
              <a:rPr sz="1600" b="1" i="0">
                <a:solidFill>
                  <a:srgbClr val="2B2B2B"/>
                </a:solidFill>
                <a:latin typeface="Arial"/>
              </a:rPr>
              <a:t>CSI</a:t>
            </a:r>
            <a:r>
              <a:rPr sz="1600" b="0" i="0">
                <a:solidFill>
                  <a:srgbClr val="2B2B2B"/>
                </a:solidFill>
                <a:latin typeface="Arial"/>
              </a:rPr>
              <a:t> (camera) · </a:t>
            </a:r>
            <a:r>
              <a:rPr sz="1600" b="1" i="0">
                <a:solidFill>
                  <a:srgbClr val="2B2B2B"/>
                </a:solidFill>
                <a:latin typeface="Arial"/>
              </a:rPr>
              <a:t>USB</a:t>
            </a:r>
            <a:r>
              <a:rPr sz="1600" b="0" i="0">
                <a:solidFill>
                  <a:srgbClr val="2B2B2B"/>
                </a:solidFill>
                <a:latin typeface="Arial"/>
              </a:rPr>
              <a:t> (modem, headset) · </a:t>
            </a:r>
            <a:r>
              <a:rPr sz="1600" b="1" i="0">
                <a:solidFill>
                  <a:srgbClr val="2B2B2B"/>
                </a:solidFill>
                <a:latin typeface="Arial"/>
              </a:rPr>
              <a:t>GPIO</a:t>
            </a:r>
            <a:r>
              <a:rPr sz="1600" b="0" i="0">
                <a:solidFill>
                  <a:srgbClr val="2B2B2B"/>
                </a:solidFill>
                <a:latin typeface="Arial"/>
              </a:rPr>
              <a:t> (buttons, motors, buzzer)</a:t>
            </a:r>
          </a:p>
          <a:p>
            <a:pPr marL="201168" indent="-201168">
              <a:spcAft>
                <a:spcPts val="608"/>
              </a:spcAft>
              <a:buClr>
                <a:srgbClr val="00943A"/>
              </a:buClr>
              <a:buFont typeface="Arial"/>
              <a:buChar char="•"/>
            </a:pPr>
            <a:r>
              <a:rPr sz="1600" b="1" i="0">
                <a:solidFill>
                  <a:srgbClr val="2B2B2B"/>
                </a:solidFill>
                <a:latin typeface="Arial"/>
              </a:rPr>
              <a:t>Arrow legend:</a:t>
            </a:r>
            <a:r>
              <a:rPr sz="1600" b="0" i="0">
                <a:solidFill>
                  <a:srgbClr val="2B2B2B"/>
                </a:solidFill>
                <a:latin typeface="Arial"/>
              </a:rPr>
              <a:t> solid = data or control · thick = power · dotted = optional cloud path</a:t>
            </a:r>
          </a:p>
          <a:p>
            <a:pPr marL="201168" indent="-201168">
              <a:spcAft>
                <a:spcPts val="608"/>
              </a:spcAft>
              <a:buClr>
                <a:srgbClr val="00943A"/>
              </a:buClr>
              <a:buFont typeface="Arial"/>
              <a:buChar char="•"/>
            </a:pPr>
            <a:r>
              <a:rPr sz="1600" b="1" i="0">
                <a:solidFill>
                  <a:srgbClr val="2B2B2B"/>
                </a:solidFill>
                <a:latin typeface="Arial"/>
              </a:rPr>
              <a:t>Distributed but interconnected:</a:t>
            </a:r>
            <a:r>
              <a:rPr sz="1600" b="0" i="0">
                <a:solidFill>
                  <a:srgbClr val="2B2B2B"/>
                </a:solidFill>
                <a:latin typeface="Arial"/>
              </a:rPr>
              <a:t> sensing, processing, power and communication are each separable for testing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tion kicker"/>
          <p:cNvSpPr txBox="1"/>
          <p:nvPr/>
        </p:nvSpPr>
        <p:spPr>
          <a:xfrm>
            <a:off x="1280160" y="292608"/>
            <a:ext cx="8686800" cy="256032"/>
          </a:xfrm>
          <a:prstGeom prst="rect">
            <a:avLst/>
          </a:prstGeom>
          <a:noFill/>
        </p:spPr>
        <p:txBody>
          <a:bodyPr wrap="square" lIns="0" rIns="0" tIns="0" bIns="0" anchor="t">
            <a:noAutofit/>
          </a:bodyPr>
          <a:lstStyle/>
          <a:p>
            <a:r>
              <a:rPr sz="1100" b="1" i="0">
                <a:solidFill>
                  <a:srgbClr val="6B6B6B"/>
                </a:solidFill>
                <a:latin typeface="Arial"/>
              </a:rPr>
              <a:t>PROJECT DESCRIPTION &amp; HARDWARE ARCHITECTURE</a:t>
            </a:r>
          </a:p>
        </p:txBody>
      </p:sp>
      <p:sp>
        <p:nvSpPr>
          <p:cNvPr id="3" name="Title"/>
          <p:cNvSpPr txBox="1"/>
          <p:nvPr/>
        </p:nvSpPr>
        <p:spPr>
          <a:xfrm>
            <a:off x="1280160" y="502920"/>
            <a:ext cx="10469880" cy="731520"/>
          </a:xfrm>
          <a:prstGeom prst="rect">
            <a:avLst/>
          </a:prstGeom>
          <a:noFill/>
        </p:spPr>
        <p:txBody>
          <a:bodyPr wrap="square" lIns="0" rIns="0" tIns="0" bIns="0" anchor="ctr">
            <a:noAutofit/>
          </a:bodyPr>
          <a:lstStyle/>
          <a:p>
            <a:r>
              <a:rPr sz="3200" b="1" i="0">
                <a:solidFill>
                  <a:srgbClr val="00943A"/>
                </a:solidFill>
                <a:latin typeface="Arial"/>
              </a:rPr>
              <a:t>Bill of Materials and Prototype Cost</a:t>
            </a:r>
          </a:p>
        </p:txBody>
      </p:sp>
      <p:sp>
        <p:nvSpPr>
          <p:cNvPr id="4" name="Slide number"/>
          <p:cNvSpPr txBox="1"/>
          <p:nvPr/>
        </p:nvSpPr>
        <p:spPr>
          <a:xfrm>
            <a:off x="1280160" y="6327648"/>
            <a:ext cx="2286000" cy="274320"/>
          </a:xfrm>
          <a:prstGeom prst="rect">
            <a:avLst/>
          </a:prstGeom>
          <a:noFill/>
        </p:spPr>
        <p:txBody>
          <a:bodyPr wrap="square" lIns="0" rIns="0" tIns="0" bIns="0" anchor="t">
            <a:noAutofit/>
          </a:bodyPr>
          <a:lstStyle/>
          <a:p>
            <a:r>
              <a:rPr sz="1000" b="0" i="0">
                <a:solidFill>
                  <a:srgbClr val="6B6B6B"/>
                </a:solidFill>
                <a:latin typeface="Arial"/>
              </a:rPr>
              <a:t>IndepenSense · 18</a:t>
            </a:r>
          </a:p>
        </p:txBody>
      </p:sp>
      <p:graphicFrame>
        <p:nvGraphicFramePr>
          <p:cNvPr id="5" name="Results table"/>
          <p:cNvGraphicFramePr>
            <a:graphicFrameLocks noGrp="1"/>
          </p:cNvGraphicFramePr>
          <p:nvPr/>
        </p:nvGraphicFramePr>
        <p:xfrm>
          <a:off x="1280160" y="1371600"/>
          <a:ext cx="6922007" cy="4288536"/>
        </p:xfrm>
        <a:graphic>
          <a:graphicData uri="http://schemas.openxmlformats.org/drawingml/2006/table">
            <a:tbl>
              <a:tblPr firstRow="0" bandRow="0">
                <a:tableStyleId>{5C22544A-7EE6-4342-B048-85BDC9FD1C3A}</a:tableStyleId>
              </a:tblPr>
              <a:tblGrid>
                <a:gridCol w="4752423"/>
                <a:gridCol w="619881"/>
                <a:gridCol w="1549703"/>
              </a:tblGrid>
              <a:tr h="307848">
                <a:tc>
                  <a:txBody>
                    <a:bodyPr wrap="square"/>
                    <a:lstStyle/>
                    <a:p>
                      <a:r>
                        <a:rPr sz="1300" b="1" i="0">
                          <a:solidFill>
                            <a:srgbClr val="FFFFFF"/>
                          </a:solidFill>
                          <a:latin typeface="Arial"/>
                        </a:rPr>
                        <a:t>Item</a:t>
                      </a:r>
                    </a:p>
                  </a:txBody>
                  <a:tcPr marL="73152" marR="73152" marT="45720" marB="45720" anchor="ctr">
                    <a:solidFill>
                      <a:srgbClr val="00943A"/>
                    </a:solidFill>
                  </a:tcPr>
                </a:tc>
                <a:tc>
                  <a:txBody>
                    <a:bodyPr wrap="square"/>
                    <a:lstStyle/>
                    <a:p>
                      <a:r>
                        <a:rPr sz="1300" b="1" i="0">
                          <a:solidFill>
                            <a:srgbClr val="FFFFFF"/>
                          </a:solidFill>
                          <a:latin typeface="Arial"/>
                        </a:rPr>
                        <a:t>Qty</a:t>
                      </a:r>
                    </a:p>
                  </a:txBody>
                  <a:tcPr marL="73152" marR="73152" marT="45720" marB="45720" anchor="ctr">
                    <a:solidFill>
                      <a:srgbClr val="00943A"/>
                    </a:solidFill>
                  </a:tcPr>
                </a:tc>
                <a:tc>
                  <a:txBody>
                    <a:bodyPr wrap="square"/>
                    <a:lstStyle/>
                    <a:p>
                      <a:r>
                        <a:rPr sz="1300" b="1" i="0">
                          <a:solidFill>
                            <a:srgbClr val="FFFFFF"/>
                          </a:solidFill>
                          <a:latin typeface="Arial"/>
                        </a:rPr>
                        <a:t>Cost (₱)</a:t>
                      </a:r>
                    </a:p>
                  </a:txBody>
                  <a:tcPr marL="73152" marR="73152" marT="45720" marB="45720" anchor="ctr">
                    <a:solidFill>
                      <a:srgbClr val="00943A"/>
                    </a:solidFill>
                  </a:tcPr>
                </a:tc>
              </a:tr>
              <a:tr h="307848">
                <a:tc>
                  <a:txBody>
                    <a:bodyPr wrap="square"/>
                    <a:lstStyle/>
                    <a:p>
                      <a:r>
                        <a:rPr sz="1300" b="1" i="0">
                          <a:solidFill>
                            <a:srgbClr val="2B2B2B"/>
                          </a:solidFill>
                          <a:latin typeface="Arial"/>
                        </a:rPr>
                        <a:t>Raspberry Pi 5</a:t>
                      </a:r>
                    </a:p>
                  </a:txBody>
                  <a:tcPr marL="73152" marR="73152" marT="45720" marB="45720" anchor="ctr">
                    <a:solidFill>
                      <a:srgbClr val="FFFFFF"/>
                    </a:solidFill>
                  </a:tcPr>
                </a:tc>
                <a:tc>
                  <a:txBody>
                    <a:bodyPr wrap="square"/>
                    <a:lstStyle/>
                    <a:p>
                      <a:r>
                        <a:rPr sz="1300" b="0" i="0">
                          <a:solidFill>
                            <a:srgbClr val="2B2B2B"/>
                          </a:solidFill>
                          <a:latin typeface="Arial"/>
                        </a:rPr>
                        <a:t>1</a:t>
                      </a:r>
                    </a:p>
                  </a:txBody>
                  <a:tcPr marL="73152" marR="73152" marT="45720" marB="45720" anchor="ctr">
                    <a:solidFill>
                      <a:srgbClr val="FFFFFF"/>
                    </a:solidFill>
                  </a:tcPr>
                </a:tc>
                <a:tc>
                  <a:txBody>
                    <a:bodyPr wrap="square"/>
                    <a:lstStyle/>
                    <a:p>
                      <a:r>
                        <a:rPr sz="1300" b="1" i="0">
                          <a:solidFill>
                            <a:srgbClr val="2B2B2B"/>
                          </a:solidFill>
                          <a:latin typeface="Arial"/>
                        </a:rPr>
                        <a:t>8,000.00</a:t>
                      </a:r>
                    </a:p>
                  </a:txBody>
                  <a:tcPr marL="73152" marR="73152" marT="45720" marB="45720" anchor="ctr">
                    <a:solidFill>
                      <a:srgbClr val="FFFFFF"/>
                    </a:solidFill>
                  </a:tcPr>
                </a:tc>
              </a:tr>
              <a:tr h="307848">
                <a:tc>
                  <a:txBody>
                    <a:bodyPr wrap="square"/>
                    <a:lstStyle/>
                    <a:p>
                      <a:r>
                        <a:rPr sz="1300" b="1" i="0">
                          <a:solidFill>
                            <a:srgbClr val="2B2B2B"/>
                          </a:solidFill>
                          <a:latin typeface="Arial"/>
                        </a:rPr>
                        <a:t>SIM7600G-H</a:t>
                      </a:r>
                      <a:r>
                        <a:rPr sz="1300" b="0" i="0">
                          <a:solidFill>
                            <a:srgbClr val="2B2B2B"/>
                          </a:solidFill>
                          <a:latin typeface="Arial"/>
                        </a:rPr>
                        <a:t> GSM/LTE/GNSS</a:t>
                      </a:r>
                    </a:p>
                  </a:txBody>
                  <a:tcPr marL="73152" marR="73152" marT="45720" marB="45720" anchor="ctr">
                    <a:solidFill>
                      <a:srgbClr val="F6F8F6"/>
                    </a:solidFill>
                  </a:tcPr>
                </a:tc>
                <a:tc>
                  <a:txBody>
                    <a:bodyPr wrap="square"/>
                    <a:lstStyle/>
                    <a:p>
                      <a:r>
                        <a:rPr sz="1300" b="0" i="0">
                          <a:solidFill>
                            <a:srgbClr val="2B2B2B"/>
                          </a:solidFill>
                          <a:latin typeface="Arial"/>
                        </a:rPr>
                        <a:t>1</a:t>
                      </a:r>
                    </a:p>
                  </a:txBody>
                  <a:tcPr marL="73152" marR="73152" marT="45720" marB="45720" anchor="ctr">
                    <a:solidFill>
                      <a:srgbClr val="F6F8F6"/>
                    </a:solidFill>
                  </a:tcPr>
                </a:tc>
                <a:tc>
                  <a:txBody>
                    <a:bodyPr wrap="square"/>
                    <a:lstStyle/>
                    <a:p>
                      <a:r>
                        <a:rPr sz="1300" b="1" i="0">
                          <a:solidFill>
                            <a:srgbClr val="2B2B2B"/>
                          </a:solidFill>
                          <a:latin typeface="Arial"/>
                        </a:rPr>
                        <a:t>5,384.92</a:t>
                      </a:r>
                    </a:p>
                  </a:txBody>
                  <a:tcPr marL="73152" marR="73152" marT="45720" marB="45720" anchor="ctr">
                    <a:solidFill>
                      <a:srgbClr val="F6F8F6"/>
                    </a:solidFill>
                  </a:tcPr>
                </a:tc>
              </a:tr>
              <a:tr h="307848">
                <a:tc>
                  <a:txBody>
                    <a:bodyPr wrap="square"/>
                    <a:lstStyle/>
                    <a:p>
                      <a:r>
                        <a:rPr sz="1300" b="1" i="0">
                          <a:solidFill>
                            <a:srgbClr val="2B2B2B"/>
                          </a:solidFill>
                          <a:latin typeface="Arial"/>
                        </a:rPr>
                        <a:t>Pi Camera Module 3</a:t>
                      </a:r>
                    </a:p>
                  </a:txBody>
                  <a:tcPr marL="73152" marR="73152" marT="45720" marB="45720" anchor="ctr">
                    <a:solidFill>
                      <a:srgbClr val="FFFFFF"/>
                    </a:solidFill>
                  </a:tcPr>
                </a:tc>
                <a:tc>
                  <a:txBody>
                    <a:bodyPr wrap="square"/>
                    <a:lstStyle/>
                    <a:p>
                      <a:r>
                        <a:rPr sz="1300" b="0" i="0">
                          <a:solidFill>
                            <a:srgbClr val="2B2B2B"/>
                          </a:solidFill>
                          <a:latin typeface="Arial"/>
                        </a:rPr>
                        <a:t>1</a:t>
                      </a:r>
                    </a:p>
                  </a:txBody>
                  <a:tcPr marL="73152" marR="73152" marT="45720" marB="45720" anchor="ctr">
                    <a:solidFill>
                      <a:srgbClr val="FFFFFF"/>
                    </a:solidFill>
                  </a:tcPr>
                </a:tc>
                <a:tc>
                  <a:txBody>
                    <a:bodyPr wrap="square"/>
                    <a:lstStyle/>
                    <a:p>
                      <a:r>
                        <a:rPr sz="1300" b="1" i="0">
                          <a:solidFill>
                            <a:srgbClr val="2B2B2B"/>
                          </a:solidFill>
                          <a:latin typeface="Arial"/>
                        </a:rPr>
                        <a:t>1,731.18</a:t>
                      </a:r>
                    </a:p>
                  </a:txBody>
                  <a:tcPr marL="73152" marR="73152" marT="45720" marB="45720" anchor="ctr">
                    <a:solidFill>
                      <a:srgbClr val="FFFFFF"/>
                    </a:solidFill>
                  </a:tcPr>
                </a:tc>
              </a:tr>
              <a:tr h="307848">
                <a:tc>
                  <a:txBody>
                    <a:bodyPr wrap="square"/>
                    <a:lstStyle/>
                    <a:p>
                      <a:r>
                        <a:rPr sz="1300" b="1" i="0">
                          <a:solidFill>
                            <a:srgbClr val="2B2B2B"/>
                          </a:solidFill>
                          <a:latin typeface="Arial"/>
                        </a:rPr>
                        <a:t>DYP-A22</a:t>
                      </a:r>
                      <a:r>
                        <a:rPr sz="1300" b="0" i="0">
                          <a:solidFill>
                            <a:srgbClr val="2B2B2B"/>
                          </a:solidFill>
                          <a:latin typeface="Arial"/>
                        </a:rPr>
                        <a:t> Ultrasonic</a:t>
                      </a:r>
                    </a:p>
                  </a:txBody>
                  <a:tcPr marL="73152" marR="73152" marT="45720" marB="45720" anchor="ctr">
                    <a:solidFill>
                      <a:srgbClr val="F6F8F6"/>
                    </a:solidFill>
                  </a:tcPr>
                </a:tc>
                <a:tc>
                  <a:txBody>
                    <a:bodyPr wrap="square"/>
                    <a:lstStyle/>
                    <a:p>
                      <a:r>
                        <a:rPr sz="1300" b="0" i="0">
                          <a:solidFill>
                            <a:srgbClr val="2B2B2B"/>
                          </a:solidFill>
                          <a:latin typeface="Arial"/>
                        </a:rPr>
                        <a:t>2</a:t>
                      </a:r>
                    </a:p>
                  </a:txBody>
                  <a:tcPr marL="73152" marR="73152" marT="45720" marB="45720" anchor="ctr">
                    <a:solidFill>
                      <a:srgbClr val="F6F8F6"/>
                    </a:solidFill>
                  </a:tcPr>
                </a:tc>
                <a:tc>
                  <a:txBody>
                    <a:bodyPr wrap="square"/>
                    <a:lstStyle/>
                    <a:p>
                      <a:r>
                        <a:rPr sz="1300" b="1" i="0">
                          <a:solidFill>
                            <a:srgbClr val="2B2B2B"/>
                          </a:solidFill>
                          <a:latin typeface="Arial"/>
                        </a:rPr>
                        <a:t>1,718.78</a:t>
                      </a:r>
                    </a:p>
                  </a:txBody>
                  <a:tcPr marL="73152" marR="73152" marT="45720" marB="45720" anchor="ctr">
                    <a:solidFill>
                      <a:srgbClr val="F6F8F6"/>
                    </a:solidFill>
                  </a:tcPr>
                </a:tc>
              </a:tr>
              <a:tr h="307848">
                <a:tc>
                  <a:txBody>
                    <a:bodyPr wrap="square"/>
                    <a:lstStyle/>
                    <a:p>
                      <a:r>
                        <a:rPr sz="1300" b="1" i="0">
                          <a:solidFill>
                            <a:srgbClr val="2B2B2B"/>
                          </a:solidFill>
                          <a:latin typeface="Arial"/>
                        </a:rPr>
                        <a:t>21700 Li-ion</a:t>
                      </a:r>
                      <a:r>
                        <a:rPr sz="1300" b="0" i="0">
                          <a:solidFill>
                            <a:srgbClr val="2B2B2B"/>
                          </a:solidFill>
                          <a:latin typeface="Arial"/>
                        </a:rPr>
                        <a:t> cells</a:t>
                      </a:r>
                    </a:p>
                  </a:txBody>
                  <a:tcPr marL="73152" marR="73152" marT="45720" marB="45720" anchor="ctr">
                    <a:solidFill>
                      <a:srgbClr val="FFFFFF"/>
                    </a:solidFill>
                  </a:tcPr>
                </a:tc>
                <a:tc>
                  <a:txBody>
                    <a:bodyPr wrap="square"/>
                    <a:lstStyle/>
                    <a:p>
                      <a:r>
                        <a:rPr sz="1300" b="0" i="0">
                          <a:solidFill>
                            <a:srgbClr val="2B2B2B"/>
                          </a:solidFill>
                          <a:latin typeface="Arial"/>
                        </a:rPr>
                        <a:t>4</a:t>
                      </a:r>
                    </a:p>
                  </a:txBody>
                  <a:tcPr marL="73152" marR="73152" marT="45720" marB="45720" anchor="ctr">
                    <a:solidFill>
                      <a:srgbClr val="FFFFFF"/>
                    </a:solidFill>
                  </a:tcPr>
                </a:tc>
                <a:tc>
                  <a:txBody>
                    <a:bodyPr wrap="square"/>
                    <a:lstStyle/>
                    <a:p>
                      <a:r>
                        <a:rPr sz="1300" b="1" i="0">
                          <a:solidFill>
                            <a:srgbClr val="2B2B2B"/>
                          </a:solidFill>
                          <a:latin typeface="Arial"/>
                        </a:rPr>
                        <a:t>1,265.00</a:t>
                      </a:r>
                    </a:p>
                  </a:txBody>
                  <a:tcPr marL="73152" marR="73152" marT="45720" marB="45720" anchor="ctr">
                    <a:solidFill>
                      <a:srgbClr val="FFFFFF"/>
                    </a:solidFill>
                  </a:tcPr>
                </a:tc>
              </a:tr>
              <a:tr h="307848">
                <a:tc>
                  <a:txBody>
                    <a:bodyPr wrap="square"/>
                    <a:lstStyle/>
                    <a:p>
                      <a:r>
                        <a:rPr sz="1300" b="0" i="0">
                          <a:solidFill>
                            <a:srgbClr val="2B2B2B"/>
                          </a:solidFill>
                          <a:latin typeface="Arial"/>
                        </a:rPr>
                        <a:t>Active Cooler</a:t>
                      </a:r>
                    </a:p>
                  </a:txBody>
                  <a:tcPr marL="73152" marR="73152" marT="45720" marB="45720" anchor="ctr">
                    <a:solidFill>
                      <a:srgbClr val="F6F8F6"/>
                    </a:solidFill>
                  </a:tcPr>
                </a:tc>
                <a:tc>
                  <a:txBody>
                    <a:bodyPr wrap="square"/>
                    <a:lstStyle/>
                    <a:p>
                      <a:r>
                        <a:rPr sz="1300" b="0" i="0">
                          <a:solidFill>
                            <a:srgbClr val="2B2B2B"/>
                          </a:solidFill>
                          <a:latin typeface="Arial"/>
                        </a:rPr>
                        <a:t>1</a:t>
                      </a:r>
                    </a:p>
                  </a:txBody>
                  <a:tcPr marL="73152" marR="73152" marT="45720" marB="45720" anchor="ctr">
                    <a:solidFill>
                      <a:srgbClr val="F6F8F6"/>
                    </a:solidFill>
                  </a:tcPr>
                </a:tc>
                <a:tc>
                  <a:txBody>
                    <a:bodyPr wrap="square"/>
                    <a:lstStyle/>
                    <a:p>
                      <a:r>
                        <a:rPr sz="1300" b="0" i="0">
                          <a:solidFill>
                            <a:srgbClr val="2B2B2B"/>
                          </a:solidFill>
                          <a:latin typeface="Arial"/>
                        </a:rPr>
                        <a:t>582.00</a:t>
                      </a:r>
                    </a:p>
                  </a:txBody>
                  <a:tcPr marL="73152" marR="73152" marT="45720" marB="45720" anchor="ctr">
                    <a:solidFill>
                      <a:srgbClr val="F6F8F6"/>
                    </a:solidFill>
                  </a:tcPr>
                </a:tc>
              </a:tr>
              <a:tr h="307848">
                <a:tc>
                  <a:txBody>
                    <a:bodyPr wrap="square"/>
                    <a:lstStyle/>
                    <a:p>
                      <a:r>
                        <a:rPr sz="1300" b="0" i="0">
                          <a:solidFill>
                            <a:srgbClr val="2B2B2B"/>
                          </a:solidFill>
                          <a:latin typeface="Arial"/>
                        </a:rPr>
                        <a:t>Micro SD card</a:t>
                      </a:r>
                    </a:p>
                  </a:txBody>
                  <a:tcPr marL="73152" marR="73152" marT="45720" marB="45720" anchor="ctr">
                    <a:solidFill>
                      <a:srgbClr val="FFFFFF"/>
                    </a:solidFill>
                  </a:tcPr>
                </a:tc>
                <a:tc>
                  <a:txBody>
                    <a:bodyPr wrap="square"/>
                    <a:lstStyle/>
                    <a:p>
                      <a:r>
                        <a:rPr sz="1300" b="0" i="0">
                          <a:solidFill>
                            <a:srgbClr val="2B2B2B"/>
                          </a:solidFill>
                          <a:latin typeface="Arial"/>
                        </a:rPr>
                        <a:t>1</a:t>
                      </a:r>
                    </a:p>
                  </a:txBody>
                  <a:tcPr marL="73152" marR="73152" marT="45720" marB="45720" anchor="ctr">
                    <a:solidFill>
                      <a:srgbClr val="FFFFFF"/>
                    </a:solidFill>
                  </a:tcPr>
                </a:tc>
                <a:tc>
                  <a:txBody>
                    <a:bodyPr wrap="square"/>
                    <a:lstStyle/>
                    <a:p>
                      <a:r>
                        <a:rPr sz="1300" b="0" i="0">
                          <a:solidFill>
                            <a:srgbClr val="2B2B2B"/>
                          </a:solidFill>
                          <a:latin typeface="Arial"/>
                        </a:rPr>
                        <a:t>456.00</a:t>
                      </a:r>
                    </a:p>
                  </a:txBody>
                  <a:tcPr marL="73152" marR="73152" marT="45720" marB="45720" anchor="ctr">
                    <a:solidFill>
                      <a:srgbClr val="FFFFFF"/>
                    </a:solidFill>
                  </a:tcPr>
                </a:tc>
              </a:tr>
              <a:tr h="307848">
                <a:tc>
                  <a:txBody>
                    <a:bodyPr wrap="square"/>
                    <a:lstStyle/>
                    <a:p>
                      <a:r>
                        <a:rPr sz="1300" b="0" i="0">
                          <a:solidFill>
                            <a:srgbClr val="2B2B2B"/>
                          </a:solidFill>
                          <a:latin typeface="Arial"/>
                        </a:rPr>
                        <a:t>Earphone / headset</a:t>
                      </a:r>
                    </a:p>
                  </a:txBody>
                  <a:tcPr marL="73152" marR="73152" marT="45720" marB="45720" anchor="ctr">
                    <a:solidFill>
                      <a:srgbClr val="F6F8F6"/>
                    </a:solidFill>
                  </a:tcPr>
                </a:tc>
                <a:tc>
                  <a:txBody>
                    <a:bodyPr wrap="square"/>
                    <a:lstStyle/>
                    <a:p>
                      <a:r>
                        <a:rPr sz="1300" b="0" i="0">
                          <a:solidFill>
                            <a:srgbClr val="2B2B2B"/>
                          </a:solidFill>
                          <a:latin typeface="Arial"/>
                        </a:rPr>
                        <a:t>1</a:t>
                      </a:r>
                    </a:p>
                  </a:txBody>
                  <a:tcPr marL="73152" marR="73152" marT="45720" marB="45720" anchor="ctr">
                    <a:solidFill>
                      <a:srgbClr val="F6F8F6"/>
                    </a:solidFill>
                  </a:tcPr>
                </a:tc>
                <a:tc>
                  <a:txBody>
                    <a:bodyPr wrap="square"/>
                    <a:lstStyle/>
                    <a:p>
                      <a:r>
                        <a:rPr sz="1300" b="0" i="0">
                          <a:solidFill>
                            <a:srgbClr val="2B2B2B"/>
                          </a:solidFill>
                          <a:latin typeface="Arial"/>
                        </a:rPr>
                        <a:t>391.00</a:t>
                      </a:r>
                    </a:p>
                  </a:txBody>
                  <a:tcPr marL="73152" marR="73152" marT="45720" marB="45720" anchor="ctr">
                    <a:solidFill>
                      <a:srgbClr val="F6F8F6"/>
                    </a:solidFill>
                  </a:tcPr>
                </a:tc>
              </a:tr>
              <a:tr h="505968">
                <a:tc>
                  <a:txBody>
                    <a:bodyPr wrap="square"/>
                    <a:lstStyle/>
                    <a:p>
                      <a:r>
                        <a:rPr sz="1300" b="0" i="0">
                          <a:solidFill>
                            <a:srgbClr val="2B2B2B"/>
                          </a:solidFill>
                          <a:latin typeface="Arial"/>
                        </a:rPr>
                        <a:t>Reflective vest · cane</a:t>
                      </a:r>
                    </a:p>
                  </a:txBody>
                  <a:tcPr marL="73152" marR="73152" marT="45720" marB="45720" anchor="ctr">
                    <a:solidFill>
                      <a:srgbClr val="FFFFFF"/>
                    </a:solidFill>
                  </a:tcPr>
                </a:tc>
                <a:tc>
                  <a:txBody>
                    <a:bodyPr wrap="square"/>
                    <a:lstStyle/>
                    <a:p>
                      <a:r>
                        <a:rPr sz="1300" b="0" i="0">
                          <a:solidFill>
                            <a:srgbClr val="2B2B2B"/>
                          </a:solidFill>
                          <a:latin typeface="Arial"/>
                        </a:rPr>
                        <a:t>1 · 1</a:t>
                      </a:r>
                    </a:p>
                  </a:txBody>
                  <a:tcPr marL="73152" marR="73152" marT="45720" marB="45720" anchor="ctr">
                    <a:solidFill>
                      <a:srgbClr val="FFFFFF"/>
                    </a:solidFill>
                  </a:tcPr>
                </a:tc>
                <a:tc>
                  <a:txBody>
                    <a:bodyPr wrap="square"/>
                    <a:lstStyle/>
                    <a:p>
                      <a:r>
                        <a:rPr sz="1300" b="0" i="0">
                          <a:solidFill>
                            <a:srgbClr val="2B2B2B"/>
                          </a:solidFill>
                          <a:latin typeface="Arial"/>
                        </a:rPr>
                        <a:t>358.00 · 165.00</a:t>
                      </a:r>
                    </a:p>
                  </a:txBody>
                  <a:tcPr marL="73152" marR="73152" marT="45720" marB="45720" anchor="ctr">
                    <a:solidFill>
                      <a:srgbClr val="FFFFFF"/>
                    </a:solidFill>
                  </a:tcPr>
                </a:tc>
              </a:tr>
              <a:tr h="505968">
                <a:tc>
                  <a:txBody>
                    <a:bodyPr wrap="square"/>
                    <a:lstStyle/>
                    <a:p>
                      <a:r>
                        <a:rPr sz="1300" b="0" i="0">
                          <a:solidFill>
                            <a:srgbClr val="2B2B2B"/>
                          </a:solidFill>
                          <a:latin typeface="Arial"/>
                        </a:rPr>
                        <a:t>MPU-6050 · Magnetometer</a:t>
                      </a:r>
                    </a:p>
                  </a:txBody>
                  <a:tcPr marL="73152" marR="73152" marT="45720" marB="45720" anchor="ctr">
                    <a:solidFill>
                      <a:srgbClr val="F6F8F6"/>
                    </a:solidFill>
                  </a:tcPr>
                </a:tc>
                <a:tc>
                  <a:txBody>
                    <a:bodyPr wrap="square"/>
                    <a:lstStyle/>
                    <a:p>
                      <a:r>
                        <a:rPr sz="1300" b="0" i="0">
                          <a:solidFill>
                            <a:srgbClr val="2B2B2B"/>
                          </a:solidFill>
                          <a:latin typeface="Arial"/>
                        </a:rPr>
                        <a:t>1 · 1</a:t>
                      </a:r>
                    </a:p>
                  </a:txBody>
                  <a:tcPr marL="73152" marR="73152" marT="45720" marB="45720" anchor="ctr">
                    <a:solidFill>
                      <a:srgbClr val="F6F8F6"/>
                    </a:solidFill>
                  </a:tcPr>
                </a:tc>
                <a:tc>
                  <a:txBody>
                    <a:bodyPr wrap="square"/>
                    <a:lstStyle/>
                    <a:p>
                      <a:r>
                        <a:rPr sz="1300" b="0" i="0">
                          <a:solidFill>
                            <a:srgbClr val="2B2B2B"/>
                          </a:solidFill>
                          <a:latin typeface="Arial"/>
                        </a:rPr>
                        <a:t>183.00 · 125.00</a:t>
                      </a:r>
                    </a:p>
                  </a:txBody>
                  <a:tcPr marL="73152" marR="73152" marT="45720" marB="45720" anchor="ctr">
                    <a:solidFill>
                      <a:srgbClr val="F6F8F6"/>
                    </a:solidFill>
                  </a:tcPr>
                </a:tc>
              </a:tr>
              <a:tr h="505968">
                <a:tc>
                  <a:txBody>
                    <a:bodyPr wrap="square"/>
                    <a:lstStyle/>
                    <a:p>
                      <a:r>
                        <a:rPr sz="1300" b="0" i="0">
                          <a:solidFill>
                            <a:srgbClr val="2B2B2B"/>
                          </a:solidFill>
                          <a:latin typeface="Arial"/>
                        </a:rPr>
                        <a:t>Remaining parts (cables, adapters, buttons, motor, buzzer, u-blox, passives, PCB)</a:t>
                      </a:r>
                    </a:p>
                  </a:txBody>
                  <a:tcPr marL="73152" marR="73152" marT="45720" marB="45720" anchor="ctr">
                    <a:solidFill>
                      <a:srgbClr val="FFFFFF"/>
                    </a:solidFill>
                  </a:tcPr>
                </a:tc>
                <a:tc>
                  <a:txBody>
                    <a:bodyPr wrap="square"/>
                    <a:lstStyle/>
                    <a:p>
                      <a:r>
                        <a:rPr sz="1300" b="0" i="0">
                          <a:solidFill>
                            <a:srgbClr val="2B2B2B"/>
                          </a:solidFill>
                          <a:latin typeface="Arial"/>
                        </a:rPr>
                        <a:t>—</a:t>
                      </a:r>
                    </a:p>
                  </a:txBody>
                  <a:tcPr marL="73152" marR="73152" marT="45720" marB="45720" anchor="ctr">
                    <a:solidFill>
                      <a:srgbClr val="FFFFFF"/>
                    </a:solidFill>
                  </a:tcPr>
                </a:tc>
                <a:tc>
                  <a:txBody>
                    <a:bodyPr wrap="square"/>
                    <a:lstStyle/>
                    <a:p>
                      <a:r>
                        <a:rPr sz="1300" b="0" i="0">
                          <a:solidFill>
                            <a:srgbClr val="2B2B2B"/>
                          </a:solidFill>
                          <a:latin typeface="Arial"/>
                        </a:rPr>
                        <a:t>2,095.00</a:t>
                      </a:r>
                    </a:p>
                  </a:txBody>
                  <a:tcPr marL="73152" marR="73152" marT="45720" marB="45720" anchor="ctr">
                    <a:solidFill>
                      <a:srgbClr val="FFFFFF"/>
                    </a:solidFill>
                  </a:tcPr>
                </a:tc>
              </a:tr>
            </a:tbl>
          </a:graphicData>
        </a:graphic>
      </p:graphicFrame>
      <p:sp>
        <p:nvSpPr>
          <p:cNvPr id="6" name="Field callouts card"/>
          <p:cNvSpPr/>
          <p:nvPr/>
        </p:nvSpPr>
        <p:spPr>
          <a:xfrm>
            <a:off x="8458199" y="1371600"/>
            <a:ext cx="3291840" cy="4617720"/>
          </a:xfrm>
          <a:prstGeom prst="roundRect">
            <a:avLst>
              <a:gd name="adj" fmla="val 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Field callouts text"/>
          <p:cNvSpPr txBox="1"/>
          <p:nvPr/>
        </p:nvSpPr>
        <p:spPr>
          <a:xfrm>
            <a:off x="8641079" y="1554480"/>
            <a:ext cx="2926080" cy="4251959"/>
          </a:xfrm>
          <a:prstGeom prst="rect">
            <a:avLst/>
          </a:prstGeom>
          <a:noFill/>
        </p:spPr>
        <p:txBody>
          <a:bodyPr wrap="square" lIns="0" rIns="0" tIns="0" bIns="0" anchor="t">
            <a:noAutofit/>
          </a:bodyPr>
          <a:lstStyle/>
          <a:p>
            <a:pPr marL="201168" indent="-201168">
              <a:spcAft>
                <a:spcPts val="570"/>
              </a:spcAft>
              <a:buClr>
                <a:srgbClr val="00943A"/>
              </a:buClr>
              <a:buFont typeface="Arial"/>
              <a:buChar char="•"/>
            </a:pPr>
            <a:r>
              <a:rPr sz="1500" b="1" i="0">
                <a:solidFill>
                  <a:srgbClr val="2B2B2B"/>
                </a:solidFill>
                <a:latin typeface="Arial"/>
              </a:rPr>
              <a:t>TOTAL: ₱22,454.88</a:t>
            </a:r>
          </a:p>
          <a:p>
            <a:pPr marL="201168" indent="-201168">
              <a:spcAft>
                <a:spcPts val="570"/>
              </a:spcAft>
              <a:buClr>
                <a:srgbClr val="00943A"/>
              </a:buClr>
              <a:buFont typeface="Arial"/>
              <a:buChar char="•"/>
            </a:pPr>
            <a:r>
              <a:rPr sz="1500" b="1" i="0">
                <a:solidFill>
                  <a:srgbClr val="2B2B2B"/>
                </a:solidFill>
                <a:latin typeface="Arial"/>
              </a:rPr>
              <a:t>Compute + comms = ₱13,384.92 (≈ 60 %)</a:t>
            </a:r>
            <a:r>
              <a:rPr sz="1500" b="0" i="0">
                <a:solidFill>
                  <a:srgbClr val="2B2B2B"/>
                </a:solidFill>
                <a:latin typeface="Arial"/>
              </a:rPr>
              <a:t> of the build</a:t>
            </a:r>
          </a:p>
          <a:p>
            <a:pPr marL="201168" indent="-201168">
              <a:spcAft>
                <a:spcPts val="570"/>
              </a:spcAft>
              <a:buClr>
                <a:srgbClr val="00943A"/>
              </a:buClr>
              <a:buFont typeface="Arial"/>
              <a:buChar char="•"/>
            </a:pPr>
            <a:r>
              <a:rPr sz="1500" b="0" i="0">
                <a:solidFill>
                  <a:srgbClr val="2B2B2B"/>
                </a:solidFill>
                <a:latin typeface="Arial"/>
              </a:rPr>
              <a:t>Sensors and feedback parts are </a:t>
            </a:r>
            <a:r>
              <a:rPr sz="1500" b="1" i="0">
                <a:solidFill>
                  <a:srgbClr val="2B2B2B"/>
                </a:solidFill>
                <a:latin typeface="Arial"/>
              </a:rPr>
              <a:t>low-cost</a:t>
            </a:r>
            <a:r>
              <a:rPr sz="1500" b="0" i="0">
                <a:solidFill>
                  <a:srgbClr val="2B2B2B"/>
                </a:solidFill>
                <a:latin typeface="Arial"/>
              </a:rPr>
              <a:t> (₱45–₱1,719)</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tion kicker"/>
          <p:cNvSpPr txBox="1"/>
          <p:nvPr/>
        </p:nvSpPr>
        <p:spPr>
          <a:xfrm>
            <a:off x="1280160" y="292608"/>
            <a:ext cx="8686800" cy="256032"/>
          </a:xfrm>
          <a:prstGeom prst="rect">
            <a:avLst/>
          </a:prstGeom>
          <a:noFill/>
        </p:spPr>
        <p:txBody>
          <a:bodyPr wrap="square" lIns="0" rIns="0" tIns="0" bIns="0" anchor="t">
            <a:noAutofit/>
          </a:bodyPr>
          <a:lstStyle/>
          <a:p>
            <a:r>
              <a:rPr sz="1100" b="1" i="0">
                <a:solidFill>
                  <a:srgbClr val="6B6B6B"/>
                </a:solidFill>
                <a:latin typeface="Arial"/>
              </a:rPr>
              <a:t>PROCESS FLOW &amp; SOFTWARE LOGIC</a:t>
            </a:r>
          </a:p>
        </p:txBody>
      </p:sp>
      <p:sp>
        <p:nvSpPr>
          <p:cNvPr id="3" name="Title"/>
          <p:cNvSpPr txBox="1"/>
          <p:nvPr/>
        </p:nvSpPr>
        <p:spPr>
          <a:xfrm>
            <a:off x="1280160" y="502920"/>
            <a:ext cx="10469880" cy="731520"/>
          </a:xfrm>
          <a:prstGeom prst="rect">
            <a:avLst/>
          </a:prstGeom>
          <a:noFill/>
        </p:spPr>
        <p:txBody>
          <a:bodyPr wrap="square" lIns="0" rIns="0" tIns="0" bIns="0" anchor="ctr">
            <a:noAutofit/>
          </a:bodyPr>
          <a:lstStyle/>
          <a:p>
            <a:r>
              <a:rPr sz="3200" b="1" i="0">
                <a:solidFill>
                  <a:srgbClr val="00943A"/>
                </a:solidFill>
                <a:latin typeface="Arial"/>
              </a:rPr>
              <a:t>Runtime Concurrency Model: Never Block Safety</a:t>
            </a:r>
          </a:p>
        </p:txBody>
      </p:sp>
      <p:sp>
        <p:nvSpPr>
          <p:cNvPr id="4" name="Slide number"/>
          <p:cNvSpPr txBox="1"/>
          <p:nvPr/>
        </p:nvSpPr>
        <p:spPr>
          <a:xfrm>
            <a:off x="1280160" y="6327648"/>
            <a:ext cx="2286000" cy="274320"/>
          </a:xfrm>
          <a:prstGeom prst="rect">
            <a:avLst/>
          </a:prstGeom>
          <a:noFill/>
        </p:spPr>
        <p:txBody>
          <a:bodyPr wrap="square" lIns="0" rIns="0" tIns="0" bIns="0" anchor="t">
            <a:noAutofit/>
          </a:bodyPr>
          <a:lstStyle/>
          <a:p>
            <a:r>
              <a:rPr sz="1000" b="0" i="0">
                <a:solidFill>
                  <a:srgbClr val="6B6B6B"/>
                </a:solidFill>
                <a:latin typeface="Arial"/>
              </a:rPr>
              <a:t>IndepenSense · 19</a:t>
            </a:r>
          </a:p>
        </p:txBody>
      </p:sp>
      <p:pic>
        <p:nvPicPr>
          <p:cNvPr id="5" name="Figure 1" descr="p32_X146.png"/>
          <p:cNvPicPr>
            <a:picLocks noChangeAspect="1"/>
          </p:cNvPicPr>
          <p:nvPr/>
        </p:nvPicPr>
        <p:blipFill>
          <a:blip r:embed="rId2"/>
          <a:stretch>
            <a:fillRect/>
          </a:stretch>
        </p:blipFill>
        <p:spPr>
          <a:xfrm>
            <a:off x="8183879" y="2501739"/>
            <a:ext cx="3566160" cy="2064833"/>
          </a:xfrm>
          <a:prstGeom prst="rect">
            <a:avLst/>
          </a:prstGeom>
          <a:ln w="9525">
            <a:solidFill>
              <a:srgbClr val="D9D9D9"/>
            </a:solidFill>
          </a:ln>
        </p:spPr>
      </p:pic>
      <p:sp>
        <p:nvSpPr>
          <p:cNvPr id="6" name="Figure 1 caption"/>
          <p:cNvSpPr txBox="1"/>
          <p:nvPr/>
        </p:nvSpPr>
        <p:spPr>
          <a:xfrm>
            <a:off x="8092440" y="4612292"/>
            <a:ext cx="3749039" cy="274320"/>
          </a:xfrm>
          <a:prstGeom prst="rect">
            <a:avLst/>
          </a:prstGeom>
          <a:noFill/>
        </p:spPr>
        <p:txBody>
          <a:bodyPr wrap="square" lIns="0" rIns="0" tIns="0" bIns="0" anchor="t">
            <a:noAutofit/>
          </a:bodyPr>
          <a:lstStyle/>
          <a:p>
            <a:pPr algn="ctr"/>
            <a:r>
              <a:rPr sz="1000" b="0" i="1">
                <a:solidFill>
                  <a:srgbClr val="6B6B6B"/>
                </a:solidFill>
                <a:latin typeface="Arial"/>
              </a:rPr>
              <a:t>Call hierarchy</a:t>
            </a:r>
          </a:p>
        </p:txBody>
      </p:sp>
      <p:sp>
        <p:nvSpPr>
          <p:cNvPr id="7" name="Field 1 card"/>
          <p:cNvSpPr/>
          <p:nvPr/>
        </p:nvSpPr>
        <p:spPr>
          <a:xfrm>
            <a:off x="1280160" y="1371600"/>
            <a:ext cx="2474189" cy="4617720"/>
          </a:xfrm>
          <a:prstGeom prst="roundRect">
            <a:avLst>
              <a:gd name="adj" fmla="val 6652"/>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Field 1 text"/>
          <p:cNvSpPr txBox="1"/>
          <p:nvPr/>
        </p:nvSpPr>
        <p:spPr>
          <a:xfrm>
            <a:off x="1463039" y="1554480"/>
            <a:ext cx="2108429" cy="4251959"/>
          </a:xfrm>
          <a:prstGeom prst="rect">
            <a:avLst/>
          </a:prstGeom>
          <a:noFill/>
        </p:spPr>
        <p:txBody>
          <a:bodyPr wrap="square" lIns="0" rIns="0" tIns="0" bIns="0" anchor="t">
            <a:noAutofit/>
          </a:bodyPr>
          <a:lstStyle/>
          <a:p>
            <a:pPr marL="201168" indent="-201168">
              <a:spcAft>
                <a:spcPts val="570"/>
              </a:spcAft>
              <a:buClr>
                <a:srgbClr val="00943A"/>
              </a:buClr>
              <a:buFont typeface="Arial"/>
              <a:buChar char="•"/>
            </a:pPr>
            <a:r>
              <a:rPr sz="1500" b="1" i="0">
                <a:solidFill>
                  <a:srgbClr val="2B2B2B"/>
                </a:solidFill>
                <a:latin typeface="Arial"/>
              </a:rPr>
              <a:t>One synchronous main loop</a:t>
            </a:r>
            <a:r>
              <a:rPr sz="1500" b="0" i="0">
                <a:solidFill>
                  <a:srgbClr val="2B2B2B"/>
                </a:solidFill>
                <a:latin typeface="Arial"/>
              </a:rPr>
              <a:t> handles only cheap reads:</a:t>
            </a:r>
          </a:p>
          <a:p>
            <a:pPr marL="438912" indent="-182880">
              <a:spcAft>
                <a:spcPts val="570"/>
              </a:spcAft>
              <a:buClr>
                <a:srgbClr val="00943A"/>
              </a:buClr>
              <a:buFont typeface="Arial"/>
              <a:buChar char="–"/>
            </a:pPr>
            <a:r>
              <a:rPr sz="1400" b="1" i="0">
                <a:solidFill>
                  <a:srgbClr val="2B2B2B"/>
                </a:solidFill>
                <a:latin typeface="Arial"/>
              </a:rPr>
              <a:t>MPU-6050 at 100 Hz</a:t>
            </a:r>
            <a:r>
              <a:rPr sz="1400" b="0" i="0">
                <a:solidFill>
                  <a:srgbClr val="2B2B2B"/>
                </a:solidFill>
                <a:latin typeface="Arial"/>
              </a:rPr>
              <a:t> → fall detector</a:t>
            </a:r>
          </a:p>
          <a:p>
            <a:pPr marL="438912" indent="-182880">
              <a:spcAft>
                <a:spcPts val="570"/>
              </a:spcAft>
              <a:buClr>
                <a:srgbClr val="00943A"/>
              </a:buClr>
              <a:buFont typeface="Arial"/>
              <a:buChar char="–"/>
            </a:pPr>
            <a:r>
              <a:rPr sz="1400" b="1" i="0">
                <a:solidFill>
                  <a:srgbClr val="2B2B2B"/>
                </a:solidFill>
                <a:latin typeface="Arial"/>
              </a:rPr>
              <a:t>Both DYP-A22</a:t>
            </a:r>
            <a:r>
              <a:rPr sz="1400" b="0" i="0">
                <a:solidFill>
                  <a:srgbClr val="2B2B2B"/>
                </a:solidFill>
                <a:latin typeface="Arial"/>
              </a:rPr>
              <a:t> → obstacle warnings</a:t>
            </a:r>
          </a:p>
          <a:p>
            <a:pPr marL="201168" indent="-201168">
              <a:spcAft>
                <a:spcPts val="570"/>
              </a:spcAft>
              <a:buClr>
                <a:srgbClr val="00943A"/>
              </a:buClr>
              <a:buFont typeface="Arial"/>
              <a:buChar char="•"/>
            </a:pPr>
            <a:r>
              <a:rPr sz="1500" b="1" i="0">
                <a:solidFill>
                  <a:srgbClr val="2B2B2B"/>
                </a:solidFill>
                <a:latin typeface="Arial"/>
              </a:rPr>
              <a:t>Rule: the main loop never blocks</a:t>
            </a:r>
            <a:r>
              <a:rPr sz="1500" b="0" i="0">
                <a:solidFill>
                  <a:srgbClr val="2B2B2B"/>
                </a:solidFill>
                <a:latin typeface="Arial"/>
              </a:rPr>
              <a:t>. Speech, network and vibration patterns all run off it</a:t>
            </a:r>
          </a:p>
        </p:txBody>
      </p:sp>
      <p:sp>
        <p:nvSpPr>
          <p:cNvPr id="9" name="Field 2 card"/>
          <p:cNvSpPr/>
          <p:nvPr/>
        </p:nvSpPr>
        <p:spPr>
          <a:xfrm>
            <a:off x="4010381" y="1371600"/>
            <a:ext cx="3917466" cy="4617720"/>
          </a:xfrm>
          <a:prstGeom prst="roundRect">
            <a:avLst>
              <a:gd name="adj" fmla="val 4201"/>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Field 2 text"/>
          <p:cNvSpPr txBox="1"/>
          <p:nvPr/>
        </p:nvSpPr>
        <p:spPr>
          <a:xfrm>
            <a:off x="4193261" y="1554480"/>
            <a:ext cx="3551706" cy="4251959"/>
          </a:xfrm>
          <a:prstGeom prst="rect">
            <a:avLst/>
          </a:prstGeom>
          <a:noFill/>
        </p:spPr>
        <p:txBody>
          <a:bodyPr wrap="square" lIns="0" rIns="0" tIns="0" bIns="0" anchor="t">
            <a:noAutofit/>
          </a:bodyPr>
          <a:lstStyle/>
          <a:p>
            <a:pPr marL="201168" indent="-201168">
              <a:spcAft>
                <a:spcPts val="570"/>
              </a:spcAft>
              <a:buClr>
                <a:srgbClr val="00943A"/>
              </a:buClr>
              <a:buFont typeface="Arial"/>
              <a:buChar char="•"/>
            </a:pPr>
            <a:r>
              <a:rPr sz="1500" b="1" i="0">
                <a:solidFill>
                  <a:srgbClr val="2B2B2B"/>
                </a:solidFill>
                <a:latin typeface="Arial"/>
              </a:rPr>
              <a:t>Fixed, named background threads</a:t>
            </a:r>
            <a:r>
              <a:rPr sz="1500" b="0" i="0">
                <a:solidFill>
                  <a:srgbClr val="2B2B2B"/>
                </a:solidFill>
                <a:latin typeface="Arial"/>
              </a:rPr>
              <a:t>:</a:t>
            </a:r>
          </a:p>
          <a:p>
            <a:pPr marL="438912" indent="-182880">
              <a:spcAft>
                <a:spcPts val="570"/>
              </a:spcAft>
              <a:buClr>
                <a:srgbClr val="00943A"/>
              </a:buClr>
              <a:buFont typeface="Arial"/>
              <a:buChar char="–"/>
            </a:pPr>
            <a:r>
              <a:rPr sz="1400" b="1" i="0">
                <a:solidFill>
                  <a:srgbClr val="2B2B2B"/>
                </a:solidFill>
                <a:latin typeface="Arial"/>
              </a:rPr>
              <a:t>Voice thread</a:t>
            </a:r>
            <a:r>
              <a:rPr sz="1400" b="0" i="0">
                <a:solidFill>
                  <a:srgbClr val="2B2B2B"/>
                </a:solidFill>
                <a:latin typeface="Arial"/>
              </a:rPr>
              <a:t>, one per PTT press</a:t>
            </a:r>
          </a:p>
          <a:p>
            <a:pPr marL="438912" indent="-182880">
              <a:spcAft>
                <a:spcPts val="570"/>
              </a:spcAft>
              <a:buClr>
                <a:srgbClr val="00943A"/>
              </a:buClr>
              <a:buFont typeface="Arial"/>
              <a:buChar char="–"/>
            </a:pPr>
            <a:r>
              <a:rPr sz="1400" b="1" i="0">
                <a:solidFill>
                  <a:srgbClr val="2B2B2B"/>
                </a:solidFill>
                <a:latin typeface="Arial"/>
              </a:rPr>
              <a:t>Announcer</a:t>
            </a:r>
            <a:r>
              <a:rPr sz="1400" b="0" i="0">
                <a:solidFill>
                  <a:srgbClr val="2B2B2B"/>
                </a:solidFill>
                <a:latin typeface="Arial"/>
              </a:rPr>
              <a:t>, which owns all speech from the main loop</a:t>
            </a:r>
          </a:p>
          <a:p>
            <a:pPr marL="438912" indent="-182880">
              <a:spcAft>
                <a:spcPts val="570"/>
              </a:spcAft>
              <a:buClr>
                <a:srgbClr val="00943A"/>
              </a:buClr>
              <a:buFont typeface="Arial"/>
              <a:buChar char="–"/>
            </a:pPr>
            <a:r>
              <a:rPr sz="1400" b="1" i="0">
                <a:solidFill>
                  <a:srgbClr val="2B2B2B"/>
                </a:solidFill>
                <a:latin typeface="Arial"/>
              </a:rPr>
              <a:t>Haptic pattern workers</a:t>
            </a:r>
            <a:r>
              <a:rPr sz="1400" b="0" i="0">
                <a:solidFill>
                  <a:srgbClr val="2B2B2B"/>
                </a:solidFill>
                <a:latin typeface="Arial"/>
              </a:rPr>
              <a:t>, serialised by a mutex</a:t>
            </a:r>
          </a:p>
          <a:p>
            <a:pPr marL="438912" indent="-182880">
              <a:spcAft>
                <a:spcPts val="570"/>
              </a:spcAft>
              <a:buClr>
                <a:srgbClr val="00943A"/>
              </a:buClr>
              <a:buFont typeface="Arial"/>
              <a:buChar char="–"/>
            </a:pPr>
            <a:r>
              <a:rPr sz="1400" b="1" i="0">
                <a:solidFill>
                  <a:srgbClr val="2B2B2B"/>
                </a:solidFill>
                <a:latin typeface="Arial"/>
              </a:rPr>
              <a:t>Heartbeat sender</a:t>
            </a:r>
            <a:r>
              <a:rPr sz="1400" b="0" i="0">
                <a:solidFill>
                  <a:srgbClr val="2B2B2B"/>
                </a:solidFill>
                <a:latin typeface="Arial"/>
              </a:rPr>
              <a:t> · </a:t>
            </a:r>
            <a:r>
              <a:rPr sz="1400" b="1" i="0">
                <a:solidFill>
                  <a:srgbClr val="2B2B2B"/>
                </a:solidFill>
                <a:latin typeface="Arial"/>
              </a:rPr>
              <a:t>telemetry retry</a:t>
            </a:r>
            <a:r>
              <a:rPr sz="1400" b="0" i="0">
                <a:solidFill>
                  <a:srgbClr val="2B2B2B"/>
                </a:solidFill>
                <a:latin typeface="Arial"/>
              </a:rPr>
              <a:t> · </a:t>
            </a:r>
            <a:r>
              <a:rPr sz="1400" b="1" i="0">
                <a:solidFill>
                  <a:srgbClr val="2B2B2B"/>
                </a:solidFill>
                <a:latin typeface="Arial"/>
              </a:rPr>
              <a:t>1 Hz GPS cache</a:t>
            </a:r>
          </a:p>
          <a:p>
            <a:pPr marL="438912" indent="-182880">
              <a:spcAft>
                <a:spcPts val="570"/>
              </a:spcAft>
              <a:buClr>
                <a:srgbClr val="00943A"/>
              </a:buClr>
              <a:buFont typeface="Arial"/>
              <a:buChar char="–"/>
            </a:pPr>
            <a:r>
              <a:rPr sz="1400" b="0" i="0">
                <a:solidFill>
                  <a:srgbClr val="2B2B2B"/>
                </a:solidFill>
                <a:latin typeface="Arial"/>
              </a:rPr>
              <a:t>Button callbacks (gpiozero)</a:t>
            </a:r>
          </a:p>
          <a:p>
            <a:pPr marL="201168" indent="-201168">
              <a:spcAft>
                <a:spcPts val="570"/>
              </a:spcAft>
              <a:buClr>
                <a:srgbClr val="00943A"/>
              </a:buClr>
              <a:buFont typeface="Arial"/>
              <a:buChar char="•"/>
            </a:pPr>
            <a:r>
              <a:rPr sz="1500" b="1" i="0">
                <a:solidFill>
                  <a:srgbClr val="2B2B2B"/>
                </a:solidFill>
                <a:latin typeface="Arial"/>
              </a:rPr>
              <a:t>Why it matters:</a:t>
            </a:r>
            <a:r>
              <a:rPr sz="1500" b="0" i="0">
                <a:solidFill>
                  <a:srgbClr val="2B2B2B"/>
                </a:solidFill>
                <a:latin typeface="Arial"/>
              </a:rPr>
              <a:t> inline speech once froze fall detection for </a:t>
            </a:r>
            <a:r>
              <a:rPr sz="1500" b="1" i="0">
                <a:solidFill>
                  <a:srgbClr val="2B2B2B"/>
                </a:solidFill>
                <a:latin typeface="Arial"/>
              </a:rPr>
              <a:t>3–4 s per turn instruction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tion kicker"/>
          <p:cNvSpPr txBox="1"/>
          <p:nvPr/>
        </p:nvSpPr>
        <p:spPr>
          <a:xfrm>
            <a:off x="1280160" y="292608"/>
            <a:ext cx="8686800" cy="256032"/>
          </a:xfrm>
          <a:prstGeom prst="rect">
            <a:avLst/>
          </a:prstGeom>
          <a:noFill/>
        </p:spPr>
        <p:txBody>
          <a:bodyPr wrap="square" lIns="0" rIns="0" tIns="0" bIns="0" anchor="t">
            <a:noAutofit/>
          </a:bodyPr>
          <a:lstStyle/>
          <a:p>
            <a:r>
              <a:rPr sz="1100" b="1" i="0">
                <a:solidFill>
                  <a:srgbClr val="6B6B6B"/>
                </a:solidFill>
                <a:latin typeface="Arial"/>
              </a:rPr>
              <a:t>PROCESS FLOW &amp; SOFTWARE LOGIC</a:t>
            </a:r>
          </a:p>
        </p:txBody>
      </p:sp>
      <p:sp>
        <p:nvSpPr>
          <p:cNvPr id="3" name="Title"/>
          <p:cNvSpPr txBox="1"/>
          <p:nvPr/>
        </p:nvSpPr>
        <p:spPr>
          <a:xfrm>
            <a:off x="1280160" y="502920"/>
            <a:ext cx="10469880" cy="731520"/>
          </a:xfrm>
          <a:prstGeom prst="rect">
            <a:avLst/>
          </a:prstGeom>
          <a:noFill/>
        </p:spPr>
        <p:txBody>
          <a:bodyPr wrap="square" lIns="0" rIns="0" tIns="0" bIns="0" anchor="ctr">
            <a:noAutofit/>
          </a:bodyPr>
          <a:lstStyle/>
          <a:p>
            <a:r>
              <a:rPr sz="3200" b="1" i="0">
                <a:solidFill>
                  <a:srgbClr val="00943A"/>
                </a:solidFill>
                <a:latin typeface="Arial"/>
              </a:rPr>
              <a:t>Startup Sequence: Safety Features First</a:t>
            </a:r>
          </a:p>
        </p:txBody>
      </p:sp>
      <p:sp>
        <p:nvSpPr>
          <p:cNvPr id="4" name="Slide number"/>
          <p:cNvSpPr txBox="1"/>
          <p:nvPr/>
        </p:nvSpPr>
        <p:spPr>
          <a:xfrm>
            <a:off x="1280160" y="6327648"/>
            <a:ext cx="2286000" cy="274320"/>
          </a:xfrm>
          <a:prstGeom prst="rect">
            <a:avLst/>
          </a:prstGeom>
          <a:noFill/>
        </p:spPr>
        <p:txBody>
          <a:bodyPr wrap="square" lIns="0" rIns="0" tIns="0" bIns="0" anchor="t">
            <a:noAutofit/>
          </a:bodyPr>
          <a:lstStyle/>
          <a:p>
            <a:r>
              <a:rPr sz="1000" b="0" i="0">
                <a:solidFill>
                  <a:srgbClr val="6B6B6B"/>
                </a:solidFill>
                <a:latin typeface="Arial"/>
              </a:rPr>
              <a:t>IndepenSense · 20</a:t>
            </a:r>
          </a:p>
        </p:txBody>
      </p:sp>
      <p:pic>
        <p:nvPicPr>
          <p:cNvPr id="5" name="Figure 1" descr="p34_X152.png"/>
          <p:cNvPicPr>
            <a:picLocks noChangeAspect="1"/>
          </p:cNvPicPr>
          <p:nvPr/>
        </p:nvPicPr>
        <p:blipFill>
          <a:blip r:embed="rId2"/>
          <a:stretch>
            <a:fillRect/>
          </a:stretch>
        </p:blipFill>
        <p:spPr>
          <a:xfrm>
            <a:off x="10472357" y="1371600"/>
            <a:ext cx="1277682" cy="4325112"/>
          </a:xfrm>
          <a:prstGeom prst="rect">
            <a:avLst/>
          </a:prstGeom>
          <a:ln w="9525">
            <a:solidFill>
              <a:srgbClr val="D9D9D9"/>
            </a:solidFill>
          </a:ln>
        </p:spPr>
      </p:pic>
      <p:sp>
        <p:nvSpPr>
          <p:cNvPr id="6" name="Figure 1 caption"/>
          <p:cNvSpPr txBox="1"/>
          <p:nvPr/>
        </p:nvSpPr>
        <p:spPr>
          <a:xfrm>
            <a:off x="10380917" y="5742431"/>
            <a:ext cx="1460562" cy="274320"/>
          </a:xfrm>
          <a:prstGeom prst="rect">
            <a:avLst/>
          </a:prstGeom>
          <a:noFill/>
        </p:spPr>
        <p:txBody>
          <a:bodyPr wrap="square" lIns="0" rIns="0" tIns="0" bIns="0" anchor="t">
            <a:noAutofit/>
          </a:bodyPr>
          <a:lstStyle/>
          <a:p>
            <a:pPr algn="ctr"/>
            <a:r>
              <a:rPr sz="1000" b="0" i="1">
                <a:solidFill>
                  <a:srgbClr val="6B6B6B"/>
                </a:solidFill>
                <a:latin typeface="Arial"/>
              </a:rPr>
              <a:t>Startup flow</a:t>
            </a:r>
          </a:p>
        </p:txBody>
      </p:sp>
      <p:sp>
        <p:nvSpPr>
          <p:cNvPr id="7" name="Step 1 card"/>
          <p:cNvSpPr/>
          <p:nvPr/>
        </p:nvSpPr>
        <p:spPr>
          <a:xfrm>
            <a:off x="1280160" y="1371600"/>
            <a:ext cx="2014585" cy="2756052"/>
          </a:xfrm>
          <a:prstGeom prst="roundRect">
            <a:avLst>
              <a:gd name="adj" fmla="val 8170"/>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Step 1 text"/>
          <p:cNvSpPr txBox="1"/>
          <p:nvPr/>
        </p:nvSpPr>
        <p:spPr>
          <a:xfrm>
            <a:off x="1463039" y="1554480"/>
            <a:ext cx="1648825" cy="2390292"/>
          </a:xfrm>
          <a:prstGeom prst="rect">
            <a:avLst/>
          </a:prstGeom>
          <a:noFill/>
        </p:spPr>
        <p:txBody>
          <a:bodyPr wrap="square" lIns="0" rIns="0" tIns="0" bIns="0" anchor="t">
            <a:noAutofit/>
          </a:bodyPr>
          <a:lstStyle/>
          <a:p>
            <a:pPr>
              <a:spcAft>
                <a:spcPts val="585"/>
              </a:spcAft>
              <a:buNone/>
            </a:pPr>
            <a:r>
              <a:rPr sz="1500" b="1" i="0">
                <a:solidFill>
                  <a:srgbClr val="006B2A"/>
                </a:solidFill>
                <a:latin typeface="Arial"/>
              </a:rPr>
              <a:t>T0: Power on</a:t>
            </a:r>
          </a:p>
          <a:p>
            <a:pPr>
              <a:spcAft>
                <a:spcPts val="494"/>
              </a:spcAft>
              <a:buNone/>
            </a:pPr>
            <a:r>
              <a:rPr sz="1300" b="0" i="0">
                <a:solidFill>
                  <a:srgbClr val="2B2B2B"/>
                </a:solidFill>
                <a:latin typeface="Arial"/>
              </a:rPr>
              <a:t>A pre-rendered boot announcement plays </a:t>
            </a:r>
            <a:r>
              <a:rPr sz="1300" b="1" i="0">
                <a:solidFill>
                  <a:srgbClr val="2B2B2B"/>
                </a:solidFill>
                <a:latin typeface="Arial"/>
              </a:rPr>
              <a:t>before any model loads</a:t>
            </a:r>
          </a:p>
        </p:txBody>
      </p:sp>
      <p:sp>
        <p:nvSpPr>
          <p:cNvPr id="9" name="Arrow 1"/>
          <p:cNvSpPr/>
          <p:nvPr/>
        </p:nvSpPr>
        <p:spPr>
          <a:xfrm>
            <a:off x="3340465" y="2630754"/>
            <a:ext cx="201168" cy="237744"/>
          </a:xfrm>
          <a:prstGeom prst="rightArrow">
            <a:avLst/>
          </a:prstGeom>
          <a:solidFill>
            <a:srgbClr val="009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tep 2 card"/>
          <p:cNvSpPr/>
          <p:nvPr/>
        </p:nvSpPr>
        <p:spPr>
          <a:xfrm>
            <a:off x="3587353" y="1371600"/>
            <a:ext cx="2014585" cy="2756052"/>
          </a:xfrm>
          <a:prstGeom prst="roundRect">
            <a:avLst>
              <a:gd name="adj" fmla="val 8170"/>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Step 2 text"/>
          <p:cNvSpPr txBox="1"/>
          <p:nvPr/>
        </p:nvSpPr>
        <p:spPr>
          <a:xfrm>
            <a:off x="3770233" y="1554480"/>
            <a:ext cx="1648825" cy="2390292"/>
          </a:xfrm>
          <a:prstGeom prst="rect">
            <a:avLst/>
          </a:prstGeom>
          <a:noFill/>
        </p:spPr>
        <p:txBody>
          <a:bodyPr wrap="square" lIns="0" rIns="0" tIns="0" bIns="0" anchor="t">
            <a:noAutofit/>
          </a:bodyPr>
          <a:lstStyle/>
          <a:p>
            <a:pPr>
              <a:spcAft>
                <a:spcPts val="585"/>
              </a:spcAft>
              <a:buNone/>
            </a:pPr>
            <a:r>
              <a:rPr sz="1500" b="1" i="0">
                <a:solidFill>
                  <a:srgbClr val="006B2A"/>
                </a:solidFill>
                <a:latin typeface="Arial"/>
              </a:rPr>
              <a:t>T + seconds: Safety live</a:t>
            </a:r>
          </a:p>
          <a:p>
            <a:pPr>
              <a:spcAft>
                <a:spcPts val="494"/>
              </a:spcAft>
              <a:buNone/>
            </a:pPr>
            <a:r>
              <a:rPr sz="1300" b="0" i="0">
                <a:solidFill>
                  <a:srgbClr val="2B2B2B"/>
                </a:solidFill>
                <a:latin typeface="Arial"/>
              </a:rPr>
              <a:t>IMU, ultrasonics, buttons, motors, telemetry and SMS are open, and </a:t>
            </a:r>
            <a:r>
              <a:rPr sz="1300" b="1" i="0">
                <a:solidFill>
                  <a:srgbClr val="2B2B2B"/>
                </a:solidFill>
                <a:latin typeface="Arial"/>
              </a:rPr>
              <a:t>fall detection, obstacle warnings and SOS are active</a:t>
            </a:r>
          </a:p>
        </p:txBody>
      </p:sp>
      <p:sp>
        <p:nvSpPr>
          <p:cNvPr id="12" name="Arrow 2"/>
          <p:cNvSpPr/>
          <p:nvPr/>
        </p:nvSpPr>
        <p:spPr>
          <a:xfrm>
            <a:off x="5647658" y="2630754"/>
            <a:ext cx="201168" cy="237744"/>
          </a:xfrm>
          <a:prstGeom prst="rightArrow">
            <a:avLst/>
          </a:prstGeom>
          <a:solidFill>
            <a:srgbClr val="009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tep 3 card"/>
          <p:cNvSpPr/>
          <p:nvPr/>
        </p:nvSpPr>
        <p:spPr>
          <a:xfrm>
            <a:off x="5894546" y="1371600"/>
            <a:ext cx="2014585" cy="2756052"/>
          </a:xfrm>
          <a:prstGeom prst="roundRect">
            <a:avLst>
              <a:gd name="adj" fmla="val 8170"/>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Step 3 text"/>
          <p:cNvSpPr txBox="1"/>
          <p:nvPr/>
        </p:nvSpPr>
        <p:spPr>
          <a:xfrm>
            <a:off x="6077426" y="1554480"/>
            <a:ext cx="1648825" cy="2390292"/>
          </a:xfrm>
          <a:prstGeom prst="rect">
            <a:avLst/>
          </a:prstGeom>
          <a:noFill/>
        </p:spPr>
        <p:txBody>
          <a:bodyPr wrap="square" lIns="0" rIns="0" tIns="0" bIns="0" anchor="t">
            <a:noAutofit/>
          </a:bodyPr>
          <a:lstStyle/>
          <a:p>
            <a:pPr>
              <a:spcAft>
                <a:spcPts val="585"/>
              </a:spcAft>
              <a:buNone/>
            </a:pPr>
            <a:r>
              <a:rPr sz="1500" b="1" i="0">
                <a:solidFill>
                  <a:srgbClr val="006B2A"/>
                </a:solidFill>
                <a:latin typeface="Arial"/>
              </a:rPr>
              <a:t>In parallel: Voice-stack thread</a:t>
            </a:r>
          </a:p>
          <a:p>
            <a:pPr>
              <a:spcAft>
                <a:spcPts val="494"/>
              </a:spcAft>
              <a:buNone/>
            </a:pPr>
            <a:r>
              <a:rPr sz="1300" b="0" i="0">
                <a:solidFill>
                  <a:srgbClr val="2B2B2B"/>
                </a:solidFill>
                <a:latin typeface="Arial"/>
              </a:rPr>
              <a:t>loads Whisper, TTS, the intent parser and YOLO/OCR</a:t>
            </a:r>
          </a:p>
        </p:txBody>
      </p:sp>
      <p:sp>
        <p:nvSpPr>
          <p:cNvPr id="15" name="Arrow 3"/>
          <p:cNvSpPr/>
          <p:nvPr/>
        </p:nvSpPr>
        <p:spPr>
          <a:xfrm>
            <a:off x="7954852" y="2630754"/>
            <a:ext cx="201168" cy="237744"/>
          </a:xfrm>
          <a:prstGeom prst="rightArrow">
            <a:avLst/>
          </a:prstGeom>
          <a:solidFill>
            <a:srgbClr val="009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tep 4 card"/>
          <p:cNvSpPr/>
          <p:nvPr/>
        </p:nvSpPr>
        <p:spPr>
          <a:xfrm>
            <a:off x="8201740" y="1371600"/>
            <a:ext cx="2014585" cy="2756052"/>
          </a:xfrm>
          <a:prstGeom prst="roundRect">
            <a:avLst>
              <a:gd name="adj" fmla="val 8170"/>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Step 4 text"/>
          <p:cNvSpPr txBox="1"/>
          <p:nvPr/>
        </p:nvSpPr>
        <p:spPr>
          <a:xfrm>
            <a:off x="8384620" y="1554480"/>
            <a:ext cx="1648825" cy="2390292"/>
          </a:xfrm>
          <a:prstGeom prst="rect">
            <a:avLst/>
          </a:prstGeom>
          <a:noFill/>
        </p:spPr>
        <p:txBody>
          <a:bodyPr wrap="square" lIns="0" rIns="0" tIns="0" bIns="0" anchor="t">
            <a:noAutofit/>
          </a:bodyPr>
          <a:lstStyle/>
          <a:p>
            <a:pPr>
              <a:spcAft>
                <a:spcPts val="585"/>
              </a:spcAft>
              <a:buNone/>
            </a:pPr>
            <a:r>
              <a:rPr sz="1500" b="1" i="0">
                <a:solidFill>
                  <a:srgbClr val="006B2A"/>
                </a:solidFill>
                <a:latin typeface="Arial"/>
              </a:rPr>
              <a:t>Ready</a:t>
            </a:r>
          </a:p>
          <a:p>
            <a:pPr>
              <a:spcAft>
                <a:spcPts val="494"/>
              </a:spcAft>
              <a:buNone/>
            </a:pPr>
            <a:r>
              <a:rPr sz="1300" b="0" i="0">
                <a:solidFill>
                  <a:srgbClr val="2B2B2B"/>
                </a:solidFill>
                <a:latin typeface="Arial"/>
              </a:rPr>
              <a:t>greeting + </a:t>
            </a:r>
            <a:r>
              <a:rPr sz="1300" b="1" i="0">
                <a:solidFill>
                  <a:srgbClr val="2B2B2B"/>
                </a:solidFill>
                <a:latin typeface="Arial"/>
              </a:rPr>
              <a:t>battery percentage</a:t>
            </a:r>
            <a:r>
              <a:rPr sz="1300" b="0" i="0">
                <a:solidFill>
                  <a:srgbClr val="2B2B2B"/>
                </a:solidFill>
                <a:latin typeface="Arial"/>
              </a:rPr>
              <a:t> spoken, and voice commands enabled</a:t>
            </a:r>
          </a:p>
        </p:txBody>
      </p:sp>
      <p:sp>
        <p:nvSpPr>
          <p:cNvPr id="18" name="Field 2 card"/>
          <p:cNvSpPr/>
          <p:nvPr/>
        </p:nvSpPr>
        <p:spPr>
          <a:xfrm>
            <a:off x="1280160" y="4383684"/>
            <a:ext cx="8936165" cy="1605635"/>
          </a:xfrm>
          <a:prstGeom prst="roundRect">
            <a:avLst>
              <a:gd name="adj" fmla="val 1025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Field 2 text 1"/>
          <p:cNvSpPr txBox="1"/>
          <p:nvPr/>
        </p:nvSpPr>
        <p:spPr>
          <a:xfrm>
            <a:off x="1463039" y="4566564"/>
            <a:ext cx="4148042" cy="1239875"/>
          </a:xfrm>
          <a:prstGeom prst="rect">
            <a:avLst/>
          </a:prstGeom>
          <a:noFill/>
        </p:spPr>
        <p:txBody>
          <a:bodyPr wrap="square" lIns="0" rIns="0" tIns="0" bIns="0" anchor="t">
            <a:noAutofit/>
          </a:bodyPr>
          <a:lstStyle/>
          <a:p>
            <a:pPr marL="201168" indent="-201168">
              <a:spcAft>
                <a:spcPts val="494"/>
              </a:spcAft>
              <a:buClr>
                <a:srgbClr val="00943A"/>
              </a:buClr>
              <a:buFont typeface="Arial"/>
              <a:buChar char="•"/>
            </a:pPr>
            <a:r>
              <a:rPr sz="1300" b="1" i="0">
                <a:solidFill>
                  <a:srgbClr val="2B2B2B"/>
                </a:solidFill>
                <a:latin typeface="Arial"/>
              </a:rPr>
              <a:t>Why:</a:t>
            </a:r>
            <a:r>
              <a:rPr sz="1300" b="0" i="0">
                <a:solidFill>
                  <a:srgbClr val="2B2B2B"/>
                </a:solidFill>
                <a:latin typeface="Arial"/>
              </a:rPr>
              <a:t> model loading took </a:t>
            </a:r>
            <a:r>
              <a:rPr sz="1300" b="1" i="0">
                <a:solidFill>
                  <a:srgbClr val="2B2B2B"/>
                </a:solidFill>
                <a:latin typeface="Arial"/>
              </a:rPr>
              <a:t>~200 s</a:t>
            </a:r>
            <a:r>
              <a:rPr sz="1300" b="0" i="0">
                <a:solidFill>
                  <a:srgbClr val="2B2B2B"/>
                </a:solidFill>
                <a:latin typeface="Arial"/>
              </a:rPr>
              <a:t> from the SD card, and </a:t>
            </a:r>
            <a:r>
              <a:rPr sz="1300" b="1" i="0">
                <a:solidFill>
                  <a:srgbClr val="2B2B2B"/>
                </a:solidFill>
                <a:latin typeface="Arial"/>
              </a:rPr>
              <a:t>none</a:t>
            </a:r>
            <a:r>
              <a:rPr sz="1300" b="0" i="0">
                <a:solidFill>
                  <a:srgbClr val="2B2B2B"/>
                </a:solidFill>
                <a:latin typeface="Arial"/>
              </a:rPr>
              <a:t> of the safety features need a model</a:t>
            </a:r>
          </a:p>
          <a:p>
            <a:pPr marL="201168" indent="-201168">
              <a:spcAft>
                <a:spcPts val="494"/>
              </a:spcAft>
              <a:buClr>
                <a:srgbClr val="00943A"/>
              </a:buClr>
              <a:buFont typeface="Arial"/>
              <a:buChar char="•"/>
            </a:pPr>
            <a:r>
              <a:rPr sz="1300" b="0" i="0">
                <a:solidFill>
                  <a:srgbClr val="2B2B2B"/>
                </a:solidFill>
                <a:latin typeface="Arial"/>
              </a:rPr>
              <a:t>A PTT press before the stack is ready gets a </a:t>
            </a:r>
            <a:r>
              <a:rPr sz="1300" b="1" i="0">
                <a:solidFill>
                  <a:srgbClr val="2B2B2B"/>
                </a:solidFill>
                <a:latin typeface="Arial"/>
              </a:rPr>
              <a:t>"busy" cue</a:t>
            </a:r>
            <a:r>
              <a:rPr sz="1300" b="0" i="0">
                <a:solidFill>
                  <a:srgbClr val="2B2B2B"/>
                </a:solidFill>
                <a:latin typeface="Arial"/>
              </a:rPr>
              <a:t>, not silence</a:t>
            </a:r>
          </a:p>
        </p:txBody>
      </p:sp>
      <p:sp>
        <p:nvSpPr>
          <p:cNvPr id="20" name="Field 2 text 2"/>
          <p:cNvSpPr txBox="1"/>
          <p:nvPr/>
        </p:nvSpPr>
        <p:spPr>
          <a:xfrm>
            <a:off x="5885402" y="4566564"/>
            <a:ext cx="4148042" cy="1239875"/>
          </a:xfrm>
          <a:prstGeom prst="rect">
            <a:avLst/>
          </a:prstGeom>
          <a:noFill/>
        </p:spPr>
        <p:txBody>
          <a:bodyPr wrap="square" lIns="0" rIns="0" tIns="0" bIns="0" anchor="t">
            <a:noAutofit/>
          </a:bodyPr>
          <a:lstStyle/>
          <a:p>
            <a:pPr marL="201168" indent="-201168">
              <a:spcAft>
                <a:spcPts val="494"/>
              </a:spcAft>
              <a:buClr>
                <a:srgbClr val="00943A"/>
              </a:buClr>
              <a:buFont typeface="Arial"/>
              <a:buChar char="•"/>
            </a:pPr>
            <a:r>
              <a:rPr sz="1300" b="0" i="0">
                <a:solidFill>
                  <a:srgbClr val="2B2B2B"/>
                </a:solidFill>
                <a:latin typeface="Arial"/>
              </a:rPr>
              <a:t>A model that </a:t>
            </a:r>
            <a:r>
              <a:rPr sz="1300" b="1" i="0">
                <a:solidFill>
                  <a:srgbClr val="2B2B2B"/>
                </a:solidFill>
                <a:latin typeface="Arial"/>
              </a:rPr>
              <a:t>fails to load still fails the process</a:t>
            </a:r>
            <a:r>
              <a:rPr sz="1300" b="0" i="0">
                <a:solidFill>
                  <a:srgbClr val="2B2B2B"/>
                </a:solidFill>
                <a:latin typeface="Arial"/>
              </a:rPr>
              <a:t> loudly, which avoids a silent half-working device</a:t>
            </a:r>
          </a:p>
          <a:p>
            <a:pPr marL="201168" indent="-201168">
              <a:spcAft>
                <a:spcPts val="494"/>
              </a:spcAft>
              <a:buClr>
                <a:srgbClr val="00943A"/>
              </a:buClr>
              <a:buFont typeface="Arial"/>
              <a:buChar char="•"/>
            </a:pPr>
            <a:r>
              <a:rPr sz="1300" b="0" i="0">
                <a:solidFill>
                  <a:srgbClr val="2B2B2B"/>
                </a:solidFill>
                <a:latin typeface="Arial"/>
              </a:rPr>
              <a:t>Startup diagnostics cover </a:t>
            </a:r>
            <a:r>
              <a:rPr sz="1300" b="1" i="0">
                <a:solidFill>
                  <a:srgbClr val="2B2B2B"/>
                </a:solidFill>
                <a:latin typeface="Arial"/>
              </a:rPr>
              <a:t>battery</a:t>
            </a:r>
            <a:r>
              <a:rPr sz="1300" b="0" i="0">
                <a:solidFill>
                  <a:srgbClr val="2B2B2B"/>
                </a:solidFill>
                <a:latin typeface="Arial"/>
              </a:rPr>
              <a:t>, </a:t>
            </a:r>
            <a:r>
              <a:rPr sz="1300" b="1" i="0">
                <a:solidFill>
                  <a:srgbClr val="2B2B2B"/>
                </a:solidFill>
                <a:latin typeface="Arial"/>
              </a:rPr>
              <a:t>connectivity</a:t>
            </a:r>
            <a:r>
              <a:rPr sz="1300" b="0" i="0">
                <a:solidFill>
                  <a:srgbClr val="2B2B2B"/>
                </a:solidFill>
                <a:latin typeface="Arial"/>
              </a:rPr>
              <a:t>, </a:t>
            </a:r>
            <a:r>
              <a:rPr sz="1300" b="1" i="0">
                <a:solidFill>
                  <a:srgbClr val="2B2B2B"/>
                </a:solidFill>
                <a:latin typeface="Arial"/>
              </a:rPr>
              <a:t>GPS</a:t>
            </a:r>
            <a:r>
              <a:rPr sz="1300" b="0" i="0">
                <a:solidFill>
                  <a:srgbClr val="2B2B2B"/>
                </a:solidFill>
                <a:latin typeface="Arial"/>
              </a:rPr>
              <a:t> and </a:t>
            </a:r>
            <a:r>
              <a:rPr sz="1300" b="1" i="0">
                <a:solidFill>
                  <a:srgbClr val="2B2B2B"/>
                </a:solidFill>
                <a:latin typeface="Arial"/>
              </a:rPr>
              <a:t>sensor readiness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tion kicker"/>
          <p:cNvSpPr txBox="1"/>
          <p:nvPr/>
        </p:nvSpPr>
        <p:spPr>
          <a:xfrm>
            <a:off x="1280160" y="292608"/>
            <a:ext cx="8686800" cy="256032"/>
          </a:xfrm>
          <a:prstGeom prst="rect">
            <a:avLst/>
          </a:prstGeom>
          <a:noFill/>
        </p:spPr>
        <p:txBody>
          <a:bodyPr wrap="square" lIns="0" rIns="0" tIns="0" bIns="0" anchor="t">
            <a:noAutofit/>
          </a:bodyPr>
          <a:lstStyle/>
          <a:p>
            <a:r>
              <a:rPr sz="1100" b="1" i="0">
                <a:solidFill>
                  <a:srgbClr val="6B6B6B"/>
                </a:solidFill>
                <a:latin typeface="Arial"/>
              </a:rPr>
              <a:t>PROCESS FLOW &amp; SOFTWARE LOGIC</a:t>
            </a:r>
          </a:p>
        </p:txBody>
      </p:sp>
      <p:sp>
        <p:nvSpPr>
          <p:cNvPr id="3" name="Title"/>
          <p:cNvSpPr txBox="1"/>
          <p:nvPr/>
        </p:nvSpPr>
        <p:spPr>
          <a:xfrm>
            <a:off x="1280160" y="502920"/>
            <a:ext cx="10469880" cy="731520"/>
          </a:xfrm>
          <a:prstGeom prst="rect">
            <a:avLst/>
          </a:prstGeom>
          <a:noFill/>
        </p:spPr>
        <p:txBody>
          <a:bodyPr wrap="square" lIns="0" rIns="0" tIns="0" bIns="0" anchor="ctr">
            <a:noAutofit/>
          </a:bodyPr>
          <a:lstStyle/>
          <a:p>
            <a:r>
              <a:rPr sz="3200" b="1" i="0">
                <a:solidFill>
                  <a:srgbClr val="00943A"/>
                </a:solidFill>
                <a:latin typeface="Arial"/>
              </a:rPr>
              <a:t>Active Multi-Sensor Scanning Loop</a:t>
            </a:r>
          </a:p>
        </p:txBody>
      </p:sp>
      <p:sp>
        <p:nvSpPr>
          <p:cNvPr id="4" name="Slide number"/>
          <p:cNvSpPr txBox="1"/>
          <p:nvPr/>
        </p:nvSpPr>
        <p:spPr>
          <a:xfrm>
            <a:off x="1280160" y="6327648"/>
            <a:ext cx="2286000" cy="274320"/>
          </a:xfrm>
          <a:prstGeom prst="rect">
            <a:avLst/>
          </a:prstGeom>
          <a:noFill/>
        </p:spPr>
        <p:txBody>
          <a:bodyPr wrap="square" lIns="0" rIns="0" tIns="0" bIns="0" anchor="t">
            <a:noAutofit/>
          </a:bodyPr>
          <a:lstStyle/>
          <a:p>
            <a:r>
              <a:rPr sz="1000" b="0" i="0">
                <a:solidFill>
                  <a:srgbClr val="6B6B6B"/>
                </a:solidFill>
                <a:latin typeface="Arial"/>
              </a:rPr>
              <a:t>IndepenSense · 21</a:t>
            </a:r>
          </a:p>
        </p:txBody>
      </p:sp>
      <p:sp>
        <p:nvSpPr>
          <p:cNvPr id="5" name="Table caption"/>
          <p:cNvSpPr txBox="1"/>
          <p:nvPr/>
        </p:nvSpPr>
        <p:spPr>
          <a:xfrm>
            <a:off x="4828032" y="1371600"/>
            <a:ext cx="6922007" cy="297179"/>
          </a:xfrm>
          <a:prstGeom prst="rect">
            <a:avLst/>
          </a:prstGeom>
          <a:noFill/>
        </p:spPr>
        <p:txBody>
          <a:bodyPr wrap="square" lIns="0" rIns="0" tIns="0" bIns="0" anchor="t">
            <a:noAutofit/>
          </a:bodyPr>
          <a:lstStyle/>
          <a:p>
            <a:pPr>
              <a:spcBef>
                <a:spcPts val="350"/>
              </a:spcBef>
              <a:spcAft>
                <a:spcPts val="420"/>
              </a:spcAft>
              <a:buNone/>
            </a:pPr>
            <a:r>
              <a:rPr sz="1500" b="1" i="0">
                <a:solidFill>
                  <a:srgbClr val="006B2A"/>
                </a:solidFill>
                <a:latin typeface="Arial"/>
              </a:rPr>
              <a:t>Proximity rhythm (parking-sensor model)</a:t>
            </a:r>
          </a:p>
        </p:txBody>
      </p:sp>
      <p:graphicFrame>
        <p:nvGraphicFramePr>
          <p:cNvPr id="6" name="Results table"/>
          <p:cNvGraphicFramePr>
            <a:graphicFrameLocks noGrp="1"/>
          </p:cNvGraphicFramePr>
          <p:nvPr/>
        </p:nvGraphicFramePr>
        <p:xfrm>
          <a:off x="4828032" y="1668780"/>
          <a:ext cx="6922007" cy="1615440"/>
        </p:xfrm>
        <a:graphic>
          <a:graphicData uri="http://schemas.openxmlformats.org/drawingml/2006/table">
            <a:tbl>
              <a:tblPr firstRow="0" bandRow="0">
                <a:tableStyleId>{5C22544A-7EE6-4342-B048-85BDC9FD1C3A}</a:tableStyleId>
              </a:tblPr>
              <a:tblGrid>
                <a:gridCol w="2422702"/>
                <a:gridCol w="4499305"/>
              </a:tblGrid>
              <a:tr h="323088">
                <a:tc>
                  <a:txBody>
                    <a:bodyPr wrap="square"/>
                    <a:lstStyle/>
                    <a:p>
                      <a:r>
                        <a:rPr sz="1400" b="1" i="0">
                          <a:solidFill>
                            <a:srgbClr val="FFFFFF"/>
                          </a:solidFill>
                          <a:latin typeface="Arial"/>
                        </a:rPr>
                        <a:t>Distance</a:t>
                      </a:r>
                    </a:p>
                  </a:txBody>
                  <a:tcPr marL="73152" marR="73152" marT="45720" marB="45720" anchor="ctr">
                    <a:solidFill>
                      <a:srgbClr val="00943A"/>
                    </a:solidFill>
                  </a:tcPr>
                </a:tc>
                <a:tc>
                  <a:txBody>
                    <a:bodyPr wrap="square"/>
                    <a:lstStyle/>
                    <a:p>
                      <a:r>
                        <a:rPr sz="1400" b="1" i="0">
                          <a:solidFill>
                            <a:srgbClr val="FFFFFF"/>
                          </a:solidFill>
                          <a:latin typeface="Arial"/>
                        </a:rPr>
                        <a:t>Pattern</a:t>
                      </a:r>
                    </a:p>
                  </a:txBody>
                  <a:tcPr marL="73152" marR="73152" marT="45720" marB="45720" anchor="ctr">
                    <a:solidFill>
                      <a:srgbClr val="00943A"/>
                    </a:solidFill>
                  </a:tcPr>
                </a:tc>
              </a:tr>
              <a:tr h="323088">
                <a:tc>
                  <a:txBody>
                    <a:bodyPr wrap="square"/>
                    <a:lstStyle/>
                    <a:p>
                      <a:r>
                        <a:rPr sz="1400" b="1" i="0">
                          <a:solidFill>
                            <a:srgbClr val="2B2B2B"/>
                          </a:solidFill>
                          <a:latin typeface="Arial"/>
                        </a:rPr>
                        <a:t>&gt; 200 cm</a:t>
                      </a:r>
                    </a:p>
                  </a:txBody>
                  <a:tcPr marL="73152" marR="73152" marT="45720" marB="45720" anchor="ctr">
                    <a:solidFill>
                      <a:srgbClr val="FFFFFF"/>
                    </a:solidFill>
                  </a:tcPr>
                </a:tc>
                <a:tc>
                  <a:txBody>
                    <a:bodyPr wrap="square"/>
                    <a:lstStyle/>
                    <a:p>
                      <a:r>
                        <a:rPr sz="1400" b="0" i="0">
                          <a:solidFill>
                            <a:srgbClr val="2B2B2B"/>
                          </a:solidFill>
                          <a:latin typeface="Arial"/>
                        </a:rPr>
                        <a:t>Silent</a:t>
                      </a:r>
                    </a:p>
                  </a:txBody>
                  <a:tcPr marL="73152" marR="73152" marT="45720" marB="45720" anchor="ctr">
                    <a:solidFill>
                      <a:srgbClr val="FFFFFF"/>
                    </a:solidFill>
                  </a:tcPr>
                </a:tc>
              </a:tr>
              <a:tr h="323088">
                <a:tc>
                  <a:txBody>
                    <a:bodyPr wrap="square"/>
                    <a:lstStyle/>
                    <a:p>
                      <a:r>
                        <a:rPr sz="1400" b="1" i="0">
                          <a:solidFill>
                            <a:srgbClr val="2B2B2B"/>
                          </a:solidFill>
                          <a:latin typeface="Arial"/>
                        </a:rPr>
                        <a:t>~100 cm</a:t>
                      </a:r>
                    </a:p>
                  </a:txBody>
                  <a:tcPr marL="73152" marR="73152" marT="45720" marB="45720" anchor="ctr">
                    <a:solidFill>
                      <a:srgbClr val="F6F8F6"/>
                    </a:solidFill>
                  </a:tcPr>
                </a:tc>
                <a:tc>
                  <a:txBody>
                    <a:bodyPr wrap="square"/>
                    <a:lstStyle/>
                    <a:p>
                      <a:r>
                        <a:rPr sz="1400" b="1" i="0">
                          <a:solidFill>
                            <a:srgbClr val="2B2B2B"/>
                          </a:solidFill>
                          <a:latin typeface="Arial"/>
                        </a:rPr>
                        <a:t>~1 pulse/s</a:t>
                      </a:r>
                      <a:r>
                        <a:rPr sz="1400" b="0" i="0">
                          <a:solidFill>
                            <a:srgbClr val="2B2B2B"/>
                          </a:solidFill>
                          <a:latin typeface="Arial"/>
                        </a:rPr>
                        <a:t>, front motor</a:t>
                      </a:r>
                    </a:p>
                  </a:txBody>
                  <a:tcPr marL="73152" marR="73152" marT="45720" marB="45720" anchor="ctr">
                    <a:solidFill>
                      <a:srgbClr val="F6F8F6"/>
                    </a:solidFill>
                  </a:tcPr>
                </a:tc>
              </a:tr>
              <a:tr h="323088">
                <a:tc>
                  <a:txBody>
                    <a:bodyPr wrap="square"/>
                    <a:lstStyle/>
                    <a:p>
                      <a:r>
                        <a:rPr sz="1400" b="1" i="0">
                          <a:solidFill>
                            <a:srgbClr val="2B2B2B"/>
                          </a:solidFill>
                          <a:latin typeface="Arial"/>
                        </a:rPr>
                        <a:t>&lt; 50 cm</a:t>
                      </a:r>
                    </a:p>
                  </a:txBody>
                  <a:tcPr marL="73152" marR="73152" marT="45720" marB="45720" anchor="ctr">
                    <a:solidFill>
                      <a:srgbClr val="FFFFFF"/>
                    </a:solidFill>
                  </a:tcPr>
                </a:tc>
                <a:tc>
                  <a:txBody>
                    <a:bodyPr wrap="square"/>
                    <a:lstStyle/>
                    <a:p>
                      <a:r>
                        <a:rPr sz="1400" b="1" i="0">
                          <a:solidFill>
                            <a:srgbClr val="2B2B2B"/>
                          </a:solidFill>
                          <a:latin typeface="Arial"/>
                        </a:rPr>
                        <a:t>3–5 pulses/s</a:t>
                      </a:r>
                      <a:r>
                        <a:rPr sz="1400" b="0" i="0">
                          <a:solidFill>
                            <a:srgbClr val="2B2B2B"/>
                          </a:solidFill>
                          <a:latin typeface="Arial"/>
                        </a:rPr>
                        <a:t>, </a:t>
                      </a:r>
                      <a:r>
                        <a:rPr sz="1400" b="1" i="0">
                          <a:solidFill>
                            <a:srgbClr val="2B2B2B"/>
                          </a:solidFill>
                          <a:latin typeface="Arial"/>
                        </a:rPr>
                        <a:t>all 3 motors</a:t>
                      </a:r>
                    </a:p>
                  </a:txBody>
                  <a:tcPr marL="73152" marR="73152" marT="45720" marB="45720" anchor="ctr">
                    <a:solidFill>
                      <a:srgbClr val="FFFFFF"/>
                    </a:solidFill>
                  </a:tcPr>
                </a:tc>
              </a:tr>
              <a:tr h="323088">
                <a:tc>
                  <a:txBody>
                    <a:bodyPr wrap="square"/>
                    <a:lstStyle/>
                    <a:p>
                      <a:r>
                        <a:rPr sz="1400" b="1" i="0">
                          <a:solidFill>
                            <a:srgbClr val="2B2B2B"/>
                          </a:solidFill>
                          <a:latin typeface="Arial"/>
                        </a:rPr>
                        <a:t>&lt; 30 cm</a:t>
                      </a:r>
                    </a:p>
                  </a:txBody>
                  <a:tcPr marL="73152" marR="73152" marT="45720" marB="45720" anchor="ctr">
                    <a:solidFill>
                      <a:srgbClr val="F6F8F6"/>
                    </a:solidFill>
                  </a:tcPr>
                </a:tc>
                <a:tc>
                  <a:txBody>
                    <a:bodyPr wrap="square"/>
                    <a:lstStyle/>
                    <a:p>
                      <a:r>
                        <a:rPr sz="1400" b="1" i="0">
                          <a:solidFill>
                            <a:srgbClr val="2B2B2B"/>
                          </a:solidFill>
                          <a:latin typeface="Arial"/>
                        </a:rPr>
                        <a:t>8 pulses/s</a:t>
                      </a:r>
                      <a:r>
                        <a:rPr sz="1400" b="0" i="0">
                          <a:solidFill>
                            <a:srgbClr val="2B2B2B"/>
                          </a:solidFill>
                          <a:latin typeface="Arial"/>
                        </a:rPr>
                        <a:t> (maximum)</a:t>
                      </a:r>
                    </a:p>
                  </a:txBody>
                  <a:tcPr marL="73152" marR="73152" marT="45720" marB="45720" anchor="ctr">
                    <a:solidFill>
                      <a:srgbClr val="F6F8F6"/>
                    </a:solidFill>
                  </a:tcPr>
                </a:tc>
              </a:tr>
            </a:tbl>
          </a:graphicData>
        </a:graphic>
      </p:graphicFrame>
      <p:sp>
        <p:nvSpPr>
          <p:cNvPr id="7" name="Table notes"/>
          <p:cNvSpPr txBox="1"/>
          <p:nvPr/>
        </p:nvSpPr>
        <p:spPr>
          <a:xfrm>
            <a:off x="4828032" y="3530599"/>
            <a:ext cx="6922007" cy="2458720"/>
          </a:xfrm>
          <a:prstGeom prst="rect">
            <a:avLst/>
          </a:prstGeom>
          <a:noFill/>
        </p:spPr>
        <p:txBody>
          <a:bodyPr wrap="square" lIns="0" rIns="0" tIns="0" bIns="0" anchor="t">
            <a:noAutofit/>
          </a:bodyPr>
          <a:lstStyle/>
          <a:p>
            <a:pPr marL="201168" indent="-201168">
              <a:spcAft>
                <a:spcPts val="532"/>
              </a:spcAft>
              <a:buClr>
                <a:srgbClr val="00943A"/>
              </a:buClr>
              <a:buFont typeface="Arial"/>
              <a:buChar char="•"/>
            </a:pPr>
            <a:r>
              <a:rPr sz="1400" b="1" i="0">
                <a:solidFill>
                  <a:srgbClr val="2B2B2B"/>
                </a:solidFill>
                <a:latin typeface="Arial"/>
              </a:rPr>
              <a:t>80 ms</a:t>
            </a:r>
            <a:r>
              <a:rPr sz="1400" b="0" i="0">
                <a:solidFill>
                  <a:srgbClr val="2B2B2B"/>
                </a:solidFill>
                <a:latin typeface="Arial"/>
              </a:rPr>
              <a:t> pulses, </a:t>
            </a:r>
            <a:r>
              <a:rPr sz="1400" b="1" i="0">
                <a:solidFill>
                  <a:srgbClr val="2B2B2B"/>
                </a:solidFill>
                <a:latin typeface="Arial"/>
              </a:rPr>
              <a:t>rate rather than strength</a:t>
            </a:r>
            <a:r>
              <a:rPr sz="1400" b="0" i="0">
                <a:solidFill>
                  <a:srgbClr val="2B2B2B"/>
                </a:solidFill>
                <a:latin typeface="Arial"/>
              </a:rPr>
              <a:t>, because skin adapts to steady buzzing</a:t>
            </a:r>
          </a:p>
          <a:p>
            <a:pPr marL="201168" indent="-201168">
              <a:spcAft>
                <a:spcPts val="532"/>
              </a:spcAft>
              <a:buClr>
                <a:srgbClr val="00943A"/>
              </a:buClr>
              <a:buFont typeface="Arial"/>
              <a:buChar char="•"/>
            </a:pPr>
            <a:r>
              <a:rPr sz="1400" b="1" i="0">
                <a:solidFill>
                  <a:srgbClr val="2B2B2B"/>
                </a:solidFill>
                <a:latin typeface="Arial"/>
              </a:rPr>
              <a:t>Standing still:</a:t>
            </a:r>
            <a:r>
              <a:rPr sz="1400" b="0" i="0">
                <a:solidFill>
                  <a:srgbClr val="2B2B2B"/>
                </a:solidFill>
                <a:latin typeface="Arial"/>
              </a:rPr>
              <a:t> quiet, with a danger reminder every </a:t>
            </a:r>
            <a:r>
              <a:rPr sz="1400" b="1" i="0">
                <a:solidFill>
                  <a:srgbClr val="2B2B2B"/>
                </a:solidFill>
                <a:latin typeface="Arial"/>
              </a:rPr>
              <a:t>15 s</a:t>
            </a:r>
          </a:p>
        </p:txBody>
      </p:sp>
      <p:sp>
        <p:nvSpPr>
          <p:cNvPr id="8" name="Field callouts card"/>
          <p:cNvSpPr/>
          <p:nvPr/>
        </p:nvSpPr>
        <p:spPr>
          <a:xfrm>
            <a:off x="1280160" y="1371600"/>
            <a:ext cx="3291840" cy="4617720"/>
          </a:xfrm>
          <a:prstGeom prst="roundRect">
            <a:avLst>
              <a:gd name="adj" fmla="val 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Field callouts text"/>
          <p:cNvSpPr txBox="1"/>
          <p:nvPr/>
        </p:nvSpPr>
        <p:spPr>
          <a:xfrm>
            <a:off x="1463039" y="1554480"/>
            <a:ext cx="2926080" cy="4251959"/>
          </a:xfrm>
          <a:prstGeom prst="rect">
            <a:avLst/>
          </a:prstGeom>
          <a:noFill/>
        </p:spPr>
        <p:txBody>
          <a:bodyPr wrap="square" lIns="0" rIns="0" tIns="0" bIns="0" anchor="t">
            <a:noAutofit/>
          </a:bodyPr>
          <a:lstStyle/>
          <a:p>
            <a:pPr marL="201168" indent="-201168">
              <a:spcAft>
                <a:spcPts val="570"/>
              </a:spcAft>
              <a:buClr>
                <a:srgbClr val="00943A"/>
              </a:buClr>
              <a:buFont typeface="Arial"/>
              <a:buChar char="•"/>
            </a:pPr>
            <a:r>
              <a:rPr sz="1500" b="1" i="0">
                <a:solidFill>
                  <a:srgbClr val="2B2B2B"/>
                </a:solidFill>
                <a:latin typeface="Arial"/>
              </a:rPr>
              <a:t>Read:</a:t>
            </a:r>
            <a:r>
              <a:rPr sz="1500" b="0" i="0">
                <a:solidFill>
                  <a:srgbClr val="2B2B2B"/>
                </a:solidFill>
                <a:latin typeface="Arial"/>
              </a:rPr>
              <a:t> IMU sample (</a:t>
            </a:r>
            <a:r>
              <a:rPr sz="1500" b="1" i="0">
                <a:solidFill>
                  <a:srgbClr val="2B2B2B"/>
                </a:solidFill>
                <a:latin typeface="Arial"/>
              </a:rPr>
              <a:t>100 Hz</a:t>
            </a:r>
            <a:r>
              <a:rPr sz="1500" b="0" i="0">
                <a:solidFill>
                  <a:srgbClr val="2B2B2B"/>
                </a:solidFill>
                <a:latin typeface="Arial"/>
              </a:rPr>
              <a:t>) and the latest </a:t>
            </a:r>
            <a:r>
              <a:rPr sz="1500" b="1" i="0">
                <a:solidFill>
                  <a:srgbClr val="2B2B2B"/>
                </a:solidFill>
                <a:latin typeface="Arial"/>
              </a:rPr>
              <a:t>top/bottom</a:t>
            </a:r>
            <a:r>
              <a:rPr sz="1500" b="0" i="0">
                <a:solidFill>
                  <a:srgbClr val="2B2B2B"/>
                </a:solidFill>
                <a:latin typeface="Arial"/>
              </a:rPr>
              <a:t> ultrasonic distances</a:t>
            </a:r>
          </a:p>
          <a:p>
            <a:pPr marL="201168" indent="-201168">
              <a:spcAft>
                <a:spcPts val="570"/>
              </a:spcAft>
              <a:buClr>
                <a:srgbClr val="00943A"/>
              </a:buClr>
              <a:buFont typeface="Arial"/>
              <a:buChar char="•"/>
            </a:pPr>
            <a:r>
              <a:rPr sz="1500" b="1" i="0">
                <a:solidFill>
                  <a:srgbClr val="2B2B2B"/>
                </a:solidFill>
                <a:latin typeface="Arial"/>
              </a:rPr>
              <a:t>Decide:</a:t>
            </a:r>
          </a:p>
          <a:p>
            <a:pPr marL="438912" indent="-182880">
              <a:spcAft>
                <a:spcPts val="570"/>
              </a:spcAft>
              <a:buClr>
                <a:srgbClr val="00943A"/>
              </a:buClr>
              <a:buFont typeface="Arial"/>
              <a:buChar char="–"/>
            </a:pPr>
            <a:r>
              <a:rPr sz="1400" b="0" i="0">
                <a:solidFill>
                  <a:srgbClr val="2B2B2B"/>
                </a:solidFill>
                <a:latin typeface="Arial"/>
              </a:rPr>
              <a:t>Is the wearer </a:t>
            </a:r>
            <a:r>
              <a:rPr sz="1400" b="1" i="0">
                <a:solidFill>
                  <a:srgbClr val="2B2B2B"/>
                </a:solidFill>
                <a:latin typeface="Arial"/>
              </a:rPr>
              <a:t>walking or still</a:t>
            </a:r>
            <a:r>
              <a:rPr sz="1400" b="0" i="0">
                <a:solidFill>
                  <a:srgbClr val="2B2B2B"/>
                </a:solidFill>
                <a:latin typeface="Arial"/>
              </a:rPr>
              <a:t>? (chest IMU)</a:t>
            </a:r>
          </a:p>
          <a:p>
            <a:pPr marL="438912" indent="-182880">
              <a:spcAft>
                <a:spcPts val="570"/>
              </a:spcAft>
              <a:buClr>
                <a:srgbClr val="00943A"/>
              </a:buClr>
              <a:buFont typeface="Arial"/>
              <a:buChar char="–"/>
            </a:pPr>
            <a:r>
              <a:rPr sz="1400" b="0" i="0">
                <a:solidFill>
                  <a:srgbClr val="2B2B2B"/>
                </a:solidFill>
                <a:latin typeface="Arial"/>
              </a:rPr>
              <a:t>Closest obstacle → </a:t>
            </a:r>
            <a:r>
              <a:rPr sz="1400" b="1" i="0">
                <a:solidFill>
                  <a:srgbClr val="2B2B2B"/>
                </a:solidFill>
                <a:latin typeface="Arial"/>
              </a:rPr>
              <a:t>proximity tier</a:t>
            </a:r>
          </a:p>
          <a:p>
            <a:pPr marL="438912" indent="-182880">
              <a:spcAft>
                <a:spcPts val="570"/>
              </a:spcAft>
              <a:buClr>
                <a:srgbClr val="00943A"/>
              </a:buClr>
              <a:buFont typeface="Arial"/>
              <a:buChar char="–"/>
            </a:pPr>
            <a:r>
              <a:rPr sz="1400" b="1" i="0">
                <a:solidFill>
                  <a:srgbClr val="2B2B2B"/>
                </a:solidFill>
                <a:latin typeface="Arial"/>
              </a:rPr>
              <a:t>Hysteresis band of 15 cm</a:t>
            </a:r>
            <a:r>
              <a:rPr sz="1400" b="0" i="0">
                <a:solidFill>
                  <a:srgbClr val="2B2B2B"/>
                </a:solidFill>
                <a:latin typeface="Arial"/>
              </a:rPr>
              <a:t> so cane sway does not cause false tier changes</a:t>
            </a:r>
          </a:p>
          <a:p>
            <a:pPr marL="201168" indent="-201168">
              <a:spcAft>
                <a:spcPts val="570"/>
              </a:spcAft>
              <a:buClr>
                <a:srgbClr val="00943A"/>
              </a:buClr>
              <a:buFont typeface="Arial"/>
              <a:buChar char="•"/>
            </a:pPr>
            <a:r>
              <a:rPr sz="1500" b="1" i="0">
                <a:solidFill>
                  <a:srgbClr val="2B2B2B"/>
                </a:solidFill>
                <a:latin typeface="Arial"/>
              </a:rPr>
              <a:t>Signal:</a:t>
            </a:r>
            <a:r>
              <a:rPr sz="1500" b="0" i="0">
                <a:solidFill>
                  <a:srgbClr val="2B2B2B"/>
                </a:solidFill>
                <a:latin typeface="Arial"/>
              </a:rPr>
              <a:t> spawn a haptic pattern on a worker thread, </a:t>
            </a:r>
            <a:r>
              <a:rPr sz="1500" b="1" i="0">
                <a:solidFill>
                  <a:srgbClr val="2B2B2B"/>
                </a:solidFill>
                <a:latin typeface="Arial"/>
              </a:rPr>
              <a:t>never inline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tion kicker"/>
          <p:cNvSpPr txBox="1"/>
          <p:nvPr/>
        </p:nvSpPr>
        <p:spPr>
          <a:xfrm>
            <a:off x="1280160" y="292608"/>
            <a:ext cx="8686800" cy="256032"/>
          </a:xfrm>
          <a:prstGeom prst="rect">
            <a:avLst/>
          </a:prstGeom>
          <a:noFill/>
        </p:spPr>
        <p:txBody>
          <a:bodyPr wrap="square" lIns="0" rIns="0" tIns="0" bIns="0" anchor="t">
            <a:noAutofit/>
          </a:bodyPr>
          <a:lstStyle/>
          <a:p>
            <a:r>
              <a:rPr sz="1100" b="1" i="0">
                <a:solidFill>
                  <a:srgbClr val="6B6B6B"/>
                </a:solidFill>
                <a:latin typeface="Arial"/>
              </a:rPr>
              <a:t>PROCESS FLOW &amp; SOFTWARE LOGIC</a:t>
            </a:r>
          </a:p>
        </p:txBody>
      </p:sp>
      <p:sp>
        <p:nvSpPr>
          <p:cNvPr id="3" name="Title"/>
          <p:cNvSpPr txBox="1"/>
          <p:nvPr/>
        </p:nvSpPr>
        <p:spPr>
          <a:xfrm>
            <a:off x="1280160" y="502920"/>
            <a:ext cx="10469880" cy="731520"/>
          </a:xfrm>
          <a:prstGeom prst="rect">
            <a:avLst/>
          </a:prstGeom>
          <a:noFill/>
        </p:spPr>
        <p:txBody>
          <a:bodyPr wrap="square" lIns="0" rIns="0" tIns="0" bIns="0" anchor="ctr">
            <a:noAutofit/>
          </a:bodyPr>
          <a:lstStyle/>
          <a:p>
            <a:r>
              <a:rPr sz="3200" b="1" i="0">
                <a:solidFill>
                  <a:srgbClr val="00943A"/>
                </a:solidFill>
                <a:latin typeface="Arial"/>
              </a:rPr>
              <a:t>Push-to-Talk Voice Command Pipeline</a:t>
            </a:r>
          </a:p>
        </p:txBody>
      </p:sp>
      <p:sp>
        <p:nvSpPr>
          <p:cNvPr id="4" name="Slide number"/>
          <p:cNvSpPr txBox="1"/>
          <p:nvPr/>
        </p:nvSpPr>
        <p:spPr>
          <a:xfrm>
            <a:off x="1280160" y="6327648"/>
            <a:ext cx="2286000" cy="274320"/>
          </a:xfrm>
          <a:prstGeom prst="rect">
            <a:avLst/>
          </a:prstGeom>
          <a:noFill/>
        </p:spPr>
        <p:txBody>
          <a:bodyPr wrap="square" lIns="0" rIns="0" tIns="0" bIns="0" anchor="t">
            <a:noAutofit/>
          </a:bodyPr>
          <a:lstStyle/>
          <a:p>
            <a:r>
              <a:rPr sz="1000" b="0" i="0">
                <a:solidFill>
                  <a:srgbClr val="6B6B6B"/>
                </a:solidFill>
                <a:latin typeface="Arial"/>
              </a:rPr>
              <a:t>IndepenSense · 22</a:t>
            </a:r>
          </a:p>
        </p:txBody>
      </p:sp>
      <p:pic>
        <p:nvPicPr>
          <p:cNvPr id="5" name="Figure 1" descr="p41_X178.png"/>
          <p:cNvPicPr>
            <a:picLocks noChangeAspect="1"/>
          </p:cNvPicPr>
          <p:nvPr/>
        </p:nvPicPr>
        <p:blipFill>
          <a:blip r:embed="rId2"/>
          <a:stretch>
            <a:fillRect/>
          </a:stretch>
        </p:blipFill>
        <p:spPr>
          <a:xfrm>
            <a:off x="9255920" y="1371600"/>
            <a:ext cx="2494119" cy="4325112"/>
          </a:xfrm>
          <a:prstGeom prst="rect">
            <a:avLst/>
          </a:prstGeom>
          <a:ln w="9525">
            <a:solidFill>
              <a:srgbClr val="D9D9D9"/>
            </a:solidFill>
          </a:ln>
        </p:spPr>
      </p:pic>
      <p:sp>
        <p:nvSpPr>
          <p:cNvPr id="6" name="Figure 1 caption"/>
          <p:cNvSpPr txBox="1"/>
          <p:nvPr/>
        </p:nvSpPr>
        <p:spPr>
          <a:xfrm>
            <a:off x="9164480" y="5742431"/>
            <a:ext cx="2676999" cy="274320"/>
          </a:xfrm>
          <a:prstGeom prst="rect">
            <a:avLst/>
          </a:prstGeom>
          <a:noFill/>
        </p:spPr>
        <p:txBody>
          <a:bodyPr wrap="square" lIns="0" rIns="0" tIns="0" bIns="0" anchor="t">
            <a:noAutofit/>
          </a:bodyPr>
          <a:lstStyle/>
          <a:p>
            <a:pPr algn="ctr"/>
            <a:r>
              <a:rPr sz="1000" b="0" i="1">
                <a:solidFill>
                  <a:srgbClr val="6B6B6B"/>
                </a:solidFill>
                <a:latin typeface="Arial"/>
              </a:rPr>
              <a:t>Voice command</a:t>
            </a:r>
          </a:p>
        </p:txBody>
      </p:sp>
      <p:sp>
        <p:nvSpPr>
          <p:cNvPr id="7" name="Field 1 card"/>
          <p:cNvSpPr/>
          <p:nvPr/>
        </p:nvSpPr>
        <p:spPr>
          <a:xfrm>
            <a:off x="1280160" y="1371600"/>
            <a:ext cx="3911308" cy="4617720"/>
          </a:xfrm>
          <a:prstGeom prst="roundRect">
            <a:avLst>
              <a:gd name="adj" fmla="val 4208"/>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Field 1 text"/>
          <p:cNvSpPr txBox="1"/>
          <p:nvPr/>
        </p:nvSpPr>
        <p:spPr>
          <a:xfrm>
            <a:off x="1463039" y="1554480"/>
            <a:ext cx="3545548" cy="4251959"/>
          </a:xfrm>
          <a:prstGeom prst="rect">
            <a:avLst/>
          </a:prstGeom>
          <a:noFill/>
        </p:spPr>
        <p:txBody>
          <a:bodyPr wrap="square" lIns="0" rIns="0" tIns="0" bIns="0" anchor="t">
            <a:noAutofit/>
          </a:bodyPr>
          <a:lstStyle/>
          <a:p>
            <a:pPr marL="201168" indent="-201168">
              <a:spcAft>
                <a:spcPts val="532"/>
              </a:spcAft>
              <a:buClr>
                <a:srgbClr val="00943A"/>
              </a:buClr>
              <a:buFont typeface="Arial"/>
              <a:buChar char="•"/>
            </a:pPr>
            <a:r>
              <a:rPr sz="1400" b="1" i="0">
                <a:solidFill>
                  <a:srgbClr val="2B2B2B"/>
                </a:solidFill>
                <a:latin typeface="Arial"/>
              </a:rPr>
              <a:t>① Press PTT (right):</a:t>
            </a:r>
            <a:r>
              <a:rPr sz="1400" b="0" i="0">
                <a:solidFill>
                  <a:srgbClr val="2B2B2B"/>
                </a:solidFill>
                <a:latin typeface="Arial"/>
              </a:rPr>
              <a:t> a chime confirms, and recording starts</a:t>
            </a:r>
          </a:p>
          <a:p>
            <a:pPr marL="201168" indent="-201168">
              <a:spcAft>
                <a:spcPts val="532"/>
              </a:spcAft>
              <a:buClr>
                <a:srgbClr val="00943A"/>
              </a:buClr>
              <a:buFont typeface="Arial"/>
              <a:buChar char="•"/>
            </a:pPr>
            <a:r>
              <a:rPr sz="1400" b="1" i="0">
                <a:solidFill>
                  <a:srgbClr val="2B2B2B"/>
                </a:solidFill>
                <a:latin typeface="Arial"/>
              </a:rPr>
              <a:t>② Record:</a:t>
            </a:r>
            <a:r>
              <a:rPr sz="1400" b="0" i="0">
                <a:solidFill>
                  <a:srgbClr val="2B2B2B"/>
                </a:solidFill>
                <a:latin typeface="Arial"/>
              </a:rPr>
              <a:t> the press again (or a timeout) stops it</a:t>
            </a:r>
          </a:p>
          <a:p>
            <a:pPr marL="201168" indent="-201168">
              <a:spcAft>
                <a:spcPts val="532"/>
              </a:spcAft>
              <a:buClr>
                <a:srgbClr val="00943A"/>
              </a:buClr>
              <a:buFont typeface="Arial"/>
              <a:buChar char="•"/>
            </a:pPr>
            <a:r>
              <a:rPr sz="1400" b="1" i="0">
                <a:solidFill>
                  <a:srgbClr val="2B2B2B"/>
                </a:solidFill>
                <a:latin typeface="Arial"/>
              </a:rPr>
              <a:t>③ Speech-to-text</a:t>
            </a:r>
            <a:r>
              <a:rPr sz="1400" b="0" i="0">
                <a:solidFill>
                  <a:srgbClr val="2B2B2B"/>
                </a:solidFill>
                <a:latin typeface="Arial"/>
              </a:rPr>
              <a:t>: </a:t>
            </a:r>
            <a:r>
              <a:rPr sz="1400" b="1" i="0">
                <a:solidFill>
                  <a:srgbClr val="2B2B2B"/>
                </a:solidFill>
                <a:latin typeface="Arial"/>
              </a:rPr>
              <a:t>English → Whisper tiny on device (1.13 s)</a:t>
            </a:r>
            <a:r>
              <a:rPr sz="1400" b="0" i="0">
                <a:solidFill>
                  <a:srgbClr val="2B2B2B"/>
                </a:solidFill>
                <a:latin typeface="Arial"/>
              </a:rPr>
              <a:t> · </a:t>
            </a:r>
            <a:r>
              <a:rPr sz="1400" b="1" i="0">
                <a:solidFill>
                  <a:srgbClr val="2B2B2B"/>
                </a:solidFill>
                <a:latin typeface="Arial"/>
              </a:rPr>
              <a:t>Tagalog → cloud Whisper large-v3-turbo</a:t>
            </a:r>
            <a:r>
              <a:rPr sz="1400" b="0" i="0">
                <a:solidFill>
                  <a:srgbClr val="2B2B2B"/>
                </a:solidFill>
                <a:latin typeface="Arial"/>
              </a:rPr>
              <a:t>, with local fallback</a:t>
            </a:r>
          </a:p>
          <a:p>
            <a:pPr marL="201168" indent="-201168">
              <a:spcAft>
                <a:spcPts val="532"/>
              </a:spcAft>
              <a:buClr>
                <a:srgbClr val="00943A"/>
              </a:buClr>
              <a:buFont typeface="Arial"/>
              <a:buChar char="•"/>
            </a:pPr>
            <a:r>
              <a:rPr sz="1400" b="1" i="0">
                <a:solidFill>
                  <a:srgbClr val="2B2B2B"/>
                </a:solidFill>
                <a:latin typeface="Arial"/>
              </a:rPr>
              <a:t>④ Intent classification</a:t>
            </a:r>
            <a:r>
              <a:rPr sz="1400" b="0" i="0">
                <a:solidFill>
                  <a:srgbClr val="2B2B2B"/>
                </a:solidFill>
                <a:latin typeface="Arial"/>
              </a:rPr>
              <a:t>:</a:t>
            </a:r>
          </a:p>
          <a:p>
            <a:pPr marL="438912" indent="-182880">
              <a:spcAft>
                <a:spcPts val="532"/>
              </a:spcAft>
              <a:buClr>
                <a:srgbClr val="00943A"/>
              </a:buClr>
              <a:buFont typeface="Arial"/>
              <a:buChar char="–"/>
            </a:pPr>
            <a:r>
              <a:rPr sz="1300" b="1" i="0">
                <a:solidFill>
                  <a:srgbClr val="2B2B2B"/>
                </a:solidFill>
                <a:latin typeface="Arial"/>
              </a:rPr>
              <a:t>Embedding fast path</a:t>
            </a:r>
            <a:r>
              <a:rPr sz="1300" b="0" i="0">
                <a:solidFill>
                  <a:srgbClr val="2B2B2B"/>
                </a:solidFill>
                <a:latin typeface="Arial"/>
              </a:rPr>
              <a:t> (~</a:t>
            </a:r>
            <a:r>
              <a:rPr sz="1300" b="1" i="0">
                <a:solidFill>
                  <a:srgbClr val="2B2B2B"/>
                </a:solidFill>
                <a:latin typeface="Arial"/>
              </a:rPr>
              <a:t>52%</a:t>
            </a:r>
            <a:r>
              <a:rPr sz="1300" b="0" i="0">
                <a:solidFill>
                  <a:srgbClr val="2B2B2B"/>
                </a:solidFill>
                <a:latin typeface="Arial"/>
              </a:rPr>
              <a:t> of utterances, ~</a:t>
            </a:r>
            <a:r>
              <a:rPr sz="1300" b="1" i="0">
                <a:solidFill>
                  <a:srgbClr val="2B2B2B"/>
                </a:solidFill>
                <a:latin typeface="Arial"/>
              </a:rPr>
              <a:t>30 ms</a:t>
            </a:r>
            <a:r>
              <a:rPr sz="1300" b="0" i="0">
                <a:solidFill>
                  <a:srgbClr val="2B2B2B"/>
                </a:solidFill>
                <a:latin typeface="Arial"/>
              </a:rPr>
              <a:t>)</a:t>
            </a:r>
          </a:p>
          <a:p>
            <a:pPr marL="438912" indent="-182880">
              <a:spcAft>
                <a:spcPts val="532"/>
              </a:spcAft>
              <a:buClr>
                <a:srgbClr val="00943A"/>
              </a:buClr>
              <a:buFont typeface="Arial"/>
              <a:buChar char="–"/>
            </a:pPr>
            <a:r>
              <a:rPr sz="1300" b="0" i="0">
                <a:solidFill>
                  <a:srgbClr val="2B2B2B"/>
                </a:solidFill>
                <a:latin typeface="Arial"/>
              </a:rPr>
              <a:t>→ </a:t>
            </a:r>
            <a:r>
              <a:rPr sz="1300" b="1" i="0">
                <a:solidFill>
                  <a:srgbClr val="2B2B2B"/>
                </a:solidFill>
                <a:latin typeface="Arial"/>
              </a:rPr>
              <a:t>Mistral (cloud)</a:t>
            </a:r>
            <a:r>
              <a:rPr sz="1300" b="0" i="0">
                <a:solidFill>
                  <a:srgbClr val="2B2B2B"/>
                </a:solidFill>
                <a:latin typeface="Arial"/>
              </a:rPr>
              <a:t> → </a:t>
            </a:r>
            <a:r>
              <a:rPr sz="1300" b="1" i="0">
                <a:solidFill>
                  <a:srgbClr val="2B2B2B"/>
                </a:solidFill>
                <a:latin typeface="Arial"/>
              </a:rPr>
              <a:t>Qwen 3 1.7B (local)</a:t>
            </a:r>
            <a:r>
              <a:rPr sz="1300" b="0" i="0">
                <a:solidFill>
                  <a:srgbClr val="2B2B2B"/>
                </a:solidFill>
                <a:latin typeface="Arial"/>
              </a:rPr>
              <a:t> when offline</a:t>
            </a:r>
          </a:p>
          <a:p>
            <a:pPr marL="201168" indent="-201168">
              <a:spcAft>
                <a:spcPts val="532"/>
              </a:spcAft>
              <a:buClr>
                <a:srgbClr val="00943A"/>
              </a:buClr>
              <a:buFont typeface="Arial"/>
              <a:buChar char="•"/>
            </a:pPr>
            <a:r>
              <a:rPr sz="1400" b="1" i="0">
                <a:solidFill>
                  <a:srgbClr val="2B2B2B"/>
                </a:solidFill>
                <a:latin typeface="Arial"/>
              </a:rPr>
              <a:t>⑤ Execute + speak:</a:t>
            </a:r>
            <a:r>
              <a:rPr sz="1400" b="0" i="0">
                <a:solidFill>
                  <a:srgbClr val="2B2B2B"/>
                </a:solidFill>
                <a:latin typeface="Arial"/>
              </a:rPr>
              <a:t> navigation, vision, status, time, language, emergency</a:t>
            </a:r>
          </a:p>
        </p:txBody>
      </p:sp>
      <p:sp>
        <p:nvSpPr>
          <p:cNvPr id="9" name="Field 2 card"/>
          <p:cNvSpPr/>
          <p:nvPr/>
        </p:nvSpPr>
        <p:spPr>
          <a:xfrm>
            <a:off x="5447500" y="1371600"/>
            <a:ext cx="3552388" cy="4617720"/>
          </a:xfrm>
          <a:prstGeom prst="roundRect">
            <a:avLst>
              <a:gd name="adj" fmla="val 4633"/>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Field 2 text"/>
          <p:cNvSpPr txBox="1"/>
          <p:nvPr/>
        </p:nvSpPr>
        <p:spPr>
          <a:xfrm>
            <a:off x="5630380" y="1554480"/>
            <a:ext cx="3186628" cy="4251959"/>
          </a:xfrm>
          <a:prstGeom prst="rect">
            <a:avLst/>
          </a:prstGeom>
          <a:noFill/>
        </p:spPr>
        <p:txBody>
          <a:bodyPr wrap="square" lIns="0" rIns="0" tIns="0" bIns="0" anchor="t">
            <a:noAutofit/>
          </a:bodyPr>
          <a:lstStyle/>
          <a:p>
            <a:pPr marL="201168" indent="-201168">
              <a:spcAft>
                <a:spcPts val="532"/>
              </a:spcAft>
              <a:buClr>
                <a:srgbClr val="00943A"/>
              </a:buClr>
              <a:buFont typeface="Arial"/>
              <a:buChar char="•"/>
            </a:pPr>
            <a:r>
              <a:rPr sz="1400" b="1" i="0">
                <a:solidFill>
                  <a:srgbClr val="2B2B2B"/>
                </a:solidFill>
                <a:latin typeface="Arial"/>
              </a:rPr>
              <a:t>Intents served</a:t>
            </a:r>
            <a:r>
              <a:rPr sz="1400" b="0" i="0">
                <a:solidFill>
                  <a:srgbClr val="2B2B2B"/>
                </a:solidFill>
                <a:latin typeface="Arial"/>
              </a:rPr>
              <a:t>: navigation.​start/​stop/​progress/​location · vision.describe · vision.read · device.status · place.​save/​list/​locate · system.​time/​volume/​language/​help/​shutdown · emergency.trigger · guardian.status_ok</a:t>
            </a:r>
          </a:p>
          <a:p>
            <a:pPr marL="201168" indent="-201168">
              <a:spcAft>
                <a:spcPts val="532"/>
              </a:spcAft>
              <a:buClr>
                <a:srgbClr val="00943A"/>
              </a:buClr>
              <a:buFont typeface="Arial"/>
              <a:buChar char="•"/>
            </a:pPr>
            <a:r>
              <a:rPr sz="1400" b="1" i="0">
                <a:solidFill>
                  <a:srgbClr val="2B2B2B"/>
                </a:solidFill>
                <a:latin typeface="Arial"/>
              </a:rPr>
              <a:t>Camera wakes only on a vision intent</a:t>
            </a:r>
            <a:r>
              <a:rPr sz="1400" b="0" i="0">
                <a:solidFill>
                  <a:srgbClr val="2B2B2B"/>
                </a:solidFill>
                <a:latin typeface="Arial"/>
              </a:rPr>
              <a:t>, never continuously</a:t>
            </a:r>
          </a:p>
          <a:p>
            <a:pPr marL="201168" indent="-201168">
              <a:spcAft>
                <a:spcPts val="532"/>
              </a:spcAft>
              <a:buClr>
                <a:srgbClr val="00943A"/>
              </a:buClr>
              <a:buFont typeface="Arial"/>
              <a:buChar char="•"/>
            </a:pPr>
            <a:r>
              <a:rPr sz="1400" b="1" i="0">
                <a:solidFill>
                  <a:srgbClr val="2B2B2B"/>
                </a:solidFill>
                <a:latin typeface="Arial"/>
              </a:rPr>
              <a:t>Working blip</a:t>
            </a:r>
            <a:r>
              <a:rPr sz="1400" b="0" i="0">
                <a:solidFill>
                  <a:srgbClr val="2B2B2B"/>
                </a:solidFill>
                <a:latin typeface="Arial"/>
              </a:rPr>
              <a:t> if the answer takes </a:t>
            </a:r>
            <a:r>
              <a:rPr sz="1400" b="1" i="0">
                <a:solidFill>
                  <a:srgbClr val="2B2B2B"/>
                </a:solidFill>
                <a:latin typeface="Arial"/>
              </a:rPr>
              <a:t>&gt; 1.5 s</a:t>
            </a:r>
            <a:r>
              <a:rPr sz="1400" b="0" i="0">
                <a:solidFill>
                  <a:srgbClr val="2B2B2B"/>
                </a:solidFill>
                <a:latin typeface="Arial"/>
              </a:rPr>
              <a:t>, so silence never reads as a crash</a:t>
            </a:r>
          </a:p>
          <a:p>
            <a:pPr marL="201168" indent="-201168">
              <a:spcAft>
                <a:spcPts val="532"/>
              </a:spcAft>
              <a:buClr>
                <a:srgbClr val="00943A"/>
              </a:buClr>
              <a:buFont typeface="Arial"/>
              <a:buChar char="•"/>
            </a:pPr>
            <a:r>
              <a:rPr sz="1400" b="1" i="0">
                <a:solidFill>
                  <a:srgbClr val="2B2B2B"/>
                </a:solidFill>
                <a:latin typeface="Arial"/>
              </a:rPr>
              <a:t>Repeat/Stop</a:t>
            </a:r>
            <a:r>
              <a:rPr sz="1400" b="0" i="0">
                <a:solidFill>
                  <a:srgbClr val="2B2B2B"/>
                </a:solidFill>
                <a:latin typeface="Arial"/>
              </a:rPr>
              <a:t> cancels a command mid-pipeline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tion kicker"/>
          <p:cNvSpPr txBox="1"/>
          <p:nvPr/>
        </p:nvSpPr>
        <p:spPr>
          <a:xfrm>
            <a:off x="1280160" y="292608"/>
            <a:ext cx="8686800" cy="256032"/>
          </a:xfrm>
          <a:prstGeom prst="rect">
            <a:avLst/>
          </a:prstGeom>
          <a:noFill/>
        </p:spPr>
        <p:txBody>
          <a:bodyPr wrap="square" lIns="0" rIns="0" tIns="0" bIns="0" anchor="t">
            <a:noAutofit/>
          </a:bodyPr>
          <a:lstStyle/>
          <a:p>
            <a:r>
              <a:rPr sz="1100" b="1" i="0">
                <a:solidFill>
                  <a:srgbClr val="6B6B6B"/>
                </a:solidFill>
                <a:latin typeface="Arial"/>
              </a:rPr>
              <a:t>PROCESS FLOW &amp; SOFTWARE LOGIC</a:t>
            </a:r>
          </a:p>
        </p:txBody>
      </p:sp>
      <p:sp>
        <p:nvSpPr>
          <p:cNvPr id="3" name="Title"/>
          <p:cNvSpPr txBox="1"/>
          <p:nvPr/>
        </p:nvSpPr>
        <p:spPr>
          <a:xfrm>
            <a:off x="1280160" y="502920"/>
            <a:ext cx="10469880" cy="731520"/>
          </a:xfrm>
          <a:prstGeom prst="rect">
            <a:avLst/>
          </a:prstGeom>
          <a:noFill/>
        </p:spPr>
        <p:txBody>
          <a:bodyPr wrap="square" lIns="0" rIns="0" tIns="0" bIns="0" anchor="ctr">
            <a:noAutofit/>
          </a:bodyPr>
          <a:lstStyle/>
          <a:p>
            <a:r>
              <a:rPr sz="2800" b="1" i="0">
                <a:solidFill>
                  <a:srgbClr val="00943A"/>
                </a:solidFill>
                <a:latin typeface="Arial"/>
              </a:rPr>
              <a:t>Feedback Execution: Haptic and Audio Arbitration</a:t>
            </a:r>
          </a:p>
        </p:txBody>
      </p:sp>
      <p:sp>
        <p:nvSpPr>
          <p:cNvPr id="4" name="Slide number"/>
          <p:cNvSpPr txBox="1"/>
          <p:nvPr/>
        </p:nvSpPr>
        <p:spPr>
          <a:xfrm>
            <a:off x="1280160" y="6327648"/>
            <a:ext cx="2286000" cy="274320"/>
          </a:xfrm>
          <a:prstGeom prst="rect">
            <a:avLst/>
          </a:prstGeom>
          <a:noFill/>
        </p:spPr>
        <p:txBody>
          <a:bodyPr wrap="square" lIns="0" rIns="0" tIns="0" bIns="0" anchor="t">
            <a:noAutofit/>
          </a:bodyPr>
          <a:lstStyle/>
          <a:p>
            <a:r>
              <a:rPr sz="1000" b="0" i="0">
                <a:solidFill>
                  <a:srgbClr val="6B6B6B"/>
                </a:solidFill>
                <a:latin typeface="Arial"/>
              </a:rPr>
              <a:t>IndepenSense · 23</a:t>
            </a:r>
          </a:p>
        </p:txBody>
      </p:sp>
      <p:pic>
        <p:nvPicPr>
          <p:cNvPr id="5" name="Figure 1" descr="p49_X203.png"/>
          <p:cNvPicPr>
            <a:picLocks noChangeAspect="1"/>
          </p:cNvPicPr>
          <p:nvPr/>
        </p:nvPicPr>
        <p:blipFill>
          <a:blip r:embed="rId2"/>
          <a:stretch>
            <a:fillRect/>
          </a:stretch>
        </p:blipFill>
        <p:spPr>
          <a:xfrm>
            <a:off x="10698328" y="1371600"/>
            <a:ext cx="1051711" cy="4325112"/>
          </a:xfrm>
          <a:prstGeom prst="rect">
            <a:avLst/>
          </a:prstGeom>
          <a:ln w="9525">
            <a:solidFill>
              <a:srgbClr val="D9D9D9"/>
            </a:solidFill>
          </a:ln>
        </p:spPr>
      </p:pic>
      <p:sp>
        <p:nvSpPr>
          <p:cNvPr id="6" name="Figure 1 caption"/>
          <p:cNvSpPr txBox="1"/>
          <p:nvPr/>
        </p:nvSpPr>
        <p:spPr>
          <a:xfrm>
            <a:off x="10606888" y="5742431"/>
            <a:ext cx="1234591" cy="274320"/>
          </a:xfrm>
          <a:prstGeom prst="rect">
            <a:avLst/>
          </a:prstGeom>
          <a:noFill/>
        </p:spPr>
        <p:txBody>
          <a:bodyPr wrap="square" lIns="0" rIns="0" tIns="0" bIns="0" anchor="t">
            <a:noAutofit/>
          </a:bodyPr>
          <a:lstStyle/>
          <a:p>
            <a:pPr algn="ctr"/>
            <a:r>
              <a:rPr sz="1000" b="0" i="1">
                <a:solidFill>
                  <a:srgbClr val="6B6B6B"/>
                </a:solidFill>
                <a:latin typeface="Arial"/>
              </a:rPr>
              <a:t>Speech output</a:t>
            </a:r>
          </a:p>
        </p:txBody>
      </p:sp>
      <p:sp>
        <p:nvSpPr>
          <p:cNvPr id="7" name="Field 1 card"/>
          <p:cNvSpPr/>
          <p:nvPr/>
        </p:nvSpPr>
        <p:spPr>
          <a:xfrm>
            <a:off x="1280160" y="1371600"/>
            <a:ext cx="3938981" cy="4617720"/>
          </a:xfrm>
          <a:prstGeom prst="roundRect">
            <a:avLst>
              <a:gd name="adj" fmla="val 4178"/>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Field 1 text"/>
          <p:cNvSpPr txBox="1"/>
          <p:nvPr/>
        </p:nvSpPr>
        <p:spPr>
          <a:xfrm>
            <a:off x="1463039" y="1554480"/>
            <a:ext cx="3573221" cy="4251959"/>
          </a:xfrm>
          <a:prstGeom prst="rect">
            <a:avLst/>
          </a:prstGeom>
          <a:noFill/>
        </p:spPr>
        <p:txBody>
          <a:bodyPr wrap="square" lIns="0" rIns="0" tIns="0" bIns="0" anchor="t">
            <a:noAutofit/>
          </a:bodyPr>
          <a:lstStyle/>
          <a:p>
            <a:pPr>
              <a:spcAft>
                <a:spcPts val="720"/>
              </a:spcAft>
              <a:buNone/>
            </a:pPr>
            <a:r>
              <a:rPr sz="1800" b="1" i="0">
                <a:solidFill>
                  <a:srgbClr val="006B2A"/>
                </a:solidFill>
                <a:latin typeface="Arial"/>
              </a:rPr>
              <a:t>Haptic path</a:t>
            </a:r>
          </a:p>
          <a:p>
            <a:pPr marL="201168" indent="-201168">
              <a:spcAft>
                <a:spcPts val="608"/>
              </a:spcAft>
              <a:buClr>
                <a:srgbClr val="00943A"/>
              </a:buClr>
              <a:buFont typeface="Arial"/>
              <a:buChar char="•"/>
            </a:pPr>
            <a:r>
              <a:rPr sz="1600" b="0" i="0">
                <a:solidFill>
                  <a:srgbClr val="2B2B2B"/>
                </a:solidFill>
                <a:latin typeface="Arial"/>
              </a:rPr>
              <a:t>Short-lived </a:t>
            </a:r>
            <a:r>
              <a:rPr sz="1600" b="1" i="0">
                <a:solidFill>
                  <a:srgbClr val="2B2B2B"/>
                </a:solidFill>
                <a:latin typeface="Arial"/>
              </a:rPr>
              <a:t>pattern worker threads</a:t>
            </a:r>
            <a:r>
              <a:rPr sz="1600" b="0" i="0">
                <a:solidFill>
                  <a:srgbClr val="2B2B2B"/>
                </a:solidFill>
                <a:latin typeface="Arial"/>
              </a:rPr>
              <a:t>, </a:t>
            </a:r>
            <a:r>
              <a:rPr sz="1600" b="1" i="0">
                <a:solidFill>
                  <a:srgbClr val="2B2B2B"/>
                </a:solidFill>
                <a:latin typeface="Arial"/>
              </a:rPr>
              <a:t>serialised by a mutex</a:t>
            </a:r>
          </a:p>
          <a:p>
            <a:pPr marL="201168" indent="-201168">
              <a:spcAft>
                <a:spcPts val="608"/>
              </a:spcAft>
              <a:buClr>
                <a:srgbClr val="00943A"/>
              </a:buClr>
              <a:buFont typeface="Arial"/>
              <a:buChar char="•"/>
            </a:pPr>
            <a:r>
              <a:rPr sz="1600" b="0" i="0">
                <a:solidFill>
                  <a:srgbClr val="2B2B2B"/>
                </a:solidFill>
                <a:latin typeface="Arial"/>
              </a:rPr>
              <a:t>Encodes </a:t>
            </a:r>
            <a:r>
              <a:rPr sz="1600" b="1" i="0">
                <a:solidFill>
                  <a:srgbClr val="2B2B2B"/>
                </a:solidFill>
                <a:latin typeface="Arial"/>
              </a:rPr>
              <a:t>intensity only</a:t>
            </a:r>
            <a:r>
              <a:rPr sz="1600" b="0" i="0">
                <a:solidFill>
                  <a:srgbClr val="2B2B2B"/>
                </a:solidFill>
                <a:latin typeface="Arial"/>
              </a:rPr>
              <a:t>: front motor = warning, all 3 = danger</a:t>
            </a:r>
          </a:p>
          <a:p>
            <a:pPr marL="201168" indent="-201168">
              <a:spcAft>
                <a:spcPts val="608"/>
              </a:spcAft>
              <a:buClr>
                <a:srgbClr val="00943A"/>
              </a:buClr>
              <a:buFont typeface="Arial"/>
              <a:buChar char="•"/>
            </a:pPr>
            <a:r>
              <a:rPr sz="1600" b="1" i="0">
                <a:solidFill>
                  <a:srgbClr val="2B2B2B"/>
                </a:solidFill>
                <a:latin typeface="Arial"/>
              </a:rPr>
              <a:t>Navigation never uses the motors</a:t>
            </a:r>
            <a:r>
              <a:rPr sz="1600" b="0" i="0">
                <a:solidFill>
                  <a:srgbClr val="2B2B2B"/>
                </a:solidFill>
                <a:latin typeface="Arial"/>
              </a:rPr>
              <a:t>, because left and right motors in one handle feel identical</a:t>
            </a:r>
          </a:p>
          <a:p>
            <a:pPr marL="201168" indent="-201168">
              <a:spcAft>
                <a:spcPts val="608"/>
              </a:spcAft>
              <a:buClr>
                <a:srgbClr val="00943A"/>
              </a:buClr>
              <a:buFont typeface="Arial"/>
              <a:buChar char="•"/>
            </a:pPr>
            <a:r>
              <a:rPr sz="1600" b="0" i="0">
                <a:solidFill>
                  <a:srgbClr val="2B2B2B"/>
                </a:solidFill>
                <a:latin typeface="Arial"/>
              </a:rPr>
              <a:t>Used for: </a:t>
            </a:r>
            <a:r>
              <a:rPr sz="1600" b="1" i="0">
                <a:solidFill>
                  <a:srgbClr val="2B2B2B"/>
                </a:solidFill>
                <a:latin typeface="Arial"/>
              </a:rPr>
              <a:t>obstacle proximity</a:t>
            </a:r>
            <a:r>
              <a:rPr sz="1600" b="0" i="0">
                <a:solidFill>
                  <a:srgbClr val="2B2B2B"/>
                </a:solidFill>
                <a:latin typeface="Arial"/>
              </a:rPr>
              <a:t>, and </a:t>
            </a:r>
            <a:r>
              <a:rPr sz="1600" b="1" i="0">
                <a:solidFill>
                  <a:srgbClr val="2B2B2B"/>
                </a:solidFill>
                <a:latin typeface="Arial"/>
              </a:rPr>
              <a:t>SOS / fall alarm</a:t>
            </a:r>
            <a:r>
              <a:rPr sz="1600" b="0" i="0">
                <a:solidFill>
                  <a:srgbClr val="2B2B2B"/>
                </a:solidFill>
                <a:latin typeface="Arial"/>
              </a:rPr>
              <a:t> (all 3 motors + buzzer)</a:t>
            </a:r>
          </a:p>
        </p:txBody>
      </p:sp>
      <p:sp>
        <p:nvSpPr>
          <p:cNvPr id="9" name="Field 2 card"/>
          <p:cNvSpPr/>
          <p:nvPr/>
        </p:nvSpPr>
        <p:spPr>
          <a:xfrm>
            <a:off x="5475173" y="1371600"/>
            <a:ext cx="4967122" cy="4617720"/>
          </a:xfrm>
          <a:prstGeom prst="roundRect">
            <a:avLst>
              <a:gd name="adj" fmla="val 3564"/>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Field 2 text"/>
          <p:cNvSpPr txBox="1"/>
          <p:nvPr/>
        </p:nvSpPr>
        <p:spPr>
          <a:xfrm>
            <a:off x="5658053" y="1554480"/>
            <a:ext cx="4601362" cy="4251959"/>
          </a:xfrm>
          <a:prstGeom prst="rect">
            <a:avLst/>
          </a:prstGeom>
          <a:noFill/>
        </p:spPr>
        <p:txBody>
          <a:bodyPr wrap="square" lIns="0" rIns="0" tIns="0" bIns="0" anchor="t">
            <a:noAutofit/>
          </a:bodyPr>
          <a:lstStyle/>
          <a:p>
            <a:pPr>
              <a:spcAft>
                <a:spcPts val="720"/>
              </a:spcAft>
              <a:buNone/>
            </a:pPr>
            <a:r>
              <a:rPr sz="1800" b="1" i="0">
                <a:solidFill>
                  <a:srgbClr val="006B2A"/>
                </a:solidFill>
                <a:latin typeface="Arial"/>
              </a:rPr>
              <a:t>Audio path</a:t>
            </a:r>
          </a:p>
          <a:p>
            <a:pPr marL="201168" indent="-201168">
              <a:spcAft>
                <a:spcPts val="608"/>
              </a:spcAft>
              <a:buClr>
                <a:srgbClr val="00943A"/>
              </a:buClr>
              <a:buFont typeface="Arial"/>
              <a:buChar char="•"/>
            </a:pPr>
            <a:r>
              <a:rPr sz="1600" b="1" i="0">
                <a:solidFill>
                  <a:srgbClr val="2B2B2B"/>
                </a:solidFill>
                <a:latin typeface="Arial"/>
              </a:rPr>
              <a:t>Announcer thread</a:t>
            </a:r>
            <a:r>
              <a:rPr sz="1600" b="0" i="0">
                <a:solidFill>
                  <a:srgbClr val="2B2B2B"/>
                </a:solidFill>
                <a:latin typeface="Arial"/>
              </a:rPr>
              <a:t> queues every main-loop message</a:t>
            </a:r>
          </a:p>
          <a:p>
            <a:pPr marL="201168" indent="-201168">
              <a:spcAft>
                <a:spcPts val="608"/>
              </a:spcAft>
              <a:buClr>
                <a:srgbClr val="00943A"/>
              </a:buClr>
              <a:buFont typeface="Arial"/>
              <a:buChar char="•"/>
            </a:pPr>
            <a:r>
              <a:rPr sz="1600" b="1" i="0">
                <a:solidFill>
                  <a:srgbClr val="2B2B2B"/>
                </a:solidFill>
                <a:latin typeface="Arial"/>
              </a:rPr>
              <a:t>Pre-rendered clips</a:t>
            </a:r>
            <a:r>
              <a:rPr sz="1600" b="0" i="0">
                <a:solidFill>
                  <a:srgbClr val="2B2B2B"/>
                </a:solidFill>
                <a:latin typeface="Arial"/>
              </a:rPr>
              <a:t>: static messages are synthesised </a:t>
            </a:r>
            <a:r>
              <a:rPr sz="1600" b="1" i="0">
                <a:solidFill>
                  <a:srgbClr val="2B2B2B"/>
                </a:solidFill>
                <a:latin typeface="Arial"/>
              </a:rPr>
              <a:t>once</a:t>
            </a:r>
            <a:r>
              <a:rPr sz="1600" b="0" i="0">
                <a:solidFill>
                  <a:srgbClr val="2B2B2B"/>
                </a:solidFill>
                <a:latin typeface="Arial"/>
              </a:rPr>
              <a:t> and replayed from disk, and templated messages are cached</a:t>
            </a:r>
          </a:p>
          <a:p>
            <a:pPr marL="201168" indent="-201168">
              <a:spcAft>
                <a:spcPts val="608"/>
              </a:spcAft>
              <a:buClr>
                <a:srgbClr val="00943A"/>
              </a:buClr>
              <a:buFont typeface="Arial"/>
              <a:buChar char="•"/>
            </a:pPr>
            <a:r>
              <a:rPr sz="1600" b="1" i="0">
                <a:solidFill>
                  <a:srgbClr val="2B2B2B"/>
                </a:solidFill>
                <a:latin typeface="Arial"/>
              </a:rPr>
              <a:t>English → Piper (0.07–0.30 s)</a:t>
            </a:r>
            <a:r>
              <a:rPr sz="1600" b="0" i="0">
                <a:solidFill>
                  <a:srgbClr val="2B2B2B"/>
                </a:solidFill>
                <a:latin typeface="Arial"/>
              </a:rPr>
              <a:t> · </a:t>
            </a:r>
            <a:r>
              <a:rPr sz="1600" b="1" i="0">
                <a:solidFill>
                  <a:srgbClr val="2B2B2B"/>
                </a:solidFill>
                <a:latin typeface="Arial"/>
              </a:rPr>
              <a:t>Tagalog → cloud Filipino voice</a:t>
            </a:r>
            <a:r>
              <a:rPr sz="1600" b="0" i="0">
                <a:solidFill>
                  <a:srgbClr val="2B2B2B"/>
                </a:solidFill>
                <a:latin typeface="Arial"/>
              </a:rPr>
              <a:t>, with </a:t>
            </a:r>
            <a:r>
              <a:rPr sz="1600" b="1" i="0">
                <a:solidFill>
                  <a:srgbClr val="2B2B2B"/>
                </a:solidFill>
                <a:latin typeface="Arial"/>
              </a:rPr>
              <a:t>MMS fallback</a:t>
            </a:r>
          </a:p>
          <a:p>
            <a:pPr marL="201168" indent="-201168">
              <a:spcAft>
                <a:spcPts val="608"/>
              </a:spcAft>
              <a:buClr>
                <a:srgbClr val="00943A"/>
              </a:buClr>
              <a:buFont typeface="Arial"/>
              <a:buChar char="•"/>
            </a:pPr>
            <a:r>
              <a:rPr sz="1600" b="1" i="0">
                <a:solidFill>
                  <a:srgbClr val="2B2B2B"/>
                </a:solidFill>
                <a:latin typeface="Arial"/>
              </a:rPr>
              <a:t>Critical messages interrupt</a:t>
            </a:r>
            <a:r>
              <a:rPr sz="1600" b="0" i="0">
                <a:solidFill>
                  <a:srgbClr val="2B2B2B"/>
                </a:solidFill>
                <a:latin typeface="Arial"/>
              </a:rPr>
              <a:t> speech, even mid-synthesis</a:t>
            </a:r>
          </a:p>
          <a:p>
            <a:pPr marL="201168" indent="-201168">
              <a:spcAft>
                <a:spcPts val="608"/>
              </a:spcAft>
              <a:buClr>
                <a:srgbClr val="00943A"/>
              </a:buClr>
              <a:buFont typeface="Arial"/>
              <a:buChar char="•"/>
            </a:pPr>
            <a:r>
              <a:rPr sz="1600" b="1" i="0">
                <a:solidFill>
                  <a:srgbClr val="2B2B2B"/>
                </a:solidFill>
                <a:latin typeface="Arial"/>
              </a:rPr>
              <a:t>Repeat</a:t>
            </a:r>
            <a:r>
              <a:rPr sz="1600" b="0" i="0">
                <a:solidFill>
                  <a:srgbClr val="2B2B2B"/>
                </a:solidFill>
                <a:latin typeface="Arial"/>
              </a:rPr>
              <a:t> replays the last message, and </a:t>
            </a:r>
            <a:r>
              <a:rPr sz="1600" b="1" i="0">
                <a:solidFill>
                  <a:srgbClr val="2B2B2B"/>
                </a:solidFill>
                <a:latin typeface="Arial"/>
              </a:rPr>
              <a:t>Stop</a:t>
            </a:r>
            <a:r>
              <a:rPr sz="1600" b="0" i="0">
                <a:solidFill>
                  <a:srgbClr val="2B2B2B"/>
                </a:solidFill>
                <a:latin typeface="Arial"/>
              </a:rPr>
              <a:t> cuts it off mid-sentence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tion kicker"/>
          <p:cNvSpPr txBox="1"/>
          <p:nvPr/>
        </p:nvSpPr>
        <p:spPr>
          <a:xfrm>
            <a:off x="1280160" y="292608"/>
            <a:ext cx="8686800" cy="256032"/>
          </a:xfrm>
          <a:prstGeom prst="rect">
            <a:avLst/>
          </a:prstGeom>
          <a:noFill/>
        </p:spPr>
        <p:txBody>
          <a:bodyPr wrap="square" lIns="0" rIns="0" tIns="0" bIns="0" anchor="t">
            <a:noAutofit/>
          </a:bodyPr>
          <a:lstStyle/>
          <a:p>
            <a:r>
              <a:rPr sz="1100" b="1" i="0">
                <a:solidFill>
                  <a:srgbClr val="6B6B6B"/>
                </a:solidFill>
                <a:latin typeface="Arial"/>
              </a:rPr>
              <a:t>PROCESS FLOW &amp; SOFTWARE LOGIC</a:t>
            </a:r>
          </a:p>
        </p:txBody>
      </p:sp>
      <p:sp>
        <p:nvSpPr>
          <p:cNvPr id="3" name="Title"/>
          <p:cNvSpPr txBox="1"/>
          <p:nvPr/>
        </p:nvSpPr>
        <p:spPr>
          <a:xfrm>
            <a:off x="1280160" y="502920"/>
            <a:ext cx="10469880" cy="731520"/>
          </a:xfrm>
          <a:prstGeom prst="rect">
            <a:avLst/>
          </a:prstGeom>
          <a:noFill/>
        </p:spPr>
        <p:txBody>
          <a:bodyPr wrap="square" lIns="0" rIns="0" tIns="0" bIns="0" anchor="ctr">
            <a:noAutofit/>
          </a:bodyPr>
          <a:lstStyle/>
          <a:p>
            <a:r>
              <a:rPr sz="3200" b="1" i="0">
                <a:solidFill>
                  <a:srgbClr val="00943A"/>
                </a:solidFill>
                <a:latin typeface="Arial"/>
              </a:rPr>
              <a:t>High-Priority Interrupts: Emergency and Fall</a:t>
            </a:r>
          </a:p>
        </p:txBody>
      </p:sp>
      <p:sp>
        <p:nvSpPr>
          <p:cNvPr id="4" name="Slide number"/>
          <p:cNvSpPr txBox="1"/>
          <p:nvPr/>
        </p:nvSpPr>
        <p:spPr>
          <a:xfrm>
            <a:off x="1280160" y="6327648"/>
            <a:ext cx="2286000" cy="274320"/>
          </a:xfrm>
          <a:prstGeom prst="rect">
            <a:avLst/>
          </a:prstGeom>
          <a:noFill/>
        </p:spPr>
        <p:txBody>
          <a:bodyPr wrap="square" lIns="0" rIns="0" tIns="0" bIns="0" anchor="t">
            <a:noAutofit/>
          </a:bodyPr>
          <a:lstStyle/>
          <a:p>
            <a:r>
              <a:rPr sz="1000" b="0" i="0">
                <a:solidFill>
                  <a:srgbClr val="6B6B6B"/>
                </a:solidFill>
                <a:latin typeface="Arial"/>
              </a:rPr>
              <a:t>IndepenSense · 24</a:t>
            </a:r>
          </a:p>
        </p:txBody>
      </p:sp>
      <p:pic>
        <p:nvPicPr>
          <p:cNvPr id="5" name="Figure 1" descr="p37_X163.png"/>
          <p:cNvPicPr>
            <a:picLocks noChangeAspect="1"/>
          </p:cNvPicPr>
          <p:nvPr/>
        </p:nvPicPr>
        <p:blipFill>
          <a:blip r:embed="rId2"/>
          <a:stretch>
            <a:fillRect/>
          </a:stretch>
        </p:blipFill>
        <p:spPr>
          <a:xfrm>
            <a:off x="8183879" y="1988761"/>
            <a:ext cx="3566160" cy="3090788"/>
          </a:xfrm>
          <a:prstGeom prst="rect">
            <a:avLst/>
          </a:prstGeom>
          <a:ln w="9525">
            <a:solidFill>
              <a:srgbClr val="D9D9D9"/>
            </a:solidFill>
          </a:ln>
        </p:spPr>
      </p:pic>
      <p:sp>
        <p:nvSpPr>
          <p:cNvPr id="6" name="Figure 1 caption"/>
          <p:cNvSpPr txBox="1"/>
          <p:nvPr/>
        </p:nvSpPr>
        <p:spPr>
          <a:xfrm>
            <a:off x="8092440" y="5125270"/>
            <a:ext cx="3749039" cy="274320"/>
          </a:xfrm>
          <a:prstGeom prst="rect">
            <a:avLst/>
          </a:prstGeom>
          <a:noFill/>
        </p:spPr>
        <p:txBody>
          <a:bodyPr wrap="square" lIns="0" rIns="0" tIns="0" bIns="0" anchor="t">
            <a:noAutofit/>
          </a:bodyPr>
          <a:lstStyle/>
          <a:p>
            <a:pPr algn="ctr"/>
            <a:r>
              <a:rPr sz="1000" b="0" i="1">
                <a:solidFill>
                  <a:srgbClr val="6B6B6B"/>
                </a:solidFill>
                <a:latin typeface="Arial"/>
              </a:rPr>
              <a:t>Fall detection flow</a:t>
            </a:r>
          </a:p>
        </p:txBody>
      </p:sp>
      <p:sp>
        <p:nvSpPr>
          <p:cNvPr id="7" name="Field 1 card"/>
          <p:cNvSpPr/>
          <p:nvPr/>
        </p:nvSpPr>
        <p:spPr>
          <a:xfrm>
            <a:off x="1280160" y="1371600"/>
            <a:ext cx="3899719" cy="4617720"/>
          </a:xfrm>
          <a:prstGeom prst="roundRect">
            <a:avLst>
              <a:gd name="adj" fmla="val 422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Field 1 text"/>
          <p:cNvSpPr txBox="1"/>
          <p:nvPr/>
        </p:nvSpPr>
        <p:spPr>
          <a:xfrm>
            <a:off x="1463039" y="1554480"/>
            <a:ext cx="3533959" cy="4251959"/>
          </a:xfrm>
          <a:prstGeom prst="rect">
            <a:avLst/>
          </a:prstGeom>
          <a:noFill/>
        </p:spPr>
        <p:txBody>
          <a:bodyPr wrap="square" lIns="0" rIns="0" tIns="0" bIns="0" anchor="t">
            <a:noAutofit/>
          </a:bodyPr>
          <a:lstStyle/>
          <a:p>
            <a:pPr>
              <a:spcAft>
                <a:spcPts val="540"/>
              </a:spcAft>
              <a:buNone/>
            </a:pPr>
            <a:r>
              <a:rPr sz="1400" b="1" i="0">
                <a:solidFill>
                  <a:srgbClr val="006B2A"/>
                </a:solidFill>
                <a:latin typeface="Arial"/>
              </a:rPr>
              <a:t>Trigger A: Emergency button (front)</a:t>
            </a:r>
          </a:p>
          <a:p>
            <a:pPr marL="201168" indent="-201168">
              <a:spcAft>
                <a:spcPts val="456"/>
              </a:spcAft>
              <a:buClr>
                <a:srgbClr val="00943A"/>
              </a:buClr>
              <a:buFont typeface="Arial"/>
              <a:buChar char="•"/>
            </a:pPr>
            <a:r>
              <a:rPr sz="1200" b="0" i="0">
                <a:solidFill>
                  <a:srgbClr val="2B2B2B"/>
                </a:solidFill>
                <a:latin typeface="Arial"/>
              </a:rPr>
              <a:t>A gpiozero callback fires on its </a:t>
            </a:r>
            <a:r>
              <a:rPr sz="1200" b="1" i="0">
                <a:solidFill>
                  <a:srgbClr val="2B2B2B"/>
                </a:solidFill>
                <a:latin typeface="Arial"/>
              </a:rPr>
              <a:t>own thread</a:t>
            </a:r>
            <a:r>
              <a:rPr sz="1200" b="0" i="0">
                <a:solidFill>
                  <a:srgbClr val="2B2B2B"/>
                </a:solidFill>
                <a:latin typeface="Arial"/>
              </a:rPr>
              <a:t>, preempting nothing on the safety loop</a:t>
            </a:r>
          </a:p>
          <a:p>
            <a:pPr marL="201168" indent="-201168">
              <a:spcAft>
                <a:spcPts val="456"/>
              </a:spcAft>
              <a:buClr>
                <a:srgbClr val="00943A"/>
              </a:buClr>
              <a:buFont typeface="Arial"/>
              <a:buChar char="•"/>
            </a:pPr>
            <a:r>
              <a:rPr sz="1200" b="1" i="0">
                <a:solidFill>
                  <a:srgbClr val="2B2B2B"/>
                </a:solidFill>
                <a:latin typeface="Arial"/>
              </a:rPr>
              <a:t>Cancels any voice cycle</a:t>
            </a:r>
            <a:r>
              <a:rPr sz="1200" b="0" i="0">
                <a:solidFill>
                  <a:srgbClr val="2B2B2B"/>
                </a:solidFill>
                <a:latin typeface="Arial"/>
              </a:rPr>
              <a:t> in progress</a:t>
            </a:r>
          </a:p>
          <a:p>
            <a:pPr marL="201168" indent="-201168">
              <a:spcAft>
                <a:spcPts val="456"/>
              </a:spcAft>
              <a:buClr>
                <a:srgbClr val="00943A"/>
              </a:buClr>
              <a:buFont typeface="Arial"/>
              <a:buChar char="•"/>
            </a:pPr>
            <a:r>
              <a:rPr sz="1200" b="1" i="0">
                <a:solidFill>
                  <a:srgbClr val="2B2B2B"/>
                </a:solidFill>
                <a:latin typeface="Arial"/>
              </a:rPr>
              <a:t>10 s re-arm</a:t>
            </a:r>
            <a:r>
              <a:rPr sz="1200" b="0" i="0">
                <a:solidFill>
                  <a:srgbClr val="2B2B2B"/>
                </a:solidFill>
                <a:latin typeface="Arial"/>
              </a:rPr>
              <a:t>: a repeat press is still felt but does </a:t>
            </a:r>
            <a:r>
              <a:rPr sz="1200" b="1" i="0">
                <a:solidFill>
                  <a:srgbClr val="2B2B2B"/>
                </a:solidFill>
                <a:latin typeface="Arial"/>
              </a:rPr>
              <a:t>not</a:t>
            </a:r>
            <a:r>
              <a:rPr sz="1200" b="0" i="0">
                <a:solidFill>
                  <a:srgbClr val="2B2B2B"/>
                </a:solidFill>
                <a:latin typeface="Arial"/>
              </a:rPr>
              <a:t> double-notify the guardian, and the window </a:t>
            </a:r>
            <a:r>
              <a:rPr sz="1200" b="1" i="0">
                <a:solidFill>
                  <a:srgbClr val="2B2B2B"/>
                </a:solidFill>
                <a:latin typeface="Arial"/>
              </a:rPr>
              <a:t>clears early if delivery failed</a:t>
            </a:r>
          </a:p>
          <a:p>
            <a:pPr>
              <a:spcBef>
                <a:spcPts val="300"/>
              </a:spcBef>
              <a:spcAft>
                <a:spcPts val="359"/>
              </a:spcAft>
              <a:buNone/>
            </a:pPr>
            <a:r>
              <a:rPr sz="1300" b="1" i="0">
                <a:solidFill>
                  <a:srgbClr val="006B2A"/>
                </a:solidFill>
                <a:latin typeface="Arial"/>
              </a:rPr>
              <a:t>Trigger B: Fall detection (MPU-6050, two routes)</a:t>
            </a:r>
          </a:p>
          <a:p>
            <a:pPr marL="201168" indent="-201168">
              <a:spcAft>
                <a:spcPts val="456"/>
              </a:spcAft>
              <a:buClr>
                <a:srgbClr val="00943A"/>
              </a:buClr>
              <a:buFont typeface="Arial"/>
              <a:buChar char="•"/>
            </a:pPr>
            <a:r>
              <a:rPr sz="1200" b="1" i="0">
                <a:solidFill>
                  <a:srgbClr val="2B2B2B"/>
                </a:solidFill>
                <a:latin typeface="Arial"/>
              </a:rPr>
              <a:t>Collapse:</a:t>
            </a:r>
            <a:r>
              <a:rPr sz="1200" b="0" i="0">
                <a:solidFill>
                  <a:srgbClr val="2B2B2B"/>
                </a:solidFill>
                <a:latin typeface="Arial"/>
              </a:rPr>
              <a:t> </a:t>
            </a:r>
            <a:r>
              <a:rPr sz="1200" b="1" i="0">
                <a:solidFill>
                  <a:srgbClr val="2B2B2B"/>
                </a:solidFill>
                <a:latin typeface="Arial"/>
              </a:rPr>
              <a:t>free fall &lt; 0.5 g for ≥ 0.1 s</a:t>
            </a:r>
            <a:r>
              <a:rPr sz="1200" b="0" i="0">
                <a:solidFill>
                  <a:srgbClr val="2B2B2B"/>
                </a:solidFill>
                <a:latin typeface="Arial"/>
              </a:rPr>
              <a:t> → </a:t>
            </a:r>
            <a:r>
              <a:rPr sz="1200" b="1" i="0">
                <a:solidFill>
                  <a:srgbClr val="2B2B2B"/>
                </a:solidFill>
                <a:latin typeface="Arial"/>
              </a:rPr>
              <a:t>impact &gt; 2.0 g within 0.5 s</a:t>
            </a:r>
            <a:r>
              <a:rPr sz="1200" b="0" i="0">
                <a:solidFill>
                  <a:srgbClr val="2B2B2B"/>
                </a:solidFill>
                <a:latin typeface="Arial"/>
              </a:rPr>
              <a:t> → </a:t>
            </a:r>
            <a:r>
              <a:rPr sz="1200" b="1" i="0">
                <a:solidFill>
                  <a:srgbClr val="2B2B2B"/>
                </a:solidFill>
                <a:latin typeface="Arial"/>
              </a:rPr>
              <a:t>stillness (σ &lt; 0.15 g) for 2 s</a:t>
            </a:r>
          </a:p>
          <a:p>
            <a:pPr marL="201168" indent="-201168">
              <a:spcAft>
                <a:spcPts val="456"/>
              </a:spcAft>
              <a:buClr>
                <a:srgbClr val="00943A"/>
              </a:buClr>
              <a:buFont typeface="Arial"/>
              <a:buChar char="•"/>
            </a:pPr>
            <a:r>
              <a:rPr sz="1200" b="1" i="0">
                <a:solidFill>
                  <a:srgbClr val="2B2B2B"/>
                </a:solidFill>
                <a:latin typeface="Arial"/>
              </a:rPr>
              <a:t>Trip:</a:t>
            </a:r>
            <a:r>
              <a:rPr sz="1200" b="0" i="0">
                <a:solidFill>
                  <a:srgbClr val="2B2B2B"/>
                </a:solidFill>
                <a:latin typeface="Arial"/>
              </a:rPr>
              <a:t> </a:t>
            </a:r>
            <a:r>
              <a:rPr sz="1200" b="1" i="0">
                <a:solidFill>
                  <a:srgbClr val="2B2B2B"/>
                </a:solidFill>
                <a:latin typeface="Arial"/>
              </a:rPr>
              <a:t>impact &gt; 3.0 g</a:t>
            </a:r>
            <a:r>
              <a:rPr sz="1200" b="0" i="0">
                <a:solidFill>
                  <a:srgbClr val="2B2B2B"/>
                </a:solidFill>
                <a:latin typeface="Arial"/>
              </a:rPr>
              <a:t> → </a:t>
            </a:r>
            <a:r>
              <a:rPr sz="1200" b="1" i="0">
                <a:solidFill>
                  <a:srgbClr val="2B2B2B"/>
                </a:solidFill>
                <a:latin typeface="Arial"/>
              </a:rPr>
              <a:t>torso tilt &gt; 50°</a:t>
            </a:r>
            <a:r>
              <a:rPr sz="1200" b="0" i="0">
                <a:solidFill>
                  <a:srgbClr val="2B2B2B"/>
                </a:solidFill>
                <a:latin typeface="Arial"/>
              </a:rPr>
              <a:t> → </a:t>
            </a:r>
            <a:r>
              <a:rPr sz="1200" b="1" i="0">
                <a:solidFill>
                  <a:srgbClr val="2B2B2B"/>
                </a:solidFill>
                <a:latin typeface="Arial"/>
              </a:rPr>
              <a:t>stillness</a:t>
            </a:r>
          </a:p>
        </p:txBody>
      </p:sp>
      <p:sp>
        <p:nvSpPr>
          <p:cNvPr id="9" name="Field 2 card"/>
          <p:cNvSpPr/>
          <p:nvPr/>
        </p:nvSpPr>
        <p:spPr>
          <a:xfrm>
            <a:off x="5435911" y="1371600"/>
            <a:ext cx="2491936" cy="4617720"/>
          </a:xfrm>
          <a:prstGeom prst="roundRect">
            <a:avLst>
              <a:gd name="adj" fmla="val 6604"/>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Field 2 text"/>
          <p:cNvSpPr txBox="1"/>
          <p:nvPr/>
        </p:nvSpPr>
        <p:spPr>
          <a:xfrm>
            <a:off x="5618791" y="1554480"/>
            <a:ext cx="2126176" cy="4251959"/>
          </a:xfrm>
          <a:prstGeom prst="rect">
            <a:avLst/>
          </a:prstGeom>
          <a:noFill/>
        </p:spPr>
        <p:txBody>
          <a:bodyPr wrap="square" lIns="0" rIns="0" tIns="0" bIns="0" anchor="t">
            <a:noAutofit/>
          </a:bodyPr>
          <a:lstStyle/>
          <a:p>
            <a:pPr>
              <a:spcAft>
                <a:spcPts val="540"/>
              </a:spcAft>
              <a:buNone/>
            </a:pPr>
            <a:r>
              <a:rPr sz="1400" b="1" i="0">
                <a:solidFill>
                  <a:srgbClr val="006B2A"/>
                </a:solidFill>
                <a:latin typeface="Arial"/>
              </a:rPr>
              <a:t>Shared alert delivery</a:t>
            </a:r>
          </a:p>
          <a:p>
            <a:pPr marL="201168" indent="-201168">
              <a:spcAft>
                <a:spcPts val="456"/>
              </a:spcAft>
              <a:buClr>
                <a:srgbClr val="00943A"/>
              </a:buClr>
              <a:buFont typeface="Arial"/>
              <a:buChar char="•"/>
            </a:pPr>
            <a:r>
              <a:rPr sz="1200" b="1" i="0">
                <a:solidFill>
                  <a:srgbClr val="2B2B2B"/>
                </a:solidFill>
                <a:latin typeface="Arial"/>
              </a:rPr>
              <a:t>Local alarm:</a:t>
            </a:r>
            <a:r>
              <a:rPr sz="1200" b="0" i="0">
                <a:solidFill>
                  <a:srgbClr val="2B2B2B"/>
                </a:solidFill>
                <a:latin typeface="Arial"/>
              </a:rPr>
              <a:t> </a:t>
            </a:r>
            <a:r>
              <a:rPr sz="1200" b="1" i="0">
                <a:solidFill>
                  <a:srgbClr val="2B2B2B"/>
                </a:solidFill>
                <a:latin typeface="Arial"/>
              </a:rPr>
              <a:t>buzzer + all 3 motors</a:t>
            </a:r>
            <a:r>
              <a:rPr sz="1200" b="0" i="0">
                <a:solidFill>
                  <a:srgbClr val="2B2B2B"/>
                </a:solidFill>
                <a:latin typeface="Arial"/>
              </a:rPr>
              <a:t>, the </a:t>
            </a:r>
            <a:r>
              <a:rPr sz="1200" b="1" i="0">
                <a:solidFill>
                  <a:srgbClr val="2B2B2B"/>
                </a:solidFill>
                <a:latin typeface="Arial"/>
              </a:rPr>
              <a:t>same alarm as the SOS button</a:t>
            </a:r>
          </a:p>
          <a:p>
            <a:pPr marL="201168" indent="-201168">
              <a:spcAft>
                <a:spcPts val="456"/>
              </a:spcAft>
              <a:buClr>
                <a:srgbClr val="00943A"/>
              </a:buClr>
              <a:buFont typeface="Arial"/>
              <a:buChar char="•"/>
            </a:pPr>
            <a:r>
              <a:rPr sz="1200" b="1" i="0">
                <a:solidFill>
                  <a:srgbClr val="2B2B2B"/>
                </a:solidFill>
                <a:latin typeface="Arial"/>
              </a:rPr>
              <a:t>Spoken to the wearer:</a:t>
            </a:r>
            <a:r>
              <a:rPr sz="1200" b="0" i="0">
                <a:solidFill>
                  <a:srgbClr val="2B2B2B"/>
                </a:solidFill>
                <a:latin typeface="Arial"/>
              </a:rPr>
              <a:t> "fall detected", so the user knows what was sent</a:t>
            </a:r>
          </a:p>
          <a:p>
            <a:pPr marL="201168" indent="-201168">
              <a:spcAft>
                <a:spcPts val="456"/>
              </a:spcAft>
              <a:buClr>
                <a:srgbClr val="00943A"/>
              </a:buClr>
              <a:buFont typeface="Arial"/>
              <a:buChar char="•"/>
            </a:pPr>
            <a:r>
              <a:rPr sz="1200" b="1" i="0">
                <a:solidFill>
                  <a:srgbClr val="2B2B2B"/>
                </a:solidFill>
                <a:latin typeface="Arial"/>
              </a:rPr>
              <a:t>Guardian:</a:t>
            </a:r>
            <a:r>
              <a:rPr sz="1200" b="0" i="0">
                <a:solidFill>
                  <a:srgbClr val="2B2B2B"/>
                </a:solidFill>
                <a:latin typeface="Arial"/>
              </a:rPr>
              <a:t> </a:t>
            </a:r>
            <a:r>
              <a:rPr sz="1200" b="1" i="0">
                <a:solidFill>
                  <a:srgbClr val="2B2B2B"/>
                </a:solidFill>
                <a:latin typeface="Arial"/>
              </a:rPr>
              <a:t>HTTPS event</a:t>
            </a:r>
            <a:r>
              <a:rPr sz="1200" b="0" i="0">
                <a:solidFill>
                  <a:srgbClr val="2B2B2B"/>
                </a:solidFill>
                <a:latin typeface="Arial"/>
              </a:rPr>
              <a:t> with </a:t>
            </a:r>
            <a:r>
              <a:rPr sz="1200" b="1" i="0">
                <a:solidFill>
                  <a:srgbClr val="2B2B2B"/>
                </a:solidFill>
                <a:latin typeface="Arial"/>
              </a:rPr>
              <a:t>GPS + timestamp</a:t>
            </a:r>
            <a:r>
              <a:rPr sz="1200" b="0" i="0">
                <a:solidFill>
                  <a:srgbClr val="2B2B2B"/>
                </a:solidFill>
                <a:latin typeface="Arial"/>
              </a:rPr>
              <a:t> → dashboard / app</a:t>
            </a:r>
          </a:p>
          <a:p>
            <a:pPr marL="201168" indent="-201168">
              <a:spcAft>
                <a:spcPts val="456"/>
              </a:spcAft>
              <a:buClr>
                <a:srgbClr val="00943A"/>
              </a:buClr>
              <a:buFont typeface="Arial"/>
              <a:buChar char="•"/>
            </a:pPr>
            <a:r>
              <a:rPr sz="1200" b="1" i="0">
                <a:solidFill>
                  <a:srgbClr val="2B2B2B"/>
                </a:solidFill>
                <a:latin typeface="Arial"/>
              </a:rPr>
              <a:t>SMS</a:t>
            </a:r>
            <a:r>
              <a:rPr sz="1200" b="0" i="0">
                <a:solidFill>
                  <a:srgbClr val="2B2B2B"/>
                </a:solidFill>
                <a:latin typeface="Arial"/>
              </a:rPr>
              <a:t> in parallel, retried for </a:t>
            </a:r>
            <a:r>
              <a:rPr sz="1200" b="1" i="0">
                <a:solidFill>
                  <a:srgbClr val="2B2B2B"/>
                </a:solidFill>
                <a:latin typeface="Arial"/>
              </a:rPr>
              <a:t>5 min</a:t>
            </a:r>
          </a:p>
          <a:p>
            <a:pPr marL="201168" indent="-201168">
              <a:spcAft>
                <a:spcPts val="456"/>
              </a:spcAft>
              <a:buClr>
                <a:srgbClr val="00943A"/>
              </a:buClr>
              <a:buFont typeface="Arial"/>
              <a:buChar char="•"/>
            </a:pPr>
            <a:r>
              <a:rPr sz="1200" b="1" i="0">
                <a:solidFill>
                  <a:srgbClr val="2B2B2B"/>
                </a:solidFill>
                <a:latin typeface="Arial"/>
              </a:rPr>
              <a:t>Voice "I'm safe now"</a:t>
            </a:r>
            <a:r>
              <a:rPr sz="1200" b="0" i="0">
                <a:solidFill>
                  <a:srgbClr val="2B2B2B"/>
                </a:solidFill>
                <a:latin typeface="Arial"/>
              </a:rPr>
              <a:t> sends an </a:t>
            </a:r>
            <a:r>
              <a:rPr sz="1200" b="1" i="0">
                <a:solidFill>
                  <a:srgbClr val="2B2B2B"/>
                </a:solidFill>
                <a:latin typeface="Arial"/>
              </a:rPr>
              <a:t>all-clear</a:t>
            </a:r>
            <a:r>
              <a:rPr sz="1200" b="0" i="0">
                <a:solidFill>
                  <a:srgbClr val="2B2B2B"/>
                </a:solidFill>
                <a:latin typeface="Arial"/>
              </a:rPr>
              <a:t> to the guardian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tion kicker"/>
          <p:cNvSpPr txBox="1"/>
          <p:nvPr/>
        </p:nvSpPr>
        <p:spPr>
          <a:xfrm>
            <a:off x="1280160" y="292608"/>
            <a:ext cx="8686800" cy="256032"/>
          </a:xfrm>
          <a:prstGeom prst="rect">
            <a:avLst/>
          </a:prstGeom>
          <a:noFill/>
        </p:spPr>
        <p:txBody>
          <a:bodyPr wrap="square" lIns="0" rIns="0" tIns="0" bIns="0" anchor="t">
            <a:noAutofit/>
          </a:bodyPr>
          <a:lstStyle/>
          <a:p>
            <a:r>
              <a:rPr sz="1100" b="1" i="0">
                <a:solidFill>
                  <a:srgbClr val="6B6B6B"/>
                </a:solidFill>
                <a:latin typeface="Arial"/>
              </a:rPr>
              <a:t>METHODS &amp; TESTING FRAMEWORK</a:t>
            </a:r>
          </a:p>
        </p:txBody>
      </p:sp>
      <p:sp>
        <p:nvSpPr>
          <p:cNvPr id="3" name="Title"/>
          <p:cNvSpPr txBox="1"/>
          <p:nvPr/>
        </p:nvSpPr>
        <p:spPr>
          <a:xfrm>
            <a:off x="1280160" y="502920"/>
            <a:ext cx="10469880" cy="731520"/>
          </a:xfrm>
          <a:prstGeom prst="rect">
            <a:avLst/>
          </a:prstGeom>
          <a:noFill/>
        </p:spPr>
        <p:txBody>
          <a:bodyPr wrap="square" lIns="0" rIns="0" tIns="0" bIns="0" anchor="ctr">
            <a:noAutofit/>
          </a:bodyPr>
          <a:lstStyle/>
          <a:p>
            <a:r>
              <a:rPr sz="3200" b="1" i="0">
                <a:solidFill>
                  <a:srgbClr val="00943A"/>
                </a:solidFill>
                <a:latin typeface="Arial"/>
              </a:rPr>
              <a:t>Engineering Planning and Design Methodology</a:t>
            </a:r>
          </a:p>
        </p:txBody>
      </p:sp>
      <p:sp>
        <p:nvSpPr>
          <p:cNvPr id="4" name="Slide number"/>
          <p:cNvSpPr txBox="1"/>
          <p:nvPr/>
        </p:nvSpPr>
        <p:spPr>
          <a:xfrm>
            <a:off x="1280160" y="6327648"/>
            <a:ext cx="2286000" cy="274320"/>
          </a:xfrm>
          <a:prstGeom prst="rect">
            <a:avLst/>
          </a:prstGeom>
          <a:noFill/>
        </p:spPr>
        <p:txBody>
          <a:bodyPr wrap="square" lIns="0" rIns="0" tIns="0" bIns="0" anchor="t">
            <a:noAutofit/>
          </a:bodyPr>
          <a:lstStyle/>
          <a:p>
            <a:r>
              <a:rPr sz="1000" b="0" i="0">
                <a:solidFill>
                  <a:srgbClr val="6B6B6B"/>
                </a:solidFill>
                <a:latin typeface="Arial"/>
              </a:rPr>
              <a:t>IndepenSense · 25</a:t>
            </a:r>
          </a:p>
        </p:txBody>
      </p:sp>
      <p:pic>
        <p:nvPicPr>
          <p:cNvPr id="5" name="Figure 1" descr="p26_X132.png"/>
          <p:cNvPicPr>
            <a:picLocks noChangeAspect="1"/>
          </p:cNvPicPr>
          <p:nvPr/>
        </p:nvPicPr>
        <p:blipFill>
          <a:blip r:embed="rId2"/>
          <a:stretch>
            <a:fillRect/>
          </a:stretch>
        </p:blipFill>
        <p:spPr>
          <a:xfrm>
            <a:off x="8183879" y="2654805"/>
            <a:ext cx="3566160" cy="1758701"/>
          </a:xfrm>
          <a:prstGeom prst="rect">
            <a:avLst/>
          </a:prstGeom>
          <a:ln w="9525">
            <a:solidFill>
              <a:srgbClr val="D9D9D9"/>
            </a:solidFill>
          </a:ln>
        </p:spPr>
      </p:pic>
      <p:sp>
        <p:nvSpPr>
          <p:cNvPr id="6" name="Figure 1 caption"/>
          <p:cNvSpPr txBox="1"/>
          <p:nvPr/>
        </p:nvSpPr>
        <p:spPr>
          <a:xfrm>
            <a:off x="8092440" y="4459226"/>
            <a:ext cx="3749039" cy="274320"/>
          </a:xfrm>
          <a:prstGeom prst="rect">
            <a:avLst/>
          </a:prstGeom>
          <a:noFill/>
        </p:spPr>
        <p:txBody>
          <a:bodyPr wrap="square" lIns="0" rIns="0" tIns="0" bIns="0" anchor="t">
            <a:noAutofit/>
          </a:bodyPr>
          <a:lstStyle/>
          <a:p>
            <a:pPr algn="ctr"/>
            <a:r>
              <a:rPr sz="1000" b="0" i="1">
                <a:solidFill>
                  <a:srgbClr val="6B6B6B"/>
                </a:solidFill>
                <a:latin typeface="Arial"/>
              </a:rPr>
              <a:t>Agile development model</a:t>
            </a:r>
          </a:p>
        </p:txBody>
      </p:sp>
      <p:sp>
        <p:nvSpPr>
          <p:cNvPr id="7" name="Field 1 card"/>
          <p:cNvSpPr/>
          <p:nvPr/>
        </p:nvSpPr>
        <p:spPr>
          <a:xfrm>
            <a:off x="1280160" y="1371600"/>
            <a:ext cx="2835396" cy="4617720"/>
          </a:xfrm>
          <a:prstGeom prst="roundRect">
            <a:avLst>
              <a:gd name="adj" fmla="val 5804"/>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Field 1 text"/>
          <p:cNvSpPr txBox="1"/>
          <p:nvPr/>
        </p:nvSpPr>
        <p:spPr>
          <a:xfrm>
            <a:off x="1463039" y="1554480"/>
            <a:ext cx="2469636" cy="4251959"/>
          </a:xfrm>
          <a:prstGeom prst="rect">
            <a:avLst/>
          </a:prstGeom>
          <a:noFill/>
        </p:spPr>
        <p:txBody>
          <a:bodyPr wrap="square" lIns="0" rIns="0" tIns="0" bIns="0" anchor="t">
            <a:noAutofit/>
          </a:bodyPr>
          <a:lstStyle/>
          <a:p>
            <a:pPr marL="201168" indent="-201168">
              <a:spcAft>
                <a:spcPts val="532"/>
              </a:spcAft>
              <a:buClr>
                <a:srgbClr val="00943A"/>
              </a:buClr>
              <a:buFont typeface="Arial"/>
              <a:buChar char="•"/>
            </a:pPr>
            <a:r>
              <a:rPr sz="1400" b="1" i="0">
                <a:solidFill>
                  <a:srgbClr val="2B2B2B"/>
                </a:solidFill>
                <a:latin typeface="Arial"/>
              </a:rPr>
              <a:t>Research design:</a:t>
            </a:r>
            <a:r>
              <a:rPr sz="1400" b="0" i="0">
                <a:solidFill>
                  <a:srgbClr val="2B2B2B"/>
                </a:solidFill>
                <a:latin typeface="Arial"/>
              </a:rPr>
              <a:t> </a:t>
            </a:r>
            <a:r>
              <a:rPr sz="1400" b="1" i="0">
                <a:solidFill>
                  <a:srgbClr val="2B2B2B"/>
                </a:solidFill>
                <a:latin typeface="Arial"/>
              </a:rPr>
              <a:t>engineering planning and design approach</a:t>
            </a:r>
          </a:p>
          <a:p>
            <a:pPr marL="201168" indent="-201168">
              <a:spcAft>
                <a:spcPts val="532"/>
              </a:spcAft>
              <a:buClr>
                <a:srgbClr val="00943A"/>
              </a:buClr>
              <a:buFont typeface="Arial"/>
              <a:buChar char="•"/>
            </a:pPr>
            <a:r>
              <a:rPr sz="1400" b="1" i="0">
                <a:solidFill>
                  <a:srgbClr val="2B2B2B"/>
                </a:solidFill>
                <a:latin typeface="Arial"/>
              </a:rPr>
              <a:t>① Identify:</a:t>
            </a:r>
            <a:r>
              <a:rPr sz="1400" b="0" i="0">
                <a:solidFill>
                  <a:srgbClr val="2B2B2B"/>
                </a:solidFill>
                <a:latin typeface="Arial"/>
              </a:rPr>
              <a:t> technical research + </a:t>
            </a:r>
            <a:r>
              <a:rPr sz="1400" b="1" i="0">
                <a:solidFill>
                  <a:srgbClr val="2B2B2B"/>
                </a:solidFill>
                <a:latin typeface="Arial"/>
              </a:rPr>
              <a:t>unstructured in-person interviews</a:t>
            </a:r>
          </a:p>
          <a:p>
            <a:pPr marL="201168" indent="-201168">
              <a:spcAft>
                <a:spcPts val="532"/>
              </a:spcAft>
              <a:buClr>
                <a:srgbClr val="00943A"/>
              </a:buClr>
              <a:buFont typeface="Arial"/>
              <a:buChar char="•"/>
            </a:pPr>
            <a:r>
              <a:rPr sz="1400" b="1" i="0">
                <a:solidFill>
                  <a:srgbClr val="2B2B2B"/>
                </a:solidFill>
                <a:latin typeface="Arial"/>
              </a:rPr>
              <a:t>② Model:</a:t>
            </a:r>
            <a:r>
              <a:rPr sz="1400" b="0" i="0">
                <a:solidFill>
                  <a:srgbClr val="2B2B2B"/>
                </a:solidFill>
                <a:latin typeface="Arial"/>
              </a:rPr>
              <a:t> feature set, component selection, cane/vest split</a:t>
            </a:r>
          </a:p>
          <a:p>
            <a:pPr marL="201168" indent="-201168">
              <a:spcAft>
                <a:spcPts val="532"/>
              </a:spcAft>
              <a:buClr>
                <a:srgbClr val="00943A"/>
              </a:buClr>
              <a:buFont typeface="Arial"/>
              <a:buChar char="•"/>
            </a:pPr>
            <a:r>
              <a:rPr sz="1400" b="1" i="0">
                <a:solidFill>
                  <a:srgbClr val="2B2B2B"/>
                </a:solidFill>
                <a:latin typeface="Arial"/>
              </a:rPr>
              <a:t>③ Develop:</a:t>
            </a:r>
            <a:r>
              <a:rPr sz="1400" b="0" i="0">
                <a:solidFill>
                  <a:srgbClr val="2B2B2B"/>
                </a:solidFill>
                <a:latin typeface="Arial"/>
              </a:rPr>
              <a:t> </a:t>
            </a:r>
            <a:r>
              <a:rPr sz="1400" b="1" i="0">
                <a:solidFill>
                  <a:srgbClr val="2B2B2B"/>
                </a:solidFill>
                <a:latin typeface="Arial"/>
              </a:rPr>
              <a:t>Agile</a:t>
            </a:r>
            <a:r>
              <a:rPr sz="1400" b="0" i="0">
                <a:solidFill>
                  <a:srgbClr val="2B2B2B"/>
                </a:solidFill>
                <a:latin typeface="Arial"/>
              </a:rPr>
              <a:t>, iterative, one feature at a time, then integrated</a:t>
            </a:r>
          </a:p>
          <a:p>
            <a:pPr marL="201168" indent="-201168">
              <a:spcAft>
                <a:spcPts val="532"/>
              </a:spcAft>
              <a:buClr>
                <a:srgbClr val="00943A"/>
              </a:buClr>
              <a:buFont typeface="Arial"/>
              <a:buChar char="•"/>
            </a:pPr>
            <a:r>
              <a:rPr sz="1400" b="1" i="0">
                <a:solidFill>
                  <a:srgbClr val="2B2B2B"/>
                </a:solidFill>
                <a:latin typeface="Arial"/>
              </a:rPr>
              <a:t>④ Test:</a:t>
            </a:r>
            <a:r>
              <a:rPr sz="1400" b="0" i="0">
                <a:solidFill>
                  <a:srgbClr val="2B2B2B"/>
                </a:solidFill>
                <a:latin typeface="Arial"/>
              </a:rPr>
              <a:t> circuit → component → software → system</a:t>
            </a:r>
          </a:p>
        </p:txBody>
      </p:sp>
      <p:sp>
        <p:nvSpPr>
          <p:cNvPr id="9" name="Field 2 card"/>
          <p:cNvSpPr/>
          <p:nvPr/>
        </p:nvSpPr>
        <p:spPr>
          <a:xfrm>
            <a:off x="4371588" y="1371600"/>
            <a:ext cx="3556259" cy="4617720"/>
          </a:xfrm>
          <a:prstGeom prst="roundRect">
            <a:avLst>
              <a:gd name="adj" fmla="val 4628"/>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Field 2 text"/>
          <p:cNvSpPr txBox="1"/>
          <p:nvPr/>
        </p:nvSpPr>
        <p:spPr>
          <a:xfrm>
            <a:off x="4554468" y="1554480"/>
            <a:ext cx="3190499" cy="4251959"/>
          </a:xfrm>
          <a:prstGeom prst="rect">
            <a:avLst/>
          </a:prstGeom>
          <a:noFill/>
        </p:spPr>
        <p:txBody>
          <a:bodyPr wrap="square" lIns="0" rIns="0" tIns="0" bIns="0" anchor="t">
            <a:noAutofit/>
          </a:bodyPr>
          <a:lstStyle/>
          <a:p>
            <a:pPr marL="201168" indent="-201168">
              <a:spcAft>
                <a:spcPts val="532"/>
              </a:spcAft>
              <a:buClr>
                <a:srgbClr val="00943A"/>
              </a:buClr>
              <a:buFont typeface="Arial"/>
              <a:buChar char="•"/>
            </a:pPr>
            <a:r>
              <a:rPr sz="1400" b="1" i="0">
                <a:solidFill>
                  <a:srgbClr val="2B2B2B"/>
                </a:solidFill>
                <a:latin typeface="Arial"/>
              </a:rPr>
              <a:t>Sampling:</a:t>
            </a:r>
            <a:r>
              <a:rPr sz="1400" b="0" i="0">
                <a:solidFill>
                  <a:srgbClr val="2B2B2B"/>
                </a:solidFill>
                <a:latin typeface="Arial"/>
              </a:rPr>
              <a:t> </a:t>
            </a:r>
            <a:r>
              <a:rPr sz="1400" b="1" i="0">
                <a:solidFill>
                  <a:srgbClr val="2B2B2B"/>
                </a:solidFill>
                <a:latin typeface="Arial"/>
              </a:rPr>
              <a:t>purposive</a:t>
            </a:r>
            <a:r>
              <a:rPr sz="1400" b="0" i="0">
                <a:solidFill>
                  <a:srgbClr val="2B2B2B"/>
                </a:solidFill>
                <a:latin typeface="Arial"/>
              </a:rPr>
              <a:t>, visually impaired residents of </a:t>
            </a:r>
            <a:r>
              <a:rPr sz="1400" b="1" i="0">
                <a:solidFill>
                  <a:srgbClr val="2B2B2B"/>
                </a:solidFill>
                <a:latin typeface="Arial"/>
              </a:rPr>
              <a:t>Batangas / Lipa City</a:t>
            </a:r>
          </a:p>
          <a:p>
            <a:pPr marL="201168" indent="-201168">
              <a:spcAft>
                <a:spcPts val="532"/>
              </a:spcAft>
              <a:buClr>
                <a:srgbClr val="00943A"/>
              </a:buClr>
              <a:buFont typeface="Arial"/>
              <a:buChar char="•"/>
            </a:pPr>
            <a:r>
              <a:rPr sz="1400" b="1" i="0">
                <a:solidFill>
                  <a:srgbClr val="2B2B2B"/>
                </a:solidFill>
                <a:latin typeface="Arial"/>
              </a:rPr>
              <a:t>Ethics:</a:t>
            </a:r>
            <a:r>
              <a:rPr sz="1400" b="0" i="0">
                <a:solidFill>
                  <a:srgbClr val="2B2B2B"/>
                </a:solidFill>
                <a:latin typeface="Arial"/>
              </a:rPr>
              <a:t> </a:t>
            </a:r>
            <a:r>
              <a:rPr sz="1400" b="1" i="0">
                <a:solidFill>
                  <a:srgbClr val="2B2B2B"/>
                </a:solidFill>
                <a:latin typeface="Arial"/>
              </a:rPr>
              <a:t>informed consent</a:t>
            </a:r>
            <a:r>
              <a:rPr sz="1400" b="0" i="0">
                <a:solidFill>
                  <a:srgbClr val="2B2B2B"/>
                </a:solidFill>
                <a:latin typeface="Arial"/>
              </a:rPr>
              <a:t>, confidentiality, academic use only</a:t>
            </a:r>
          </a:p>
          <a:p>
            <a:pPr marL="201168" indent="-201168">
              <a:spcAft>
                <a:spcPts val="532"/>
              </a:spcAft>
              <a:buClr>
                <a:srgbClr val="00943A"/>
              </a:buClr>
              <a:buFont typeface="Arial"/>
              <a:buChar char="•"/>
            </a:pPr>
            <a:r>
              <a:rPr sz="1400" b="1" i="0">
                <a:solidFill>
                  <a:srgbClr val="2B2B2B"/>
                </a:solidFill>
                <a:latin typeface="Arial"/>
              </a:rPr>
              <a:t>Software discipline</a:t>
            </a:r>
            <a:r>
              <a:rPr sz="1400" b="0" i="0">
                <a:solidFill>
                  <a:srgbClr val="2B2B2B"/>
                </a:solidFill>
                <a:latin typeface="Arial"/>
              </a:rPr>
              <a:t>:</a:t>
            </a:r>
          </a:p>
          <a:p>
            <a:pPr marL="438912" indent="-182880">
              <a:spcAft>
                <a:spcPts val="532"/>
              </a:spcAft>
              <a:buClr>
                <a:srgbClr val="00943A"/>
              </a:buClr>
              <a:buFont typeface="Arial"/>
              <a:buChar char="–"/>
            </a:pPr>
            <a:r>
              <a:rPr sz="1300" b="1" i="0">
                <a:solidFill>
                  <a:srgbClr val="2B2B2B"/>
                </a:solidFill>
                <a:latin typeface="Arial"/>
              </a:rPr>
              <a:t>Unit tests</a:t>
            </a:r>
            <a:r>
              <a:rPr sz="1300" b="0" i="0">
                <a:solidFill>
                  <a:srgbClr val="2B2B2B"/>
                </a:solidFill>
                <a:latin typeface="Arial"/>
              </a:rPr>
              <a:t> run on a Mac with </a:t>
            </a:r>
            <a:r>
              <a:rPr sz="1300" b="1" i="0">
                <a:solidFill>
                  <a:srgbClr val="2B2B2B"/>
                </a:solidFill>
                <a:latin typeface="Arial"/>
              </a:rPr>
              <a:t>mocked hardware</a:t>
            </a:r>
          </a:p>
          <a:p>
            <a:pPr marL="438912" indent="-182880">
              <a:spcAft>
                <a:spcPts val="532"/>
              </a:spcAft>
              <a:buClr>
                <a:srgbClr val="00943A"/>
              </a:buClr>
              <a:buFont typeface="Arial"/>
              <a:buChar char="–"/>
            </a:pPr>
            <a:r>
              <a:rPr sz="1300" b="1" i="0">
                <a:solidFill>
                  <a:srgbClr val="2B2B2B"/>
                </a:solidFill>
                <a:latin typeface="Arial"/>
              </a:rPr>
              <a:t>Manual tests</a:t>
            </a:r>
            <a:r>
              <a:rPr sz="1300" b="0" i="0">
                <a:solidFill>
                  <a:srgbClr val="2B2B2B"/>
                </a:solidFill>
                <a:latin typeface="Arial"/>
              </a:rPr>
              <a:t> run on the Pi for each wired component</a:t>
            </a:r>
          </a:p>
          <a:p>
            <a:pPr marL="201168" indent="-201168">
              <a:spcAft>
                <a:spcPts val="532"/>
              </a:spcAft>
              <a:buClr>
                <a:srgbClr val="00943A"/>
              </a:buClr>
              <a:buFont typeface="Arial"/>
              <a:buChar char="•"/>
            </a:pPr>
            <a:r>
              <a:rPr sz="1400" b="1" i="0">
                <a:solidFill>
                  <a:srgbClr val="2B2B2B"/>
                </a:solidFill>
                <a:latin typeface="Arial"/>
              </a:rPr>
              <a:t>Feature order:</a:t>
            </a:r>
            <a:r>
              <a:rPr sz="1400" b="0" i="0">
                <a:solidFill>
                  <a:srgbClr val="2B2B2B"/>
                </a:solidFill>
                <a:latin typeface="Arial"/>
              </a:rPr>
              <a:t> object recognition, fall detection and audio/haptic feedback were each built and verified </a:t>
            </a:r>
            <a:r>
              <a:rPr sz="1400" b="1" i="0">
                <a:solidFill>
                  <a:srgbClr val="2B2B2B"/>
                </a:solidFill>
                <a:latin typeface="Arial"/>
              </a:rPr>
              <a:t>before integration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tion kicker"/>
          <p:cNvSpPr txBox="1"/>
          <p:nvPr/>
        </p:nvSpPr>
        <p:spPr>
          <a:xfrm>
            <a:off x="1280160" y="292608"/>
            <a:ext cx="8686800" cy="256032"/>
          </a:xfrm>
          <a:prstGeom prst="rect">
            <a:avLst/>
          </a:prstGeom>
          <a:noFill/>
        </p:spPr>
        <p:txBody>
          <a:bodyPr wrap="square" lIns="0" rIns="0" tIns="0" bIns="0" anchor="t">
            <a:noAutofit/>
          </a:bodyPr>
          <a:lstStyle/>
          <a:p>
            <a:r>
              <a:rPr sz="1100" b="1" i="0">
                <a:solidFill>
                  <a:srgbClr val="6B6B6B"/>
                </a:solidFill>
                <a:latin typeface="Arial"/>
              </a:rPr>
              <a:t>METHODS &amp; TESTING FRAMEWORK</a:t>
            </a:r>
          </a:p>
        </p:txBody>
      </p:sp>
      <p:sp>
        <p:nvSpPr>
          <p:cNvPr id="3" name="Title"/>
          <p:cNvSpPr txBox="1"/>
          <p:nvPr/>
        </p:nvSpPr>
        <p:spPr>
          <a:xfrm>
            <a:off x="1280160" y="502920"/>
            <a:ext cx="10469880" cy="731520"/>
          </a:xfrm>
          <a:prstGeom prst="rect">
            <a:avLst/>
          </a:prstGeom>
          <a:noFill/>
        </p:spPr>
        <p:txBody>
          <a:bodyPr wrap="square" lIns="0" rIns="0" tIns="0" bIns="0" anchor="ctr">
            <a:noAutofit/>
          </a:bodyPr>
          <a:lstStyle/>
          <a:p>
            <a:r>
              <a:rPr sz="3200" b="1" i="0">
                <a:solidFill>
                  <a:srgbClr val="00943A"/>
                </a:solidFill>
                <a:latin typeface="Arial"/>
              </a:rPr>
              <a:t>Breadboard Verification to Universal PCB</a:t>
            </a:r>
          </a:p>
        </p:txBody>
      </p:sp>
      <p:sp>
        <p:nvSpPr>
          <p:cNvPr id="4" name="Slide number"/>
          <p:cNvSpPr txBox="1"/>
          <p:nvPr/>
        </p:nvSpPr>
        <p:spPr>
          <a:xfrm>
            <a:off x="1280160" y="6327648"/>
            <a:ext cx="2286000" cy="274320"/>
          </a:xfrm>
          <a:prstGeom prst="rect">
            <a:avLst/>
          </a:prstGeom>
          <a:noFill/>
        </p:spPr>
        <p:txBody>
          <a:bodyPr wrap="square" lIns="0" rIns="0" tIns="0" bIns="0" anchor="t">
            <a:noAutofit/>
          </a:bodyPr>
          <a:lstStyle/>
          <a:p>
            <a:r>
              <a:rPr sz="1000" b="0" i="0">
                <a:solidFill>
                  <a:srgbClr val="6B6B6B"/>
                </a:solidFill>
                <a:latin typeface="Arial"/>
              </a:rPr>
              <a:t>IndepenSense · 26</a:t>
            </a:r>
          </a:p>
        </p:txBody>
      </p:sp>
      <p:pic>
        <p:nvPicPr>
          <p:cNvPr id="5" name="Figure 1" descr="p65_X240.png"/>
          <p:cNvPicPr>
            <a:picLocks noChangeAspect="1"/>
          </p:cNvPicPr>
          <p:nvPr/>
        </p:nvPicPr>
        <p:blipFill>
          <a:blip r:embed="rId2"/>
          <a:stretch>
            <a:fillRect/>
          </a:stretch>
        </p:blipFill>
        <p:spPr>
          <a:xfrm>
            <a:off x="8183879" y="2554441"/>
            <a:ext cx="1469571" cy="1959428"/>
          </a:xfrm>
          <a:prstGeom prst="rect">
            <a:avLst/>
          </a:prstGeom>
          <a:ln w="9525">
            <a:solidFill>
              <a:srgbClr val="D9D9D9"/>
            </a:solidFill>
          </a:ln>
        </p:spPr>
      </p:pic>
      <p:sp>
        <p:nvSpPr>
          <p:cNvPr id="6" name="Figure 1 caption"/>
          <p:cNvSpPr txBox="1"/>
          <p:nvPr/>
        </p:nvSpPr>
        <p:spPr>
          <a:xfrm>
            <a:off x="8092440" y="4559590"/>
            <a:ext cx="1652451" cy="274320"/>
          </a:xfrm>
          <a:prstGeom prst="rect">
            <a:avLst/>
          </a:prstGeom>
          <a:noFill/>
        </p:spPr>
        <p:txBody>
          <a:bodyPr wrap="square" lIns="0" rIns="0" tIns="0" bIns="0" anchor="t">
            <a:noAutofit/>
          </a:bodyPr>
          <a:lstStyle/>
          <a:p>
            <a:pPr algn="ctr"/>
            <a:r>
              <a:rPr sz="1000" b="0" i="1">
                <a:solidFill>
                  <a:srgbClr val="6B6B6B"/>
                </a:solidFill>
                <a:latin typeface="Arial"/>
              </a:rPr>
              <a:t>First prototype</a:t>
            </a:r>
          </a:p>
        </p:txBody>
      </p:sp>
      <p:pic>
        <p:nvPicPr>
          <p:cNvPr id="7" name="Figure 2" descr="p65_X241.jpg"/>
          <p:cNvPicPr>
            <a:picLocks noChangeAspect="1"/>
          </p:cNvPicPr>
          <p:nvPr/>
        </p:nvPicPr>
        <p:blipFill>
          <a:blip r:embed="rId3"/>
          <a:stretch>
            <a:fillRect/>
          </a:stretch>
        </p:blipFill>
        <p:spPr>
          <a:xfrm>
            <a:off x="9790611" y="2554441"/>
            <a:ext cx="1959428" cy="1959428"/>
          </a:xfrm>
          <a:prstGeom prst="rect">
            <a:avLst/>
          </a:prstGeom>
          <a:ln w="9525">
            <a:solidFill>
              <a:srgbClr val="D9D9D9"/>
            </a:solidFill>
          </a:ln>
        </p:spPr>
      </p:pic>
      <p:sp>
        <p:nvSpPr>
          <p:cNvPr id="8" name="Figure 2 caption"/>
          <p:cNvSpPr txBox="1"/>
          <p:nvPr/>
        </p:nvSpPr>
        <p:spPr>
          <a:xfrm>
            <a:off x="9699171" y="4559590"/>
            <a:ext cx="2142308" cy="274320"/>
          </a:xfrm>
          <a:prstGeom prst="rect">
            <a:avLst/>
          </a:prstGeom>
          <a:noFill/>
        </p:spPr>
        <p:txBody>
          <a:bodyPr wrap="square" lIns="0" rIns="0" tIns="0" bIns="0" anchor="t">
            <a:noAutofit/>
          </a:bodyPr>
          <a:lstStyle/>
          <a:p>
            <a:pPr algn="ctr"/>
            <a:r>
              <a:rPr sz="1000" b="0" i="1">
                <a:solidFill>
                  <a:srgbClr val="6B6B6B"/>
                </a:solidFill>
                <a:latin typeface="Arial"/>
              </a:rPr>
              <a:t>Assembled prototype</a:t>
            </a:r>
          </a:p>
        </p:txBody>
      </p:sp>
      <p:sp>
        <p:nvSpPr>
          <p:cNvPr id="9" name="Field 1 card"/>
          <p:cNvSpPr/>
          <p:nvPr/>
        </p:nvSpPr>
        <p:spPr>
          <a:xfrm>
            <a:off x="1280160" y="1371600"/>
            <a:ext cx="3044083" cy="4617720"/>
          </a:xfrm>
          <a:prstGeom prst="roundRect">
            <a:avLst>
              <a:gd name="adj" fmla="val 5406"/>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Field 1 text"/>
          <p:cNvSpPr txBox="1"/>
          <p:nvPr/>
        </p:nvSpPr>
        <p:spPr>
          <a:xfrm>
            <a:off x="1463039" y="1554480"/>
            <a:ext cx="2678323" cy="4251959"/>
          </a:xfrm>
          <a:prstGeom prst="rect">
            <a:avLst/>
          </a:prstGeom>
          <a:noFill/>
        </p:spPr>
        <p:txBody>
          <a:bodyPr wrap="square" lIns="0" rIns="0" tIns="0" bIns="0" anchor="t">
            <a:noAutofit/>
          </a:bodyPr>
          <a:lstStyle/>
          <a:p>
            <a:pPr>
              <a:spcAft>
                <a:spcPts val="630"/>
              </a:spcAft>
              <a:buNone/>
            </a:pPr>
            <a:r>
              <a:rPr sz="1600" b="1" i="0">
                <a:solidFill>
                  <a:srgbClr val="006B2A"/>
                </a:solidFill>
                <a:latin typeface="Arial"/>
              </a:rPr>
              <a:t>Stage 1: Breadboard component verification</a:t>
            </a:r>
          </a:p>
          <a:p>
            <a:pPr marL="201168" indent="-201168">
              <a:spcAft>
                <a:spcPts val="532"/>
              </a:spcAft>
              <a:buClr>
                <a:srgbClr val="00943A"/>
              </a:buClr>
              <a:buFont typeface="Arial"/>
              <a:buChar char="•"/>
            </a:pPr>
            <a:r>
              <a:rPr sz="1400" b="0" i="0">
                <a:solidFill>
                  <a:srgbClr val="2B2B2B"/>
                </a:solidFill>
                <a:latin typeface="Arial"/>
              </a:rPr>
              <a:t>Each sensor and module verified </a:t>
            </a:r>
            <a:r>
              <a:rPr sz="1400" b="1" i="0">
                <a:solidFill>
                  <a:srgbClr val="2B2B2B"/>
                </a:solidFill>
                <a:latin typeface="Arial"/>
              </a:rPr>
              <a:t>individually</a:t>
            </a:r>
            <a:r>
              <a:rPr sz="1400" b="0" i="0">
                <a:solidFill>
                  <a:srgbClr val="2B2B2B"/>
                </a:solidFill>
                <a:latin typeface="Arial"/>
              </a:rPr>
              <a:t>: </a:t>
            </a:r>
            <a:r>
              <a:rPr sz="1400" b="1" i="0">
                <a:solidFill>
                  <a:srgbClr val="2B2B2B"/>
                </a:solidFill>
                <a:latin typeface="Arial"/>
              </a:rPr>
              <a:t>pin configuration</a:t>
            </a:r>
            <a:r>
              <a:rPr sz="1400" b="0" i="0">
                <a:solidFill>
                  <a:srgbClr val="2B2B2B"/>
                </a:solidFill>
                <a:latin typeface="Arial"/>
              </a:rPr>
              <a:t>, </a:t>
            </a:r>
            <a:r>
              <a:rPr sz="1400" b="1" i="0">
                <a:solidFill>
                  <a:srgbClr val="2B2B2B"/>
                </a:solidFill>
                <a:latin typeface="Arial"/>
              </a:rPr>
              <a:t>signal transmission</a:t>
            </a:r>
            <a:r>
              <a:rPr sz="1400" b="0" i="0">
                <a:solidFill>
                  <a:srgbClr val="2B2B2B"/>
                </a:solidFill>
                <a:latin typeface="Arial"/>
              </a:rPr>
              <a:t>, firmware response</a:t>
            </a:r>
          </a:p>
          <a:p>
            <a:pPr marL="201168" indent="-201168">
              <a:spcAft>
                <a:spcPts val="532"/>
              </a:spcAft>
              <a:buClr>
                <a:srgbClr val="00943A"/>
              </a:buClr>
              <a:buFont typeface="Arial"/>
              <a:buChar char="•"/>
            </a:pPr>
            <a:r>
              <a:rPr sz="1400" b="1" i="0">
                <a:solidFill>
                  <a:srgbClr val="2B2B2B"/>
                </a:solidFill>
                <a:latin typeface="Arial"/>
              </a:rPr>
              <a:t>Multimeter</a:t>
            </a:r>
            <a:r>
              <a:rPr sz="1400" b="0" i="0">
                <a:solidFill>
                  <a:srgbClr val="2B2B2B"/>
                </a:solidFill>
                <a:latin typeface="Arial"/>
              </a:rPr>
              <a:t> checks for </a:t>
            </a:r>
            <a:r>
              <a:rPr sz="1400" b="1" i="0">
                <a:solidFill>
                  <a:srgbClr val="2B2B2B"/>
                </a:solidFill>
                <a:latin typeface="Arial"/>
              </a:rPr>
              <a:t>voltage levels</a:t>
            </a:r>
            <a:r>
              <a:rPr sz="1400" b="0" i="0">
                <a:solidFill>
                  <a:srgbClr val="2B2B2B"/>
                </a:solidFill>
                <a:latin typeface="Arial"/>
              </a:rPr>
              <a:t>, </a:t>
            </a:r>
            <a:r>
              <a:rPr sz="1400" b="1" i="0">
                <a:solidFill>
                  <a:srgbClr val="2B2B2B"/>
                </a:solidFill>
                <a:latin typeface="Arial"/>
              </a:rPr>
              <a:t>continuity</a:t>
            </a:r>
            <a:r>
              <a:rPr sz="1400" b="0" i="0">
                <a:solidFill>
                  <a:srgbClr val="2B2B2B"/>
                </a:solidFill>
                <a:latin typeface="Arial"/>
              </a:rPr>
              <a:t> and </a:t>
            </a:r>
            <a:r>
              <a:rPr sz="1400" b="1" i="0">
                <a:solidFill>
                  <a:srgbClr val="2B2B2B"/>
                </a:solidFill>
                <a:latin typeface="Arial"/>
              </a:rPr>
              <a:t>current</a:t>
            </a:r>
          </a:p>
          <a:p>
            <a:pPr marL="201168" indent="-201168">
              <a:spcAft>
                <a:spcPts val="532"/>
              </a:spcAft>
              <a:buClr>
                <a:srgbClr val="00943A"/>
              </a:buClr>
              <a:buFont typeface="Arial"/>
              <a:buChar char="•"/>
            </a:pPr>
            <a:r>
              <a:rPr sz="1400" b="0" i="0">
                <a:solidFill>
                  <a:srgbClr val="2B2B2B"/>
                </a:solidFill>
                <a:latin typeface="Arial"/>
              </a:rPr>
              <a:t>Power distribution from the </a:t>
            </a:r>
            <a:r>
              <a:rPr sz="1400" b="1" i="0">
                <a:solidFill>
                  <a:srgbClr val="2B2B2B"/>
                </a:solidFill>
                <a:latin typeface="Arial"/>
              </a:rPr>
              <a:t>UPS HAT (E)</a:t>
            </a:r>
            <a:r>
              <a:rPr sz="1400" b="0" i="0">
                <a:solidFill>
                  <a:srgbClr val="2B2B2B"/>
                </a:solidFill>
                <a:latin typeface="Arial"/>
              </a:rPr>
              <a:t> verified under load</a:t>
            </a:r>
          </a:p>
          <a:p>
            <a:pPr marL="201168" indent="-201168">
              <a:spcAft>
                <a:spcPts val="532"/>
              </a:spcAft>
              <a:buClr>
                <a:srgbClr val="00943A"/>
              </a:buClr>
              <a:buFont typeface="Arial"/>
              <a:buChar char="•"/>
            </a:pPr>
            <a:r>
              <a:rPr sz="1400" b="0" i="0">
                <a:solidFill>
                  <a:srgbClr val="2B2B2B"/>
                </a:solidFill>
                <a:latin typeface="Arial"/>
              </a:rPr>
              <a:t>Wiring faults (</a:t>
            </a:r>
            <a:r>
              <a:rPr sz="1400" b="1" i="0">
                <a:solidFill>
                  <a:srgbClr val="2B2B2B"/>
                </a:solidFill>
                <a:latin typeface="Arial"/>
              </a:rPr>
              <a:t>loose, shorted, mis-wired</a:t>
            </a:r>
            <a:r>
              <a:rPr sz="1400" b="0" i="0">
                <a:solidFill>
                  <a:srgbClr val="2B2B2B"/>
                </a:solidFill>
                <a:latin typeface="Arial"/>
              </a:rPr>
              <a:t>) caught </a:t>
            </a:r>
            <a:r>
              <a:rPr sz="1400" b="1" i="0">
                <a:solidFill>
                  <a:srgbClr val="2B2B2B"/>
                </a:solidFill>
                <a:latin typeface="Arial"/>
              </a:rPr>
              <a:t>before</a:t>
            </a:r>
            <a:r>
              <a:rPr sz="1400" b="0" i="0">
                <a:solidFill>
                  <a:srgbClr val="2B2B2B"/>
                </a:solidFill>
                <a:latin typeface="Arial"/>
              </a:rPr>
              <a:t> integration</a:t>
            </a:r>
          </a:p>
        </p:txBody>
      </p:sp>
      <p:sp>
        <p:nvSpPr>
          <p:cNvPr id="11" name="Field 2 card"/>
          <p:cNvSpPr/>
          <p:nvPr/>
        </p:nvSpPr>
        <p:spPr>
          <a:xfrm>
            <a:off x="4580275" y="1371600"/>
            <a:ext cx="3347572" cy="4617720"/>
          </a:xfrm>
          <a:prstGeom prst="roundRect">
            <a:avLst>
              <a:gd name="adj" fmla="val 4916"/>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Field 2 text"/>
          <p:cNvSpPr txBox="1"/>
          <p:nvPr/>
        </p:nvSpPr>
        <p:spPr>
          <a:xfrm>
            <a:off x="4763155" y="1554480"/>
            <a:ext cx="2981812" cy="4251959"/>
          </a:xfrm>
          <a:prstGeom prst="rect">
            <a:avLst/>
          </a:prstGeom>
          <a:noFill/>
        </p:spPr>
        <p:txBody>
          <a:bodyPr wrap="square" lIns="0" rIns="0" tIns="0" bIns="0" anchor="t">
            <a:noAutofit/>
          </a:bodyPr>
          <a:lstStyle/>
          <a:p>
            <a:pPr>
              <a:spcAft>
                <a:spcPts val="630"/>
              </a:spcAft>
              <a:buNone/>
            </a:pPr>
            <a:r>
              <a:rPr sz="1600" b="1" i="0">
                <a:solidFill>
                  <a:srgbClr val="006B2A"/>
                </a:solidFill>
                <a:latin typeface="Arial"/>
              </a:rPr>
              <a:t>Stage 2: Migration to a universal PCB</a:t>
            </a:r>
          </a:p>
          <a:p>
            <a:pPr marL="201168" indent="-201168">
              <a:spcAft>
                <a:spcPts val="532"/>
              </a:spcAft>
              <a:buClr>
                <a:srgbClr val="00943A"/>
              </a:buClr>
              <a:buFont typeface="Arial"/>
              <a:buChar char="•"/>
            </a:pPr>
            <a:r>
              <a:rPr sz="1400" b="0" i="0">
                <a:solidFill>
                  <a:srgbClr val="2B2B2B"/>
                </a:solidFill>
                <a:latin typeface="Arial"/>
              </a:rPr>
              <a:t>Transferred to a </a:t>
            </a:r>
            <a:r>
              <a:rPr sz="1400" b="1" i="0">
                <a:solidFill>
                  <a:srgbClr val="2B2B2B"/>
                </a:solidFill>
                <a:latin typeface="Arial"/>
              </a:rPr>
              <a:t>5 × 7 cm universal PCB</a:t>
            </a:r>
            <a:r>
              <a:rPr sz="1400" b="0" i="0">
                <a:solidFill>
                  <a:srgbClr val="2B2B2B"/>
                </a:solidFill>
                <a:latin typeface="Arial"/>
              </a:rPr>
              <a:t> with </a:t>
            </a:r>
            <a:r>
              <a:rPr sz="1400" b="1" i="0">
                <a:solidFill>
                  <a:srgbClr val="2B2B2B"/>
                </a:solidFill>
                <a:latin typeface="Arial"/>
              </a:rPr>
              <a:t>soldered joints</a:t>
            </a:r>
          </a:p>
          <a:p>
            <a:pPr marL="201168" indent="-201168">
              <a:spcAft>
                <a:spcPts val="532"/>
              </a:spcAft>
              <a:buClr>
                <a:srgbClr val="00943A"/>
              </a:buClr>
              <a:buFont typeface="Arial"/>
              <a:buChar char="•"/>
            </a:pPr>
            <a:r>
              <a:rPr sz="1400" b="1" i="0">
                <a:solidFill>
                  <a:srgbClr val="2B2B2B"/>
                </a:solidFill>
                <a:latin typeface="Arial"/>
              </a:rPr>
              <a:t>Why:</a:t>
            </a:r>
            <a:r>
              <a:rPr sz="1400" b="0" i="0">
                <a:solidFill>
                  <a:srgbClr val="2B2B2B"/>
                </a:solidFill>
                <a:latin typeface="Arial"/>
              </a:rPr>
              <a:t> breadboard contacts </a:t>
            </a:r>
            <a:r>
              <a:rPr sz="1400" b="1" i="0">
                <a:solidFill>
                  <a:srgbClr val="2B2B2B"/>
                </a:solidFill>
                <a:latin typeface="Arial"/>
              </a:rPr>
              <a:t>work loose under cane vibration and swing</a:t>
            </a:r>
          </a:p>
          <a:p>
            <a:pPr marL="201168" indent="-201168">
              <a:spcAft>
                <a:spcPts val="532"/>
              </a:spcAft>
              <a:buClr>
                <a:srgbClr val="00943A"/>
              </a:buClr>
              <a:buFont typeface="Arial"/>
              <a:buChar char="•"/>
            </a:pPr>
            <a:r>
              <a:rPr sz="1400" b="1" i="0">
                <a:solidFill>
                  <a:srgbClr val="2B2B2B"/>
                </a:solidFill>
                <a:latin typeface="Arial"/>
              </a:rPr>
              <a:t>Mechanical trace durability</a:t>
            </a:r>
            <a:r>
              <a:rPr sz="1400" b="0" i="0">
                <a:solidFill>
                  <a:srgbClr val="2B2B2B"/>
                </a:solidFill>
                <a:latin typeface="Arial"/>
              </a:rPr>
              <a:t> and </a:t>
            </a:r>
            <a:r>
              <a:rPr sz="1400" b="1" i="0">
                <a:solidFill>
                  <a:srgbClr val="2B2B2B"/>
                </a:solidFill>
                <a:latin typeface="Arial"/>
              </a:rPr>
              <a:t>secure connections</a:t>
            </a:r>
            <a:r>
              <a:rPr sz="1400" b="0" i="0">
                <a:solidFill>
                  <a:srgbClr val="2B2B2B"/>
                </a:solidFill>
                <a:latin typeface="Arial"/>
              </a:rPr>
              <a:t> for field use</a:t>
            </a:r>
          </a:p>
          <a:p>
            <a:pPr marL="201168" indent="-201168">
              <a:spcAft>
                <a:spcPts val="532"/>
              </a:spcAft>
              <a:buClr>
                <a:srgbClr val="00943A"/>
              </a:buClr>
              <a:buFont typeface="Arial"/>
              <a:buChar char="•"/>
            </a:pPr>
            <a:r>
              <a:rPr sz="1400" b="0" i="0">
                <a:solidFill>
                  <a:srgbClr val="2B2B2B"/>
                </a:solidFill>
                <a:latin typeface="Arial"/>
              </a:rPr>
              <a:t>Motor drivers on board: </a:t>
            </a:r>
            <a:r>
              <a:rPr sz="1400" b="1" i="0">
                <a:solidFill>
                  <a:srgbClr val="2B2B2B"/>
                </a:solidFill>
                <a:latin typeface="Arial"/>
              </a:rPr>
              <a:t>2N2222 NPN ×4</a:t>
            </a:r>
            <a:r>
              <a:rPr sz="1400" b="0" i="0">
                <a:solidFill>
                  <a:srgbClr val="2B2B2B"/>
                </a:solidFill>
                <a:latin typeface="Arial"/>
              </a:rPr>
              <a:t>, </a:t>
            </a:r>
            <a:r>
              <a:rPr sz="1400" b="1" i="0">
                <a:solidFill>
                  <a:srgbClr val="2B2B2B"/>
                </a:solidFill>
                <a:latin typeface="Arial"/>
              </a:rPr>
              <a:t>1N4007 ×4</a:t>
            </a:r>
            <a:r>
              <a:rPr sz="1400" b="0" i="0">
                <a:solidFill>
                  <a:srgbClr val="2B2B2B"/>
                </a:solidFill>
                <a:latin typeface="Arial"/>
              </a:rPr>
              <a:t>, </a:t>
            </a:r>
            <a:r>
              <a:rPr sz="1400" b="1" i="0">
                <a:solidFill>
                  <a:srgbClr val="2B2B2B"/>
                </a:solidFill>
                <a:latin typeface="Arial"/>
              </a:rPr>
              <a:t>1 kΩ / 10 kΩ</a:t>
            </a:r>
            <a:r>
              <a:rPr sz="1400" b="0" i="0">
                <a:solidFill>
                  <a:srgbClr val="2B2B2B"/>
                </a:solidFill>
                <a:latin typeface="Arial"/>
              </a:rPr>
              <a:t> resistors</a:t>
            </a:r>
          </a:p>
          <a:p>
            <a:pPr marL="201168" indent="-201168">
              <a:spcAft>
                <a:spcPts val="532"/>
              </a:spcAft>
              <a:buClr>
                <a:srgbClr val="00943A"/>
              </a:buClr>
              <a:buFont typeface="Arial"/>
              <a:buChar char="•"/>
            </a:pPr>
            <a:r>
              <a:rPr sz="1400" b="0" i="0">
                <a:solidFill>
                  <a:srgbClr val="2B2B2B"/>
                </a:solidFill>
                <a:latin typeface="Arial"/>
              </a:rPr>
              <a:t>Wiring documented in </a:t>
            </a:r>
            <a:r>
              <a:rPr sz="1400" b="1" i="0">
                <a:solidFill>
                  <a:srgbClr val="2B2B2B"/>
                </a:solidFill>
                <a:latin typeface="Arial"/>
              </a:rPr>
              <a:t>docs/hardware.md</a:t>
            </a:r>
            <a:r>
              <a:rPr sz="1400" b="0" i="0">
                <a:solidFill>
                  <a:srgbClr val="2B2B2B"/>
                </a:solidFill>
                <a:latin typeface="Arial"/>
              </a:rPr>
              <a:t>, the single source of truth</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tion kicker"/>
          <p:cNvSpPr txBox="1"/>
          <p:nvPr/>
        </p:nvSpPr>
        <p:spPr>
          <a:xfrm>
            <a:off x="1280160" y="292608"/>
            <a:ext cx="8686800" cy="256032"/>
          </a:xfrm>
          <a:prstGeom prst="rect">
            <a:avLst/>
          </a:prstGeom>
          <a:noFill/>
        </p:spPr>
        <p:txBody>
          <a:bodyPr wrap="square" lIns="0" rIns="0" tIns="0" bIns="0" anchor="t">
            <a:noAutofit/>
          </a:bodyPr>
          <a:lstStyle/>
          <a:p>
            <a:r>
              <a:rPr sz="1100" b="1" i="0">
                <a:solidFill>
                  <a:srgbClr val="6B6B6B"/>
                </a:solidFill>
                <a:latin typeface="Arial"/>
              </a:rPr>
              <a:t>METHODS &amp; TESTING FRAMEWORK</a:t>
            </a:r>
          </a:p>
        </p:txBody>
      </p:sp>
      <p:sp>
        <p:nvSpPr>
          <p:cNvPr id="3" name="Title"/>
          <p:cNvSpPr txBox="1"/>
          <p:nvPr/>
        </p:nvSpPr>
        <p:spPr>
          <a:xfrm>
            <a:off x="1280160" y="502920"/>
            <a:ext cx="10469880" cy="731520"/>
          </a:xfrm>
          <a:prstGeom prst="rect">
            <a:avLst/>
          </a:prstGeom>
          <a:noFill/>
        </p:spPr>
        <p:txBody>
          <a:bodyPr wrap="square" lIns="0" rIns="0" tIns="0" bIns="0" anchor="ctr">
            <a:noAutofit/>
          </a:bodyPr>
          <a:lstStyle/>
          <a:p>
            <a:r>
              <a:rPr sz="2800" b="1" i="0">
                <a:solidFill>
                  <a:srgbClr val="00943A"/>
                </a:solidFill>
                <a:latin typeface="Arial"/>
              </a:rPr>
              <a:t>Magnetometer Calibration: Eliminating Magnetic Offsets</a:t>
            </a:r>
          </a:p>
        </p:txBody>
      </p:sp>
      <p:sp>
        <p:nvSpPr>
          <p:cNvPr id="4" name="Slide number"/>
          <p:cNvSpPr txBox="1"/>
          <p:nvPr/>
        </p:nvSpPr>
        <p:spPr>
          <a:xfrm>
            <a:off x="1280160" y="6327648"/>
            <a:ext cx="2286000" cy="274320"/>
          </a:xfrm>
          <a:prstGeom prst="rect">
            <a:avLst/>
          </a:prstGeom>
          <a:noFill/>
        </p:spPr>
        <p:txBody>
          <a:bodyPr wrap="square" lIns="0" rIns="0" tIns="0" bIns="0" anchor="t">
            <a:noAutofit/>
          </a:bodyPr>
          <a:lstStyle/>
          <a:p>
            <a:r>
              <a:rPr sz="1000" b="0" i="0">
                <a:solidFill>
                  <a:srgbClr val="6B6B6B"/>
                </a:solidFill>
                <a:latin typeface="Arial"/>
              </a:rPr>
              <a:t>IndepenSense · 27</a:t>
            </a:r>
          </a:p>
        </p:txBody>
      </p:sp>
      <p:sp>
        <p:nvSpPr>
          <p:cNvPr id="5" name="Step 1 card"/>
          <p:cNvSpPr/>
          <p:nvPr/>
        </p:nvSpPr>
        <p:spPr>
          <a:xfrm>
            <a:off x="1280160" y="1371600"/>
            <a:ext cx="2398013" cy="2046681"/>
          </a:xfrm>
          <a:prstGeom prst="roundRect">
            <a:avLst>
              <a:gd name="adj" fmla="val 8041"/>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Step 1 text"/>
          <p:cNvSpPr txBox="1"/>
          <p:nvPr/>
        </p:nvSpPr>
        <p:spPr>
          <a:xfrm>
            <a:off x="1463039" y="1554480"/>
            <a:ext cx="2032253" cy="1680921"/>
          </a:xfrm>
          <a:prstGeom prst="rect">
            <a:avLst/>
          </a:prstGeom>
          <a:noFill/>
        </p:spPr>
        <p:txBody>
          <a:bodyPr wrap="square" lIns="0" rIns="0" tIns="0" bIns="0" anchor="t">
            <a:noAutofit/>
          </a:bodyPr>
          <a:lstStyle/>
          <a:p>
            <a:pPr>
              <a:spcAft>
                <a:spcPts val="585"/>
              </a:spcAft>
              <a:buNone/>
            </a:pPr>
            <a:r>
              <a:rPr sz="1500" b="1" i="0">
                <a:solidFill>
                  <a:srgbClr val="006B2A"/>
                </a:solidFill>
                <a:latin typeface="Arial"/>
              </a:rPr>
              <a:t>Collect</a:t>
            </a:r>
          </a:p>
          <a:p>
            <a:pPr>
              <a:spcAft>
                <a:spcPts val="494"/>
              </a:spcAft>
              <a:buNone/>
            </a:pPr>
            <a:r>
              <a:rPr sz="1300" b="0" i="0">
                <a:solidFill>
                  <a:srgbClr val="2B2B2B"/>
                </a:solidFill>
                <a:latin typeface="Arial"/>
              </a:rPr>
              <a:t>QMC5883P </a:t>
            </a:r>
            <a:r>
              <a:rPr sz="1300" b="1" i="0">
                <a:solidFill>
                  <a:srgbClr val="2B2B2B"/>
                </a:solidFill>
                <a:latin typeface="Arial"/>
              </a:rPr>
              <a:t>mounted on the vest</a:t>
            </a:r>
            <a:r>
              <a:rPr sz="1300" b="0" i="0">
                <a:solidFill>
                  <a:srgbClr val="2B2B2B"/>
                </a:solidFill>
                <a:latin typeface="Arial"/>
              </a:rPr>
              <a:t>, calibrated </a:t>
            </a:r>
            <a:r>
              <a:rPr sz="1300" b="1" i="0">
                <a:solidFill>
                  <a:srgbClr val="2B2B2B"/>
                </a:solidFill>
                <a:latin typeface="Arial"/>
              </a:rPr>
              <a:t>in its operating position</a:t>
            </a:r>
            <a:r>
              <a:rPr sz="1300" b="0" i="0">
                <a:solidFill>
                  <a:srgbClr val="2B2B2B"/>
                </a:solidFill>
                <a:latin typeface="Arial"/>
              </a:rPr>
              <a:t>, rotated through </a:t>
            </a:r>
            <a:r>
              <a:rPr sz="1300" b="1" i="0">
                <a:solidFill>
                  <a:srgbClr val="2B2B2B"/>
                </a:solidFill>
                <a:latin typeface="Arial"/>
              </a:rPr>
              <a:t>many orientations</a:t>
            </a:r>
          </a:p>
        </p:txBody>
      </p:sp>
      <p:sp>
        <p:nvSpPr>
          <p:cNvPr id="7" name="Arrow 1"/>
          <p:cNvSpPr/>
          <p:nvPr/>
        </p:nvSpPr>
        <p:spPr>
          <a:xfrm>
            <a:off x="3723893" y="2276068"/>
            <a:ext cx="201168" cy="237744"/>
          </a:xfrm>
          <a:prstGeom prst="rightArrow">
            <a:avLst/>
          </a:prstGeom>
          <a:solidFill>
            <a:srgbClr val="009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tep 2 card"/>
          <p:cNvSpPr/>
          <p:nvPr/>
        </p:nvSpPr>
        <p:spPr>
          <a:xfrm>
            <a:off x="3970781" y="1371600"/>
            <a:ext cx="2398013" cy="2046681"/>
          </a:xfrm>
          <a:prstGeom prst="roundRect">
            <a:avLst>
              <a:gd name="adj" fmla="val 8041"/>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Step 2 text"/>
          <p:cNvSpPr txBox="1"/>
          <p:nvPr/>
        </p:nvSpPr>
        <p:spPr>
          <a:xfrm>
            <a:off x="4153661" y="1554480"/>
            <a:ext cx="2032253" cy="1680921"/>
          </a:xfrm>
          <a:prstGeom prst="rect">
            <a:avLst/>
          </a:prstGeom>
          <a:noFill/>
        </p:spPr>
        <p:txBody>
          <a:bodyPr wrap="square" lIns="0" rIns="0" tIns="0" bIns="0" anchor="t">
            <a:noAutofit/>
          </a:bodyPr>
          <a:lstStyle/>
          <a:p>
            <a:pPr>
              <a:spcAft>
                <a:spcPts val="585"/>
              </a:spcAft>
              <a:buNone/>
            </a:pPr>
            <a:r>
              <a:rPr sz="1500" b="1" i="0">
                <a:solidFill>
                  <a:srgbClr val="006B2A"/>
                </a:solidFill>
                <a:latin typeface="Arial"/>
              </a:rPr>
              <a:t>Fit</a:t>
            </a:r>
          </a:p>
          <a:p>
            <a:pPr>
              <a:spcAft>
                <a:spcPts val="494"/>
              </a:spcAft>
              <a:buNone/>
            </a:pPr>
            <a:r>
              <a:rPr sz="1300" b="0" i="0">
                <a:solidFill>
                  <a:srgbClr val="2B2B2B"/>
                </a:solidFill>
                <a:latin typeface="Arial"/>
              </a:rPr>
              <a:t>compute </a:t>
            </a:r>
            <a:r>
              <a:rPr sz="1300" b="1" i="0">
                <a:solidFill>
                  <a:srgbClr val="2B2B2B"/>
                </a:solidFill>
                <a:latin typeface="Arial"/>
              </a:rPr>
              <a:t>hard-iron offsets</a:t>
            </a:r>
            <a:r>
              <a:rPr sz="1300" b="0" i="0">
                <a:solidFill>
                  <a:srgbClr val="2B2B2B"/>
                </a:solidFill>
                <a:latin typeface="Arial"/>
              </a:rPr>
              <a:t> (centre shift) and scale correction from the X/Y/Z cloud</a:t>
            </a:r>
          </a:p>
        </p:txBody>
      </p:sp>
      <p:sp>
        <p:nvSpPr>
          <p:cNvPr id="10" name="Arrow 2"/>
          <p:cNvSpPr/>
          <p:nvPr/>
        </p:nvSpPr>
        <p:spPr>
          <a:xfrm>
            <a:off x="6414515" y="2276068"/>
            <a:ext cx="201168" cy="237744"/>
          </a:xfrm>
          <a:prstGeom prst="rightArrow">
            <a:avLst/>
          </a:prstGeom>
          <a:solidFill>
            <a:srgbClr val="009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tep 3 card"/>
          <p:cNvSpPr/>
          <p:nvPr/>
        </p:nvSpPr>
        <p:spPr>
          <a:xfrm>
            <a:off x="6661403" y="1371600"/>
            <a:ext cx="2398013" cy="2046681"/>
          </a:xfrm>
          <a:prstGeom prst="roundRect">
            <a:avLst>
              <a:gd name="adj" fmla="val 8041"/>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Step 3 text"/>
          <p:cNvSpPr txBox="1"/>
          <p:nvPr/>
        </p:nvSpPr>
        <p:spPr>
          <a:xfrm>
            <a:off x="6844283" y="1554480"/>
            <a:ext cx="2032253" cy="1680921"/>
          </a:xfrm>
          <a:prstGeom prst="rect">
            <a:avLst/>
          </a:prstGeom>
          <a:noFill/>
        </p:spPr>
        <p:txBody>
          <a:bodyPr wrap="square" lIns="0" rIns="0" tIns="0" bIns="0" anchor="t">
            <a:noAutofit/>
          </a:bodyPr>
          <a:lstStyle/>
          <a:p>
            <a:pPr>
              <a:spcAft>
                <a:spcPts val="585"/>
              </a:spcAft>
              <a:buNone/>
            </a:pPr>
            <a:r>
              <a:rPr sz="1500" b="1" i="0">
                <a:solidFill>
                  <a:srgbClr val="006B2A"/>
                </a:solidFill>
                <a:latin typeface="Arial"/>
              </a:rPr>
              <a:t>Verify</a:t>
            </a:r>
          </a:p>
          <a:p>
            <a:pPr>
              <a:spcAft>
                <a:spcPts val="494"/>
              </a:spcAft>
              <a:buNone/>
            </a:pPr>
            <a:r>
              <a:rPr sz="1300" b="0" i="0">
                <a:solidFill>
                  <a:srgbClr val="2B2B2B"/>
                </a:solidFill>
                <a:latin typeface="Arial"/>
              </a:rPr>
              <a:t>heading compared against a </a:t>
            </a:r>
            <a:r>
              <a:rPr sz="1300" b="1" i="0">
                <a:solidFill>
                  <a:srgbClr val="2B2B2B"/>
                </a:solidFill>
                <a:latin typeface="Arial"/>
              </a:rPr>
              <a:t>phone compass reference</a:t>
            </a:r>
            <a:r>
              <a:rPr sz="1300" b="0" i="0">
                <a:solidFill>
                  <a:srgbClr val="2B2B2B"/>
                </a:solidFill>
                <a:latin typeface="Arial"/>
              </a:rPr>
              <a:t> at </a:t>
            </a:r>
            <a:r>
              <a:rPr sz="1300" b="1" i="0">
                <a:solidFill>
                  <a:srgbClr val="2B2B2B"/>
                </a:solidFill>
                <a:latin typeface="Arial"/>
              </a:rPr>
              <a:t>N, NE, E, SE, S</a:t>
            </a:r>
          </a:p>
        </p:txBody>
      </p:sp>
      <p:sp>
        <p:nvSpPr>
          <p:cNvPr id="13" name="Arrow 3"/>
          <p:cNvSpPr/>
          <p:nvPr/>
        </p:nvSpPr>
        <p:spPr>
          <a:xfrm>
            <a:off x="9105138" y="2276068"/>
            <a:ext cx="201168" cy="237744"/>
          </a:xfrm>
          <a:prstGeom prst="rightArrow">
            <a:avLst/>
          </a:prstGeom>
          <a:solidFill>
            <a:srgbClr val="009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tep 4 card"/>
          <p:cNvSpPr/>
          <p:nvPr/>
        </p:nvSpPr>
        <p:spPr>
          <a:xfrm>
            <a:off x="9352026" y="1371600"/>
            <a:ext cx="2398013" cy="2046681"/>
          </a:xfrm>
          <a:prstGeom prst="roundRect">
            <a:avLst>
              <a:gd name="adj" fmla="val 8041"/>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Step 4 text"/>
          <p:cNvSpPr txBox="1"/>
          <p:nvPr/>
        </p:nvSpPr>
        <p:spPr>
          <a:xfrm>
            <a:off x="9534905" y="1554480"/>
            <a:ext cx="2032253" cy="1680921"/>
          </a:xfrm>
          <a:prstGeom prst="rect">
            <a:avLst/>
          </a:prstGeom>
          <a:noFill/>
        </p:spPr>
        <p:txBody>
          <a:bodyPr wrap="square" lIns="0" rIns="0" tIns="0" bIns="0" anchor="t">
            <a:noAutofit/>
          </a:bodyPr>
          <a:lstStyle/>
          <a:p>
            <a:pPr>
              <a:spcAft>
                <a:spcPts val="585"/>
              </a:spcAft>
              <a:buNone/>
            </a:pPr>
            <a:r>
              <a:rPr sz="1500" b="1" i="0">
                <a:solidFill>
                  <a:srgbClr val="006B2A"/>
                </a:solidFill>
                <a:latin typeface="Arial"/>
              </a:rPr>
              <a:t>Recalibrate</a:t>
            </a:r>
          </a:p>
          <a:p>
            <a:pPr>
              <a:spcAft>
                <a:spcPts val="494"/>
              </a:spcAft>
              <a:buNone/>
            </a:pPr>
            <a:r>
              <a:rPr sz="1300" b="0" i="0">
                <a:solidFill>
                  <a:srgbClr val="2B2B2B"/>
                </a:solidFill>
                <a:latin typeface="Arial"/>
              </a:rPr>
              <a:t>when headings deviate, then re-test</a:t>
            </a:r>
          </a:p>
        </p:txBody>
      </p:sp>
      <p:sp>
        <p:nvSpPr>
          <p:cNvPr id="16" name="Field 2 card"/>
          <p:cNvSpPr/>
          <p:nvPr/>
        </p:nvSpPr>
        <p:spPr>
          <a:xfrm>
            <a:off x="1280160" y="3674313"/>
            <a:ext cx="10469880" cy="2315006"/>
          </a:xfrm>
          <a:prstGeom prst="roundRect">
            <a:avLst>
              <a:gd name="adj" fmla="val 7109"/>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Field 2 text 1"/>
          <p:cNvSpPr txBox="1"/>
          <p:nvPr/>
        </p:nvSpPr>
        <p:spPr>
          <a:xfrm>
            <a:off x="1463039" y="3857193"/>
            <a:ext cx="4914899" cy="1949246"/>
          </a:xfrm>
          <a:prstGeom prst="rect">
            <a:avLst/>
          </a:prstGeom>
          <a:noFill/>
        </p:spPr>
        <p:txBody>
          <a:bodyPr wrap="square" lIns="0" rIns="0" tIns="0" bIns="0" anchor="t">
            <a:noAutofit/>
          </a:bodyPr>
          <a:lstStyle/>
          <a:p>
            <a:pPr marL="201168" indent="-201168">
              <a:spcAft>
                <a:spcPts val="494"/>
              </a:spcAft>
              <a:buClr>
                <a:srgbClr val="00943A"/>
              </a:buClr>
              <a:buFont typeface="Arial"/>
              <a:buChar char="•"/>
            </a:pPr>
            <a:r>
              <a:rPr sz="1300" b="1" i="0">
                <a:solidFill>
                  <a:srgbClr val="2B2B2B"/>
                </a:solidFill>
                <a:latin typeface="Arial"/>
              </a:rPr>
              <a:t>Why on the vest:</a:t>
            </a:r>
            <a:r>
              <a:rPr sz="1300" b="0" i="0">
                <a:solidFill>
                  <a:srgbClr val="2B2B2B"/>
                </a:solidFill>
                <a:latin typeface="Arial"/>
              </a:rPr>
              <a:t> nearby </a:t>
            </a:r>
            <a:r>
              <a:rPr sz="1300" b="1" i="0">
                <a:solidFill>
                  <a:srgbClr val="2B2B2B"/>
                </a:solidFill>
                <a:latin typeface="Arial"/>
              </a:rPr>
              <a:t>metal, battery cells and the modem</a:t>
            </a:r>
            <a:r>
              <a:rPr sz="1300" b="0" i="0">
                <a:solidFill>
                  <a:srgbClr val="2B2B2B"/>
                </a:solidFill>
                <a:latin typeface="Arial"/>
              </a:rPr>
              <a:t> distort the field, so calibration must include the mount</a:t>
            </a:r>
          </a:p>
          <a:p>
            <a:pPr marL="201168" indent="-201168">
              <a:spcAft>
                <a:spcPts val="494"/>
              </a:spcAft>
              <a:buClr>
                <a:srgbClr val="00943A"/>
              </a:buClr>
              <a:buFont typeface="Arial"/>
              <a:buChar char="•"/>
            </a:pPr>
            <a:r>
              <a:rPr sz="1300" b="1" i="0">
                <a:solidFill>
                  <a:srgbClr val="2B2B2B"/>
                </a:solidFill>
                <a:latin typeface="Arial"/>
              </a:rPr>
              <a:t>What it enables:</a:t>
            </a:r>
          </a:p>
          <a:p>
            <a:pPr marL="438912" indent="-182880">
              <a:spcAft>
                <a:spcPts val="494"/>
              </a:spcAft>
              <a:buClr>
                <a:srgbClr val="00943A"/>
              </a:buClr>
              <a:buFont typeface="Arial"/>
              <a:buChar char="–"/>
            </a:pPr>
            <a:r>
              <a:rPr sz="1200" b="1" i="0">
                <a:solidFill>
                  <a:srgbClr val="2B2B2B"/>
                </a:solidFill>
                <a:latin typeface="Arial"/>
              </a:rPr>
              <a:t>Turn-to-face</a:t>
            </a:r>
            <a:r>
              <a:rPr sz="1200" b="0" i="0">
                <a:solidFill>
                  <a:srgbClr val="2B2B2B"/>
                </a:solidFill>
                <a:latin typeface="Arial"/>
              </a:rPr>
              <a:t> guidance before the first step (stop band </a:t>
            </a:r>
            <a:r>
              <a:rPr sz="1200" b="1" i="0">
                <a:solidFill>
                  <a:srgbClr val="2B2B2B"/>
                </a:solidFill>
                <a:latin typeface="Arial"/>
              </a:rPr>
              <a:t>±15°</a:t>
            </a:r>
            <a:r>
              <a:rPr sz="1200" b="0" i="0">
                <a:solidFill>
                  <a:srgbClr val="2B2B2B"/>
                </a:solidFill>
                <a:latin typeface="Arial"/>
              </a:rPr>
              <a:t>)</a:t>
            </a:r>
          </a:p>
          <a:p>
            <a:pPr marL="438912" indent="-182880">
              <a:spcAft>
                <a:spcPts val="494"/>
              </a:spcAft>
              <a:buClr>
                <a:srgbClr val="00943A"/>
              </a:buClr>
              <a:buFont typeface="Arial"/>
              <a:buChar char="–"/>
            </a:pPr>
            <a:r>
              <a:rPr sz="1200" b="1" i="0">
                <a:solidFill>
                  <a:srgbClr val="2B2B2B"/>
                </a:solidFill>
                <a:latin typeface="Arial"/>
              </a:rPr>
              <a:t>Departure heading</a:t>
            </a:r>
            <a:r>
              <a:rPr sz="1200" b="0" i="0">
                <a:solidFill>
                  <a:srgbClr val="2B2B2B"/>
                </a:solidFill>
                <a:latin typeface="Arial"/>
              </a:rPr>
              <a:t> passed to the router</a:t>
            </a:r>
          </a:p>
          <a:p>
            <a:pPr marL="438912" indent="-182880">
              <a:spcAft>
                <a:spcPts val="494"/>
              </a:spcAft>
              <a:buClr>
                <a:srgbClr val="00943A"/>
              </a:buClr>
              <a:buFont typeface="Arial"/>
              <a:buChar char="–"/>
            </a:pPr>
            <a:r>
              <a:rPr sz="1200" b="1" i="0">
                <a:solidFill>
                  <a:srgbClr val="2B2B2B"/>
                </a:solidFill>
                <a:latin typeface="Arial"/>
              </a:rPr>
              <a:t>Missed-turn detection</a:t>
            </a:r>
            <a:r>
              <a:rPr sz="1200" b="0" i="0">
                <a:solidFill>
                  <a:srgbClr val="2B2B2B"/>
                </a:solidFill>
                <a:latin typeface="Arial"/>
              </a:rPr>
              <a:t> within </a:t>
            </a:r>
            <a:r>
              <a:rPr sz="1200" b="1" i="0">
                <a:solidFill>
                  <a:srgbClr val="2B2B2B"/>
                </a:solidFill>
                <a:latin typeface="Arial"/>
              </a:rPr>
              <a:t>~10 m</a:t>
            </a:r>
            <a:r>
              <a:rPr sz="1200" b="0" i="0">
                <a:solidFill>
                  <a:srgbClr val="2B2B2B"/>
                </a:solidFill>
                <a:latin typeface="Arial"/>
              </a:rPr>
              <a:t> of walking</a:t>
            </a:r>
          </a:p>
        </p:txBody>
      </p:sp>
      <p:sp>
        <p:nvSpPr>
          <p:cNvPr id="18" name="Field 2 text 2"/>
          <p:cNvSpPr txBox="1"/>
          <p:nvPr/>
        </p:nvSpPr>
        <p:spPr>
          <a:xfrm>
            <a:off x="6652259" y="3857193"/>
            <a:ext cx="4914899" cy="1949246"/>
          </a:xfrm>
          <a:prstGeom prst="rect">
            <a:avLst/>
          </a:prstGeom>
          <a:noFill/>
        </p:spPr>
        <p:txBody>
          <a:bodyPr wrap="square" lIns="0" rIns="0" tIns="0" bIns="0" anchor="t">
            <a:noAutofit/>
          </a:bodyPr>
          <a:lstStyle/>
          <a:p>
            <a:pPr marL="201168" indent="-201168">
              <a:spcAft>
                <a:spcPts val="494"/>
              </a:spcAft>
              <a:buClr>
                <a:srgbClr val="00943A"/>
              </a:buClr>
              <a:buFont typeface="Arial"/>
              <a:buChar char="•"/>
            </a:pPr>
            <a:r>
              <a:rPr sz="1300" b="0" i="0">
                <a:solidFill>
                  <a:srgbClr val="2B2B2B"/>
                </a:solidFill>
                <a:latin typeface="Arial"/>
              </a:rPr>
              <a:t>Status: </a:t>
            </a:r>
            <a:r>
              <a:rPr sz="1300" b="1" i="0">
                <a:solidFill>
                  <a:srgbClr val="2B2B2B"/>
                </a:solidFill>
                <a:latin typeface="Arial"/>
              </a:rPr>
              <a:t>COMPASS_CALIBRATED = True</a:t>
            </a:r>
            <a:r>
              <a:rPr sz="1300" b="0" i="0">
                <a:solidFill>
                  <a:srgbClr val="2B2B2B"/>
                </a:solidFill>
                <a:latin typeface="Arial"/>
              </a:rPr>
              <a:t> on the assembled unit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tion kicker"/>
          <p:cNvSpPr txBox="1"/>
          <p:nvPr/>
        </p:nvSpPr>
        <p:spPr>
          <a:xfrm>
            <a:off x="1280160" y="292608"/>
            <a:ext cx="8686800" cy="256032"/>
          </a:xfrm>
          <a:prstGeom prst="rect">
            <a:avLst/>
          </a:prstGeom>
          <a:noFill/>
        </p:spPr>
        <p:txBody>
          <a:bodyPr wrap="square" lIns="0" rIns="0" tIns="0" bIns="0" anchor="t">
            <a:noAutofit/>
          </a:bodyPr>
          <a:lstStyle/>
          <a:p>
            <a:r>
              <a:rPr sz="1100" b="1" i="0">
                <a:solidFill>
                  <a:srgbClr val="6B6B6B"/>
                </a:solidFill>
                <a:latin typeface="Arial"/>
              </a:rPr>
              <a:t>METHODS &amp; TESTING FRAMEWORK</a:t>
            </a:r>
          </a:p>
        </p:txBody>
      </p:sp>
      <p:sp>
        <p:nvSpPr>
          <p:cNvPr id="3" name="Title"/>
          <p:cNvSpPr txBox="1"/>
          <p:nvPr/>
        </p:nvSpPr>
        <p:spPr>
          <a:xfrm>
            <a:off x="1280160" y="502920"/>
            <a:ext cx="10469880" cy="731520"/>
          </a:xfrm>
          <a:prstGeom prst="rect">
            <a:avLst/>
          </a:prstGeom>
          <a:noFill/>
        </p:spPr>
        <p:txBody>
          <a:bodyPr wrap="square" lIns="0" rIns="0" tIns="0" bIns="0" anchor="ctr">
            <a:noAutofit/>
          </a:bodyPr>
          <a:lstStyle/>
          <a:p>
            <a:r>
              <a:rPr sz="3200" b="1" i="0">
                <a:solidFill>
                  <a:srgbClr val="00943A"/>
                </a:solidFill>
                <a:latin typeface="Arial"/>
              </a:rPr>
              <a:t>Four-Layer Testing Framework</a:t>
            </a:r>
          </a:p>
        </p:txBody>
      </p:sp>
      <p:sp>
        <p:nvSpPr>
          <p:cNvPr id="4" name="Slide number"/>
          <p:cNvSpPr txBox="1"/>
          <p:nvPr/>
        </p:nvSpPr>
        <p:spPr>
          <a:xfrm>
            <a:off x="1280160" y="6327648"/>
            <a:ext cx="2286000" cy="274320"/>
          </a:xfrm>
          <a:prstGeom prst="rect">
            <a:avLst/>
          </a:prstGeom>
          <a:noFill/>
        </p:spPr>
        <p:txBody>
          <a:bodyPr wrap="square" lIns="0" rIns="0" tIns="0" bIns="0" anchor="t">
            <a:noAutofit/>
          </a:bodyPr>
          <a:lstStyle/>
          <a:p>
            <a:r>
              <a:rPr sz="1000" b="0" i="0">
                <a:solidFill>
                  <a:srgbClr val="6B6B6B"/>
                </a:solidFill>
                <a:latin typeface="Arial"/>
              </a:rPr>
              <a:t>IndepenSense · 28</a:t>
            </a:r>
          </a:p>
        </p:txBody>
      </p:sp>
      <p:sp>
        <p:nvSpPr>
          <p:cNvPr id="5" name="Step 1 card"/>
          <p:cNvSpPr/>
          <p:nvPr/>
        </p:nvSpPr>
        <p:spPr>
          <a:xfrm>
            <a:off x="1280160" y="1371600"/>
            <a:ext cx="2398013" cy="2769108"/>
          </a:xfrm>
          <a:prstGeom prst="roundRect">
            <a:avLst>
              <a:gd name="adj" fmla="val 6863"/>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Step 1 text"/>
          <p:cNvSpPr txBox="1"/>
          <p:nvPr/>
        </p:nvSpPr>
        <p:spPr>
          <a:xfrm>
            <a:off x="1463039" y="1554480"/>
            <a:ext cx="2032253" cy="2403348"/>
          </a:xfrm>
          <a:prstGeom prst="rect">
            <a:avLst/>
          </a:prstGeom>
          <a:noFill/>
        </p:spPr>
        <p:txBody>
          <a:bodyPr wrap="square" lIns="0" rIns="0" tIns="0" bIns="0" anchor="t">
            <a:noAutofit/>
          </a:bodyPr>
          <a:lstStyle/>
          <a:p>
            <a:pPr>
              <a:spcAft>
                <a:spcPts val="630"/>
              </a:spcAft>
              <a:buNone/>
            </a:pPr>
            <a:r>
              <a:rPr sz="1600" b="1" i="0">
                <a:solidFill>
                  <a:srgbClr val="006B2A"/>
                </a:solidFill>
                <a:latin typeface="Arial"/>
              </a:rPr>
              <a:t>L1 Circuit testing</a:t>
            </a:r>
          </a:p>
          <a:p>
            <a:pPr>
              <a:spcAft>
                <a:spcPts val="532"/>
              </a:spcAft>
              <a:buNone/>
            </a:pPr>
            <a:r>
              <a:rPr sz="1400" b="0" i="0">
                <a:solidFill>
                  <a:srgbClr val="2B2B2B"/>
                </a:solidFill>
                <a:latin typeface="Arial"/>
              </a:rPr>
              <a:t>multimeter checks of voltage, continuity and current, plus UPS rail stability</a:t>
            </a:r>
          </a:p>
        </p:txBody>
      </p:sp>
      <p:sp>
        <p:nvSpPr>
          <p:cNvPr id="7" name="Arrow 1"/>
          <p:cNvSpPr/>
          <p:nvPr/>
        </p:nvSpPr>
        <p:spPr>
          <a:xfrm>
            <a:off x="3723893" y="2637282"/>
            <a:ext cx="201168" cy="237744"/>
          </a:xfrm>
          <a:prstGeom prst="rightArrow">
            <a:avLst/>
          </a:prstGeom>
          <a:solidFill>
            <a:srgbClr val="009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tep 2 card"/>
          <p:cNvSpPr/>
          <p:nvPr/>
        </p:nvSpPr>
        <p:spPr>
          <a:xfrm>
            <a:off x="3970781" y="1371600"/>
            <a:ext cx="2398013" cy="2769108"/>
          </a:xfrm>
          <a:prstGeom prst="roundRect">
            <a:avLst>
              <a:gd name="adj" fmla="val 6863"/>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Step 2 text"/>
          <p:cNvSpPr txBox="1"/>
          <p:nvPr/>
        </p:nvSpPr>
        <p:spPr>
          <a:xfrm>
            <a:off x="4153661" y="1554480"/>
            <a:ext cx="2032253" cy="2403348"/>
          </a:xfrm>
          <a:prstGeom prst="rect">
            <a:avLst/>
          </a:prstGeom>
          <a:noFill/>
        </p:spPr>
        <p:txBody>
          <a:bodyPr wrap="square" lIns="0" rIns="0" tIns="0" bIns="0" anchor="t">
            <a:noAutofit/>
          </a:bodyPr>
          <a:lstStyle/>
          <a:p>
            <a:pPr>
              <a:spcAft>
                <a:spcPts val="630"/>
              </a:spcAft>
              <a:buNone/>
            </a:pPr>
            <a:r>
              <a:rPr sz="1600" b="1" i="0">
                <a:solidFill>
                  <a:srgbClr val="006B2A"/>
                </a:solidFill>
                <a:latin typeface="Arial"/>
              </a:rPr>
              <a:t>L2 Component testing</a:t>
            </a:r>
          </a:p>
          <a:p>
            <a:pPr>
              <a:spcAft>
                <a:spcPts val="532"/>
              </a:spcAft>
              <a:buNone/>
            </a:pPr>
            <a:r>
              <a:rPr sz="1400" b="0" i="0">
                <a:solidFill>
                  <a:srgbClr val="2B2B2B"/>
                </a:solidFill>
                <a:latin typeface="Arial"/>
              </a:rPr>
              <a:t>each module under </a:t>
            </a:r>
            <a:r>
              <a:rPr sz="1400" b="1" i="0">
                <a:solidFill>
                  <a:srgbClr val="2B2B2B"/>
                </a:solidFill>
                <a:latin typeface="Arial"/>
              </a:rPr>
              <a:t>controlled conditions</a:t>
            </a:r>
            <a:r>
              <a:rPr sz="1400" b="0" i="0">
                <a:solidFill>
                  <a:srgbClr val="2B2B2B"/>
                </a:solidFill>
                <a:latin typeface="Arial"/>
              </a:rPr>
              <a:t>, covering distance accuracy, image quality, GPS accuracy, IMU motion and feedback response</a:t>
            </a:r>
          </a:p>
        </p:txBody>
      </p:sp>
      <p:sp>
        <p:nvSpPr>
          <p:cNvPr id="10" name="Arrow 2"/>
          <p:cNvSpPr/>
          <p:nvPr/>
        </p:nvSpPr>
        <p:spPr>
          <a:xfrm>
            <a:off x="6414515" y="2637282"/>
            <a:ext cx="201168" cy="237744"/>
          </a:xfrm>
          <a:prstGeom prst="rightArrow">
            <a:avLst/>
          </a:prstGeom>
          <a:solidFill>
            <a:srgbClr val="009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tep 3 card"/>
          <p:cNvSpPr/>
          <p:nvPr/>
        </p:nvSpPr>
        <p:spPr>
          <a:xfrm>
            <a:off x="6661403" y="1371600"/>
            <a:ext cx="2398013" cy="2769108"/>
          </a:xfrm>
          <a:prstGeom prst="roundRect">
            <a:avLst>
              <a:gd name="adj" fmla="val 6863"/>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Step 3 text"/>
          <p:cNvSpPr txBox="1"/>
          <p:nvPr/>
        </p:nvSpPr>
        <p:spPr>
          <a:xfrm>
            <a:off x="6844283" y="1554480"/>
            <a:ext cx="2032253" cy="2403348"/>
          </a:xfrm>
          <a:prstGeom prst="rect">
            <a:avLst/>
          </a:prstGeom>
          <a:noFill/>
        </p:spPr>
        <p:txBody>
          <a:bodyPr wrap="square" lIns="0" rIns="0" tIns="0" bIns="0" anchor="t">
            <a:noAutofit/>
          </a:bodyPr>
          <a:lstStyle/>
          <a:p>
            <a:pPr>
              <a:spcAft>
                <a:spcPts val="630"/>
              </a:spcAft>
              <a:buNone/>
            </a:pPr>
            <a:r>
              <a:rPr sz="1600" b="1" i="0">
                <a:solidFill>
                  <a:srgbClr val="006B2A"/>
                </a:solidFill>
                <a:latin typeface="Arial"/>
              </a:rPr>
              <a:t>L3 Software testing</a:t>
            </a:r>
          </a:p>
          <a:p>
            <a:pPr>
              <a:spcAft>
                <a:spcPts val="532"/>
              </a:spcAft>
              <a:buNone/>
            </a:pPr>
            <a:r>
              <a:rPr sz="1400" b="0" i="0">
                <a:solidFill>
                  <a:srgbClr val="2B2B2B"/>
                </a:solidFill>
                <a:latin typeface="Arial"/>
              </a:rPr>
              <a:t>platform features (</a:t>
            </a:r>
            <a:r>
              <a:rPr sz="1400" b="1" i="0">
                <a:solidFill>
                  <a:srgbClr val="2B2B2B"/>
                </a:solidFill>
                <a:latin typeface="Arial"/>
              </a:rPr>
              <a:t>GPS tracking, SOS, notifications</a:t>
            </a:r>
            <a:r>
              <a:rPr sz="1400" b="0" i="0">
                <a:solidFill>
                  <a:srgbClr val="2B2B2B"/>
                </a:solidFill>
                <a:latin typeface="Arial"/>
              </a:rPr>
              <a:t>), device logic, and </a:t>
            </a:r>
            <a:r>
              <a:rPr sz="1400" b="1" i="0">
                <a:solidFill>
                  <a:srgbClr val="2B2B2B"/>
                </a:solidFill>
                <a:latin typeface="Arial"/>
              </a:rPr>
              <a:t>unstable-network</a:t>
            </a:r>
            <a:r>
              <a:rPr sz="1400" b="0" i="0">
                <a:solidFill>
                  <a:srgbClr val="2B2B2B"/>
                </a:solidFill>
                <a:latin typeface="Arial"/>
              </a:rPr>
              <a:t> behaviour</a:t>
            </a:r>
          </a:p>
        </p:txBody>
      </p:sp>
      <p:sp>
        <p:nvSpPr>
          <p:cNvPr id="13" name="Arrow 3"/>
          <p:cNvSpPr/>
          <p:nvPr/>
        </p:nvSpPr>
        <p:spPr>
          <a:xfrm>
            <a:off x="9105138" y="2637282"/>
            <a:ext cx="201168" cy="237744"/>
          </a:xfrm>
          <a:prstGeom prst="rightArrow">
            <a:avLst/>
          </a:prstGeom>
          <a:solidFill>
            <a:srgbClr val="009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tep 4 card"/>
          <p:cNvSpPr/>
          <p:nvPr/>
        </p:nvSpPr>
        <p:spPr>
          <a:xfrm>
            <a:off x="9352026" y="1371600"/>
            <a:ext cx="2398013" cy="2769108"/>
          </a:xfrm>
          <a:prstGeom prst="roundRect">
            <a:avLst>
              <a:gd name="adj" fmla="val 6863"/>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Step 4 text"/>
          <p:cNvSpPr txBox="1"/>
          <p:nvPr/>
        </p:nvSpPr>
        <p:spPr>
          <a:xfrm>
            <a:off x="9534905" y="1554480"/>
            <a:ext cx="2032253" cy="2403348"/>
          </a:xfrm>
          <a:prstGeom prst="rect">
            <a:avLst/>
          </a:prstGeom>
          <a:noFill/>
        </p:spPr>
        <p:txBody>
          <a:bodyPr wrap="square" lIns="0" rIns="0" tIns="0" bIns="0" anchor="t">
            <a:noAutofit/>
          </a:bodyPr>
          <a:lstStyle/>
          <a:p>
            <a:pPr>
              <a:spcAft>
                <a:spcPts val="630"/>
              </a:spcAft>
              <a:buNone/>
            </a:pPr>
            <a:r>
              <a:rPr sz="1600" b="1" i="0">
                <a:solidFill>
                  <a:srgbClr val="006B2A"/>
                </a:solidFill>
                <a:latin typeface="Arial"/>
              </a:rPr>
              <a:t>L4 System testing</a:t>
            </a:r>
          </a:p>
          <a:p>
            <a:pPr marL="201168" indent="-201168">
              <a:spcAft>
                <a:spcPts val="532"/>
              </a:spcAft>
              <a:buClr>
                <a:srgbClr val="00943A"/>
              </a:buClr>
              <a:buFont typeface="Arial"/>
              <a:buChar char="•"/>
            </a:pPr>
            <a:r>
              <a:rPr sz="1400" b="1" i="0">
                <a:solidFill>
                  <a:srgbClr val="2B2B2B"/>
                </a:solidFill>
                <a:latin typeface="Arial"/>
              </a:rPr>
              <a:t>Phase 1:</a:t>
            </a:r>
            <a:r>
              <a:rPr sz="1400" b="0" i="0">
                <a:solidFill>
                  <a:srgbClr val="2B2B2B"/>
                </a:solidFill>
                <a:latin typeface="Arial"/>
              </a:rPr>
              <a:t> controlled environment</a:t>
            </a:r>
          </a:p>
          <a:p>
            <a:pPr marL="201168" indent="-201168">
              <a:spcAft>
                <a:spcPts val="532"/>
              </a:spcAft>
              <a:buClr>
                <a:srgbClr val="00943A"/>
              </a:buClr>
              <a:buFont typeface="Arial"/>
              <a:buChar char="•"/>
            </a:pPr>
            <a:r>
              <a:rPr sz="1400" b="1" i="0">
                <a:solidFill>
                  <a:srgbClr val="2B2B2B"/>
                </a:solidFill>
                <a:latin typeface="Arial"/>
              </a:rPr>
              <a:t>Phase 2:</a:t>
            </a:r>
            <a:r>
              <a:rPr sz="1400" b="0" i="0">
                <a:solidFill>
                  <a:srgbClr val="2B2B2B"/>
                </a:solidFill>
                <a:latin typeface="Arial"/>
              </a:rPr>
              <a:t> </a:t>
            </a:r>
            <a:r>
              <a:rPr sz="1400" b="1" i="0">
                <a:solidFill>
                  <a:srgbClr val="2B2B2B"/>
                </a:solidFill>
                <a:latin typeface="Arial"/>
              </a:rPr>
              <a:t>real-world on-site</a:t>
            </a:r>
            <a:r>
              <a:rPr sz="1400" b="0" i="0">
                <a:solidFill>
                  <a:srgbClr val="2B2B2B"/>
                </a:solidFill>
                <a:latin typeface="Arial"/>
              </a:rPr>
              <a:t> (Robinsons Lipa)</a:t>
            </a:r>
          </a:p>
        </p:txBody>
      </p:sp>
      <p:sp>
        <p:nvSpPr>
          <p:cNvPr id="16" name="Field 2 card"/>
          <p:cNvSpPr/>
          <p:nvPr/>
        </p:nvSpPr>
        <p:spPr>
          <a:xfrm>
            <a:off x="1280160" y="4396740"/>
            <a:ext cx="10469880" cy="1592580"/>
          </a:xfrm>
          <a:prstGeom prst="roundRect">
            <a:avLst>
              <a:gd name="adj" fmla="val 10334"/>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Field 2 text 1"/>
          <p:cNvSpPr txBox="1"/>
          <p:nvPr/>
        </p:nvSpPr>
        <p:spPr>
          <a:xfrm>
            <a:off x="1463039" y="4579620"/>
            <a:ext cx="4914899" cy="1226820"/>
          </a:xfrm>
          <a:prstGeom prst="rect">
            <a:avLst/>
          </a:prstGeom>
          <a:noFill/>
        </p:spPr>
        <p:txBody>
          <a:bodyPr wrap="square" lIns="0" rIns="0" tIns="0" bIns="0" anchor="t">
            <a:noAutofit/>
          </a:bodyPr>
          <a:lstStyle/>
          <a:p>
            <a:pPr marL="201168" indent="-201168">
              <a:spcAft>
                <a:spcPts val="532"/>
              </a:spcAft>
              <a:buClr>
                <a:srgbClr val="00943A"/>
              </a:buClr>
              <a:buFont typeface="Arial"/>
              <a:buChar char="•"/>
            </a:pPr>
            <a:r>
              <a:rPr sz="1400" b="1" i="0">
                <a:solidFill>
                  <a:srgbClr val="2B2B2B"/>
                </a:solidFill>
                <a:latin typeface="Arial"/>
              </a:rPr>
              <a:t>Pass criterion:</a:t>
            </a:r>
            <a:r>
              <a:rPr sz="1400" b="0" i="0">
                <a:solidFill>
                  <a:srgbClr val="2B2B2B"/>
                </a:solidFill>
                <a:latin typeface="Arial"/>
              </a:rPr>
              <a:t> the actual result matches the expected result per test case, reported as </a:t>
            </a:r>
            <a:r>
              <a:rPr sz="1400" b="1" i="0">
                <a:solidFill>
                  <a:srgbClr val="2B2B2B"/>
                </a:solidFill>
                <a:latin typeface="Arial"/>
              </a:rPr>
              <a:t>pass count / total</a:t>
            </a:r>
          </a:p>
          <a:p>
            <a:pPr marL="201168" indent="-201168">
              <a:spcAft>
                <a:spcPts val="532"/>
              </a:spcAft>
              <a:buClr>
                <a:srgbClr val="00943A"/>
              </a:buClr>
              <a:buFont typeface="Arial"/>
              <a:buChar char="•"/>
            </a:pPr>
            <a:r>
              <a:rPr sz="1400" b="1" i="0">
                <a:solidFill>
                  <a:srgbClr val="2B2B2B"/>
                </a:solidFill>
                <a:latin typeface="Arial"/>
              </a:rPr>
              <a:t>Evidence:</a:t>
            </a:r>
            <a:r>
              <a:rPr sz="1400" b="0" i="0">
                <a:solidFill>
                  <a:srgbClr val="2B2B2B"/>
                </a:solidFill>
                <a:latin typeface="Arial"/>
              </a:rPr>
              <a:t> </a:t>
            </a:r>
            <a:r>
              <a:rPr sz="1400" b="1" i="0">
                <a:solidFill>
                  <a:srgbClr val="2B2B2B"/>
                </a:solidFill>
                <a:latin typeface="Arial"/>
              </a:rPr>
              <a:t>Tables 5–20</a:t>
            </a:r>
            <a:r>
              <a:rPr sz="1400" b="0" i="0">
                <a:solidFill>
                  <a:srgbClr val="2B2B2B"/>
                </a:solidFill>
                <a:latin typeface="Arial"/>
              </a:rPr>
              <a:t> in Chapter 3, </a:t>
            </a:r>
            <a:r>
              <a:rPr sz="1400" b="1" i="0">
                <a:solidFill>
                  <a:srgbClr val="2B2B2B"/>
                </a:solidFill>
                <a:latin typeface="Arial"/>
              </a:rPr>
              <a:t>20 tables in total</a:t>
            </a:r>
          </a:p>
        </p:txBody>
      </p:sp>
      <p:sp>
        <p:nvSpPr>
          <p:cNvPr id="18" name="Field 2 text 2"/>
          <p:cNvSpPr txBox="1"/>
          <p:nvPr/>
        </p:nvSpPr>
        <p:spPr>
          <a:xfrm>
            <a:off x="6652259" y="4579620"/>
            <a:ext cx="4914899" cy="1226820"/>
          </a:xfrm>
          <a:prstGeom prst="rect">
            <a:avLst/>
          </a:prstGeom>
          <a:noFill/>
        </p:spPr>
        <p:txBody>
          <a:bodyPr wrap="square" lIns="0" rIns="0" tIns="0" bIns="0" anchor="t">
            <a:noAutofit/>
          </a:bodyPr>
          <a:lstStyle/>
          <a:p>
            <a:pPr marL="201168" indent="-201168">
              <a:spcAft>
                <a:spcPts val="532"/>
              </a:spcAft>
              <a:buClr>
                <a:srgbClr val="00943A"/>
              </a:buClr>
              <a:buFont typeface="Arial"/>
              <a:buChar char="•"/>
            </a:pPr>
            <a:r>
              <a:rPr sz="1400" b="1" i="0">
                <a:solidFill>
                  <a:srgbClr val="2B2B2B"/>
                </a:solidFill>
                <a:latin typeface="Arial"/>
              </a:rPr>
              <a:t>Metrics:</a:t>
            </a:r>
            <a:r>
              <a:rPr sz="1400" b="0" i="0">
                <a:solidFill>
                  <a:srgbClr val="2B2B2B"/>
                </a:solidFill>
                <a:latin typeface="Arial"/>
              </a:rPr>
              <a:t> detection accuracy, response, feedback consistency, delivery success</a:t>
            </a:r>
          </a:p>
          <a:p>
            <a:pPr marL="201168" indent="-201168">
              <a:spcAft>
                <a:spcPts val="532"/>
              </a:spcAft>
              <a:buClr>
                <a:srgbClr val="00943A"/>
              </a:buClr>
              <a:buFont typeface="Arial"/>
              <a:buChar char="•"/>
            </a:pPr>
            <a:r>
              <a:rPr sz="1400" b="1" i="0">
                <a:solidFill>
                  <a:srgbClr val="2B2B2B"/>
                </a:solidFill>
                <a:latin typeface="Arial"/>
              </a:rPr>
              <a:t>Pre- and post-interviews</a:t>
            </a:r>
            <a:r>
              <a:rPr sz="1400" b="0" i="0">
                <a:solidFill>
                  <a:srgbClr val="2B2B2B"/>
                </a:solidFill>
                <a:latin typeface="Arial"/>
              </a:rPr>
              <a:t> for qualitative usability</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tion kicker"/>
          <p:cNvSpPr txBox="1"/>
          <p:nvPr/>
        </p:nvSpPr>
        <p:spPr>
          <a:xfrm>
            <a:off x="1280160" y="292608"/>
            <a:ext cx="8686800" cy="256032"/>
          </a:xfrm>
          <a:prstGeom prst="rect">
            <a:avLst/>
          </a:prstGeom>
          <a:noFill/>
        </p:spPr>
        <p:txBody>
          <a:bodyPr wrap="square" lIns="0" rIns="0" tIns="0" bIns="0" anchor="t">
            <a:noAutofit/>
          </a:bodyPr>
          <a:lstStyle/>
          <a:p>
            <a:r>
              <a:rPr sz="1100" b="1" i="0">
                <a:solidFill>
                  <a:srgbClr val="6B6B6B"/>
                </a:solidFill>
                <a:latin typeface="Arial"/>
              </a:rPr>
              <a:t>RESULTS: PRE-DEVELOPMENT SURVEY</a:t>
            </a:r>
          </a:p>
        </p:txBody>
      </p:sp>
      <p:sp>
        <p:nvSpPr>
          <p:cNvPr id="3" name="Title"/>
          <p:cNvSpPr txBox="1"/>
          <p:nvPr/>
        </p:nvSpPr>
        <p:spPr>
          <a:xfrm>
            <a:off x="1280160" y="502920"/>
            <a:ext cx="10469880" cy="731520"/>
          </a:xfrm>
          <a:prstGeom prst="rect">
            <a:avLst/>
          </a:prstGeom>
          <a:noFill/>
        </p:spPr>
        <p:txBody>
          <a:bodyPr wrap="square" lIns="0" rIns="0" tIns="0" bIns="0" anchor="ctr">
            <a:noAutofit/>
          </a:bodyPr>
          <a:lstStyle/>
          <a:p>
            <a:r>
              <a:rPr sz="3200" b="1" i="0">
                <a:solidFill>
                  <a:srgbClr val="00943A"/>
                </a:solidFill>
                <a:latin typeface="Arial"/>
              </a:rPr>
              <a:t>Interview Findings Driving Design Requirements</a:t>
            </a:r>
          </a:p>
        </p:txBody>
      </p:sp>
      <p:sp>
        <p:nvSpPr>
          <p:cNvPr id="4" name="Slide number"/>
          <p:cNvSpPr txBox="1"/>
          <p:nvPr/>
        </p:nvSpPr>
        <p:spPr>
          <a:xfrm>
            <a:off x="1280160" y="6327648"/>
            <a:ext cx="2286000" cy="274320"/>
          </a:xfrm>
          <a:prstGeom prst="rect">
            <a:avLst/>
          </a:prstGeom>
          <a:noFill/>
        </p:spPr>
        <p:txBody>
          <a:bodyPr wrap="square" lIns="0" rIns="0" tIns="0" bIns="0" anchor="t">
            <a:noAutofit/>
          </a:bodyPr>
          <a:lstStyle/>
          <a:p>
            <a:r>
              <a:rPr sz="1000" b="0" i="0">
                <a:solidFill>
                  <a:srgbClr val="6B6B6B"/>
                </a:solidFill>
                <a:latin typeface="Arial"/>
              </a:rPr>
              <a:t>IndepenSense · 29</a:t>
            </a:r>
          </a:p>
        </p:txBody>
      </p:sp>
      <p:graphicFrame>
        <p:nvGraphicFramePr>
          <p:cNvPr id="5" name="Results table"/>
          <p:cNvGraphicFramePr>
            <a:graphicFrameLocks noGrp="1"/>
          </p:cNvGraphicFramePr>
          <p:nvPr/>
        </p:nvGraphicFramePr>
        <p:xfrm>
          <a:off x="1280160" y="1371600"/>
          <a:ext cx="6922007" cy="3224784"/>
        </p:xfrm>
        <a:graphic>
          <a:graphicData uri="http://schemas.openxmlformats.org/drawingml/2006/table">
            <a:tbl>
              <a:tblPr firstRow="0" bandRow="0">
                <a:tableStyleId>{5C22544A-7EE6-4342-B048-85BDC9FD1C3A}</a:tableStyleId>
              </a:tblPr>
              <a:tblGrid>
                <a:gridCol w="3704736"/>
                <a:gridCol w="3217271"/>
              </a:tblGrid>
              <a:tr h="323088">
                <a:tc>
                  <a:txBody>
                    <a:bodyPr wrap="square"/>
                    <a:lstStyle/>
                    <a:p>
                      <a:r>
                        <a:rPr sz="1400" b="1" i="0">
                          <a:solidFill>
                            <a:srgbClr val="FFFFFF"/>
                          </a:solidFill>
                          <a:latin typeface="Arial"/>
                        </a:rPr>
                        <a:t>Finding (Table 3)</a:t>
                      </a:r>
                    </a:p>
                  </a:txBody>
                  <a:tcPr marL="73152" marR="73152" marT="45720" marB="45720" anchor="ctr">
                    <a:solidFill>
                      <a:srgbClr val="00943A"/>
                    </a:solidFill>
                  </a:tcPr>
                </a:tc>
                <a:tc>
                  <a:txBody>
                    <a:bodyPr wrap="square"/>
                    <a:lstStyle/>
                    <a:p>
                      <a:r>
                        <a:rPr sz="1400" b="1" i="0">
                          <a:solidFill>
                            <a:srgbClr val="FFFFFF"/>
                          </a:solidFill>
                          <a:latin typeface="Arial"/>
                        </a:rPr>
                        <a:t>Design implication</a:t>
                      </a:r>
                    </a:p>
                  </a:txBody>
                  <a:tcPr marL="73152" marR="73152" marT="45720" marB="45720" anchor="ctr">
                    <a:solidFill>
                      <a:srgbClr val="00943A"/>
                    </a:solidFill>
                  </a:tcPr>
                </a:tc>
              </a:tr>
              <a:tr h="323088">
                <a:tc>
                  <a:txBody>
                    <a:bodyPr wrap="square"/>
                    <a:lstStyle/>
                    <a:p>
                      <a:r>
                        <a:rPr sz="1400" b="0" i="0">
                          <a:solidFill>
                            <a:srgbClr val="2B2B2B"/>
                          </a:solidFill>
                          <a:latin typeface="Arial"/>
                        </a:rPr>
                        <a:t>Adults </a:t>
                      </a:r>
                      <a:r>
                        <a:rPr sz="1400" b="1" i="0">
                          <a:solidFill>
                            <a:srgbClr val="2B2B2B"/>
                          </a:solidFill>
                          <a:latin typeface="Arial"/>
                        </a:rPr>
                        <a:t>31+</a:t>
                      </a:r>
                      <a:r>
                        <a:rPr sz="1400" b="0" i="0">
                          <a:solidFill>
                            <a:srgbClr val="2B2B2B"/>
                          </a:solidFill>
                          <a:latin typeface="Arial"/>
                        </a:rPr>
                        <a:t>, Lipa City</a:t>
                      </a:r>
                    </a:p>
                  </a:txBody>
                  <a:tcPr marL="73152" marR="73152" marT="45720" marB="45720" anchor="ctr">
                    <a:solidFill>
                      <a:srgbClr val="FFFFFF"/>
                    </a:solidFill>
                  </a:tcPr>
                </a:tc>
                <a:tc>
                  <a:txBody>
                    <a:bodyPr wrap="square"/>
                    <a:lstStyle/>
                    <a:p>
                      <a:r>
                        <a:rPr sz="1400" b="1" i="0">
                          <a:solidFill>
                            <a:srgbClr val="2B2B2B"/>
                          </a:solidFill>
                          <a:latin typeface="Arial"/>
                        </a:rPr>
                        <a:t>Simple, tactile controls</a:t>
                      </a:r>
                    </a:p>
                  </a:txBody>
                  <a:tcPr marL="73152" marR="73152" marT="45720" marB="45720" anchor="ctr">
                    <a:solidFill>
                      <a:srgbClr val="FFFFFF"/>
                    </a:solidFill>
                  </a:tcPr>
                </a:tc>
              </a:tr>
              <a:tr h="323088">
                <a:tc>
                  <a:txBody>
                    <a:bodyPr wrap="square"/>
                    <a:lstStyle/>
                    <a:p>
                      <a:r>
                        <a:rPr sz="1400" b="1" i="0">
                          <a:solidFill>
                            <a:srgbClr val="2B2B2B"/>
                          </a:solidFill>
                          <a:latin typeface="Arial"/>
                        </a:rPr>
                        <a:t>Mixed vision levels</a:t>
                      </a:r>
                    </a:p>
                  </a:txBody>
                  <a:tcPr marL="73152" marR="73152" marT="45720" marB="45720" anchor="ctr">
                    <a:solidFill>
                      <a:srgbClr val="F6F8F6"/>
                    </a:solidFill>
                  </a:tcPr>
                </a:tc>
                <a:tc>
                  <a:txBody>
                    <a:bodyPr wrap="square"/>
                    <a:lstStyle/>
                    <a:p>
                      <a:r>
                        <a:rPr sz="1400" b="1" i="0">
                          <a:solidFill>
                            <a:srgbClr val="2B2B2B"/>
                          </a:solidFill>
                          <a:latin typeface="Arial"/>
                        </a:rPr>
                        <a:t>Audio + vibration</a:t>
                      </a:r>
                      <a:r>
                        <a:rPr sz="1400" b="0" i="0">
                          <a:solidFill>
                            <a:srgbClr val="2B2B2B"/>
                          </a:solidFill>
                          <a:latin typeface="Arial"/>
                        </a:rPr>
                        <a:t> together</a:t>
                      </a:r>
                    </a:p>
                  </a:txBody>
                  <a:tcPr marL="73152" marR="73152" marT="45720" marB="45720" anchor="ctr">
                    <a:solidFill>
                      <a:srgbClr val="F6F8F6"/>
                    </a:solidFill>
                  </a:tcPr>
                </a:tc>
              </a:tr>
              <a:tr h="536448">
                <a:tc>
                  <a:txBody>
                    <a:bodyPr wrap="square"/>
                    <a:lstStyle/>
                    <a:p>
                      <a:r>
                        <a:rPr sz="1400" b="0" i="0">
                          <a:solidFill>
                            <a:srgbClr val="2B2B2B"/>
                          </a:solidFill>
                          <a:latin typeface="Arial"/>
                        </a:rPr>
                        <a:t>Mostly </a:t>
                      </a:r>
                      <a:r>
                        <a:rPr sz="1400" b="1" i="0">
                          <a:solidFill>
                            <a:srgbClr val="2B2B2B"/>
                          </a:solidFill>
                          <a:latin typeface="Arial"/>
                        </a:rPr>
                        <a:t>traditional cane</a:t>
                      </a:r>
                      <a:r>
                        <a:rPr sz="1400" b="0" i="0">
                          <a:solidFill>
                            <a:srgbClr val="2B2B2B"/>
                          </a:solidFill>
                          <a:latin typeface="Arial"/>
                        </a:rPr>
                        <a:t> users</a:t>
                      </a:r>
                    </a:p>
                  </a:txBody>
                  <a:tcPr marL="73152" marR="73152" marT="45720" marB="45720" anchor="ctr">
                    <a:solidFill>
                      <a:srgbClr val="FFFFFF"/>
                    </a:solidFill>
                  </a:tcPr>
                </a:tc>
                <a:tc>
                  <a:txBody>
                    <a:bodyPr wrap="square"/>
                    <a:lstStyle/>
                    <a:p>
                      <a:r>
                        <a:rPr sz="1400" b="1" i="0">
                          <a:solidFill>
                            <a:srgbClr val="2B2B2B"/>
                          </a:solidFill>
                          <a:latin typeface="Arial"/>
                        </a:rPr>
                        <a:t>Extend</a:t>
                      </a:r>
                      <a:r>
                        <a:rPr sz="1400" b="0" i="0">
                          <a:solidFill>
                            <a:srgbClr val="2B2B2B"/>
                          </a:solidFill>
                          <a:latin typeface="Arial"/>
                        </a:rPr>
                        <a:t> the cane, don't replace it</a:t>
                      </a:r>
                    </a:p>
                  </a:txBody>
                  <a:tcPr marL="73152" marR="73152" marT="45720" marB="45720" anchor="ctr">
                    <a:solidFill>
                      <a:srgbClr val="FFFFFF"/>
                    </a:solidFill>
                  </a:tcPr>
                </a:tc>
              </a:tr>
              <a:tr h="323088">
                <a:tc>
                  <a:txBody>
                    <a:bodyPr wrap="square"/>
                    <a:lstStyle/>
                    <a:p>
                      <a:r>
                        <a:rPr sz="1400" b="0" i="0">
                          <a:solidFill>
                            <a:srgbClr val="2B2B2B"/>
                          </a:solidFill>
                          <a:latin typeface="Arial"/>
                        </a:rPr>
                        <a:t>Low confidence in </a:t>
                      </a:r>
                      <a:r>
                        <a:rPr sz="1400" b="1" i="0">
                          <a:solidFill>
                            <a:srgbClr val="2B2B2B"/>
                          </a:solidFill>
                          <a:latin typeface="Arial"/>
                        </a:rPr>
                        <a:t>unfamiliar places</a:t>
                      </a:r>
                    </a:p>
                  </a:txBody>
                  <a:tcPr marL="73152" marR="73152" marT="45720" marB="45720" anchor="ctr">
                    <a:solidFill>
                      <a:srgbClr val="F6F8F6"/>
                    </a:solidFill>
                  </a:tcPr>
                </a:tc>
                <a:tc>
                  <a:txBody>
                    <a:bodyPr wrap="square"/>
                    <a:lstStyle/>
                    <a:p>
                      <a:r>
                        <a:rPr sz="1400" b="1" i="0">
                          <a:solidFill>
                            <a:srgbClr val="2B2B2B"/>
                          </a:solidFill>
                          <a:latin typeface="Arial"/>
                        </a:rPr>
                        <a:t>GPS guidance + audio</a:t>
                      </a:r>
                    </a:p>
                  </a:txBody>
                  <a:tcPr marL="73152" marR="73152" marT="45720" marB="45720" anchor="ctr">
                    <a:solidFill>
                      <a:srgbClr val="F6F8F6"/>
                    </a:solidFill>
                  </a:tcPr>
                </a:tc>
              </a:tr>
              <a:tr h="536448">
                <a:tc>
                  <a:txBody>
                    <a:bodyPr wrap="square"/>
                    <a:lstStyle/>
                    <a:p>
                      <a:r>
                        <a:rPr sz="1400" b="0" i="0">
                          <a:solidFill>
                            <a:srgbClr val="2B2B2B"/>
                          </a:solidFill>
                          <a:latin typeface="Arial"/>
                        </a:rPr>
                        <a:t>Daily challenge: </a:t>
                      </a:r>
                      <a:r>
                        <a:rPr sz="1400" b="1" i="0">
                          <a:solidFill>
                            <a:srgbClr val="2B2B2B"/>
                          </a:solidFill>
                          <a:latin typeface="Arial"/>
                        </a:rPr>
                        <a:t>identifying obstacles</a:t>
                      </a:r>
                    </a:p>
                  </a:txBody>
                  <a:tcPr marL="73152" marR="73152" marT="45720" marB="45720" anchor="ctr">
                    <a:solidFill>
                      <a:srgbClr val="FFFFFF"/>
                    </a:solidFill>
                  </a:tcPr>
                </a:tc>
                <a:tc>
                  <a:txBody>
                    <a:bodyPr wrap="square"/>
                    <a:lstStyle/>
                    <a:p>
                      <a:r>
                        <a:rPr sz="1400" b="1" i="0">
                          <a:solidFill>
                            <a:srgbClr val="2B2B2B"/>
                          </a:solidFill>
                          <a:latin typeface="Arial"/>
                        </a:rPr>
                        <a:t>Ultrasonic + object recognition</a:t>
                      </a:r>
                    </a:p>
                  </a:txBody>
                  <a:tcPr marL="73152" marR="73152" marT="45720" marB="45720" anchor="ctr">
                    <a:solidFill>
                      <a:srgbClr val="FFFFFF"/>
                    </a:solidFill>
                  </a:tcPr>
                </a:tc>
              </a:tr>
              <a:tr h="536448">
                <a:tc>
                  <a:txBody>
                    <a:bodyPr wrap="square"/>
                    <a:lstStyle/>
                    <a:p>
                      <a:r>
                        <a:rPr sz="1400" b="0" i="0">
                          <a:solidFill>
                            <a:srgbClr val="2B2B2B"/>
                          </a:solidFill>
                          <a:latin typeface="Arial"/>
                        </a:rPr>
                        <a:t>History of </a:t>
                      </a:r>
                      <a:r>
                        <a:rPr sz="1400" b="1" i="0">
                          <a:solidFill>
                            <a:srgbClr val="2B2B2B"/>
                          </a:solidFill>
                          <a:latin typeface="Arial"/>
                        </a:rPr>
                        <a:t>falls / dangerous incidents</a:t>
                      </a:r>
                    </a:p>
                  </a:txBody>
                  <a:tcPr marL="73152" marR="73152" marT="45720" marB="45720" anchor="ctr">
                    <a:solidFill>
                      <a:srgbClr val="F6F8F6"/>
                    </a:solidFill>
                  </a:tcPr>
                </a:tc>
                <a:tc>
                  <a:txBody>
                    <a:bodyPr wrap="square"/>
                    <a:lstStyle/>
                    <a:p>
                      <a:r>
                        <a:rPr sz="1400" b="1" i="0">
                          <a:solidFill>
                            <a:srgbClr val="2B2B2B"/>
                          </a:solidFill>
                          <a:latin typeface="Arial"/>
                        </a:rPr>
                        <a:t>Fall detection + emergency alert</a:t>
                      </a:r>
                    </a:p>
                  </a:txBody>
                  <a:tcPr marL="73152" marR="73152" marT="45720" marB="45720" anchor="ctr">
                    <a:solidFill>
                      <a:srgbClr val="F6F8F6"/>
                    </a:solidFill>
                  </a:tcPr>
                </a:tc>
              </a:tr>
              <a:tr h="323088">
                <a:tc>
                  <a:txBody>
                    <a:bodyPr wrap="square"/>
                    <a:lstStyle/>
                    <a:p>
                      <a:r>
                        <a:rPr sz="1400" b="0" i="0">
                          <a:solidFill>
                            <a:srgbClr val="2B2B2B"/>
                          </a:solidFill>
                          <a:latin typeface="Arial"/>
                        </a:rPr>
                        <a:t>Want </a:t>
                      </a:r>
                      <a:r>
                        <a:rPr sz="1400" b="1" i="0">
                          <a:solidFill>
                            <a:srgbClr val="2B2B2B"/>
                          </a:solidFill>
                          <a:latin typeface="Arial"/>
                        </a:rPr>
                        <a:t>distinct patterns per obstacle</a:t>
                      </a:r>
                    </a:p>
                  </a:txBody>
                  <a:tcPr marL="73152" marR="73152" marT="45720" marB="45720" anchor="ctr">
                    <a:solidFill>
                      <a:srgbClr val="FFFFFF"/>
                    </a:solidFill>
                  </a:tcPr>
                </a:tc>
                <a:tc>
                  <a:txBody>
                    <a:bodyPr wrap="square"/>
                    <a:lstStyle/>
                    <a:p>
                      <a:r>
                        <a:rPr sz="1400" b="1" i="0">
                          <a:solidFill>
                            <a:srgbClr val="2B2B2B"/>
                          </a:solidFill>
                          <a:latin typeface="Arial"/>
                        </a:rPr>
                        <a:t>Distinguishable feedback</a:t>
                      </a:r>
                    </a:p>
                  </a:txBody>
                  <a:tcPr marL="73152" marR="73152" marT="45720" marB="45720" anchor="ctr">
                    <a:solidFill>
                      <a:srgbClr val="FFFFFF"/>
                    </a:solidFill>
                  </a:tcPr>
                </a:tc>
              </a:tr>
            </a:tbl>
          </a:graphicData>
        </a:graphic>
      </p:graphicFrame>
      <p:sp>
        <p:nvSpPr>
          <p:cNvPr id="6" name="Field callouts card"/>
          <p:cNvSpPr/>
          <p:nvPr/>
        </p:nvSpPr>
        <p:spPr>
          <a:xfrm>
            <a:off x="8458199" y="1371600"/>
            <a:ext cx="3291840" cy="4617720"/>
          </a:xfrm>
          <a:prstGeom prst="roundRect">
            <a:avLst>
              <a:gd name="adj" fmla="val 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Field callouts text"/>
          <p:cNvSpPr txBox="1"/>
          <p:nvPr/>
        </p:nvSpPr>
        <p:spPr>
          <a:xfrm>
            <a:off x="8641079" y="1554480"/>
            <a:ext cx="2926080" cy="4251959"/>
          </a:xfrm>
          <a:prstGeom prst="rect">
            <a:avLst/>
          </a:prstGeom>
          <a:noFill/>
        </p:spPr>
        <p:txBody>
          <a:bodyPr wrap="square" lIns="0" rIns="0" tIns="0" bIns="0" anchor="t">
            <a:noAutofit/>
          </a:bodyPr>
          <a:lstStyle/>
          <a:p>
            <a:pPr marL="201168" indent="-201168">
              <a:spcAft>
                <a:spcPts val="570"/>
              </a:spcAft>
              <a:buClr>
                <a:srgbClr val="00943A"/>
              </a:buClr>
              <a:buFont typeface="Arial"/>
              <a:buChar char="•"/>
            </a:pPr>
            <a:r>
              <a:rPr sz="1500" b="1" i="0">
                <a:solidFill>
                  <a:srgbClr val="2B2B2B"/>
                </a:solidFill>
                <a:latin typeface="Arial"/>
              </a:rPr>
              <a:t>Most requested features:</a:t>
            </a:r>
            <a:r>
              <a:rPr sz="1500" b="0" i="0">
                <a:solidFill>
                  <a:srgbClr val="2B2B2B"/>
                </a:solidFill>
                <a:latin typeface="Arial"/>
              </a:rPr>
              <a:t> obstacle detection, object recognition, GPS assistance, emergency alerts</a:t>
            </a:r>
          </a:p>
          <a:p>
            <a:pPr marL="201168" indent="-201168">
              <a:spcAft>
                <a:spcPts val="570"/>
              </a:spcAft>
              <a:buClr>
                <a:srgbClr val="00943A"/>
              </a:buClr>
              <a:buFont typeface="Arial"/>
              <a:buChar char="•"/>
            </a:pPr>
            <a:r>
              <a:rPr sz="1500" b="1" i="0">
                <a:solidFill>
                  <a:srgbClr val="2B2B2B"/>
                </a:solidFill>
                <a:latin typeface="Arial"/>
              </a:rPr>
              <a:t>All four</a:t>
            </a:r>
            <a:r>
              <a:rPr sz="1500" b="0" i="0">
                <a:solidFill>
                  <a:srgbClr val="2B2B2B"/>
                </a:solidFill>
                <a:latin typeface="Arial"/>
              </a:rPr>
              <a:t> are implemented in the prototype</a:t>
            </a:r>
          </a:p>
          <a:p>
            <a:pPr marL="201168" indent="-201168">
              <a:spcAft>
                <a:spcPts val="570"/>
              </a:spcAft>
              <a:buClr>
                <a:srgbClr val="00943A"/>
              </a:buClr>
              <a:buFont typeface="Arial"/>
              <a:buChar char="•"/>
            </a:pPr>
            <a:r>
              <a:rPr sz="1500" b="0" i="0">
                <a:solidFill>
                  <a:srgbClr val="2B2B2B"/>
                </a:solidFill>
                <a:latin typeface="Arial"/>
              </a:rPr>
              <a:t>Participant suggestion → </a:t>
            </a:r>
            <a:r>
              <a:rPr sz="1500" b="1" i="0">
                <a:solidFill>
                  <a:srgbClr val="2B2B2B"/>
                </a:solidFill>
                <a:latin typeface="Arial"/>
              </a:rPr>
              <a:t>distance encoded as vibration rate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tion kicker"/>
          <p:cNvSpPr txBox="1"/>
          <p:nvPr/>
        </p:nvSpPr>
        <p:spPr>
          <a:xfrm>
            <a:off x="1280160" y="292608"/>
            <a:ext cx="8686800" cy="256032"/>
          </a:xfrm>
          <a:prstGeom prst="rect">
            <a:avLst/>
          </a:prstGeom>
          <a:noFill/>
        </p:spPr>
        <p:txBody>
          <a:bodyPr wrap="square" lIns="0" rIns="0" tIns="0" bIns="0" anchor="t">
            <a:noAutofit/>
          </a:bodyPr>
          <a:lstStyle/>
          <a:p>
            <a:r>
              <a:rPr sz="1100" b="1" i="0">
                <a:solidFill>
                  <a:srgbClr val="6B6B6B"/>
                </a:solidFill>
                <a:latin typeface="Arial"/>
              </a:rPr>
              <a:t>RESULTS: BENCH VALIDATION (PASSED)</a:t>
            </a:r>
          </a:p>
        </p:txBody>
      </p:sp>
      <p:sp>
        <p:nvSpPr>
          <p:cNvPr id="3" name="Title"/>
          <p:cNvSpPr txBox="1"/>
          <p:nvPr/>
        </p:nvSpPr>
        <p:spPr>
          <a:xfrm>
            <a:off x="1280160" y="502920"/>
            <a:ext cx="10469880" cy="731520"/>
          </a:xfrm>
          <a:prstGeom prst="rect">
            <a:avLst/>
          </a:prstGeom>
          <a:noFill/>
        </p:spPr>
        <p:txBody>
          <a:bodyPr wrap="square" lIns="0" rIns="0" tIns="0" bIns="0" anchor="ctr">
            <a:noAutofit/>
          </a:bodyPr>
          <a:lstStyle/>
          <a:p>
            <a:r>
              <a:rPr sz="3200" b="1" i="0">
                <a:solidFill>
                  <a:srgbClr val="00943A"/>
                </a:solidFill>
                <a:latin typeface="Arial"/>
              </a:rPr>
              <a:t>Bench Validation: Ultrasonic Sensors 1 and 2</a:t>
            </a:r>
          </a:p>
        </p:txBody>
      </p:sp>
      <p:sp>
        <p:nvSpPr>
          <p:cNvPr id="4" name="Slide number"/>
          <p:cNvSpPr txBox="1"/>
          <p:nvPr/>
        </p:nvSpPr>
        <p:spPr>
          <a:xfrm>
            <a:off x="1280160" y="6327648"/>
            <a:ext cx="2286000" cy="274320"/>
          </a:xfrm>
          <a:prstGeom prst="rect">
            <a:avLst/>
          </a:prstGeom>
          <a:noFill/>
        </p:spPr>
        <p:txBody>
          <a:bodyPr wrap="square" lIns="0" rIns="0" tIns="0" bIns="0" anchor="t">
            <a:noAutofit/>
          </a:bodyPr>
          <a:lstStyle/>
          <a:p>
            <a:r>
              <a:rPr sz="1000" b="0" i="0">
                <a:solidFill>
                  <a:srgbClr val="6B6B6B"/>
                </a:solidFill>
                <a:latin typeface="Arial"/>
              </a:rPr>
              <a:t>IndepenSense · 30</a:t>
            </a:r>
          </a:p>
        </p:txBody>
      </p:sp>
      <p:graphicFrame>
        <p:nvGraphicFramePr>
          <p:cNvPr id="5" name="Results table"/>
          <p:cNvGraphicFramePr>
            <a:graphicFrameLocks noGrp="1"/>
          </p:cNvGraphicFramePr>
          <p:nvPr/>
        </p:nvGraphicFramePr>
        <p:xfrm>
          <a:off x="1280160" y="1371600"/>
          <a:ext cx="6922006" cy="2578608"/>
        </p:xfrm>
        <a:graphic>
          <a:graphicData uri="http://schemas.openxmlformats.org/drawingml/2006/table">
            <a:tbl>
              <a:tblPr firstRow="0" bandRow="0">
                <a:tableStyleId>{5C22544A-7EE6-4342-B048-85BDC9FD1C3A}</a:tableStyleId>
              </a:tblPr>
              <a:tblGrid>
                <a:gridCol w="1678062"/>
                <a:gridCol w="1678062"/>
                <a:gridCol w="1782941"/>
                <a:gridCol w="1782941"/>
              </a:tblGrid>
              <a:tr h="323088">
                <a:tc>
                  <a:txBody>
                    <a:bodyPr wrap="square"/>
                    <a:lstStyle/>
                    <a:p>
                      <a:r>
                        <a:rPr sz="1400" b="1" i="0">
                          <a:solidFill>
                            <a:srgbClr val="FFFFFF"/>
                          </a:solidFill>
                          <a:latin typeface="Arial"/>
                        </a:rPr>
                        <a:t>Test case</a:t>
                      </a:r>
                    </a:p>
                  </a:txBody>
                  <a:tcPr marL="73152" marR="73152" marT="45720" marB="45720" anchor="ctr">
                    <a:solidFill>
                      <a:srgbClr val="00943A"/>
                    </a:solidFill>
                  </a:tcPr>
                </a:tc>
                <a:tc>
                  <a:txBody>
                    <a:bodyPr wrap="square"/>
                    <a:lstStyle/>
                    <a:p>
                      <a:r>
                        <a:rPr sz="1400" b="1" i="0">
                          <a:solidFill>
                            <a:srgbClr val="FFFFFF"/>
                          </a:solidFill>
                          <a:latin typeface="Arial"/>
                        </a:rPr>
                        <a:t>Expected</a:t>
                      </a:r>
                    </a:p>
                  </a:txBody>
                  <a:tcPr marL="73152" marR="73152" marT="45720" marB="45720" anchor="ctr">
                    <a:solidFill>
                      <a:srgbClr val="00943A"/>
                    </a:solidFill>
                  </a:tcPr>
                </a:tc>
                <a:tc>
                  <a:txBody>
                    <a:bodyPr wrap="square"/>
                    <a:lstStyle/>
                    <a:p>
                      <a:r>
                        <a:rPr sz="1400" b="1" i="0">
                          <a:solidFill>
                            <a:srgbClr val="FFFFFF"/>
                          </a:solidFill>
                          <a:latin typeface="Arial"/>
                        </a:rPr>
                        <a:t>Sensor 1</a:t>
                      </a:r>
                    </a:p>
                  </a:txBody>
                  <a:tcPr marL="73152" marR="73152" marT="45720" marB="45720" anchor="ctr">
                    <a:solidFill>
                      <a:srgbClr val="00943A"/>
                    </a:solidFill>
                  </a:tcPr>
                </a:tc>
                <a:tc>
                  <a:txBody>
                    <a:bodyPr wrap="square"/>
                    <a:lstStyle/>
                    <a:p>
                      <a:r>
                        <a:rPr sz="1400" b="1" i="0">
                          <a:solidFill>
                            <a:srgbClr val="FFFFFF"/>
                          </a:solidFill>
                          <a:latin typeface="Arial"/>
                        </a:rPr>
                        <a:t>Sensor 2</a:t>
                      </a:r>
                    </a:p>
                  </a:txBody>
                  <a:tcPr marL="73152" marR="73152" marT="45720" marB="45720" anchor="ctr">
                    <a:solidFill>
                      <a:srgbClr val="00943A"/>
                    </a:solidFill>
                  </a:tcPr>
                </a:tc>
              </a:tr>
              <a:tr h="536448">
                <a:tc>
                  <a:txBody>
                    <a:bodyPr wrap="square"/>
                    <a:lstStyle/>
                    <a:p>
                      <a:r>
                        <a:rPr sz="1400" b="1" i="0">
                          <a:solidFill>
                            <a:srgbClr val="2B2B2B"/>
                          </a:solidFill>
                          <a:latin typeface="Arial"/>
                        </a:rPr>
                        <a:t>30 cm</a:t>
                      </a:r>
                      <a:r>
                        <a:rPr sz="1400" b="0" i="0">
                          <a:solidFill>
                            <a:srgbClr val="2B2B2B"/>
                          </a:solidFill>
                          <a:latin typeface="Arial"/>
                        </a:rPr>
                        <a:t> detection</a:t>
                      </a:r>
                    </a:p>
                  </a:txBody>
                  <a:tcPr marL="73152" marR="73152" marT="45720" marB="45720" anchor="ctr">
                    <a:solidFill>
                      <a:srgbClr val="FFFFFF"/>
                    </a:solidFill>
                  </a:tcPr>
                </a:tc>
                <a:tc>
                  <a:txBody>
                    <a:bodyPr wrap="square"/>
                    <a:lstStyle/>
                    <a:p>
                      <a:r>
                        <a:rPr sz="1400" b="0" i="0">
                          <a:solidFill>
                            <a:srgbClr val="2B2B2B"/>
                          </a:solidFill>
                          <a:latin typeface="Arial"/>
                        </a:rPr>
                        <a:t>30 cm</a:t>
                      </a:r>
                    </a:p>
                  </a:txBody>
                  <a:tcPr marL="73152" marR="73152" marT="45720" marB="45720" anchor="ctr">
                    <a:solidFill>
                      <a:srgbClr val="FFFFFF"/>
                    </a:solidFill>
                  </a:tcPr>
                </a:tc>
                <a:tc>
                  <a:txBody>
                    <a:bodyPr wrap="square"/>
                    <a:lstStyle/>
                    <a:p>
                      <a:r>
                        <a:rPr sz="1400" b="1" i="0">
                          <a:solidFill>
                            <a:srgbClr val="006B2A"/>
                          </a:solidFill>
                          <a:latin typeface="Arial"/>
                        </a:rPr>
                        <a:t>30 cm · PASSED</a:t>
                      </a:r>
                    </a:p>
                  </a:txBody>
                  <a:tcPr marL="73152" marR="73152" marT="45720" marB="45720" anchor="ctr">
                    <a:solidFill>
                      <a:srgbClr val="E6F4EA"/>
                    </a:solidFill>
                  </a:tcPr>
                </a:tc>
                <a:tc>
                  <a:txBody>
                    <a:bodyPr wrap="square"/>
                    <a:lstStyle/>
                    <a:p>
                      <a:r>
                        <a:rPr sz="1400" b="1" i="0">
                          <a:solidFill>
                            <a:srgbClr val="006B2A"/>
                          </a:solidFill>
                          <a:latin typeface="Arial"/>
                        </a:rPr>
                        <a:t>30 cm · PASSED</a:t>
                      </a:r>
                    </a:p>
                  </a:txBody>
                  <a:tcPr marL="73152" marR="73152" marT="45720" marB="45720" anchor="ctr">
                    <a:solidFill>
                      <a:srgbClr val="E6F4EA"/>
                    </a:solidFill>
                  </a:tcPr>
                </a:tc>
              </a:tr>
              <a:tr h="536448">
                <a:tc>
                  <a:txBody>
                    <a:bodyPr wrap="square"/>
                    <a:lstStyle/>
                    <a:p>
                      <a:r>
                        <a:rPr sz="1400" b="1" i="0">
                          <a:solidFill>
                            <a:srgbClr val="2B2B2B"/>
                          </a:solidFill>
                          <a:latin typeface="Arial"/>
                        </a:rPr>
                        <a:t>60 cm</a:t>
                      </a:r>
                      <a:r>
                        <a:rPr sz="1400" b="0" i="0">
                          <a:solidFill>
                            <a:srgbClr val="2B2B2B"/>
                          </a:solidFill>
                          <a:latin typeface="Arial"/>
                        </a:rPr>
                        <a:t> detection</a:t>
                      </a:r>
                    </a:p>
                  </a:txBody>
                  <a:tcPr marL="73152" marR="73152" marT="45720" marB="45720" anchor="ctr">
                    <a:solidFill>
                      <a:srgbClr val="F6F8F6"/>
                    </a:solidFill>
                  </a:tcPr>
                </a:tc>
                <a:tc>
                  <a:txBody>
                    <a:bodyPr wrap="square"/>
                    <a:lstStyle/>
                    <a:p>
                      <a:r>
                        <a:rPr sz="1400" b="0" i="0">
                          <a:solidFill>
                            <a:srgbClr val="2B2B2B"/>
                          </a:solidFill>
                          <a:latin typeface="Arial"/>
                        </a:rPr>
                        <a:t>60 cm</a:t>
                      </a:r>
                    </a:p>
                  </a:txBody>
                  <a:tcPr marL="73152" marR="73152" marT="45720" marB="45720" anchor="ctr">
                    <a:solidFill>
                      <a:srgbClr val="F6F8F6"/>
                    </a:solidFill>
                  </a:tcPr>
                </a:tc>
                <a:tc>
                  <a:txBody>
                    <a:bodyPr wrap="square"/>
                    <a:lstStyle/>
                    <a:p>
                      <a:r>
                        <a:rPr sz="1400" b="1" i="0">
                          <a:solidFill>
                            <a:srgbClr val="006B2A"/>
                          </a:solidFill>
                          <a:latin typeface="Arial"/>
                        </a:rPr>
                        <a:t>60 cm · PASSED</a:t>
                      </a:r>
                    </a:p>
                  </a:txBody>
                  <a:tcPr marL="73152" marR="73152" marT="45720" marB="45720" anchor="ctr">
                    <a:solidFill>
                      <a:srgbClr val="E6F4EA"/>
                    </a:solidFill>
                  </a:tcPr>
                </a:tc>
                <a:tc>
                  <a:txBody>
                    <a:bodyPr wrap="square"/>
                    <a:lstStyle/>
                    <a:p>
                      <a:r>
                        <a:rPr sz="1400" b="1" i="0">
                          <a:solidFill>
                            <a:srgbClr val="006B2A"/>
                          </a:solidFill>
                          <a:latin typeface="Arial"/>
                        </a:rPr>
                        <a:t>60 cm · PASSED</a:t>
                      </a:r>
                    </a:p>
                  </a:txBody>
                  <a:tcPr marL="73152" marR="73152" marT="45720" marB="45720" anchor="ctr">
                    <a:solidFill>
                      <a:srgbClr val="E6F4EA"/>
                    </a:solidFill>
                  </a:tcPr>
                </a:tc>
              </a:tr>
              <a:tr h="323088">
                <a:tc>
                  <a:txBody>
                    <a:bodyPr wrap="square"/>
                    <a:lstStyle/>
                    <a:p>
                      <a:r>
                        <a:rPr sz="1400" b="1" i="0">
                          <a:solidFill>
                            <a:srgbClr val="2B2B2B"/>
                          </a:solidFill>
                          <a:latin typeface="Arial"/>
                        </a:rPr>
                        <a:t>1 m</a:t>
                      </a:r>
                      <a:r>
                        <a:rPr sz="1400" b="0" i="0">
                          <a:solidFill>
                            <a:srgbClr val="2B2B2B"/>
                          </a:solidFill>
                          <a:latin typeface="Arial"/>
                        </a:rPr>
                        <a:t> detection</a:t>
                      </a:r>
                    </a:p>
                  </a:txBody>
                  <a:tcPr marL="73152" marR="73152" marT="45720" marB="45720" anchor="ctr">
                    <a:solidFill>
                      <a:srgbClr val="FFFFFF"/>
                    </a:solidFill>
                  </a:tcPr>
                </a:tc>
                <a:tc>
                  <a:txBody>
                    <a:bodyPr wrap="square"/>
                    <a:lstStyle/>
                    <a:p>
                      <a:r>
                        <a:rPr sz="1400" b="0" i="0">
                          <a:solidFill>
                            <a:srgbClr val="2B2B2B"/>
                          </a:solidFill>
                          <a:latin typeface="Arial"/>
                        </a:rPr>
                        <a:t>100 cm</a:t>
                      </a:r>
                    </a:p>
                  </a:txBody>
                  <a:tcPr marL="73152" marR="73152" marT="45720" marB="45720" anchor="ctr">
                    <a:solidFill>
                      <a:srgbClr val="FFFFFF"/>
                    </a:solidFill>
                  </a:tcPr>
                </a:tc>
                <a:tc>
                  <a:txBody>
                    <a:bodyPr wrap="square"/>
                    <a:lstStyle/>
                    <a:p>
                      <a:r>
                        <a:rPr sz="1400" b="1" i="0">
                          <a:solidFill>
                            <a:srgbClr val="006B2A"/>
                          </a:solidFill>
                          <a:latin typeface="Arial"/>
                        </a:rPr>
                        <a:t>100 cm · PASSED</a:t>
                      </a:r>
                    </a:p>
                  </a:txBody>
                  <a:tcPr marL="73152" marR="73152" marT="45720" marB="45720" anchor="ctr">
                    <a:solidFill>
                      <a:srgbClr val="E6F4EA"/>
                    </a:solidFill>
                  </a:tcPr>
                </a:tc>
                <a:tc>
                  <a:txBody>
                    <a:bodyPr wrap="square"/>
                    <a:lstStyle/>
                    <a:p>
                      <a:r>
                        <a:rPr sz="1400" b="1" i="0">
                          <a:solidFill>
                            <a:srgbClr val="006B2A"/>
                          </a:solidFill>
                          <a:latin typeface="Arial"/>
                        </a:rPr>
                        <a:t>100 cm · PASSED</a:t>
                      </a:r>
                    </a:p>
                  </a:txBody>
                  <a:tcPr marL="73152" marR="73152" marT="45720" marB="45720" anchor="ctr">
                    <a:solidFill>
                      <a:srgbClr val="E6F4EA"/>
                    </a:solidFill>
                  </a:tcPr>
                </a:tc>
              </a:tr>
              <a:tr h="536448">
                <a:tc>
                  <a:txBody>
                    <a:bodyPr wrap="square"/>
                    <a:lstStyle/>
                    <a:p>
                      <a:r>
                        <a:rPr sz="1400" b="1" i="0">
                          <a:solidFill>
                            <a:srgbClr val="2B2B2B"/>
                          </a:solidFill>
                          <a:latin typeface="Arial"/>
                        </a:rPr>
                        <a:t>Angled 35°–45°</a:t>
                      </a:r>
                    </a:p>
                  </a:txBody>
                  <a:tcPr marL="73152" marR="73152" marT="45720" marB="45720" anchor="ctr">
                    <a:solidFill>
                      <a:srgbClr val="F6F8F6"/>
                    </a:solidFill>
                  </a:tcPr>
                </a:tc>
                <a:tc>
                  <a:txBody>
                    <a:bodyPr wrap="square"/>
                    <a:lstStyle/>
                    <a:p>
                      <a:r>
                        <a:rPr sz="1400" b="0" i="0">
                          <a:solidFill>
                            <a:srgbClr val="2B2B2B"/>
                          </a:solidFill>
                          <a:latin typeface="Arial"/>
                        </a:rPr>
                        <a:t>Detected in cone</a:t>
                      </a:r>
                    </a:p>
                  </a:txBody>
                  <a:tcPr marL="73152" marR="73152" marT="45720" marB="45720" anchor="ctr">
                    <a:solidFill>
                      <a:srgbClr val="F6F8F6"/>
                    </a:solidFill>
                  </a:tcPr>
                </a:tc>
                <a:tc>
                  <a:txBody>
                    <a:bodyPr wrap="square"/>
                    <a:lstStyle/>
                    <a:p>
                      <a:r>
                        <a:rPr sz="1400" b="1" i="0">
                          <a:solidFill>
                            <a:srgbClr val="006B2A"/>
                          </a:solidFill>
                          <a:latin typeface="Arial"/>
                        </a:rPr>
                        <a:t>Detected · PASSED</a:t>
                      </a:r>
                    </a:p>
                  </a:txBody>
                  <a:tcPr marL="73152" marR="73152" marT="45720" marB="45720" anchor="ctr">
                    <a:solidFill>
                      <a:srgbClr val="E6F4EA"/>
                    </a:solidFill>
                  </a:tcPr>
                </a:tc>
                <a:tc>
                  <a:txBody>
                    <a:bodyPr wrap="square"/>
                    <a:lstStyle/>
                    <a:p>
                      <a:r>
                        <a:rPr sz="1400" b="1" i="0">
                          <a:solidFill>
                            <a:srgbClr val="006B2A"/>
                          </a:solidFill>
                          <a:latin typeface="Arial"/>
                        </a:rPr>
                        <a:t>Detected · PASSED</a:t>
                      </a:r>
                    </a:p>
                  </a:txBody>
                  <a:tcPr marL="73152" marR="73152" marT="45720" marB="45720" anchor="ctr">
                    <a:solidFill>
                      <a:srgbClr val="E6F4EA"/>
                    </a:solidFill>
                  </a:tcPr>
                </a:tc>
              </a:tr>
              <a:tr h="323088">
                <a:tc>
                  <a:txBody>
                    <a:bodyPr wrap="square"/>
                    <a:lstStyle/>
                    <a:p>
                      <a:r>
                        <a:rPr sz="1400" b="1" i="0">
                          <a:solidFill>
                            <a:srgbClr val="2B2B2B"/>
                          </a:solidFill>
                          <a:latin typeface="Arial"/>
                        </a:rPr>
                        <a:t>Summary</a:t>
                      </a:r>
                    </a:p>
                  </a:txBody>
                  <a:tcPr marL="73152" marR="73152" marT="45720" marB="45720" anchor="ctr">
                    <a:solidFill>
                      <a:srgbClr val="FFFFFF"/>
                    </a:solidFill>
                  </a:tcPr>
                </a:tc>
                <a:tc>
                  <a:txBody>
                    <a:bodyPr wrap="square"/>
                    <a:lstStyle/>
                    <a:p/>
                  </a:txBody>
                  <a:tcPr marL="73152" marR="73152" marT="45720" marB="45720" anchor="ctr">
                    <a:solidFill>
                      <a:srgbClr val="FFFFFF"/>
                    </a:solidFill>
                  </a:tcPr>
                </a:tc>
                <a:tc>
                  <a:txBody>
                    <a:bodyPr wrap="square"/>
                    <a:lstStyle/>
                    <a:p>
                      <a:r>
                        <a:rPr sz="1400" b="1" i="0">
                          <a:solidFill>
                            <a:srgbClr val="006B2A"/>
                          </a:solidFill>
                          <a:latin typeface="Arial"/>
                        </a:rPr>
                        <a:t>4/4 · 100%</a:t>
                      </a:r>
                    </a:p>
                  </a:txBody>
                  <a:tcPr marL="73152" marR="73152" marT="45720" marB="45720" anchor="ctr">
                    <a:solidFill>
                      <a:srgbClr val="E6F4EA"/>
                    </a:solidFill>
                  </a:tcPr>
                </a:tc>
                <a:tc>
                  <a:txBody>
                    <a:bodyPr wrap="square"/>
                    <a:lstStyle/>
                    <a:p>
                      <a:r>
                        <a:rPr sz="1400" b="1" i="0">
                          <a:solidFill>
                            <a:srgbClr val="006B2A"/>
                          </a:solidFill>
                          <a:latin typeface="Arial"/>
                        </a:rPr>
                        <a:t>4/4 · 100%</a:t>
                      </a:r>
                    </a:p>
                  </a:txBody>
                  <a:tcPr marL="73152" marR="73152" marT="45720" marB="45720" anchor="ctr">
                    <a:solidFill>
                      <a:srgbClr val="E6F4EA"/>
                    </a:solidFill>
                  </a:tcPr>
                </a:tc>
              </a:tr>
            </a:tbl>
          </a:graphicData>
        </a:graphic>
      </p:graphicFrame>
      <p:sp>
        <p:nvSpPr>
          <p:cNvPr id="6" name="Field callouts card"/>
          <p:cNvSpPr/>
          <p:nvPr/>
        </p:nvSpPr>
        <p:spPr>
          <a:xfrm>
            <a:off x="8458199" y="1371600"/>
            <a:ext cx="3291840" cy="4617720"/>
          </a:xfrm>
          <a:prstGeom prst="roundRect">
            <a:avLst>
              <a:gd name="adj" fmla="val 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Field callouts text"/>
          <p:cNvSpPr txBox="1"/>
          <p:nvPr/>
        </p:nvSpPr>
        <p:spPr>
          <a:xfrm>
            <a:off x="8641079" y="1554480"/>
            <a:ext cx="2926080" cy="4251959"/>
          </a:xfrm>
          <a:prstGeom prst="rect">
            <a:avLst/>
          </a:prstGeom>
          <a:noFill/>
        </p:spPr>
        <p:txBody>
          <a:bodyPr wrap="square" lIns="0" rIns="0" tIns="0" bIns="0" anchor="t">
            <a:noAutofit/>
          </a:bodyPr>
          <a:lstStyle/>
          <a:p>
            <a:pPr marL="201168" indent="-201168">
              <a:spcAft>
                <a:spcPts val="570"/>
              </a:spcAft>
              <a:buClr>
                <a:srgbClr val="00943A"/>
              </a:buClr>
              <a:buFont typeface="Arial"/>
              <a:buChar char="•"/>
            </a:pPr>
            <a:r>
              <a:rPr sz="1500" b="1" i="0">
                <a:solidFill>
                  <a:srgbClr val="2B2B2B"/>
                </a:solidFill>
                <a:latin typeface="Arial"/>
              </a:rPr>
              <a:t>DYP-A22</a:t>
            </a:r>
            <a:r>
              <a:rPr sz="1500" b="0" i="0">
                <a:solidFill>
                  <a:srgbClr val="2B2B2B"/>
                </a:solidFill>
                <a:latin typeface="Arial"/>
              </a:rPr>
              <a:t> on UART, powered and unobstructed</a:t>
            </a:r>
          </a:p>
          <a:p>
            <a:pPr marL="201168" indent="-201168">
              <a:spcAft>
                <a:spcPts val="570"/>
              </a:spcAft>
              <a:buClr>
                <a:srgbClr val="00943A"/>
              </a:buClr>
              <a:buFont typeface="Arial"/>
              <a:buChar char="•"/>
            </a:pPr>
            <a:r>
              <a:rPr sz="1500" b="0" i="0">
                <a:solidFill>
                  <a:srgbClr val="2B2B2B"/>
                </a:solidFill>
                <a:latin typeface="Arial"/>
              </a:rPr>
              <a:t>Exact match at </a:t>
            </a:r>
            <a:r>
              <a:rPr sz="1500" b="1" i="0">
                <a:solidFill>
                  <a:srgbClr val="2B2B2B"/>
                </a:solidFill>
                <a:latin typeface="Arial"/>
              </a:rPr>
              <a:t>all three distances</a:t>
            </a:r>
            <a:r>
              <a:rPr sz="1500" b="0" i="0">
                <a:solidFill>
                  <a:srgbClr val="2B2B2B"/>
                </a:solidFill>
                <a:latin typeface="Arial"/>
              </a:rPr>
              <a:t> on </a:t>
            </a:r>
            <a:r>
              <a:rPr sz="1500" b="1" i="0">
                <a:solidFill>
                  <a:srgbClr val="2B2B2B"/>
                </a:solidFill>
                <a:latin typeface="Arial"/>
              </a:rPr>
              <a:t>both sensors</a:t>
            </a:r>
          </a:p>
          <a:p>
            <a:pPr marL="201168" indent="-201168">
              <a:spcAft>
                <a:spcPts val="570"/>
              </a:spcAft>
              <a:buClr>
                <a:srgbClr val="00943A"/>
              </a:buClr>
              <a:buFont typeface="Arial"/>
              <a:buChar char="•"/>
            </a:pPr>
            <a:r>
              <a:rPr sz="1500" b="1" i="0">
                <a:solidFill>
                  <a:srgbClr val="2B2B2B"/>
                </a:solidFill>
                <a:latin typeface="Arial"/>
              </a:rPr>
              <a:t>Off-axis detection confirmed at 35°–45°</a:t>
            </a:r>
            <a:r>
              <a:rPr sz="1500" b="0" i="0">
                <a:solidFill>
                  <a:srgbClr val="2B2B2B"/>
                </a:solidFill>
                <a:latin typeface="Arial"/>
              </a:rPr>
              <a:t>, which </a:t>
            </a:r>
            <a:r>
              <a:rPr sz="1500" b="1" i="0">
                <a:solidFill>
                  <a:srgbClr val="2B2B2B"/>
                </a:solidFill>
                <a:latin typeface="Arial"/>
              </a:rPr>
              <a:t>defines the forward cone</a:t>
            </a:r>
            <a:r>
              <a:rPr sz="1500" b="0" i="0">
                <a:solidFill>
                  <a:srgbClr val="2B2B2B"/>
                </a:solidFill>
                <a:latin typeface="Arial"/>
              </a:rPr>
              <a:t> in our delimitations</a:t>
            </a:r>
          </a:p>
          <a:p>
            <a:pPr marL="201168" indent="-201168">
              <a:spcAft>
                <a:spcPts val="570"/>
              </a:spcAft>
              <a:buClr>
                <a:srgbClr val="00943A"/>
              </a:buClr>
              <a:buFont typeface="Arial"/>
              <a:buChar char="•"/>
            </a:pPr>
            <a:r>
              <a:rPr sz="1500" b="1" i="0">
                <a:solidFill>
                  <a:srgbClr val="2B2B2B"/>
                </a:solidFill>
                <a:latin typeface="Arial"/>
              </a:rPr>
              <a:t>Combined: 8/8 · 100%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tion kicker"/>
          <p:cNvSpPr txBox="1"/>
          <p:nvPr/>
        </p:nvSpPr>
        <p:spPr>
          <a:xfrm>
            <a:off x="1280160" y="292608"/>
            <a:ext cx="8686800" cy="256032"/>
          </a:xfrm>
          <a:prstGeom prst="rect">
            <a:avLst/>
          </a:prstGeom>
          <a:noFill/>
        </p:spPr>
        <p:txBody>
          <a:bodyPr wrap="square" lIns="0" rIns="0" tIns="0" bIns="0" anchor="t">
            <a:noAutofit/>
          </a:bodyPr>
          <a:lstStyle/>
          <a:p>
            <a:r>
              <a:rPr sz="1100" b="1" i="0">
                <a:solidFill>
                  <a:srgbClr val="6B6B6B"/>
                </a:solidFill>
                <a:latin typeface="Arial"/>
              </a:rPr>
              <a:t>RESULTS: BENCH VALIDATION (PASSED)</a:t>
            </a:r>
          </a:p>
        </p:txBody>
      </p:sp>
      <p:sp>
        <p:nvSpPr>
          <p:cNvPr id="3" name="Title"/>
          <p:cNvSpPr txBox="1"/>
          <p:nvPr/>
        </p:nvSpPr>
        <p:spPr>
          <a:xfrm>
            <a:off x="1280160" y="502920"/>
            <a:ext cx="10469880" cy="731520"/>
          </a:xfrm>
          <a:prstGeom prst="rect">
            <a:avLst/>
          </a:prstGeom>
          <a:noFill/>
        </p:spPr>
        <p:txBody>
          <a:bodyPr wrap="square" lIns="0" rIns="0" tIns="0" bIns="0" anchor="ctr">
            <a:noAutofit/>
          </a:bodyPr>
          <a:lstStyle/>
          <a:p>
            <a:r>
              <a:rPr sz="3200" b="1" i="0">
                <a:solidFill>
                  <a:srgbClr val="00943A"/>
                </a:solidFill>
                <a:latin typeface="Arial"/>
              </a:rPr>
              <a:t>Bench Validation: Buttons, Motors and Buzzer</a:t>
            </a:r>
          </a:p>
        </p:txBody>
      </p:sp>
      <p:sp>
        <p:nvSpPr>
          <p:cNvPr id="4" name="Slide number"/>
          <p:cNvSpPr txBox="1"/>
          <p:nvPr/>
        </p:nvSpPr>
        <p:spPr>
          <a:xfrm>
            <a:off x="1280160" y="6327648"/>
            <a:ext cx="2286000" cy="274320"/>
          </a:xfrm>
          <a:prstGeom prst="rect">
            <a:avLst/>
          </a:prstGeom>
          <a:noFill/>
        </p:spPr>
        <p:txBody>
          <a:bodyPr wrap="square" lIns="0" rIns="0" tIns="0" bIns="0" anchor="t">
            <a:noAutofit/>
          </a:bodyPr>
          <a:lstStyle/>
          <a:p>
            <a:r>
              <a:rPr sz="1000" b="0" i="0">
                <a:solidFill>
                  <a:srgbClr val="6B6B6B"/>
                </a:solidFill>
                <a:latin typeface="Arial"/>
              </a:rPr>
              <a:t>IndepenSense · 31</a:t>
            </a:r>
          </a:p>
        </p:txBody>
      </p:sp>
      <p:sp>
        <p:nvSpPr>
          <p:cNvPr id="5" name="Card 1 card"/>
          <p:cNvSpPr/>
          <p:nvPr/>
        </p:nvSpPr>
        <p:spPr>
          <a:xfrm>
            <a:off x="1280160" y="1371600"/>
            <a:ext cx="5106924" cy="2180844"/>
          </a:xfrm>
          <a:prstGeom prst="roundRect">
            <a:avLst>
              <a:gd name="adj" fmla="val 7547"/>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Card 1 text"/>
          <p:cNvSpPr txBox="1"/>
          <p:nvPr/>
        </p:nvSpPr>
        <p:spPr>
          <a:xfrm>
            <a:off x="1463039" y="1554480"/>
            <a:ext cx="4741164" cy="1815084"/>
          </a:xfrm>
          <a:prstGeom prst="rect">
            <a:avLst/>
          </a:prstGeom>
          <a:noFill/>
        </p:spPr>
        <p:txBody>
          <a:bodyPr wrap="square" lIns="0" rIns="0" tIns="0" bIns="0" anchor="t">
            <a:noAutofit/>
          </a:bodyPr>
          <a:lstStyle/>
          <a:p>
            <a:pPr>
              <a:spcAft>
                <a:spcPts val="540"/>
              </a:spcAft>
              <a:buNone/>
            </a:pPr>
            <a:r>
              <a:rPr sz="1400" b="1" i="0">
                <a:solidFill>
                  <a:srgbClr val="006B2A"/>
                </a:solidFill>
                <a:latin typeface="Arial"/>
              </a:rPr>
              <a:t>Push Buttons 1, 2, 3: 2/2 each · 6/6 · 100%</a:t>
            </a:r>
          </a:p>
          <a:p>
            <a:pPr marL="201168" indent="-201168">
              <a:spcAft>
                <a:spcPts val="456"/>
              </a:spcAft>
              <a:buClr>
                <a:srgbClr val="00943A"/>
              </a:buClr>
              <a:buFont typeface="Arial"/>
              <a:buChar char="•"/>
            </a:pPr>
            <a:r>
              <a:rPr sz="1200" b="1" i="0">
                <a:solidFill>
                  <a:srgbClr val="2B2B2B"/>
                </a:solidFill>
                <a:latin typeface="Arial"/>
              </a:rPr>
              <a:t>Single press</a:t>
            </a:r>
            <a:r>
              <a:rPr sz="1200" b="0" i="0">
                <a:solidFill>
                  <a:srgbClr val="2B2B2B"/>
                </a:solidFill>
                <a:latin typeface="Arial"/>
              </a:rPr>
              <a:t> → designated action triggered</a:t>
            </a:r>
          </a:p>
          <a:p>
            <a:pPr marL="201168" indent="-201168">
              <a:spcAft>
                <a:spcPts val="456"/>
              </a:spcAft>
              <a:buClr>
                <a:srgbClr val="00943A"/>
              </a:buClr>
              <a:buFont typeface="Arial"/>
              <a:buChar char="•"/>
            </a:pPr>
            <a:r>
              <a:rPr sz="1200" b="1" i="0">
                <a:solidFill>
                  <a:srgbClr val="2B2B2B"/>
                </a:solidFill>
                <a:latin typeface="Arial"/>
              </a:rPr>
              <a:t>Idle</a:t>
            </a:r>
            <a:r>
              <a:rPr sz="1200" b="0" i="0">
                <a:solidFill>
                  <a:srgbClr val="2B2B2B"/>
                </a:solidFill>
                <a:latin typeface="Arial"/>
              </a:rPr>
              <a:t> → </a:t>
            </a:r>
            <a:r>
              <a:rPr sz="1200" b="1" i="0">
                <a:solidFill>
                  <a:srgbClr val="2B2B2B"/>
                </a:solidFill>
                <a:latin typeface="Arial"/>
              </a:rPr>
              <a:t>no false triggers</a:t>
            </a:r>
            <a:r>
              <a:rPr sz="1200" b="0" i="0">
                <a:solidFill>
                  <a:srgbClr val="2B2B2B"/>
                </a:solidFill>
                <a:latin typeface="Arial"/>
              </a:rPr>
              <a:t>, no floating input</a:t>
            </a:r>
          </a:p>
        </p:txBody>
      </p:sp>
      <p:sp>
        <p:nvSpPr>
          <p:cNvPr id="7" name="Card 2 card"/>
          <p:cNvSpPr/>
          <p:nvPr/>
        </p:nvSpPr>
        <p:spPr>
          <a:xfrm>
            <a:off x="6643116" y="1371600"/>
            <a:ext cx="5106924" cy="2180844"/>
          </a:xfrm>
          <a:prstGeom prst="roundRect">
            <a:avLst>
              <a:gd name="adj" fmla="val 7547"/>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Card 2 text"/>
          <p:cNvSpPr txBox="1"/>
          <p:nvPr/>
        </p:nvSpPr>
        <p:spPr>
          <a:xfrm>
            <a:off x="6825996" y="1554480"/>
            <a:ext cx="4741164" cy="1815084"/>
          </a:xfrm>
          <a:prstGeom prst="rect">
            <a:avLst/>
          </a:prstGeom>
          <a:noFill/>
        </p:spPr>
        <p:txBody>
          <a:bodyPr wrap="square" lIns="0" rIns="0" tIns="0" bIns="0" anchor="t">
            <a:noAutofit/>
          </a:bodyPr>
          <a:lstStyle/>
          <a:p>
            <a:pPr>
              <a:spcAft>
                <a:spcPts val="540"/>
              </a:spcAft>
              <a:buNone/>
            </a:pPr>
            <a:r>
              <a:rPr sz="1400" b="1" i="0">
                <a:solidFill>
                  <a:srgbClr val="006B2A"/>
                </a:solidFill>
                <a:latin typeface="Arial"/>
              </a:rPr>
              <a:t>Vibration Motors: 4/4 · 100%</a:t>
            </a:r>
          </a:p>
          <a:p>
            <a:pPr marL="201168" indent="-201168">
              <a:spcAft>
                <a:spcPts val="456"/>
              </a:spcAft>
              <a:buClr>
                <a:srgbClr val="00943A"/>
              </a:buClr>
              <a:buFont typeface="Arial"/>
              <a:buChar char="•"/>
            </a:pPr>
            <a:r>
              <a:rPr sz="1200" b="1" i="0">
                <a:solidFill>
                  <a:srgbClr val="2B2B2B"/>
                </a:solidFill>
                <a:latin typeface="Arial"/>
              </a:rPr>
              <a:t>Activates</a:t>
            </a:r>
            <a:r>
              <a:rPr sz="1200" b="0" i="0">
                <a:solidFill>
                  <a:srgbClr val="2B2B2B"/>
                </a:solidFill>
                <a:latin typeface="Arial"/>
              </a:rPr>
              <a:t> on trigger · </a:t>
            </a:r>
            <a:r>
              <a:rPr sz="1200" b="1" i="0">
                <a:solidFill>
                  <a:srgbClr val="2B2B2B"/>
                </a:solidFill>
                <a:latin typeface="Arial"/>
              </a:rPr>
              <a:t>auto-off</a:t>
            </a:r>
            <a:r>
              <a:rPr sz="1200" b="0" i="0">
                <a:solidFill>
                  <a:srgbClr val="2B2B2B"/>
                </a:solidFill>
                <a:latin typeface="Arial"/>
              </a:rPr>
              <a:t> after </a:t>
            </a:r>
            <a:r>
              <a:rPr sz="1200" b="1" i="0">
                <a:solidFill>
                  <a:srgbClr val="2B2B2B"/>
                </a:solidFill>
                <a:latin typeface="Arial"/>
              </a:rPr>
              <a:t>2–3 s</a:t>
            </a:r>
          </a:p>
          <a:p>
            <a:pPr marL="201168" indent="-201168">
              <a:spcAft>
                <a:spcPts val="456"/>
              </a:spcAft>
              <a:buClr>
                <a:srgbClr val="00943A"/>
              </a:buClr>
              <a:buFont typeface="Arial"/>
              <a:buChar char="•"/>
            </a:pPr>
            <a:r>
              <a:rPr sz="1200" b="1" i="0">
                <a:solidFill>
                  <a:srgbClr val="2B2B2B"/>
                </a:solidFill>
                <a:latin typeface="Arial"/>
              </a:rPr>
              <a:t>Silent when idle</a:t>
            </a:r>
            <a:r>
              <a:rPr sz="1200" b="0" i="0">
                <a:solidFill>
                  <a:srgbClr val="2B2B2B"/>
                </a:solidFill>
                <a:latin typeface="Arial"/>
              </a:rPr>
              <a:t> · </a:t>
            </a:r>
            <a:r>
              <a:rPr sz="1200" b="1" i="0">
                <a:solidFill>
                  <a:srgbClr val="2B2B2B"/>
                </a:solidFill>
                <a:latin typeface="Arial"/>
              </a:rPr>
              <a:t>consistent across repeated cycles</a:t>
            </a:r>
            <a:r>
              <a:rPr sz="1200" b="0" i="0">
                <a:solidFill>
                  <a:srgbClr val="2B2B2B"/>
                </a:solidFill>
                <a:latin typeface="Arial"/>
              </a:rPr>
              <a:t>, with no dropout or overheating</a:t>
            </a:r>
          </a:p>
        </p:txBody>
      </p:sp>
      <p:sp>
        <p:nvSpPr>
          <p:cNvPr id="9" name="Card 3 card"/>
          <p:cNvSpPr/>
          <p:nvPr/>
        </p:nvSpPr>
        <p:spPr>
          <a:xfrm>
            <a:off x="1280160" y="3808476"/>
            <a:ext cx="5106924" cy="2180844"/>
          </a:xfrm>
          <a:prstGeom prst="roundRect">
            <a:avLst>
              <a:gd name="adj" fmla="val 7547"/>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Card 3 text"/>
          <p:cNvSpPr txBox="1"/>
          <p:nvPr/>
        </p:nvSpPr>
        <p:spPr>
          <a:xfrm>
            <a:off x="1463039" y="3991356"/>
            <a:ext cx="4741164" cy="1815084"/>
          </a:xfrm>
          <a:prstGeom prst="rect">
            <a:avLst/>
          </a:prstGeom>
          <a:noFill/>
        </p:spPr>
        <p:txBody>
          <a:bodyPr wrap="square" lIns="0" rIns="0" tIns="0" bIns="0" anchor="t">
            <a:noAutofit/>
          </a:bodyPr>
          <a:lstStyle/>
          <a:p>
            <a:pPr>
              <a:spcAft>
                <a:spcPts val="540"/>
              </a:spcAft>
              <a:buNone/>
            </a:pPr>
            <a:r>
              <a:rPr sz="1400" b="1" i="0">
                <a:solidFill>
                  <a:srgbClr val="006B2A"/>
                </a:solidFill>
                <a:latin typeface="Arial"/>
              </a:rPr>
              <a:t>Emergency Buzzer: 6/6 · 100%</a:t>
            </a:r>
          </a:p>
          <a:p>
            <a:pPr marL="201168" indent="-201168">
              <a:spcAft>
                <a:spcPts val="456"/>
              </a:spcAft>
              <a:buClr>
                <a:srgbClr val="00943A"/>
              </a:buClr>
              <a:buFont typeface="Arial"/>
              <a:buChar char="•"/>
            </a:pPr>
            <a:r>
              <a:rPr sz="1200" b="1" i="0">
                <a:solidFill>
                  <a:srgbClr val="2B2B2B"/>
                </a:solidFill>
                <a:latin typeface="Arial"/>
              </a:rPr>
              <a:t>BUZ-001</a:t>
            </a:r>
            <a:r>
              <a:rPr sz="1200" b="0" i="0">
                <a:solidFill>
                  <a:srgbClr val="2B2B2B"/>
                </a:solidFill>
                <a:latin typeface="Arial"/>
              </a:rPr>
              <a:t> activation on HIGH · </a:t>
            </a:r>
            <a:r>
              <a:rPr sz="1200" b="1" i="0">
                <a:solidFill>
                  <a:srgbClr val="2B2B2B"/>
                </a:solidFill>
                <a:latin typeface="Arial"/>
              </a:rPr>
              <a:t>BUZ-002</a:t>
            </a:r>
            <a:r>
              <a:rPr sz="1200" b="0" i="0">
                <a:solidFill>
                  <a:srgbClr val="2B2B2B"/>
                </a:solidFill>
                <a:latin typeface="Arial"/>
              </a:rPr>
              <a:t> silent on LOW</a:t>
            </a:r>
          </a:p>
          <a:p>
            <a:pPr marL="201168" indent="-201168">
              <a:spcAft>
                <a:spcPts val="456"/>
              </a:spcAft>
              <a:buClr>
                <a:srgbClr val="00943A"/>
              </a:buClr>
              <a:buFont typeface="Arial"/>
              <a:buChar char="•"/>
            </a:pPr>
            <a:r>
              <a:rPr sz="1200" b="1" i="0">
                <a:solidFill>
                  <a:srgbClr val="2B2B2B"/>
                </a:solidFill>
                <a:latin typeface="Arial"/>
              </a:rPr>
              <a:t>BUZ-003</a:t>
            </a:r>
            <a:r>
              <a:rPr sz="1200" b="0" i="0">
                <a:solidFill>
                  <a:srgbClr val="2B2B2B"/>
                </a:solidFill>
                <a:latin typeface="Arial"/>
              </a:rPr>
              <a:t> immediate on emergency</a:t>
            </a:r>
          </a:p>
          <a:p>
            <a:pPr marL="201168" indent="-201168">
              <a:spcAft>
                <a:spcPts val="456"/>
              </a:spcAft>
              <a:buClr>
                <a:srgbClr val="00943A"/>
              </a:buClr>
              <a:buFont typeface="Arial"/>
              <a:buChar char="•"/>
            </a:pPr>
            <a:r>
              <a:rPr sz="1200" b="1" i="0">
                <a:solidFill>
                  <a:srgbClr val="2B2B2B"/>
                </a:solidFill>
                <a:latin typeface="Arial"/>
              </a:rPr>
              <a:t>BUZ-004</a:t>
            </a:r>
            <a:r>
              <a:rPr sz="1200" b="0" i="0">
                <a:solidFill>
                  <a:srgbClr val="2B2B2B"/>
                </a:solidFill>
                <a:latin typeface="Arial"/>
              </a:rPr>
              <a:t> repeated alerts</a:t>
            </a:r>
          </a:p>
          <a:p>
            <a:pPr marL="201168" indent="-201168">
              <a:spcAft>
                <a:spcPts val="456"/>
              </a:spcAft>
              <a:buClr>
                <a:srgbClr val="00943A"/>
              </a:buClr>
              <a:buFont typeface="Arial"/>
              <a:buChar char="•"/>
            </a:pPr>
            <a:r>
              <a:rPr sz="1200" b="1" i="0">
                <a:solidFill>
                  <a:srgbClr val="2B2B2B"/>
                </a:solidFill>
                <a:latin typeface="Arial"/>
              </a:rPr>
              <a:t>BUZ-005</a:t>
            </a:r>
            <a:r>
              <a:rPr sz="1200" b="0" i="0">
                <a:solidFill>
                  <a:srgbClr val="2B2B2B"/>
                </a:solidFill>
                <a:latin typeface="Arial"/>
              </a:rPr>
              <a:t> ignores invalid input</a:t>
            </a:r>
          </a:p>
          <a:p>
            <a:pPr marL="201168" indent="-201168">
              <a:spcAft>
                <a:spcPts val="456"/>
              </a:spcAft>
              <a:buClr>
                <a:srgbClr val="00943A"/>
              </a:buClr>
              <a:buFont typeface="Arial"/>
              <a:buChar char="•"/>
            </a:pPr>
            <a:r>
              <a:rPr sz="1200" b="1" i="0">
                <a:solidFill>
                  <a:srgbClr val="2B2B2B"/>
                </a:solidFill>
                <a:latin typeface="Arial"/>
              </a:rPr>
              <a:t>BUZ-006</a:t>
            </a:r>
            <a:r>
              <a:rPr sz="1200" b="0" i="0">
                <a:solidFill>
                  <a:srgbClr val="2B2B2B"/>
                </a:solidFill>
                <a:latin typeface="Arial"/>
              </a:rPr>
              <a:t> recovers after power loss</a:t>
            </a:r>
          </a:p>
        </p:txBody>
      </p:sp>
      <p:sp>
        <p:nvSpPr>
          <p:cNvPr id="11" name="Stat 4"/>
          <p:cNvSpPr/>
          <p:nvPr/>
        </p:nvSpPr>
        <p:spPr>
          <a:xfrm>
            <a:off x="6643116" y="3808476"/>
            <a:ext cx="5106924" cy="2180844"/>
          </a:xfrm>
          <a:prstGeom prst="roundRect">
            <a:avLst>
              <a:gd name="adj" fmla="val 7547"/>
            </a:avLst>
          </a:prstGeom>
          <a:solidFill>
            <a:srgbClr val="0094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i="0">
                <a:solidFill>
                  <a:srgbClr val="FFFFFF"/>
                </a:solidFill>
                <a:latin typeface="Arial"/>
              </a:rPr>
              <a:t>Combined: 16/16 · 100%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tion kicker"/>
          <p:cNvSpPr txBox="1"/>
          <p:nvPr/>
        </p:nvSpPr>
        <p:spPr>
          <a:xfrm>
            <a:off x="1280160" y="292608"/>
            <a:ext cx="8686800" cy="256032"/>
          </a:xfrm>
          <a:prstGeom prst="rect">
            <a:avLst/>
          </a:prstGeom>
          <a:noFill/>
        </p:spPr>
        <p:txBody>
          <a:bodyPr wrap="square" lIns="0" rIns="0" tIns="0" bIns="0" anchor="t">
            <a:noAutofit/>
          </a:bodyPr>
          <a:lstStyle/>
          <a:p>
            <a:r>
              <a:rPr sz="1100" b="1" i="0">
                <a:solidFill>
                  <a:srgbClr val="6B6B6B"/>
                </a:solidFill>
                <a:latin typeface="Arial"/>
              </a:rPr>
              <a:t>RESULTS: BENCH VALIDATION (PASSED)</a:t>
            </a:r>
          </a:p>
        </p:txBody>
      </p:sp>
      <p:sp>
        <p:nvSpPr>
          <p:cNvPr id="3" name="Title"/>
          <p:cNvSpPr txBox="1"/>
          <p:nvPr/>
        </p:nvSpPr>
        <p:spPr>
          <a:xfrm>
            <a:off x="1280160" y="502920"/>
            <a:ext cx="10469880" cy="731520"/>
          </a:xfrm>
          <a:prstGeom prst="rect">
            <a:avLst/>
          </a:prstGeom>
          <a:noFill/>
        </p:spPr>
        <p:txBody>
          <a:bodyPr wrap="square" lIns="0" rIns="0" tIns="0" bIns="0" anchor="ctr">
            <a:noAutofit/>
          </a:bodyPr>
          <a:lstStyle/>
          <a:p>
            <a:r>
              <a:rPr sz="2800" b="1" i="0">
                <a:solidFill>
                  <a:srgbClr val="00943A"/>
                </a:solidFill>
                <a:latin typeface="Arial"/>
              </a:rPr>
              <a:t>Bench Validation: SIM7600G-H and Guardian Platform</a:t>
            </a:r>
          </a:p>
        </p:txBody>
      </p:sp>
      <p:sp>
        <p:nvSpPr>
          <p:cNvPr id="4" name="Slide number"/>
          <p:cNvSpPr txBox="1"/>
          <p:nvPr/>
        </p:nvSpPr>
        <p:spPr>
          <a:xfrm>
            <a:off x="1280160" y="6327648"/>
            <a:ext cx="2286000" cy="274320"/>
          </a:xfrm>
          <a:prstGeom prst="rect">
            <a:avLst/>
          </a:prstGeom>
          <a:noFill/>
        </p:spPr>
        <p:txBody>
          <a:bodyPr wrap="square" lIns="0" rIns="0" tIns="0" bIns="0" anchor="t">
            <a:noAutofit/>
          </a:bodyPr>
          <a:lstStyle/>
          <a:p>
            <a:r>
              <a:rPr sz="1000" b="0" i="0">
                <a:solidFill>
                  <a:srgbClr val="6B6B6B"/>
                </a:solidFill>
                <a:latin typeface="Arial"/>
              </a:rPr>
              <a:t>IndepenSense · 32</a:t>
            </a:r>
          </a:p>
        </p:txBody>
      </p:sp>
      <p:pic>
        <p:nvPicPr>
          <p:cNvPr id="5" name="Figure 1" descr="p25_X125.png"/>
          <p:cNvPicPr>
            <a:picLocks noChangeAspect="1"/>
          </p:cNvPicPr>
          <p:nvPr/>
        </p:nvPicPr>
        <p:blipFill>
          <a:blip r:embed="rId2"/>
          <a:stretch>
            <a:fillRect/>
          </a:stretch>
        </p:blipFill>
        <p:spPr>
          <a:xfrm>
            <a:off x="8183879" y="1696153"/>
            <a:ext cx="1714500" cy="3676004"/>
          </a:xfrm>
          <a:prstGeom prst="rect">
            <a:avLst/>
          </a:prstGeom>
          <a:ln w="9525">
            <a:solidFill>
              <a:srgbClr val="D9D9D9"/>
            </a:solidFill>
          </a:ln>
        </p:spPr>
      </p:pic>
      <p:sp>
        <p:nvSpPr>
          <p:cNvPr id="6" name="Figure 1 caption"/>
          <p:cNvSpPr txBox="1"/>
          <p:nvPr/>
        </p:nvSpPr>
        <p:spPr>
          <a:xfrm>
            <a:off x="8092440" y="5417878"/>
            <a:ext cx="1897380" cy="274320"/>
          </a:xfrm>
          <a:prstGeom prst="rect">
            <a:avLst/>
          </a:prstGeom>
          <a:noFill/>
        </p:spPr>
        <p:txBody>
          <a:bodyPr wrap="square" lIns="0" rIns="0" tIns="0" bIns="0" anchor="t">
            <a:noAutofit/>
          </a:bodyPr>
          <a:lstStyle/>
          <a:p>
            <a:pPr algn="ctr"/>
            <a:r>
              <a:rPr sz="1000" b="0" i="1">
                <a:solidFill>
                  <a:srgbClr val="6B6B6B"/>
                </a:solidFill>
                <a:latin typeface="Arial"/>
              </a:rPr>
              <a:t>Live location</a:t>
            </a:r>
          </a:p>
        </p:txBody>
      </p:sp>
      <p:pic>
        <p:nvPicPr>
          <p:cNvPr id="7" name="Figure 2" descr="p25_X127.png"/>
          <p:cNvPicPr>
            <a:picLocks noChangeAspect="1"/>
          </p:cNvPicPr>
          <p:nvPr/>
        </p:nvPicPr>
        <p:blipFill>
          <a:blip r:embed="rId3"/>
          <a:stretch>
            <a:fillRect/>
          </a:stretch>
        </p:blipFill>
        <p:spPr>
          <a:xfrm>
            <a:off x="10035540" y="1696153"/>
            <a:ext cx="1714500" cy="3676004"/>
          </a:xfrm>
          <a:prstGeom prst="rect">
            <a:avLst/>
          </a:prstGeom>
          <a:ln w="9525">
            <a:solidFill>
              <a:srgbClr val="D9D9D9"/>
            </a:solidFill>
          </a:ln>
        </p:spPr>
      </p:pic>
      <p:sp>
        <p:nvSpPr>
          <p:cNvPr id="8" name="Figure 2 caption"/>
          <p:cNvSpPr txBox="1"/>
          <p:nvPr/>
        </p:nvSpPr>
        <p:spPr>
          <a:xfrm>
            <a:off x="9944100" y="5417878"/>
            <a:ext cx="1897380" cy="274320"/>
          </a:xfrm>
          <a:prstGeom prst="rect">
            <a:avLst/>
          </a:prstGeom>
          <a:noFill/>
        </p:spPr>
        <p:txBody>
          <a:bodyPr wrap="square" lIns="0" rIns="0" tIns="0" bIns="0" anchor="t">
            <a:noAutofit/>
          </a:bodyPr>
          <a:lstStyle/>
          <a:p>
            <a:pPr algn="ctr"/>
            <a:r>
              <a:rPr sz="1000" b="0" i="1">
                <a:solidFill>
                  <a:srgbClr val="6B6B6B"/>
                </a:solidFill>
                <a:latin typeface="Arial"/>
              </a:rPr>
              <a:t>Guardian profile</a:t>
            </a:r>
          </a:p>
        </p:txBody>
      </p:sp>
      <p:sp>
        <p:nvSpPr>
          <p:cNvPr id="9" name="Field 1 card"/>
          <p:cNvSpPr/>
          <p:nvPr/>
        </p:nvSpPr>
        <p:spPr>
          <a:xfrm>
            <a:off x="1280160" y="1371600"/>
            <a:ext cx="2747193" cy="4617720"/>
          </a:xfrm>
          <a:prstGeom prst="roundRect">
            <a:avLst>
              <a:gd name="adj" fmla="val 5991"/>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Field 1 text"/>
          <p:cNvSpPr txBox="1"/>
          <p:nvPr/>
        </p:nvSpPr>
        <p:spPr>
          <a:xfrm>
            <a:off x="1463039" y="1554480"/>
            <a:ext cx="2381433" cy="4251959"/>
          </a:xfrm>
          <a:prstGeom prst="rect">
            <a:avLst/>
          </a:prstGeom>
          <a:noFill/>
        </p:spPr>
        <p:txBody>
          <a:bodyPr wrap="square" lIns="0" rIns="0" tIns="0" bIns="0" anchor="t">
            <a:noAutofit/>
          </a:bodyPr>
          <a:lstStyle/>
          <a:p>
            <a:pPr>
              <a:spcAft>
                <a:spcPts val="630"/>
              </a:spcAft>
              <a:buNone/>
            </a:pPr>
            <a:r>
              <a:rPr sz="1600" b="1" i="0">
                <a:solidFill>
                  <a:srgbClr val="006B2A"/>
                </a:solidFill>
                <a:latin typeface="Arial"/>
              </a:rPr>
              <a:t>SIM7600G-H: 9/9 · 100%</a:t>
            </a:r>
          </a:p>
          <a:p>
            <a:pPr marL="201168" indent="-201168">
              <a:spcAft>
                <a:spcPts val="532"/>
              </a:spcAft>
              <a:buClr>
                <a:srgbClr val="00943A"/>
              </a:buClr>
              <a:buFont typeface="Arial"/>
              <a:buChar char="•"/>
            </a:pPr>
            <a:r>
              <a:rPr sz="1400" b="1" i="0">
                <a:solidFill>
                  <a:srgbClr val="2B2B2B"/>
                </a:solidFill>
                <a:latin typeface="Arial"/>
              </a:rPr>
              <a:t>SIM-001</a:t>
            </a:r>
            <a:r>
              <a:rPr sz="1400" b="0" i="0">
                <a:solidFill>
                  <a:srgbClr val="2B2B2B"/>
                </a:solidFill>
                <a:latin typeface="Arial"/>
              </a:rPr>
              <a:t> power on · </a:t>
            </a:r>
            <a:r>
              <a:rPr sz="1400" b="1" i="0">
                <a:solidFill>
                  <a:srgbClr val="2B2B2B"/>
                </a:solidFill>
                <a:latin typeface="Arial"/>
              </a:rPr>
              <a:t>SIM-002</a:t>
            </a:r>
            <a:r>
              <a:rPr sz="1400" b="0" i="0">
                <a:solidFill>
                  <a:srgbClr val="2B2B2B"/>
                </a:solidFill>
                <a:latin typeface="Arial"/>
              </a:rPr>
              <a:t> SIM detected</a:t>
            </a:r>
          </a:p>
          <a:p>
            <a:pPr marL="201168" indent="-201168">
              <a:spcAft>
                <a:spcPts val="532"/>
              </a:spcAft>
              <a:buClr>
                <a:srgbClr val="00943A"/>
              </a:buClr>
              <a:buFont typeface="Arial"/>
              <a:buChar char="•"/>
            </a:pPr>
            <a:r>
              <a:rPr sz="1400" b="1" i="0">
                <a:solidFill>
                  <a:srgbClr val="2B2B2B"/>
                </a:solidFill>
                <a:latin typeface="Arial"/>
              </a:rPr>
              <a:t>SIM-003</a:t>
            </a:r>
            <a:r>
              <a:rPr sz="1400" b="0" i="0">
                <a:solidFill>
                  <a:srgbClr val="2B2B2B"/>
                </a:solidFill>
                <a:latin typeface="Arial"/>
              </a:rPr>
              <a:t> </a:t>
            </a:r>
            <a:r>
              <a:rPr sz="1400" b="1" i="0">
                <a:solidFill>
                  <a:srgbClr val="2B2B2B"/>
                </a:solidFill>
                <a:latin typeface="Arial"/>
              </a:rPr>
              <a:t>network registration</a:t>
            </a:r>
          </a:p>
          <a:p>
            <a:pPr marL="201168" indent="-201168">
              <a:spcAft>
                <a:spcPts val="532"/>
              </a:spcAft>
              <a:buClr>
                <a:srgbClr val="00943A"/>
              </a:buClr>
              <a:buFont typeface="Arial"/>
              <a:buChar char="•"/>
            </a:pPr>
            <a:r>
              <a:rPr sz="1400" b="1" i="0">
                <a:solidFill>
                  <a:srgbClr val="2B2B2B"/>
                </a:solidFill>
                <a:latin typeface="Arial"/>
              </a:rPr>
              <a:t>SIM-004</a:t>
            </a:r>
            <a:r>
              <a:rPr sz="1400" b="0" i="0">
                <a:solidFill>
                  <a:srgbClr val="2B2B2B"/>
                </a:solidFill>
                <a:latin typeface="Arial"/>
              </a:rPr>
              <a:t> weak-signal handling</a:t>
            </a:r>
          </a:p>
          <a:p>
            <a:pPr marL="201168" indent="-201168">
              <a:spcAft>
                <a:spcPts val="532"/>
              </a:spcAft>
              <a:buClr>
                <a:srgbClr val="00943A"/>
              </a:buClr>
              <a:buFont typeface="Arial"/>
              <a:buChar char="•"/>
            </a:pPr>
            <a:r>
              <a:rPr sz="1400" b="1" i="0">
                <a:solidFill>
                  <a:srgbClr val="2B2B2B"/>
                </a:solidFill>
                <a:latin typeface="Arial"/>
              </a:rPr>
              <a:t>SIM-005</a:t>
            </a:r>
            <a:r>
              <a:rPr sz="1400" b="0" i="0">
                <a:solidFill>
                  <a:srgbClr val="2B2B2B"/>
                </a:solidFill>
                <a:latin typeface="Arial"/>
              </a:rPr>
              <a:t> </a:t>
            </a:r>
            <a:r>
              <a:rPr sz="1400" b="1" i="0">
                <a:solidFill>
                  <a:srgbClr val="2B2B2B"/>
                </a:solidFill>
                <a:latin typeface="Arial"/>
              </a:rPr>
              <a:t>SMS send</a:t>
            </a:r>
            <a:r>
              <a:rPr sz="1400" b="0" i="0">
                <a:solidFill>
                  <a:srgbClr val="2B2B2B"/>
                </a:solidFill>
                <a:latin typeface="Arial"/>
              </a:rPr>
              <a:t> · </a:t>
            </a:r>
            <a:r>
              <a:rPr sz="1400" b="1" i="0">
                <a:solidFill>
                  <a:srgbClr val="2B2B2B"/>
                </a:solidFill>
                <a:latin typeface="Arial"/>
              </a:rPr>
              <a:t>SIM-006</a:t>
            </a:r>
            <a:r>
              <a:rPr sz="1400" b="0" i="0">
                <a:solidFill>
                  <a:srgbClr val="2B2B2B"/>
                </a:solidFill>
                <a:latin typeface="Arial"/>
              </a:rPr>
              <a:t> SMS receive</a:t>
            </a:r>
          </a:p>
          <a:p>
            <a:pPr marL="201168" indent="-201168">
              <a:spcAft>
                <a:spcPts val="532"/>
              </a:spcAft>
              <a:buClr>
                <a:srgbClr val="00943A"/>
              </a:buClr>
              <a:buFont typeface="Arial"/>
              <a:buChar char="•"/>
            </a:pPr>
            <a:r>
              <a:rPr sz="1400" b="1" i="0">
                <a:solidFill>
                  <a:srgbClr val="2B2B2B"/>
                </a:solidFill>
                <a:latin typeface="Arial"/>
              </a:rPr>
              <a:t>SIM-007</a:t>
            </a:r>
            <a:r>
              <a:rPr sz="1400" b="0" i="0">
                <a:solidFill>
                  <a:srgbClr val="2B2B2B"/>
                </a:solidFill>
                <a:latin typeface="Arial"/>
              </a:rPr>
              <a:t> </a:t>
            </a:r>
            <a:r>
              <a:rPr sz="1400" b="1" i="0">
                <a:solidFill>
                  <a:srgbClr val="2B2B2B"/>
                </a:solidFill>
                <a:latin typeface="Arial"/>
              </a:rPr>
              <a:t>LTE data connection</a:t>
            </a:r>
          </a:p>
          <a:p>
            <a:pPr marL="201168" indent="-201168">
              <a:spcAft>
                <a:spcPts val="532"/>
              </a:spcAft>
              <a:buClr>
                <a:srgbClr val="00943A"/>
              </a:buClr>
              <a:buFont typeface="Arial"/>
              <a:buChar char="•"/>
            </a:pPr>
            <a:r>
              <a:rPr sz="1400" b="1" i="0">
                <a:solidFill>
                  <a:srgbClr val="2B2B2B"/>
                </a:solidFill>
                <a:latin typeface="Arial"/>
              </a:rPr>
              <a:t>SIM-008</a:t>
            </a:r>
            <a:r>
              <a:rPr sz="1400" b="0" i="0">
                <a:solidFill>
                  <a:srgbClr val="2B2B2B"/>
                </a:solidFill>
                <a:latin typeface="Arial"/>
              </a:rPr>
              <a:t> GNSS fix returned</a:t>
            </a:r>
          </a:p>
          <a:p>
            <a:pPr marL="201168" indent="-201168">
              <a:spcAft>
                <a:spcPts val="532"/>
              </a:spcAft>
              <a:buClr>
                <a:srgbClr val="00943A"/>
              </a:buClr>
              <a:buFont typeface="Arial"/>
              <a:buChar char="•"/>
            </a:pPr>
            <a:r>
              <a:rPr sz="1400" b="1" i="0">
                <a:solidFill>
                  <a:srgbClr val="2B2B2B"/>
                </a:solidFill>
                <a:latin typeface="Arial"/>
              </a:rPr>
              <a:t>SIM-009</a:t>
            </a:r>
            <a:r>
              <a:rPr sz="1400" b="0" i="0">
                <a:solidFill>
                  <a:srgbClr val="2B2B2B"/>
                </a:solidFill>
                <a:latin typeface="Arial"/>
              </a:rPr>
              <a:t> </a:t>
            </a:r>
            <a:r>
              <a:rPr sz="1400" b="1" i="0">
                <a:solidFill>
                  <a:srgbClr val="2B2B2B"/>
                </a:solidFill>
                <a:latin typeface="Arial"/>
              </a:rPr>
              <a:t>auto-reconnect</a:t>
            </a:r>
            <a:r>
              <a:rPr sz="1400" b="0" i="0">
                <a:solidFill>
                  <a:srgbClr val="2B2B2B"/>
                </a:solidFill>
                <a:latin typeface="Arial"/>
              </a:rPr>
              <a:t> after interruption</a:t>
            </a:r>
          </a:p>
        </p:txBody>
      </p:sp>
      <p:sp>
        <p:nvSpPr>
          <p:cNvPr id="11" name="Field 2 card"/>
          <p:cNvSpPr/>
          <p:nvPr/>
        </p:nvSpPr>
        <p:spPr>
          <a:xfrm>
            <a:off x="4283385" y="1371600"/>
            <a:ext cx="3644462" cy="4617720"/>
          </a:xfrm>
          <a:prstGeom prst="roundRect">
            <a:avLst>
              <a:gd name="adj" fmla="val 4516"/>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Field 2 text"/>
          <p:cNvSpPr txBox="1"/>
          <p:nvPr/>
        </p:nvSpPr>
        <p:spPr>
          <a:xfrm>
            <a:off x="4466265" y="1554480"/>
            <a:ext cx="3278702" cy="4251959"/>
          </a:xfrm>
          <a:prstGeom prst="rect">
            <a:avLst/>
          </a:prstGeom>
          <a:noFill/>
        </p:spPr>
        <p:txBody>
          <a:bodyPr wrap="square" lIns="0" rIns="0" tIns="0" bIns="0" anchor="t">
            <a:noAutofit/>
          </a:bodyPr>
          <a:lstStyle/>
          <a:p>
            <a:pPr>
              <a:spcAft>
                <a:spcPts val="630"/>
              </a:spcAft>
              <a:buNone/>
            </a:pPr>
            <a:r>
              <a:rPr sz="1600" b="1" i="0">
                <a:solidFill>
                  <a:srgbClr val="006B2A"/>
                </a:solidFill>
                <a:latin typeface="Arial"/>
              </a:rPr>
              <a:t>Guardian App: 5/5 · 100% · Audio Feedback: 5/5 · 100%</a:t>
            </a:r>
          </a:p>
          <a:p>
            <a:pPr marL="201168" indent="-201168">
              <a:spcAft>
                <a:spcPts val="532"/>
              </a:spcAft>
              <a:buClr>
                <a:srgbClr val="00943A"/>
              </a:buClr>
              <a:buFont typeface="Arial"/>
              <a:buChar char="•"/>
            </a:pPr>
            <a:r>
              <a:rPr sz="1400" b="1" i="0">
                <a:solidFill>
                  <a:srgbClr val="2B2B2B"/>
                </a:solidFill>
                <a:latin typeface="Arial"/>
              </a:rPr>
              <a:t>TC-APP-01</a:t>
            </a:r>
            <a:r>
              <a:rPr sz="1400" b="0" i="0">
                <a:solidFill>
                  <a:srgbClr val="2B2B2B"/>
                </a:solidFill>
                <a:latin typeface="Arial"/>
              </a:rPr>
              <a:t> device ↔ app connection</a:t>
            </a:r>
          </a:p>
          <a:p>
            <a:pPr marL="201168" indent="-201168">
              <a:spcAft>
                <a:spcPts val="532"/>
              </a:spcAft>
              <a:buClr>
                <a:srgbClr val="00943A"/>
              </a:buClr>
              <a:buFont typeface="Arial"/>
              <a:buChar char="•"/>
            </a:pPr>
            <a:r>
              <a:rPr sz="1400" b="1" i="0">
                <a:solidFill>
                  <a:srgbClr val="2B2B2B"/>
                </a:solidFill>
                <a:latin typeface="Arial"/>
              </a:rPr>
              <a:t>TC-APP-02</a:t>
            </a:r>
            <a:r>
              <a:rPr sz="1400" b="0" i="0">
                <a:solidFill>
                  <a:srgbClr val="2B2B2B"/>
                </a:solidFill>
                <a:latin typeface="Arial"/>
              </a:rPr>
              <a:t> </a:t>
            </a:r>
            <a:r>
              <a:rPr sz="1400" b="1" i="0">
                <a:solidFill>
                  <a:srgbClr val="2B2B2B"/>
                </a:solidFill>
                <a:latin typeface="Arial"/>
              </a:rPr>
              <a:t>SOS notification received</a:t>
            </a:r>
          </a:p>
          <a:p>
            <a:pPr marL="201168" indent="-201168">
              <a:spcAft>
                <a:spcPts val="532"/>
              </a:spcAft>
              <a:buClr>
                <a:srgbClr val="00943A"/>
              </a:buClr>
              <a:buFont typeface="Arial"/>
              <a:buChar char="•"/>
            </a:pPr>
            <a:r>
              <a:rPr sz="1400" b="1" i="0">
                <a:solidFill>
                  <a:srgbClr val="2B2B2B"/>
                </a:solidFill>
                <a:latin typeface="Arial"/>
              </a:rPr>
              <a:t>TC-APP-03</a:t>
            </a:r>
            <a:r>
              <a:rPr sz="1400" b="0" i="0">
                <a:solidFill>
                  <a:srgbClr val="2B2B2B"/>
                </a:solidFill>
                <a:latin typeface="Arial"/>
              </a:rPr>
              <a:t> </a:t>
            </a:r>
            <a:r>
              <a:rPr sz="1400" b="1" i="0">
                <a:solidFill>
                  <a:srgbClr val="2B2B2B"/>
                </a:solidFill>
                <a:latin typeface="Arial"/>
              </a:rPr>
              <a:t>live location displayed</a:t>
            </a:r>
          </a:p>
          <a:p>
            <a:pPr marL="201168" indent="-201168">
              <a:spcAft>
                <a:spcPts val="532"/>
              </a:spcAft>
              <a:buClr>
                <a:srgbClr val="00943A"/>
              </a:buClr>
              <a:buFont typeface="Arial"/>
              <a:buChar char="•"/>
            </a:pPr>
            <a:r>
              <a:rPr sz="1400" b="1" i="0">
                <a:solidFill>
                  <a:srgbClr val="2B2B2B"/>
                </a:solidFill>
                <a:latin typeface="Arial"/>
              </a:rPr>
              <a:t>TC-APP-04</a:t>
            </a:r>
            <a:r>
              <a:rPr sz="1400" b="0" i="0">
                <a:solidFill>
                  <a:srgbClr val="2B2B2B"/>
                </a:solidFill>
                <a:latin typeface="Arial"/>
              </a:rPr>
              <a:t> device status shown</a:t>
            </a:r>
          </a:p>
          <a:p>
            <a:pPr marL="201168" indent="-201168">
              <a:spcAft>
                <a:spcPts val="532"/>
              </a:spcAft>
              <a:buClr>
                <a:srgbClr val="00943A"/>
              </a:buClr>
              <a:buFont typeface="Arial"/>
              <a:buChar char="•"/>
            </a:pPr>
            <a:r>
              <a:rPr sz="1400" b="1" i="0">
                <a:solidFill>
                  <a:srgbClr val="2B2B2B"/>
                </a:solidFill>
                <a:latin typeface="Arial"/>
              </a:rPr>
              <a:t>TC-APP-05</a:t>
            </a:r>
            <a:r>
              <a:rPr sz="1400" b="0" i="0">
                <a:solidFill>
                  <a:srgbClr val="2B2B2B"/>
                </a:solidFill>
                <a:latin typeface="Arial"/>
              </a:rPr>
              <a:t> alert delivered</a:t>
            </a:r>
          </a:p>
          <a:p>
            <a:pPr marL="201168" indent="-201168">
              <a:spcAft>
                <a:spcPts val="532"/>
              </a:spcAft>
              <a:buClr>
                <a:srgbClr val="00943A"/>
              </a:buClr>
              <a:buFont typeface="Arial"/>
              <a:buChar char="•"/>
            </a:pPr>
            <a:r>
              <a:rPr sz="1400" b="1" i="0">
                <a:solidFill>
                  <a:srgbClr val="2B2B2B"/>
                </a:solidFill>
                <a:latin typeface="Arial"/>
              </a:rPr>
              <a:t>TC-AUD-01–05:</a:t>
            </a:r>
            <a:r>
              <a:rPr sz="1400" b="0" i="0">
                <a:solidFill>
                  <a:srgbClr val="2B2B2B"/>
                </a:solidFill>
                <a:latin typeface="Arial"/>
              </a:rPr>
              <a:t> output device, </a:t>
            </a:r>
            <a:r>
              <a:rPr sz="1400" b="1" i="0">
                <a:solidFill>
                  <a:srgbClr val="2B2B2B"/>
                </a:solidFill>
                <a:latin typeface="Arial"/>
              </a:rPr>
              <a:t>TTS intelligibility</a:t>
            </a:r>
            <a:r>
              <a:rPr sz="1400" b="0" i="0">
                <a:solidFill>
                  <a:srgbClr val="2B2B2B"/>
                </a:solidFill>
                <a:latin typeface="Arial"/>
              </a:rPr>
              <a:t>, object descriptions, alert notifications, </a:t>
            </a:r>
            <a:r>
              <a:rPr sz="1400" b="1" i="0">
                <a:solidFill>
                  <a:srgbClr val="2B2B2B"/>
                </a:solidFill>
                <a:latin typeface="Arial"/>
              </a:rPr>
              <a:t>clarity</a:t>
            </a:r>
          </a:p>
          <a:p>
            <a:pPr marL="201168" indent="-201168">
              <a:spcAft>
                <a:spcPts val="532"/>
              </a:spcAft>
              <a:buClr>
                <a:srgbClr val="00943A"/>
              </a:buClr>
              <a:buFont typeface="Arial"/>
              <a:buChar char="•"/>
            </a:pPr>
            <a:r>
              <a:rPr sz="1400" b="1" i="0">
                <a:solidFill>
                  <a:srgbClr val="2B2B2B"/>
                </a:solidFill>
                <a:latin typeface="Arial"/>
              </a:rPr>
              <a:t>Combined: 19/19 · 100%</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tion kicker"/>
          <p:cNvSpPr txBox="1"/>
          <p:nvPr/>
        </p:nvSpPr>
        <p:spPr>
          <a:xfrm>
            <a:off x="1280160" y="292608"/>
            <a:ext cx="8686800" cy="256032"/>
          </a:xfrm>
          <a:prstGeom prst="rect">
            <a:avLst/>
          </a:prstGeom>
          <a:noFill/>
        </p:spPr>
        <p:txBody>
          <a:bodyPr wrap="square" lIns="0" rIns="0" tIns="0" bIns="0" anchor="t">
            <a:noAutofit/>
          </a:bodyPr>
          <a:lstStyle/>
          <a:p>
            <a:r>
              <a:rPr sz="1100" b="1" i="0">
                <a:solidFill>
                  <a:srgbClr val="6B6B6B"/>
                </a:solidFill>
                <a:latin typeface="Arial"/>
              </a:rPr>
              <a:t>RESULTS: BENCH VALIDATION (PASSED)</a:t>
            </a:r>
          </a:p>
        </p:txBody>
      </p:sp>
      <p:sp>
        <p:nvSpPr>
          <p:cNvPr id="3" name="Title"/>
          <p:cNvSpPr txBox="1"/>
          <p:nvPr/>
        </p:nvSpPr>
        <p:spPr>
          <a:xfrm>
            <a:off x="1280160" y="502920"/>
            <a:ext cx="10469880" cy="731520"/>
          </a:xfrm>
          <a:prstGeom prst="rect">
            <a:avLst/>
          </a:prstGeom>
          <a:noFill/>
        </p:spPr>
        <p:txBody>
          <a:bodyPr wrap="square" lIns="0" rIns="0" tIns="0" bIns="0" anchor="ctr">
            <a:noAutofit/>
          </a:bodyPr>
          <a:lstStyle/>
          <a:p>
            <a:r>
              <a:rPr sz="3200" b="1" i="0">
                <a:solidFill>
                  <a:srgbClr val="00943A"/>
                </a:solidFill>
                <a:latin typeface="Arial"/>
              </a:rPr>
              <a:t>Calibration Results: Compass Heading Accuracy</a:t>
            </a:r>
          </a:p>
        </p:txBody>
      </p:sp>
      <p:sp>
        <p:nvSpPr>
          <p:cNvPr id="4" name="Slide number"/>
          <p:cNvSpPr txBox="1"/>
          <p:nvPr/>
        </p:nvSpPr>
        <p:spPr>
          <a:xfrm>
            <a:off x="1280160" y="6327648"/>
            <a:ext cx="2286000" cy="274320"/>
          </a:xfrm>
          <a:prstGeom prst="rect">
            <a:avLst/>
          </a:prstGeom>
          <a:noFill/>
        </p:spPr>
        <p:txBody>
          <a:bodyPr wrap="square" lIns="0" rIns="0" tIns="0" bIns="0" anchor="t">
            <a:noAutofit/>
          </a:bodyPr>
          <a:lstStyle/>
          <a:p>
            <a:r>
              <a:rPr sz="1000" b="0" i="0">
                <a:solidFill>
                  <a:srgbClr val="6B6B6B"/>
                </a:solidFill>
                <a:latin typeface="Arial"/>
              </a:rPr>
              <a:t>IndepenSense · 33</a:t>
            </a:r>
          </a:p>
        </p:txBody>
      </p:sp>
      <p:graphicFrame>
        <p:nvGraphicFramePr>
          <p:cNvPr id="5" name="Results table"/>
          <p:cNvGraphicFramePr>
            <a:graphicFrameLocks noGrp="1"/>
          </p:cNvGraphicFramePr>
          <p:nvPr/>
        </p:nvGraphicFramePr>
        <p:xfrm>
          <a:off x="1280160" y="1371600"/>
          <a:ext cx="6922007" cy="2261616"/>
        </p:xfrm>
        <a:graphic>
          <a:graphicData uri="http://schemas.openxmlformats.org/drawingml/2006/table">
            <a:tbl>
              <a:tblPr firstRow="0" bandRow="0">
                <a:tableStyleId>{5C22544A-7EE6-4342-B048-85BDC9FD1C3A}</a:tableStyleId>
              </a:tblPr>
              <a:tblGrid>
                <a:gridCol w="1525188"/>
                <a:gridCol w="2815732"/>
                <a:gridCol w="2581087"/>
              </a:tblGrid>
              <a:tr h="323088">
                <a:tc>
                  <a:txBody>
                    <a:bodyPr wrap="square"/>
                    <a:lstStyle/>
                    <a:p>
                      <a:r>
                        <a:rPr sz="1400" b="1" i="0">
                          <a:solidFill>
                            <a:srgbClr val="FFFFFF"/>
                          </a:solidFill>
                          <a:latin typeface="Arial"/>
                        </a:rPr>
                        <a:t>Heading</a:t>
                      </a:r>
                    </a:p>
                  </a:txBody>
                  <a:tcPr marL="73152" marR="73152" marT="45720" marB="45720" anchor="ctr">
                    <a:solidFill>
                      <a:srgbClr val="00943A"/>
                    </a:solidFill>
                  </a:tcPr>
                </a:tc>
                <a:tc>
                  <a:txBody>
                    <a:bodyPr wrap="square"/>
                    <a:lstStyle/>
                    <a:p>
                      <a:r>
                        <a:rPr sz="1400" b="1" i="0">
                          <a:solidFill>
                            <a:srgbClr val="FFFFFF"/>
                          </a:solidFill>
                          <a:latin typeface="Arial"/>
                        </a:rPr>
                        <a:t>Initial</a:t>
                      </a:r>
                    </a:p>
                  </a:txBody>
                  <a:tcPr marL="73152" marR="73152" marT="45720" marB="45720" anchor="ctr">
                    <a:solidFill>
                      <a:srgbClr val="00943A"/>
                    </a:solidFill>
                  </a:tcPr>
                </a:tc>
                <a:tc>
                  <a:txBody>
                    <a:bodyPr wrap="square"/>
                    <a:lstStyle/>
                    <a:p>
                      <a:r>
                        <a:rPr sz="1400" b="1" i="0">
                          <a:solidFill>
                            <a:srgbClr val="FFFFFF"/>
                          </a:solidFill>
                          <a:latin typeface="Arial"/>
                        </a:rPr>
                        <a:t>After recalibration</a:t>
                      </a:r>
                    </a:p>
                  </a:txBody>
                  <a:tcPr marL="73152" marR="73152" marT="45720" marB="45720" anchor="ctr">
                    <a:solidFill>
                      <a:srgbClr val="00943A"/>
                    </a:solidFill>
                  </a:tcPr>
                </a:tc>
              </a:tr>
              <a:tr h="323088">
                <a:tc>
                  <a:txBody>
                    <a:bodyPr wrap="square"/>
                    <a:lstStyle/>
                    <a:p>
                      <a:r>
                        <a:rPr sz="1400" b="1" i="0">
                          <a:solidFill>
                            <a:srgbClr val="2B2B2B"/>
                          </a:solidFill>
                          <a:latin typeface="Arial"/>
                        </a:rPr>
                        <a:t>N</a:t>
                      </a:r>
                    </a:p>
                  </a:txBody>
                  <a:tcPr marL="73152" marR="73152" marT="45720" marB="45720" anchor="ctr">
                    <a:solidFill>
                      <a:srgbClr val="FFFFFF"/>
                    </a:solidFill>
                  </a:tcPr>
                </a:tc>
                <a:tc>
                  <a:txBody>
                    <a:bodyPr wrap="square"/>
                    <a:lstStyle/>
                    <a:p>
                      <a:r>
                        <a:rPr sz="1400" b="0" i="0">
                          <a:solidFill>
                            <a:srgbClr val="B3261E"/>
                          </a:solidFill>
                          <a:latin typeface="Arial"/>
                        </a:rPr>
                        <a:t>Heading deviation · </a:t>
                      </a:r>
                      <a:r>
                        <a:rPr sz="1400" b="1" i="0">
                          <a:solidFill>
                            <a:srgbClr val="B3261E"/>
                          </a:solidFill>
                          <a:latin typeface="Arial"/>
                        </a:rPr>
                        <a:t>FAIL</a:t>
                      </a:r>
                    </a:p>
                  </a:txBody>
                  <a:tcPr marL="73152" marR="73152" marT="45720" marB="45720" anchor="ctr">
                    <a:solidFill>
                      <a:srgbClr val="FBE9E7"/>
                    </a:solidFill>
                  </a:tcPr>
                </a:tc>
                <a:tc>
                  <a:txBody>
                    <a:bodyPr wrap="square"/>
                    <a:lstStyle/>
                    <a:p>
                      <a:r>
                        <a:rPr sz="1400" b="1" i="0">
                          <a:solidFill>
                            <a:srgbClr val="006B2A"/>
                          </a:solidFill>
                          <a:latin typeface="Arial"/>
                        </a:rPr>
                        <a:t>N identified · PASS</a:t>
                      </a:r>
                    </a:p>
                  </a:txBody>
                  <a:tcPr marL="73152" marR="73152" marT="45720" marB="45720" anchor="ctr">
                    <a:solidFill>
                      <a:srgbClr val="E6F4EA"/>
                    </a:solidFill>
                  </a:tcPr>
                </a:tc>
              </a:tr>
              <a:tr h="323088">
                <a:tc>
                  <a:txBody>
                    <a:bodyPr wrap="square"/>
                    <a:lstStyle/>
                    <a:p>
                      <a:r>
                        <a:rPr sz="1400" b="1" i="0">
                          <a:solidFill>
                            <a:srgbClr val="2B2B2B"/>
                          </a:solidFill>
                          <a:latin typeface="Arial"/>
                        </a:rPr>
                        <a:t>NE</a:t>
                      </a:r>
                    </a:p>
                  </a:txBody>
                  <a:tcPr marL="73152" marR="73152" marT="45720" marB="45720" anchor="ctr">
                    <a:solidFill>
                      <a:srgbClr val="F6F8F6"/>
                    </a:solidFill>
                  </a:tcPr>
                </a:tc>
                <a:tc>
                  <a:txBody>
                    <a:bodyPr wrap="square"/>
                    <a:lstStyle/>
                    <a:p>
                      <a:r>
                        <a:rPr sz="1400" b="0" i="0">
                          <a:solidFill>
                            <a:srgbClr val="B3261E"/>
                          </a:solidFill>
                          <a:latin typeface="Arial"/>
                        </a:rPr>
                        <a:t>Inconsistent · </a:t>
                      </a:r>
                      <a:r>
                        <a:rPr sz="1400" b="1" i="0">
                          <a:solidFill>
                            <a:srgbClr val="B3261E"/>
                          </a:solidFill>
                          <a:latin typeface="Arial"/>
                        </a:rPr>
                        <a:t>FAIL</a:t>
                      </a:r>
                    </a:p>
                  </a:txBody>
                  <a:tcPr marL="73152" marR="73152" marT="45720" marB="45720" anchor="ctr">
                    <a:solidFill>
                      <a:srgbClr val="FBE9E7"/>
                    </a:solidFill>
                  </a:tcPr>
                </a:tc>
                <a:tc>
                  <a:txBody>
                    <a:bodyPr wrap="square"/>
                    <a:lstStyle/>
                    <a:p>
                      <a:r>
                        <a:rPr sz="1400" b="1" i="0">
                          <a:solidFill>
                            <a:srgbClr val="006B2A"/>
                          </a:solidFill>
                          <a:latin typeface="Arial"/>
                        </a:rPr>
                        <a:t>NE identified · PASS</a:t>
                      </a:r>
                    </a:p>
                  </a:txBody>
                  <a:tcPr marL="73152" marR="73152" marT="45720" marB="45720" anchor="ctr">
                    <a:solidFill>
                      <a:srgbClr val="E6F4EA"/>
                    </a:solidFill>
                  </a:tcPr>
                </a:tc>
              </a:tr>
              <a:tr h="323088">
                <a:tc>
                  <a:txBody>
                    <a:bodyPr wrap="square"/>
                    <a:lstStyle/>
                    <a:p>
                      <a:r>
                        <a:rPr sz="1400" b="1" i="0">
                          <a:solidFill>
                            <a:srgbClr val="2B2B2B"/>
                          </a:solidFill>
                          <a:latin typeface="Arial"/>
                        </a:rPr>
                        <a:t>E</a:t>
                      </a:r>
                    </a:p>
                  </a:txBody>
                  <a:tcPr marL="73152" marR="73152" marT="45720" marB="45720" anchor="ctr">
                    <a:solidFill>
                      <a:srgbClr val="FFFFFF"/>
                    </a:solidFill>
                  </a:tcPr>
                </a:tc>
                <a:tc>
                  <a:txBody>
                    <a:bodyPr wrap="square"/>
                    <a:lstStyle/>
                    <a:p>
                      <a:r>
                        <a:rPr sz="1400" b="0" i="0">
                          <a:solidFill>
                            <a:srgbClr val="B3261E"/>
                          </a:solidFill>
                          <a:latin typeface="Arial"/>
                        </a:rPr>
                        <a:t>Wrong direction · </a:t>
                      </a:r>
                      <a:r>
                        <a:rPr sz="1400" b="1" i="0">
                          <a:solidFill>
                            <a:srgbClr val="B3261E"/>
                          </a:solidFill>
                          <a:latin typeface="Arial"/>
                        </a:rPr>
                        <a:t>FAIL</a:t>
                      </a:r>
                    </a:p>
                  </a:txBody>
                  <a:tcPr marL="73152" marR="73152" marT="45720" marB="45720" anchor="ctr">
                    <a:solidFill>
                      <a:srgbClr val="FBE9E7"/>
                    </a:solidFill>
                  </a:tcPr>
                </a:tc>
                <a:tc>
                  <a:txBody>
                    <a:bodyPr wrap="square"/>
                    <a:lstStyle/>
                    <a:p>
                      <a:r>
                        <a:rPr sz="1400" b="1" i="0">
                          <a:solidFill>
                            <a:srgbClr val="006B2A"/>
                          </a:solidFill>
                          <a:latin typeface="Arial"/>
                        </a:rPr>
                        <a:t>E identified · PASS</a:t>
                      </a:r>
                    </a:p>
                  </a:txBody>
                  <a:tcPr marL="73152" marR="73152" marT="45720" marB="45720" anchor="ctr">
                    <a:solidFill>
                      <a:srgbClr val="E6F4EA"/>
                    </a:solidFill>
                  </a:tcPr>
                </a:tc>
              </a:tr>
              <a:tr h="323088">
                <a:tc>
                  <a:txBody>
                    <a:bodyPr wrap="square"/>
                    <a:lstStyle/>
                    <a:p>
                      <a:r>
                        <a:rPr sz="1400" b="1" i="0">
                          <a:solidFill>
                            <a:srgbClr val="2B2B2B"/>
                          </a:solidFill>
                          <a:latin typeface="Arial"/>
                        </a:rPr>
                        <a:t>SE</a:t>
                      </a:r>
                    </a:p>
                  </a:txBody>
                  <a:tcPr marL="73152" marR="73152" marT="45720" marB="45720" anchor="ctr">
                    <a:solidFill>
                      <a:srgbClr val="F6F8F6"/>
                    </a:solidFill>
                  </a:tcPr>
                </a:tc>
                <a:tc>
                  <a:txBody>
                    <a:bodyPr wrap="square"/>
                    <a:lstStyle/>
                    <a:p>
                      <a:r>
                        <a:rPr sz="1400" b="0" i="0">
                          <a:solidFill>
                            <a:srgbClr val="B3261E"/>
                          </a:solidFill>
                          <a:latin typeface="Arial"/>
                        </a:rPr>
                        <a:t>Read as E/S · </a:t>
                      </a:r>
                      <a:r>
                        <a:rPr sz="1400" b="1" i="0">
                          <a:solidFill>
                            <a:srgbClr val="B3261E"/>
                          </a:solidFill>
                          <a:latin typeface="Arial"/>
                        </a:rPr>
                        <a:t>FAIL</a:t>
                      </a:r>
                    </a:p>
                  </a:txBody>
                  <a:tcPr marL="73152" marR="73152" marT="45720" marB="45720" anchor="ctr">
                    <a:solidFill>
                      <a:srgbClr val="FBE9E7"/>
                    </a:solidFill>
                  </a:tcPr>
                </a:tc>
                <a:tc>
                  <a:txBody>
                    <a:bodyPr wrap="square"/>
                    <a:lstStyle/>
                    <a:p>
                      <a:r>
                        <a:rPr sz="1400" b="1" i="0">
                          <a:solidFill>
                            <a:srgbClr val="006B2A"/>
                          </a:solidFill>
                          <a:latin typeface="Arial"/>
                        </a:rPr>
                        <a:t>SE identified · PASS</a:t>
                      </a:r>
                    </a:p>
                  </a:txBody>
                  <a:tcPr marL="73152" marR="73152" marT="45720" marB="45720" anchor="ctr">
                    <a:solidFill>
                      <a:srgbClr val="E6F4EA"/>
                    </a:solidFill>
                  </a:tcPr>
                </a:tc>
              </a:tr>
              <a:tr h="323088">
                <a:tc>
                  <a:txBody>
                    <a:bodyPr wrap="square"/>
                    <a:lstStyle/>
                    <a:p>
                      <a:r>
                        <a:rPr sz="1400" b="1" i="0">
                          <a:solidFill>
                            <a:srgbClr val="2B2B2B"/>
                          </a:solidFill>
                          <a:latin typeface="Arial"/>
                        </a:rPr>
                        <a:t>S</a:t>
                      </a:r>
                    </a:p>
                  </a:txBody>
                  <a:tcPr marL="73152" marR="73152" marT="45720" marB="45720" anchor="ctr">
                    <a:solidFill>
                      <a:srgbClr val="FFFFFF"/>
                    </a:solidFill>
                  </a:tcPr>
                </a:tc>
                <a:tc>
                  <a:txBody>
                    <a:bodyPr wrap="square"/>
                    <a:lstStyle/>
                    <a:p>
                      <a:r>
                        <a:rPr sz="1400" b="1" i="0">
                          <a:solidFill>
                            <a:srgbClr val="B3261E"/>
                          </a:solidFill>
                          <a:latin typeface="Arial"/>
                        </a:rPr>
                        <a:t>Read as N</a:t>
                      </a:r>
                      <a:r>
                        <a:rPr sz="1400" b="0" i="0">
                          <a:solidFill>
                            <a:srgbClr val="B3261E"/>
                          </a:solidFill>
                          <a:latin typeface="Arial"/>
                        </a:rPr>
                        <a:t> · </a:t>
                      </a:r>
                      <a:r>
                        <a:rPr sz="1400" b="1" i="0">
                          <a:solidFill>
                            <a:srgbClr val="B3261E"/>
                          </a:solidFill>
                          <a:latin typeface="Arial"/>
                        </a:rPr>
                        <a:t>FAIL</a:t>
                      </a:r>
                    </a:p>
                  </a:txBody>
                  <a:tcPr marL="73152" marR="73152" marT="45720" marB="45720" anchor="ctr">
                    <a:solidFill>
                      <a:srgbClr val="FBE9E7"/>
                    </a:solidFill>
                  </a:tcPr>
                </a:tc>
                <a:tc>
                  <a:txBody>
                    <a:bodyPr wrap="square"/>
                    <a:lstStyle/>
                    <a:p>
                      <a:r>
                        <a:rPr sz="1400" b="1" i="0">
                          <a:solidFill>
                            <a:srgbClr val="006B2A"/>
                          </a:solidFill>
                          <a:latin typeface="Arial"/>
                        </a:rPr>
                        <a:t>S identified · PASS</a:t>
                      </a:r>
                    </a:p>
                  </a:txBody>
                  <a:tcPr marL="73152" marR="73152" marT="45720" marB="45720" anchor="ctr">
                    <a:solidFill>
                      <a:srgbClr val="E6F4EA"/>
                    </a:solidFill>
                  </a:tcPr>
                </a:tc>
              </a:tr>
              <a:tr h="323088">
                <a:tc>
                  <a:txBody>
                    <a:bodyPr wrap="square"/>
                    <a:lstStyle/>
                    <a:p>
                      <a:r>
                        <a:rPr sz="1400" b="1" i="0">
                          <a:solidFill>
                            <a:srgbClr val="2B2B2B"/>
                          </a:solidFill>
                          <a:latin typeface="Arial"/>
                        </a:rPr>
                        <a:t>Summary</a:t>
                      </a:r>
                    </a:p>
                  </a:txBody>
                  <a:tcPr marL="73152" marR="73152" marT="45720" marB="45720" anchor="ctr">
                    <a:solidFill>
                      <a:srgbClr val="F6F8F6"/>
                    </a:solidFill>
                  </a:tcPr>
                </a:tc>
                <a:tc>
                  <a:txBody>
                    <a:bodyPr wrap="square"/>
                    <a:lstStyle/>
                    <a:p>
                      <a:r>
                        <a:rPr sz="1400" b="1" i="0">
                          <a:solidFill>
                            <a:srgbClr val="2B2B2B"/>
                          </a:solidFill>
                          <a:latin typeface="Arial"/>
                        </a:rPr>
                        <a:t>0/5</a:t>
                      </a:r>
                    </a:p>
                  </a:txBody>
                  <a:tcPr marL="73152" marR="73152" marT="45720" marB="45720" anchor="ctr">
                    <a:solidFill>
                      <a:srgbClr val="F6F8F6"/>
                    </a:solidFill>
                  </a:tcPr>
                </a:tc>
                <a:tc>
                  <a:txBody>
                    <a:bodyPr wrap="square"/>
                    <a:lstStyle/>
                    <a:p>
                      <a:r>
                        <a:rPr sz="1400" b="1" i="0">
                          <a:solidFill>
                            <a:srgbClr val="006B2A"/>
                          </a:solidFill>
                          <a:latin typeface="Arial"/>
                        </a:rPr>
                        <a:t>5/5 · 100%</a:t>
                      </a:r>
                    </a:p>
                  </a:txBody>
                  <a:tcPr marL="73152" marR="73152" marT="45720" marB="45720" anchor="ctr">
                    <a:solidFill>
                      <a:srgbClr val="E6F4EA"/>
                    </a:solidFill>
                  </a:tcPr>
                </a:tc>
              </a:tr>
            </a:tbl>
          </a:graphicData>
        </a:graphic>
      </p:graphicFrame>
      <p:sp>
        <p:nvSpPr>
          <p:cNvPr id="6" name="Field callouts card"/>
          <p:cNvSpPr/>
          <p:nvPr/>
        </p:nvSpPr>
        <p:spPr>
          <a:xfrm>
            <a:off x="8458199" y="1371600"/>
            <a:ext cx="3291840" cy="4617720"/>
          </a:xfrm>
          <a:prstGeom prst="roundRect">
            <a:avLst>
              <a:gd name="adj" fmla="val 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Field callouts text"/>
          <p:cNvSpPr txBox="1"/>
          <p:nvPr/>
        </p:nvSpPr>
        <p:spPr>
          <a:xfrm>
            <a:off x="8641079" y="1554480"/>
            <a:ext cx="2926080" cy="4251959"/>
          </a:xfrm>
          <a:prstGeom prst="rect">
            <a:avLst/>
          </a:prstGeom>
          <a:noFill/>
        </p:spPr>
        <p:txBody>
          <a:bodyPr wrap="square" lIns="0" rIns="0" tIns="0" bIns="0" anchor="t">
            <a:noAutofit/>
          </a:bodyPr>
          <a:lstStyle/>
          <a:p>
            <a:pPr marL="201168" indent="-201168">
              <a:spcAft>
                <a:spcPts val="570"/>
              </a:spcAft>
              <a:buClr>
                <a:srgbClr val="00943A"/>
              </a:buClr>
              <a:buFont typeface="Arial"/>
              <a:buChar char="•"/>
            </a:pPr>
            <a:r>
              <a:rPr sz="1500" b="1" i="0">
                <a:solidFill>
                  <a:srgbClr val="2B2B2B"/>
                </a:solidFill>
                <a:latin typeface="Arial"/>
              </a:rPr>
              <a:t>TC-MAG-01</a:t>
            </a:r>
            <a:r>
              <a:rPr sz="1500" b="0" i="0">
                <a:solidFill>
                  <a:srgbClr val="2B2B2B"/>
                </a:solidFill>
                <a:latin typeface="Arial"/>
              </a:rPr>
              <a:t> detected on I²C · </a:t>
            </a:r>
            <a:r>
              <a:rPr sz="1500" b="1" i="0">
                <a:solidFill>
                  <a:srgbClr val="2B2B2B"/>
                </a:solidFill>
                <a:latin typeface="Arial"/>
              </a:rPr>
              <a:t>TC-MAG-02</a:t>
            </a:r>
            <a:r>
              <a:rPr sz="1500" b="0" i="0">
                <a:solidFill>
                  <a:srgbClr val="2B2B2B"/>
                </a:solidFill>
                <a:latin typeface="Arial"/>
              </a:rPr>
              <a:t> valid raw X/Y/Z · </a:t>
            </a:r>
            <a:r>
              <a:rPr sz="1500" b="1" i="0">
                <a:solidFill>
                  <a:srgbClr val="2B2B2B"/>
                </a:solidFill>
                <a:latin typeface="Arial"/>
              </a:rPr>
              <a:t>TC-MAG-03</a:t>
            </a:r>
            <a:r>
              <a:rPr sz="1500" b="0" i="0">
                <a:solidFill>
                  <a:srgbClr val="2B2B2B"/>
                </a:solidFill>
                <a:latin typeface="Arial"/>
              </a:rPr>
              <a:t> calibration applied: </a:t>
            </a:r>
            <a:r>
              <a:rPr sz="1500" b="1" i="0">
                <a:solidFill>
                  <a:srgbClr val="2B2B2B"/>
                </a:solidFill>
                <a:latin typeface="Arial"/>
              </a:rPr>
              <a:t>all PASS</a:t>
            </a:r>
          </a:p>
          <a:p>
            <a:pPr marL="201168" indent="-201168">
              <a:spcAft>
                <a:spcPts val="570"/>
              </a:spcAft>
              <a:buClr>
                <a:srgbClr val="00943A"/>
              </a:buClr>
              <a:buFont typeface="Arial"/>
              <a:buChar char="•"/>
            </a:pPr>
            <a:r>
              <a:rPr sz="1500" b="1" i="0">
                <a:solidFill>
                  <a:srgbClr val="2B2B2B"/>
                </a:solidFill>
                <a:latin typeface="Arial"/>
              </a:rPr>
              <a:t>The S → N inversion</a:t>
            </a:r>
            <a:r>
              <a:rPr sz="1500" b="0" i="0">
                <a:solidFill>
                  <a:srgbClr val="2B2B2B"/>
                </a:solidFill>
                <a:latin typeface="Arial"/>
              </a:rPr>
              <a:t> is the textbook signature of an </a:t>
            </a:r>
            <a:r>
              <a:rPr sz="1500" b="1" i="0">
                <a:solidFill>
                  <a:srgbClr val="2B2B2B"/>
                </a:solidFill>
                <a:latin typeface="Arial"/>
              </a:rPr>
              <a:t>uncorrected hard-iron offset</a:t>
            </a:r>
          </a:p>
          <a:p>
            <a:pPr marL="201168" indent="-201168">
              <a:spcAft>
                <a:spcPts val="570"/>
              </a:spcAft>
              <a:buClr>
                <a:srgbClr val="00943A"/>
              </a:buClr>
              <a:buFont typeface="Arial"/>
              <a:buChar char="•"/>
            </a:pPr>
            <a:r>
              <a:rPr sz="1500" b="0" i="0">
                <a:solidFill>
                  <a:srgbClr val="2B2B2B"/>
                </a:solidFill>
                <a:latin typeface="Arial"/>
              </a:rPr>
              <a:t>Calibration took heading identification from </a:t>
            </a:r>
            <a:r>
              <a:rPr sz="1500" b="1" i="0">
                <a:solidFill>
                  <a:srgbClr val="2B2B2B"/>
                </a:solidFill>
                <a:latin typeface="Arial"/>
              </a:rPr>
              <a:t>0/5 to 5/5</a:t>
            </a:r>
          </a:p>
          <a:p>
            <a:pPr marL="201168" indent="-201168">
              <a:spcAft>
                <a:spcPts val="570"/>
              </a:spcAft>
              <a:buClr>
                <a:srgbClr val="00943A"/>
              </a:buClr>
              <a:buFont typeface="Arial"/>
              <a:buChar char="•"/>
            </a:pPr>
            <a:r>
              <a:rPr sz="1500" b="1" i="0">
                <a:solidFill>
                  <a:srgbClr val="2B2B2B"/>
                </a:solidFill>
                <a:latin typeface="Arial"/>
              </a:rPr>
              <a:t>Remaining work:</a:t>
            </a:r>
            <a:r>
              <a:rPr sz="1500" b="0" i="0">
                <a:solidFill>
                  <a:srgbClr val="2B2B2B"/>
                </a:solidFill>
                <a:latin typeface="Arial"/>
              </a:rPr>
              <a:t> </a:t>
            </a:r>
            <a:r>
              <a:rPr sz="1500" b="1" i="0">
                <a:solidFill>
                  <a:srgbClr val="2B2B2B"/>
                </a:solidFill>
                <a:latin typeface="Arial"/>
              </a:rPr>
              <a:t>W, SW, NW</a:t>
            </a:r>
            <a:r>
              <a:rPr sz="1500" b="0" i="0">
                <a:solidFill>
                  <a:srgbClr val="2B2B2B"/>
                </a:solidFill>
                <a:latin typeface="Arial"/>
              </a:rPr>
              <a:t> untested, and </a:t>
            </a:r>
            <a:r>
              <a:rPr sz="1500" b="1" i="0">
                <a:solidFill>
                  <a:srgbClr val="2B2B2B"/>
                </a:solidFill>
                <a:latin typeface="Arial"/>
              </a:rPr>
              <a:t>degree-level error</a:t>
            </a:r>
            <a:r>
              <a:rPr sz="1500" b="0" i="0">
                <a:solidFill>
                  <a:srgbClr val="2B2B2B"/>
                </a:solidFill>
                <a:latin typeface="Arial"/>
              </a:rPr>
              <a:t> not yet quantified against true bearings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tion kicker"/>
          <p:cNvSpPr txBox="1"/>
          <p:nvPr/>
        </p:nvSpPr>
        <p:spPr>
          <a:xfrm>
            <a:off x="1280160" y="292608"/>
            <a:ext cx="8686800" cy="256032"/>
          </a:xfrm>
          <a:prstGeom prst="rect">
            <a:avLst/>
          </a:prstGeom>
          <a:noFill/>
        </p:spPr>
        <p:txBody>
          <a:bodyPr wrap="square" lIns="0" rIns="0" tIns="0" bIns="0" anchor="t">
            <a:noAutofit/>
          </a:bodyPr>
          <a:lstStyle/>
          <a:p>
            <a:r>
              <a:rPr sz="1100" b="1" i="0">
                <a:solidFill>
                  <a:srgbClr val="6B6B6B"/>
                </a:solidFill>
                <a:latin typeface="Arial"/>
              </a:rPr>
              <a:t>RESULTS: BENCH VALIDATION (FAILED / LIMITATIONS)</a:t>
            </a:r>
          </a:p>
        </p:txBody>
      </p:sp>
      <p:sp>
        <p:nvSpPr>
          <p:cNvPr id="3" name="Title"/>
          <p:cNvSpPr txBox="1"/>
          <p:nvPr/>
        </p:nvSpPr>
        <p:spPr>
          <a:xfrm>
            <a:off x="1280160" y="502920"/>
            <a:ext cx="10469880" cy="731520"/>
          </a:xfrm>
          <a:prstGeom prst="rect">
            <a:avLst/>
          </a:prstGeom>
          <a:noFill/>
        </p:spPr>
        <p:txBody>
          <a:bodyPr wrap="square" lIns="0" rIns="0" tIns="0" bIns="0" anchor="ctr">
            <a:noAutofit/>
          </a:bodyPr>
          <a:lstStyle/>
          <a:p>
            <a:r>
              <a:rPr sz="2800" b="1" i="0">
                <a:solidFill>
                  <a:srgbClr val="00943A"/>
                </a:solidFill>
                <a:latin typeface="Arial"/>
              </a:rPr>
              <a:t>Limitation: MPU-6050 Long-Operation Consistency</a:t>
            </a:r>
          </a:p>
        </p:txBody>
      </p:sp>
      <p:sp>
        <p:nvSpPr>
          <p:cNvPr id="4" name="Slide number"/>
          <p:cNvSpPr txBox="1"/>
          <p:nvPr/>
        </p:nvSpPr>
        <p:spPr>
          <a:xfrm>
            <a:off x="1280160" y="6327648"/>
            <a:ext cx="2286000" cy="274320"/>
          </a:xfrm>
          <a:prstGeom prst="rect">
            <a:avLst/>
          </a:prstGeom>
          <a:noFill/>
        </p:spPr>
        <p:txBody>
          <a:bodyPr wrap="square" lIns="0" rIns="0" tIns="0" bIns="0" anchor="t">
            <a:noAutofit/>
          </a:bodyPr>
          <a:lstStyle/>
          <a:p>
            <a:r>
              <a:rPr sz="1000" b="0" i="0">
                <a:solidFill>
                  <a:srgbClr val="6B6B6B"/>
                </a:solidFill>
                <a:latin typeface="Arial"/>
              </a:rPr>
              <a:t>IndepenSense · 34</a:t>
            </a:r>
          </a:p>
        </p:txBody>
      </p:sp>
      <p:sp>
        <p:nvSpPr>
          <p:cNvPr id="5" name="Field 1 card"/>
          <p:cNvSpPr/>
          <p:nvPr/>
        </p:nvSpPr>
        <p:spPr>
          <a:xfrm>
            <a:off x="1280160" y="1371600"/>
            <a:ext cx="4668755" cy="4617720"/>
          </a:xfrm>
          <a:prstGeom prst="roundRect">
            <a:avLst>
              <a:gd name="adj" fmla="val 3564"/>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ield 1 text"/>
          <p:cNvSpPr txBox="1"/>
          <p:nvPr/>
        </p:nvSpPr>
        <p:spPr>
          <a:xfrm>
            <a:off x="1463039" y="1554480"/>
            <a:ext cx="4302995" cy="4251959"/>
          </a:xfrm>
          <a:prstGeom prst="rect">
            <a:avLst/>
          </a:prstGeom>
          <a:noFill/>
        </p:spPr>
        <p:txBody>
          <a:bodyPr wrap="square" lIns="0" rIns="0" tIns="0" bIns="0" anchor="t">
            <a:noAutofit/>
          </a:bodyPr>
          <a:lstStyle/>
          <a:p>
            <a:pPr>
              <a:spcAft>
                <a:spcPts val="810"/>
              </a:spcAft>
              <a:buNone/>
            </a:pPr>
            <a:r>
              <a:rPr sz="2000" b="1" i="0">
                <a:solidFill>
                  <a:srgbClr val="006B2A"/>
                </a:solidFill>
                <a:latin typeface="Arial"/>
              </a:rPr>
              <a:t>MPU-6050: 8/9 · 88.89%</a:t>
            </a:r>
          </a:p>
          <a:p>
            <a:pPr marL="201168" indent="-201168">
              <a:spcAft>
                <a:spcPts val="684"/>
              </a:spcAft>
              <a:buClr>
                <a:srgbClr val="00943A"/>
              </a:buClr>
              <a:buFont typeface="Arial"/>
              <a:buChar char="•"/>
            </a:pPr>
            <a:r>
              <a:rPr sz="1800" b="1" i="0">
                <a:solidFill>
                  <a:srgbClr val="2B2B2B"/>
                </a:solidFill>
                <a:latin typeface="Arial"/>
              </a:rPr>
              <a:t>PASSED:</a:t>
            </a:r>
            <a:r>
              <a:rPr sz="1800" b="0" i="0">
                <a:solidFill>
                  <a:srgbClr val="2B2B2B"/>
                </a:solidFill>
                <a:latin typeface="Arial"/>
              </a:rPr>
              <a:t> </a:t>
            </a:r>
            <a:r>
              <a:rPr sz="1800" b="1" i="0">
                <a:solidFill>
                  <a:srgbClr val="2B2B2B"/>
                </a:solidFill>
                <a:latin typeface="Arial"/>
              </a:rPr>
              <a:t>MPU-001</a:t>
            </a:r>
            <a:r>
              <a:rPr sz="1800" b="0" i="0">
                <a:solidFill>
                  <a:srgbClr val="2B2B2B"/>
                </a:solidFill>
                <a:latin typeface="Arial"/>
              </a:rPr>
              <a:t> I²C init · </a:t>
            </a:r>
            <a:r>
              <a:rPr sz="1800" b="1" i="0">
                <a:solidFill>
                  <a:srgbClr val="2B2B2B"/>
                </a:solidFill>
                <a:latin typeface="Arial"/>
              </a:rPr>
              <a:t>002</a:t>
            </a:r>
            <a:r>
              <a:rPr sz="1800" b="0" i="0">
                <a:solidFill>
                  <a:srgbClr val="2B2B2B"/>
                </a:solidFill>
                <a:latin typeface="Arial"/>
              </a:rPr>
              <a:t> stationary stability · </a:t>
            </a:r>
            <a:r>
              <a:rPr sz="1800" b="1" i="0">
                <a:solidFill>
                  <a:srgbClr val="2B2B2B"/>
                </a:solidFill>
                <a:latin typeface="Arial"/>
              </a:rPr>
              <a:t>003</a:t>
            </a:r>
            <a:r>
              <a:rPr sz="1800" b="0" i="0">
                <a:solidFill>
                  <a:srgbClr val="2B2B2B"/>
                </a:solidFill>
                <a:latin typeface="Arial"/>
              </a:rPr>
              <a:t> movement · </a:t>
            </a:r>
            <a:r>
              <a:rPr sz="1800" b="1" i="0">
                <a:solidFill>
                  <a:srgbClr val="2B2B2B"/>
                </a:solidFill>
                <a:latin typeface="Arial"/>
              </a:rPr>
              <a:t>004</a:t>
            </a:r>
            <a:r>
              <a:rPr sz="1800" b="0" i="0">
                <a:solidFill>
                  <a:srgbClr val="2B2B2B"/>
                </a:solidFill>
                <a:latin typeface="Arial"/>
              </a:rPr>
              <a:t> rotation · </a:t>
            </a:r>
            <a:r>
              <a:rPr sz="1800" b="1" i="0">
                <a:solidFill>
                  <a:srgbClr val="2B2B2B"/>
                </a:solidFill>
                <a:latin typeface="Arial"/>
              </a:rPr>
              <a:t>005</a:t>
            </a:r>
            <a:r>
              <a:rPr sz="1800" b="0" i="0">
                <a:solidFill>
                  <a:srgbClr val="2B2B2B"/>
                </a:solidFill>
                <a:latin typeface="Arial"/>
              </a:rPr>
              <a:t> sudden motion · </a:t>
            </a:r>
            <a:r>
              <a:rPr sz="1800" b="1" i="0">
                <a:solidFill>
                  <a:srgbClr val="2B2B2B"/>
                </a:solidFill>
                <a:latin typeface="Arial"/>
              </a:rPr>
              <a:t>006</a:t>
            </a:r>
            <a:r>
              <a:rPr sz="1800" b="0" i="0">
                <a:solidFill>
                  <a:srgbClr val="2B2B2B"/>
                </a:solidFill>
                <a:latin typeface="Arial"/>
              </a:rPr>
              <a:t> disconnect detection · </a:t>
            </a:r>
            <a:r>
              <a:rPr sz="1800" b="1" i="0">
                <a:solidFill>
                  <a:srgbClr val="2B2B2B"/>
                </a:solidFill>
                <a:latin typeface="Arial"/>
              </a:rPr>
              <a:t>007</a:t>
            </a:r>
            <a:r>
              <a:rPr sz="1800" b="0" i="0">
                <a:solidFill>
                  <a:srgbClr val="2B2B2B"/>
                </a:solidFill>
                <a:latin typeface="Arial"/>
              </a:rPr>
              <a:t> vibration noise</a:t>
            </a:r>
          </a:p>
          <a:p>
            <a:pPr marL="201168" indent="-201168">
              <a:spcAft>
                <a:spcPts val="684"/>
              </a:spcAft>
              <a:buClr>
                <a:srgbClr val="00943A"/>
              </a:buClr>
              <a:buFont typeface="Arial"/>
              <a:buChar char="•"/>
            </a:pPr>
            <a:r>
              <a:rPr sz="1800" b="1" i="0">
                <a:solidFill>
                  <a:srgbClr val="2B2B2B"/>
                </a:solidFill>
                <a:latin typeface="Arial"/>
              </a:rPr>
              <a:t>MPU-008 Long operation (several hours): FAILED</a:t>
            </a:r>
          </a:p>
          <a:p>
            <a:pPr marL="201168" indent="-201168">
              <a:spcAft>
                <a:spcPts val="684"/>
              </a:spcAft>
              <a:buClr>
                <a:srgbClr val="00943A"/>
              </a:buClr>
              <a:buFont typeface="Arial"/>
              <a:buChar char="•"/>
            </a:pPr>
            <a:r>
              <a:rPr sz="1800" b="1" i="0">
                <a:solidFill>
                  <a:srgbClr val="2B2B2B"/>
                </a:solidFill>
                <a:latin typeface="Arial"/>
              </a:rPr>
              <a:t>MPU-009 Long operation (repeat run): PASSED</a:t>
            </a:r>
          </a:p>
          <a:p>
            <a:pPr marL="201168" indent="-201168">
              <a:spcAft>
                <a:spcPts val="684"/>
              </a:spcAft>
              <a:buClr>
                <a:srgbClr val="00943A"/>
              </a:buClr>
              <a:buFont typeface="Arial"/>
              <a:buChar char="•"/>
            </a:pPr>
            <a:r>
              <a:rPr sz="1800" b="1" i="0">
                <a:solidFill>
                  <a:srgbClr val="2B2B2B"/>
                </a:solidFill>
                <a:latin typeface="Arial"/>
              </a:rPr>
              <a:t>Verdict: mixed reliability</a:t>
            </a:r>
            <a:r>
              <a:rPr sz="1800" b="0" i="0">
                <a:solidFill>
                  <a:srgbClr val="2B2B2B"/>
                </a:solidFill>
                <a:latin typeface="Arial"/>
              </a:rPr>
              <a:t> over continuous hours</a:t>
            </a:r>
          </a:p>
        </p:txBody>
      </p:sp>
      <p:sp>
        <p:nvSpPr>
          <p:cNvPr id="7" name="Field 2 card"/>
          <p:cNvSpPr/>
          <p:nvPr/>
        </p:nvSpPr>
        <p:spPr>
          <a:xfrm>
            <a:off x="6204947" y="1371600"/>
            <a:ext cx="5545092" cy="4617720"/>
          </a:xfrm>
          <a:prstGeom prst="roundRect">
            <a:avLst>
              <a:gd name="adj" fmla="val 3564"/>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Field 2 text"/>
          <p:cNvSpPr txBox="1"/>
          <p:nvPr/>
        </p:nvSpPr>
        <p:spPr>
          <a:xfrm>
            <a:off x="6387827" y="1554480"/>
            <a:ext cx="5179332" cy="4251959"/>
          </a:xfrm>
          <a:prstGeom prst="rect">
            <a:avLst/>
          </a:prstGeom>
          <a:noFill/>
        </p:spPr>
        <p:txBody>
          <a:bodyPr wrap="square" lIns="0" rIns="0" tIns="0" bIns="0" anchor="t">
            <a:noAutofit/>
          </a:bodyPr>
          <a:lstStyle/>
          <a:p>
            <a:pPr>
              <a:spcAft>
                <a:spcPts val="810"/>
              </a:spcAft>
              <a:buNone/>
            </a:pPr>
            <a:r>
              <a:rPr sz="2000" b="1" i="0">
                <a:solidFill>
                  <a:srgbClr val="006B2A"/>
                </a:solidFill>
                <a:latin typeface="Arial"/>
              </a:rPr>
              <a:t>Fall-motion trials (Gyroscope Testing)</a:t>
            </a:r>
          </a:p>
          <a:p>
            <a:pPr marL="201168" indent="-201168">
              <a:spcAft>
                <a:spcPts val="684"/>
              </a:spcAft>
              <a:buClr>
                <a:srgbClr val="00943A"/>
              </a:buClr>
              <a:buFont typeface="Arial"/>
              <a:buChar char="•"/>
            </a:pPr>
            <a:r>
              <a:rPr sz="1800" b="1" i="0">
                <a:solidFill>
                  <a:srgbClr val="2B2B2B"/>
                </a:solidFill>
                <a:latin typeface="Arial"/>
              </a:rPr>
              <a:t>Full standing fall:</a:t>
            </a:r>
            <a:r>
              <a:rPr sz="1800" b="0" i="0">
                <a:solidFill>
                  <a:srgbClr val="2B2B2B"/>
                </a:solidFill>
                <a:latin typeface="Arial"/>
              </a:rPr>
              <a:t> </a:t>
            </a:r>
            <a:r>
              <a:rPr sz="1800" b="1" i="0">
                <a:solidFill>
                  <a:srgbClr val="2B2B2B"/>
                </a:solidFill>
                <a:latin typeface="Arial"/>
              </a:rPr>
              <a:t>not detected</a:t>
            </a:r>
          </a:p>
          <a:p>
            <a:pPr marL="201168" indent="-201168">
              <a:spcAft>
                <a:spcPts val="684"/>
              </a:spcAft>
              <a:buClr>
                <a:srgbClr val="00943A"/>
              </a:buClr>
              <a:buFont typeface="Arial"/>
              <a:buChar char="•"/>
            </a:pPr>
            <a:r>
              <a:rPr sz="1800" b="1" i="0">
                <a:solidFill>
                  <a:srgbClr val="2B2B2B"/>
                </a:solidFill>
                <a:latin typeface="Arial"/>
              </a:rPr>
              <a:t>Partial fall:</a:t>
            </a:r>
            <a:r>
              <a:rPr sz="1800" b="0" i="0">
                <a:solidFill>
                  <a:srgbClr val="2B2B2B"/>
                </a:solidFill>
                <a:latin typeface="Arial"/>
              </a:rPr>
              <a:t> </a:t>
            </a:r>
            <a:r>
              <a:rPr sz="1800" b="1" i="0">
                <a:solidFill>
                  <a:srgbClr val="2B2B2B"/>
                </a:solidFill>
                <a:latin typeface="Arial"/>
              </a:rPr>
              <a:t>not detected</a:t>
            </a:r>
          </a:p>
          <a:p>
            <a:pPr marL="201168" indent="-201168">
              <a:spcAft>
                <a:spcPts val="684"/>
              </a:spcAft>
              <a:buClr>
                <a:srgbClr val="00943A"/>
              </a:buClr>
              <a:buFont typeface="Arial"/>
              <a:buChar char="•"/>
            </a:pPr>
            <a:r>
              <a:rPr sz="1800" b="1" i="0">
                <a:solidFill>
                  <a:srgbClr val="2B2B2B"/>
                </a:solidFill>
                <a:latin typeface="Arial"/>
              </a:rPr>
              <a:t>Fall from push-up position:</a:t>
            </a:r>
            <a:r>
              <a:rPr sz="1800" b="0" i="0">
                <a:solidFill>
                  <a:srgbClr val="2B2B2B"/>
                </a:solidFill>
                <a:latin typeface="Arial"/>
              </a:rPr>
              <a:t> </a:t>
            </a:r>
            <a:r>
              <a:rPr sz="1800" b="1" i="0">
                <a:solidFill>
                  <a:srgbClr val="2B2B2B"/>
                </a:solidFill>
                <a:latin typeface="Arial"/>
              </a:rPr>
              <a:t>detected</a:t>
            </a:r>
          </a:p>
          <a:p>
            <a:pPr marL="201168" indent="-201168">
              <a:spcAft>
                <a:spcPts val="684"/>
              </a:spcAft>
              <a:buClr>
                <a:srgbClr val="00943A"/>
              </a:buClr>
              <a:buFont typeface="Arial"/>
              <a:buChar char="•"/>
            </a:pPr>
            <a:r>
              <a:rPr sz="1800" b="1" i="0">
                <a:solidFill>
                  <a:srgbClr val="2B2B2B"/>
                </a:solidFill>
                <a:latin typeface="Arial"/>
              </a:rPr>
              <a:t>Reading:</a:t>
            </a:r>
            <a:r>
              <a:rPr sz="1800" b="0" i="0">
                <a:solidFill>
                  <a:srgbClr val="2B2B2B"/>
                </a:solidFill>
                <a:latin typeface="Arial"/>
              </a:rPr>
              <a:t> a single-route (free-fall) detector catches </a:t>
            </a:r>
            <a:r>
              <a:rPr sz="1800" b="1" i="0">
                <a:solidFill>
                  <a:srgbClr val="2B2B2B"/>
                </a:solidFill>
                <a:latin typeface="Arial"/>
              </a:rPr>
              <a:t>straight collapses</a:t>
            </a:r>
            <a:r>
              <a:rPr sz="1800" b="0" i="0">
                <a:solidFill>
                  <a:srgbClr val="2B2B2B"/>
                </a:solidFill>
                <a:latin typeface="Arial"/>
              </a:rPr>
              <a:t>, not </a:t>
            </a:r>
            <a:r>
              <a:rPr sz="1800" b="1" i="0">
                <a:solidFill>
                  <a:srgbClr val="2B2B2B"/>
                </a:solidFill>
                <a:latin typeface="Arial"/>
              </a:rPr>
              <a:t>trips</a:t>
            </a:r>
          </a:p>
          <a:p>
            <a:pPr marL="201168" indent="-201168">
              <a:spcAft>
                <a:spcPts val="684"/>
              </a:spcAft>
              <a:buClr>
                <a:srgbClr val="00943A"/>
              </a:buClr>
              <a:buFont typeface="Arial"/>
              <a:buChar char="•"/>
            </a:pPr>
            <a:r>
              <a:rPr sz="1800" b="1" i="0">
                <a:solidFill>
                  <a:srgbClr val="2B2B2B"/>
                </a:solidFill>
                <a:latin typeface="Arial"/>
              </a:rPr>
              <a:t>Design response:</a:t>
            </a:r>
            <a:r>
              <a:rPr sz="1800" b="0" i="0">
                <a:solidFill>
                  <a:srgbClr val="2B2B2B"/>
                </a:solidFill>
                <a:latin typeface="Arial"/>
              </a:rPr>
              <a:t> a second </a:t>
            </a:r>
            <a:r>
              <a:rPr sz="1800" b="1" i="0">
                <a:solidFill>
                  <a:srgbClr val="2B2B2B"/>
                </a:solidFill>
                <a:latin typeface="Arial"/>
              </a:rPr>
              <a:t>impact → tilt &gt; 50° → stillness</a:t>
            </a:r>
            <a:r>
              <a:rPr sz="1800" b="0" i="0">
                <a:solidFill>
                  <a:srgbClr val="2B2B2B"/>
                </a:solidFill>
                <a:latin typeface="Arial"/>
              </a:rPr>
              <a:t> route, giving </a:t>
            </a:r>
            <a:r>
              <a:rPr sz="1800" b="1" i="0">
                <a:solidFill>
                  <a:srgbClr val="2B2B2B"/>
                </a:solidFill>
                <a:latin typeface="Arial"/>
              </a:rPr>
              <a:t>3/3 falls, 7/7 daily activities</a:t>
            </a:r>
            <a:r>
              <a:rPr sz="1800" b="0" i="0">
                <a:solidFill>
                  <a:srgbClr val="2B2B2B"/>
                </a:solidFill>
                <a:latin typeface="Arial"/>
              </a:rPr>
              <a:t> on </a:t>
            </a:r>
            <a:r>
              <a:rPr sz="1800" b="1" i="0">
                <a:solidFill>
                  <a:srgbClr val="2B2B2B"/>
                </a:solidFill>
                <a:latin typeface="Arial"/>
              </a:rPr>
              <a:t>recorded traces</a:t>
            </a:r>
            <a:r>
              <a:rPr sz="1800" b="0" i="0">
                <a:solidFill>
                  <a:srgbClr val="2B2B2B"/>
                </a:solidFill>
                <a:latin typeface="Arial"/>
              </a:rPr>
              <a:t> (offline replay, </a:t>
            </a:r>
            <a:r>
              <a:rPr sz="1800" b="0" i="1">
                <a:solidFill>
                  <a:srgbClr val="2B2B2B"/>
                </a:solidFill>
                <a:latin typeface="Arial"/>
              </a:rPr>
              <a:t>not</a:t>
            </a:r>
            <a:r>
              <a:rPr sz="1800" b="0" i="0">
                <a:solidFill>
                  <a:srgbClr val="2B2B2B"/>
                </a:solidFill>
                <a:latin typeface="Arial"/>
              </a:rPr>
              <a:t> live use)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tion kicker"/>
          <p:cNvSpPr txBox="1"/>
          <p:nvPr/>
        </p:nvSpPr>
        <p:spPr>
          <a:xfrm>
            <a:off x="1280160" y="292608"/>
            <a:ext cx="8686800" cy="256032"/>
          </a:xfrm>
          <a:prstGeom prst="rect">
            <a:avLst/>
          </a:prstGeom>
          <a:noFill/>
        </p:spPr>
        <p:txBody>
          <a:bodyPr wrap="square" lIns="0" rIns="0" tIns="0" bIns="0" anchor="t">
            <a:noAutofit/>
          </a:bodyPr>
          <a:lstStyle/>
          <a:p>
            <a:r>
              <a:rPr sz="1100" b="1" i="0">
                <a:solidFill>
                  <a:srgbClr val="6B6B6B"/>
                </a:solidFill>
                <a:latin typeface="Arial"/>
              </a:rPr>
              <a:t>RESULTS: BENCH VALIDATION (FAILED / LIMITATIONS)</a:t>
            </a:r>
          </a:p>
        </p:txBody>
      </p:sp>
      <p:sp>
        <p:nvSpPr>
          <p:cNvPr id="3" name="Title"/>
          <p:cNvSpPr txBox="1"/>
          <p:nvPr/>
        </p:nvSpPr>
        <p:spPr>
          <a:xfrm>
            <a:off x="1280160" y="502920"/>
            <a:ext cx="10469880" cy="731520"/>
          </a:xfrm>
          <a:prstGeom prst="rect">
            <a:avLst/>
          </a:prstGeom>
          <a:noFill/>
        </p:spPr>
        <p:txBody>
          <a:bodyPr wrap="square" lIns="0" rIns="0" tIns="0" bIns="0" anchor="ctr">
            <a:noAutofit/>
          </a:bodyPr>
          <a:lstStyle/>
          <a:p>
            <a:r>
              <a:rPr sz="3200" b="1" i="0">
                <a:solidFill>
                  <a:srgbClr val="00943A"/>
                </a:solidFill>
                <a:latin typeface="Arial"/>
              </a:rPr>
              <a:t>Limitation: Audio Input Capture Block</a:t>
            </a:r>
          </a:p>
        </p:txBody>
      </p:sp>
      <p:sp>
        <p:nvSpPr>
          <p:cNvPr id="4" name="Slide number"/>
          <p:cNvSpPr txBox="1"/>
          <p:nvPr/>
        </p:nvSpPr>
        <p:spPr>
          <a:xfrm>
            <a:off x="1280160" y="6327648"/>
            <a:ext cx="2286000" cy="274320"/>
          </a:xfrm>
          <a:prstGeom prst="rect">
            <a:avLst/>
          </a:prstGeom>
          <a:noFill/>
        </p:spPr>
        <p:txBody>
          <a:bodyPr wrap="square" lIns="0" rIns="0" tIns="0" bIns="0" anchor="t">
            <a:noAutofit/>
          </a:bodyPr>
          <a:lstStyle/>
          <a:p>
            <a:r>
              <a:rPr sz="1000" b="0" i="0">
                <a:solidFill>
                  <a:srgbClr val="6B6B6B"/>
                </a:solidFill>
                <a:latin typeface="Arial"/>
              </a:rPr>
              <a:t>IndepenSense · 35</a:t>
            </a:r>
          </a:p>
        </p:txBody>
      </p:sp>
      <p:sp>
        <p:nvSpPr>
          <p:cNvPr id="5" name="Table caption"/>
          <p:cNvSpPr txBox="1"/>
          <p:nvPr/>
        </p:nvSpPr>
        <p:spPr>
          <a:xfrm>
            <a:off x="1280160" y="1371600"/>
            <a:ext cx="6556247" cy="297179"/>
          </a:xfrm>
          <a:prstGeom prst="rect">
            <a:avLst/>
          </a:prstGeom>
          <a:noFill/>
        </p:spPr>
        <p:txBody>
          <a:bodyPr wrap="square" lIns="0" rIns="0" tIns="0" bIns="0" anchor="t">
            <a:noAutofit/>
          </a:bodyPr>
          <a:lstStyle/>
          <a:p>
            <a:pPr>
              <a:spcBef>
                <a:spcPts val="350"/>
              </a:spcBef>
              <a:spcAft>
                <a:spcPts val="420"/>
              </a:spcAft>
              <a:buNone/>
            </a:pPr>
            <a:r>
              <a:rPr sz="1500" b="1" i="0">
                <a:solidFill>
                  <a:srgbClr val="006B2A"/>
                </a:solidFill>
                <a:latin typeface="Arial"/>
              </a:rPr>
              <a:t>Audio Input/Output: 6/8 · 75%</a:t>
            </a:r>
          </a:p>
        </p:txBody>
      </p:sp>
      <p:graphicFrame>
        <p:nvGraphicFramePr>
          <p:cNvPr id="6" name="Results table"/>
          <p:cNvGraphicFramePr>
            <a:graphicFrameLocks noGrp="1"/>
          </p:cNvGraphicFramePr>
          <p:nvPr/>
        </p:nvGraphicFramePr>
        <p:xfrm>
          <a:off x="1280160" y="1668780"/>
          <a:ext cx="6556247" cy="2907792"/>
        </p:xfrm>
        <a:graphic>
          <a:graphicData uri="http://schemas.openxmlformats.org/drawingml/2006/table">
            <a:tbl>
              <a:tblPr firstRow="0" bandRow="0">
                <a:tableStyleId>{5C22544A-7EE6-4342-B048-85BDC9FD1C3A}</a:tableStyleId>
              </a:tblPr>
              <a:tblGrid>
                <a:gridCol w="5021806"/>
                <a:gridCol w="1534441"/>
              </a:tblGrid>
              <a:tr h="323088">
                <a:tc>
                  <a:txBody>
                    <a:bodyPr wrap="square"/>
                    <a:lstStyle/>
                    <a:p>
                      <a:r>
                        <a:rPr sz="1400" b="1" i="0">
                          <a:solidFill>
                            <a:srgbClr val="FFFFFF"/>
                          </a:solidFill>
                          <a:latin typeface="Arial"/>
                        </a:rPr>
                        <a:t>Case</a:t>
                      </a:r>
                    </a:p>
                  </a:txBody>
                  <a:tcPr marL="73152" marR="73152" marT="45720" marB="45720" anchor="ctr">
                    <a:solidFill>
                      <a:srgbClr val="00943A"/>
                    </a:solidFill>
                  </a:tcPr>
                </a:tc>
                <a:tc>
                  <a:txBody>
                    <a:bodyPr wrap="square"/>
                    <a:lstStyle/>
                    <a:p>
                      <a:r>
                        <a:rPr sz="1400" b="1" i="0">
                          <a:solidFill>
                            <a:srgbClr val="FFFFFF"/>
                          </a:solidFill>
                          <a:latin typeface="Arial"/>
                        </a:rPr>
                        <a:t>Result</a:t>
                      </a:r>
                    </a:p>
                  </a:txBody>
                  <a:tcPr marL="73152" marR="73152" marT="45720" marB="45720" anchor="ctr">
                    <a:solidFill>
                      <a:srgbClr val="00943A"/>
                    </a:solidFill>
                  </a:tcPr>
                </a:tc>
              </a:tr>
              <a:tr h="323088">
                <a:tc>
                  <a:txBody>
                    <a:bodyPr wrap="square"/>
                    <a:lstStyle/>
                    <a:p>
                      <a:r>
                        <a:rPr sz="1400" b="0" i="0">
                          <a:solidFill>
                            <a:srgbClr val="2B2B2B"/>
                          </a:solidFill>
                          <a:latin typeface="Arial"/>
                        </a:rPr>
                        <a:t>AUD-001 Microphone detection</a:t>
                      </a:r>
                    </a:p>
                  </a:txBody>
                  <a:tcPr marL="73152" marR="73152" marT="45720" marB="45720" anchor="ctr">
                    <a:solidFill>
                      <a:srgbClr val="FFFFFF"/>
                    </a:solidFill>
                  </a:tcPr>
                </a:tc>
                <a:tc>
                  <a:txBody>
                    <a:bodyPr wrap="square"/>
                    <a:lstStyle/>
                    <a:p>
                      <a:r>
                        <a:rPr sz="1400" b="1" i="0">
                          <a:solidFill>
                            <a:srgbClr val="006B2A"/>
                          </a:solidFill>
                          <a:latin typeface="Arial"/>
                        </a:rPr>
                        <a:t>PASSED</a:t>
                      </a:r>
                    </a:p>
                  </a:txBody>
                  <a:tcPr marL="73152" marR="73152" marT="45720" marB="45720" anchor="ctr">
                    <a:solidFill>
                      <a:srgbClr val="E6F4EA"/>
                    </a:solidFill>
                  </a:tcPr>
                </a:tc>
              </a:tr>
              <a:tr h="323088">
                <a:tc>
                  <a:txBody>
                    <a:bodyPr wrap="square"/>
                    <a:lstStyle/>
                    <a:p>
                      <a:r>
                        <a:rPr sz="1400" b="1" i="0">
                          <a:solidFill>
                            <a:srgbClr val="2B2B2B"/>
                          </a:solidFill>
                          <a:latin typeface="Arial"/>
                        </a:rPr>
                        <a:t>AUD-002 Low-volume capture</a:t>
                      </a:r>
                    </a:p>
                  </a:txBody>
                  <a:tcPr marL="73152" marR="73152" marT="45720" marB="45720" anchor="ctr">
                    <a:solidFill>
                      <a:srgbClr val="F6F8F6"/>
                    </a:solidFill>
                  </a:tcPr>
                </a:tc>
                <a:tc>
                  <a:txBody>
                    <a:bodyPr wrap="square"/>
                    <a:lstStyle/>
                    <a:p>
                      <a:r>
                        <a:rPr sz="1400" b="1" i="0">
                          <a:solidFill>
                            <a:srgbClr val="B3261E"/>
                          </a:solidFill>
                          <a:latin typeface="Arial"/>
                        </a:rPr>
                        <a:t>FAILED</a:t>
                      </a:r>
                    </a:p>
                  </a:txBody>
                  <a:tcPr marL="73152" marR="73152" marT="45720" marB="45720" anchor="ctr">
                    <a:solidFill>
                      <a:srgbClr val="FBE9E7"/>
                    </a:solidFill>
                  </a:tcPr>
                </a:tc>
              </a:tr>
              <a:tr h="323088">
                <a:tc>
                  <a:txBody>
                    <a:bodyPr wrap="square"/>
                    <a:lstStyle/>
                    <a:p>
                      <a:r>
                        <a:rPr sz="1400" b="0" i="0">
                          <a:solidFill>
                            <a:srgbClr val="2B2B2B"/>
                          </a:solidFill>
                          <a:latin typeface="Arial"/>
                        </a:rPr>
                        <a:t>AUD-003 High volume, no clipping</a:t>
                      </a:r>
                    </a:p>
                  </a:txBody>
                  <a:tcPr marL="73152" marR="73152" marT="45720" marB="45720" anchor="ctr">
                    <a:solidFill>
                      <a:srgbClr val="FFFFFF"/>
                    </a:solidFill>
                  </a:tcPr>
                </a:tc>
                <a:tc>
                  <a:txBody>
                    <a:bodyPr wrap="square"/>
                    <a:lstStyle/>
                    <a:p>
                      <a:r>
                        <a:rPr sz="1400" b="1" i="0">
                          <a:solidFill>
                            <a:srgbClr val="006B2A"/>
                          </a:solidFill>
                          <a:latin typeface="Arial"/>
                        </a:rPr>
                        <a:t>PASSED</a:t>
                      </a:r>
                    </a:p>
                  </a:txBody>
                  <a:tcPr marL="73152" marR="73152" marT="45720" marB="45720" anchor="ctr">
                    <a:solidFill>
                      <a:srgbClr val="E6F4EA"/>
                    </a:solidFill>
                  </a:tcPr>
                </a:tc>
              </a:tr>
              <a:tr h="323088">
                <a:tc>
                  <a:txBody>
                    <a:bodyPr wrap="square"/>
                    <a:lstStyle/>
                    <a:p>
                      <a:r>
                        <a:rPr sz="1400" b="1" i="0">
                          <a:solidFill>
                            <a:srgbClr val="2B2B2B"/>
                          </a:solidFill>
                          <a:latin typeface="Arial"/>
                        </a:rPr>
                        <a:t>AUD-004 Background-noise isolation</a:t>
                      </a:r>
                    </a:p>
                  </a:txBody>
                  <a:tcPr marL="73152" marR="73152" marT="45720" marB="45720" anchor="ctr">
                    <a:solidFill>
                      <a:srgbClr val="F6F8F6"/>
                    </a:solidFill>
                  </a:tcPr>
                </a:tc>
                <a:tc>
                  <a:txBody>
                    <a:bodyPr wrap="square"/>
                    <a:lstStyle/>
                    <a:p>
                      <a:r>
                        <a:rPr sz="1400" b="1" i="0">
                          <a:solidFill>
                            <a:srgbClr val="B3261E"/>
                          </a:solidFill>
                          <a:latin typeface="Arial"/>
                        </a:rPr>
                        <a:t>FAILED</a:t>
                      </a:r>
                    </a:p>
                  </a:txBody>
                  <a:tcPr marL="73152" marR="73152" marT="45720" marB="45720" anchor="ctr">
                    <a:solidFill>
                      <a:srgbClr val="FBE9E7"/>
                    </a:solidFill>
                  </a:tcPr>
                </a:tc>
              </a:tr>
              <a:tr h="323088">
                <a:tc>
                  <a:txBody>
                    <a:bodyPr wrap="square"/>
                    <a:lstStyle/>
                    <a:p>
                      <a:r>
                        <a:rPr sz="1400" b="0" i="0">
                          <a:solidFill>
                            <a:srgbClr val="2B2B2B"/>
                          </a:solidFill>
                          <a:latin typeface="Arial"/>
                        </a:rPr>
                        <a:t>AUD-005 No false triggers in silence</a:t>
                      </a:r>
                    </a:p>
                  </a:txBody>
                  <a:tcPr marL="73152" marR="73152" marT="45720" marB="45720" anchor="ctr">
                    <a:solidFill>
                      <a:srgbClr val="FFFFFF"/>
                    </a:solidFill>
                  </a:tcPr>
                </a:tc>
                <a:tc>
                  <a:txBody>
                    <a:bodyPr wrap="square"/>
                    <a:lstStyle/>
                    <a:p>
                      <a:r>
                        <a:rPr sz="1400" b="1" i="0">
                          <a:solidFill>
                            <a:srgbClr val="006B2A"/>
                          </a:solidFill>
                          <a:latin typeface="Arial"/>
                        </a:rPr>
                        <a:t>PASSED</a:t>
                      </a:r>
                    </a:p>
                  </a:txBody>
                  <a:tcPr marL="73152" marR="73152" marT="45720" marB="45720" anchor="ctr">
                    <a:solidFill>
                      <a:srgbClr val="E6F4EA"/>
                    </a:solidFill>
                  </a:tcPr>
                </a:tc>
              </a:tr>
              <a:tr h="323088">
                <a:tc>
                  <a:txBody>
                    <a:bodyPr wrap="square"/>
                    <a:lstStyle/>
                    <a:p>
                      <a:r>
                        <a:rPr sz="1400" b="0" i="0">
                          <a:solidFill>
                            <a:srgbClr val="2B2B2B"/>
                          </a:solidFill>
                          <a:latin typeface="Arial"/>
                        </a:rPr>
                        <a:t>AUD-006 Clear playback</a:t>
                      </a:r>
                    </a:p>
                  </a:txBody>
                  <a:tcPr marL="73152" marR="73152" marT="45720" marB="45720" anchor="ctr">
                    <a:solidFill>
                      <a:srgbClr val="F6F8F6"/>
                    </a:solidFill>
                  </a:tcPr>
                </a:tc>
                <a:tc>
                  <a:txBody>
                    <a:bodyPr wrap="square"/>
                    <a:lstStyle/>
                    <a:p>
                      <a:r>
                        <a:rPr sz="1400" b="1" i="0">
                          <a:solidFill>
                            <a:srgbClr val="006B2A"/>
                          </a:solidFill>
                          <a:latin typeface="Arial"/>
                        </a:rPr>
                        <a:t>PASSED</a:t>
                      </a:r>
                    </a:p>
                  </a:txBody>
                  <a:tcPr marL="73152" marR="73152" marT="45720" marB="45720" anchor="ctr">
                    <a:solidFill>
                      <a:srgbClr val="E6F4EA"/>
                    </a:solidFill>
                  </a:tcPr>
                </a:tc>
              </a:tr>
              <a:tr h="323088">
                <a:tc>
                  <a:txBody>
                    <a:bodyPr wrap="square"/>
                    <a:lstStyle/>
                    <a:p>
                      <a:r>
                        <a:rPr sz="1400" b="0" i="0">
                          <a:solidFill>
                            <a:srgbClr val="2B2B2B"/>
                          </a:solidFill>
                          <a:latin typeface="Arial"/>
                        </a:rPr>
                        <a:t>AUD-007 Minimal response delay</a:t>
                      </a:r>
                    </a:p>
                  </a:txBody>
                  <a:tcPr marL="73152" marR="73152" marT="45720" marB="45720" anchor="ctr">
                    <a:solidFill>
                      <a:srgbClr val="FFFFFF"/>
                    </a:solidFill>
                  </a:tcPr>
                </a:tc>
                <a:tc>
                  <a:txBody>
                    <a:bodyPr wrap="square"/>
                    <a:lstStyle/>
                    <a:p>
                      <a:r>
                        <a:rPr sz="1400" b="1" i="0">
                          <a:solidFill>
                            <a:srgbClr val="006B2A"/>
                          </a:solidFill>
                          <a:latin typeface="Arial"/>
                        </a:rPr>
                        <a:t>PASSED</a:t>
                      </a:r>
                    </a:p>
                  </a:txBody>
                  <a:tcPr marL="73152" marR="73152" marT="45720" marB="45720" anchor="ctr">
                    <a:solidFill>
                      <a:srgbClr val="E6F4EA"/>
                    </a:solidFill>
                  </a:tcPr>
                </a:tc>
              </a:tr>
              <a:tr h="323088">
                <a:tc>
                  <a:txBody>
                    <a:bodyPr wrap="square"/>
                    <a:lstStyle/>
                    <a:p>
                      <a:r>
                        <a:rPr sz="1400" b="0" i="0">
                          <a:solidFill>
                            <a:srgbClr val="2B2B2B"/>
                          </a:solidFill>
                          <a:latin typeface="Arial"/>
                        </a:rPr>
                        <a:t>AUD-008 Device-disconnect handling</a:t>
                      </a:r>
                    </a:p>
                  </a:txBody>
                  <a:tcPr marL="73152" marR="73152" marT="45720" marB="45720" anchor="ctr">
                    <a:solidFill>
                      <a:srgbClr val="F6F8F6"/>
                    </a:solidFill>
                  </a:tcPr>
                </a:tc>
                <a:tc>
                  <a:txBody>
                    <a:bodyPr wrap="square"/>
                    <a:lstStyle/>
                    <a:p>
                      <a:r>
                        <a:rPr sz="1400" b="1" i="0">
                          <a:solidFill>
                            <a:srgbClr val="006B2A"/>
                          </a:solidFill>
                          <a:latin typeface="Arial"/>
                        </a:rPr>
                        <a:t>PASSED</a:t>
                      </a:r>
                    </a:p>
                  </a:txBody>
                  <a:tcPr marL="73152" marR="73152" marT="45720" marB="45720" anchor="ctr">
                    <a:solidFill>
                      <a:srgbClr val="E6F4EA"/>
                    </a:solidFill>
                  </a:tcPr>
                </a:tc>
              </a:tr>
            </a:tbl>
          </a:graphicData>
        </a:graphic>
      </p:graphicFrame>
      <p:sp>
        <p:nvSpPr>
          <p:cNvPr id="7" name="Field callouts card"/>
          <p:cNvSpPr/>
          <p:nvPr/>
        </p:nvSpPr>
        <p:spPr>
          <a:xfrm>
            <a:off x="8092439" y="1371600"/>
            <a:ext cx="3657600" cy="4617720"/>
          </a:xfrm>
          <a:prstGeom prst="roundRect">
            <a:avLst>
              <a:gd name="adj" fmla="val 45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Field callouts text"/>
          <p:cNvSpPr txBox="1"/>
          <p:nvPr/>
        </p:nvSpPr>
        <p:spPr>
          <a:xfrm>
            <a:off x="8275319" y="1554480"/>
            <a:ext cx="3291840" cy="4251959"/>
          </a:xfrm>
          <a:prstGeom prst="rect">
            <a:avLst/>
          </a:prstGeom>
          <a:noFill/>
        </p:spPr>
        <p:txBody>
          <a:bodyPr wrap="square" lIns="0" rIns="0" tIns="0" bIns="0" anchor="t">
            <a:noAutofit/>
          </a:bodyPr>
          <a:lstStyle/>
          <a:p>
            <a:pPr marL="201168" indent="-201168">
              <a:spcAft>
                <a:spcPts val="570"/>
              </a:spcAft>
              <a:buClr>
                <a:srgbClr val="00943A"/>
              </a:buClr>
              <a:buFont typeface="Arial"/>
              <a:buChar char="•"/>
            </a:pPr>
            <a:r>
              <a:rPr sz="1500" b="1" i="0">
                <a:solidFill>
                  <a:srgbClr val="2B2B2B"/>
                </a:solidFill>
                <a:latin typeface="Arial"/>
              </a:rPr>
              <a:t>Failure 1:</a:t>
            </a:r>
            <a:r>
              <a:rPr sz="1500" b="0" i="0">
                <a:solidFill>
                  <a:srgbClr val="2B2B2B"/>
                </a:solidFill>
                <a:latin typeface="Arial"/>
              </a:rPr>
              <a:t> a </a:t>
            </a:r>
            <a:r>
              <a:rPr sz="1500" b="1" i="0">
                <a:solidFill>
                  <a:srgbClr val="2B2B2B"/>
                </a:solidFill>
                <a:latin typeface="Arial"/>
              </a:rPr>
              <a:t>soft voice is not captured</a:t>
            </a:r>
            <a:r>
              <a:rPr sz="1500" b="0" i="0">
                <a:solidFill>
                  <a:srgbClr val="2B2B2B"/>
                </a:solidFill>
                <a:latin typeface="Arial"/>
              </a:rPr>
              <a:t> reliably</a:t>
            </a:r>
          </a:p>
          <a:p>
            <a:pPr marL="201168" indent="-201168">
              <a:spcAft>
                <a:spcPts val="570"/>
              </a:spcAft>
              <a:buClr>
                <a:srgbClr val="00943A"/>
              </a:buClr>
              <a:buFont typeface="Arial"/>
              <a:buChar char="•"/>
            </a:pPr>
            <a:r>
              <a:rPr sz="1500" b="1" i="0">
                <a:solidFill>
                  <a:srgbClr val="2B2B2B"/>
                </a:solidFill>
                <a:latin typeface="Arial"/>
              </a:rPr>
              <a:t>Failure 2:</a:t>
            </a:r>
            <a:r>
              <a:rPr sz="1500" b="0" i="0">
                <a:solidFill>
                  <a:srgbClr val="2B2B2B"/>
                </a:solidFill>
                <a:latin typeface="Arial"/>
              </a:rPr>
              <a:t> </a:t>
            </a:r>
            <a:r>
              <a:rPr sz="1500" b="1" i="0">
                <a:solidFill>
                  <a:srgbClr val="2B2B2B"/>
                </a:solidFill>
                <a:latin typeface="Arial"/>
              </a:rPr>
              <a:t>ambient noise is not filtered</a:t>
            </a:r>
            <a:r>
              <a:rPr sz="1500" b="0" i="0">
                <a:solidFill>
                  <a:srgbClr val="2B2B2B"/>
                </a:solidFill>
                <a:latin typeface="Arial"/>
              </a:rPr>
              <a:t>, so street or mall noise reaches the transcriber</a:t>
            </a:r>
          </a:p>
          <a:p>
            <a:pPr marL="201168" indent="-201168">
              <a:spcAft>
                <a:spcPts val="570"/>
              </a:spcAft>
              <a:buClr>
                <a:srgbClr val="00943A"/>
              </a:buClr>
              <a:buFont typeface="Arial"/>
              <a:buChar char="•"/>
            </a:pPr>
            <a:r>
              <a:rPr sz="1500" b="1" i="0">
                <a:solidFill>
                  <a:srgbClr val="2B2B2B"/>
                </a:solidFill>
                <a:latin typeface="Arial"/>
              </a:rPr>
              <a:t>Probable cause:</a:t>
            </a:r>
            <a:r>
              <a:rPr sz="1500" b="0" i="0">
                <a:solidFill>
                  <a:srgbClr val="2B2B2B"/>
                </a:solidFill>
                <a:latin typeface="Arial"/>
              </a:rPr>
              <a:t> </a:t>
            </a:r>
            <a:r>
              <a:rPr sz="1500" b="1" i="0">
                <a:solidFill>
                  <a:srgbClr val="2B2B2B"/>
                </a:solidFill>
                <a:latin typeface="Arial"/>
              </a:rPr>
              <a:t>open-ear headset mic</a:t>
            </a:r>
            <a:r>
              <a:rPr sz="1500" b="0" i="0">
                <a:solidFill>
                  <a:srgbClr val="2B2B2B"/>
                </a:solidFill>
                <a:latin typeface="Arial"/>
              </a:rPr>
              <a:t> sits </a:t>
            </a:r>
            <a:r>
              <a:rPr sz="1500" b="1" i="0">
                <a:solidFill>
                  <a:srgbClr val="2B2B2B"/>
                </a:solidFill>
                <a:latin typeface="Arial"/>
              </a:rPr>
              <a:t>away from the mouth</a:t>
            </a:r>
            <a:r>
              <a:rPr sz="1500" b="0" i="0">
                <a:solidFill>
                  <a:srgbClr val="2B2B2B"/>
                </a:solidFill>
                <a:latin typeface="Arial"/>
              </a:rPr>
              <a:t>, by design, to keep the ears free, and has </a:t>
            </a:r>
            <a:r>
              <a:rPr sz="1500" b="1" i="0">
                <a:solidFill>
                  <a:srgbClr val="2B2B2B"/>
                </a:solidFill>
                <a:latin typeface="Arial"/>
              </a:rPr>
              <a:t>no noise suppression stage</a:t>
            </a:r>
          </a:p>
          <a:p>
            <a:pPr marL="201168" indent="-201168">
              <a:spcAft>
                <a:spcPts val="570"/>
              </a:spcAft>
              <a:buClr>
                <a:srgbClr val="00943A"/>
              </a:buClr>
              <a:buFont typeface="Arial"/>
              <a:buChar char="•"/>
            </a:pPr>
            <a:r>
              <a:rPr sz="1500" b="1" i="0">
                <a:solidFill>
                  <a:srgbClr val="2B2B2B"/>
                </a:solidFill>
                <a:latin typeface="Arial"/>
              </a:rPr>
              <a:t>Impact:</a:t>
            </a:r>
            <a:r>
              <a:rPr sz="1500" b="0" i="0">
                <a:solidFill>
                  <a:srgbClr val="2B2B2B"/>
                </a:solidFill>
                <a:latin typeface="Arial"/>
              </a:rPr>
              <a:t> lower </a:t>
            </a:r>
            <a:r>
              <a:rPr sz="1500" b="1" i="0">
                <a:solidFill>
                  <a:srgbClr val="2B2B2B"/>
                </a:solidFill>
                <a:latin typeface="Arial"/>
              </a:rPr>
              <a:t>speech-to-text accuracy</a:t>
            </a:r>
            <a:r>
              <a:rPr sz="1500" b="0" i="0">
                <a:solidFill>
                  <a:srgbClr val="2B2B2B"/>
                </a:solidFill>
                <a:latin typeface="Arial"/>
              </a:rPr>
              <a:t> → misheard commands</a:t>
            </a:r>
          </a:p>
          <a:p>
            <a:pPr marL="201168" indent="-201168">
              <a:spcAft>
                <a:spcPts val="570"/>
              </a:spcAft>
              <a:buClr>
                <a:srgbClr val="00943A"/>
              </a:buClr>
              <a:buFont typeface="Arial"/>
              <a:buChar char="•"/>
            </a:pPr>
            <a:r>
              <a:rPr sz="1500" b="1" i="0">
                <a:solidFill>
                  <a:srgbClr val="2B2B2B"/>
                </a:solidFill>
                <a:latin typeface="Arial"/>
              </a:rPr>
              <a:t>Mitigations in place:</a:t>
            </a:r>
            <a:r>
              <a:rPr sz="1500" b="0" i="0">
                <a:solidFill>
                  <a:srgbClr val="2B2B2B"/>
                </a:solidFill>
                <a:latin typeface="Arial"/>
              </a:rPr>
              <a:t> too-short or empty recordings are </a:t>
            </a:r>
            <a:r>
              <a:rPr sz="1500" b="1" i="0">
                <a:solidFill>
                  <a:srgbClr val="2B2B2B"/>
                </a:solidFill>
                <a:latin typeface="Arial"/>
              </a:rPr>
              <a:t>answered aloud</a:t>
            </a:r>
            <a:r>
              <a:rPr sz="1500" b="0" i="0">
                <a:solidFill>
                  <a:srgbClr val="2B2B2B"/>
                </a:solidFill>
                <a:latin typeface="Arial"/>
              </a:rPr>
              <a:t>, never silently dropped</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tion kicker"/>
          <p:cNvSpPr txBox="1"/>
          <p:nvPr/>
        </p:nvSpPr>
        <p:spPr>
          <a:xfrm>
            <a:off x="1280160" y="292608"/>
            <a:ext cx="8686800" cy="256032"/>
          </a:xfrm>
          <a:prstGeom prst="rect">
            <a:avLst/>
          </a:prstGeom>
          <a:noFill/>
        </p:spPr>
        <p:txBody>
          <a:bodyPr wrap="square" lIns="0" rIns="0" tIns="0" bIns="0" anchor="t">
            <a:noAutofit/>
          </a:bodyPr>
          <a:lstStyle/>
          <a:p>
            <a:r>
              <a:rPr sz="1100" b="1" i="0">
                <a:solidFill>
                  <a:srgbClr val="6B6B6B"/>
                </a:solidFill>
                <a:latin typeface="Arial"/>
              </a:rPr>
              <a:t>RESULTS: BENCH VALIDATION (FAILED / LIMITATIONS)</a:t>
            </a:r>
          </a:p>
        </p:txBody>
      </p:sp>
      <p:sp>
        <p:nvSpPr>
          <p:cNvPr id="3" name="Title"/>
          <p:cNvSpPr txBox="1"/>
          <p:nvPr/>
        </p:nvSpPr>
        <p:spPr>
          <a:xfrm>
            <a:off x="1280160" y="502920"/>
            <a:ext cx="10469880" cy="731520"/>
          </a:xfrm>
          <a:prstGeom prst="rect">
            <a:avLst/>
          </a:prstGeom>
          <a:noFill/>
        </p:spPr>
        <p:txBody>
          <a:bodyPr wrap="square" lIns="0" rIns="0" tIns="0" bIns="0" anchor="ctr">
            <a:noAutofit/>
          </a:bodyPr>
          <a:lstStyle/>
          <a:p>
            <a:r>
              <a:rPr sz="3200" b="1" i="0">
                <a:solidFill>
                  <a:srgbClr val="00943A"/>
                </a:solidFill>
                <a:latin typeface="Arial"/>
              </a:rPr>
              <a:t>Limitation: GPS Location Accuracy Drift</a:t>
            </a:r>
          </a:p>
        </p:txBody>
      </p:sp>
      <p:sp>
        <p:nvSpPr>
          <p:cNvPr id="4" name="Slide number"/>
          <p:cNvSpPr txBox="1"/>
          <p:nvPr/>
        </p:nvSpPr>
        <p:spPr>
          <a:xfrm>
            <a:off x="1280160" y="6327648"/>
            <a:ext cx="2286000" cy="274320"/>
          </a:xfrm>
          <a:prstGeom prst="rect">
            <a:avLst/>
          </a:prstGeom>
          <a:noFill/>
        </p:spPr>
        <p:txBody>
          <a:bodyPr wrap="square" lIns="0" rIns="0" tIns="0" bIns="0" anchor="t">
            <a:noAutofit/>
          </a:bodyPr>
          <a:lstStyle/>
          <a:p>
            <a:r>
              <a:rPr sz="1000" b="0" i="0">
                <a:solidFill>
                  <a:srgbClr val="6B6B6B"/>
                </a:solidFill>
                <a:latin typeface="Arial"/>
              </a:rPr>
              <a:t>IndepenSense · 36</a:t>
            </a:r>
          </a:p>
        </p:txBody>
      </p:sp>
      <p:pic>
        <p:nvPicPr>
          <p:cNvPr id="5" name="Figure 1" descr="p81_X275.jpg"/>
          <p:cNvPicPr>
            <a:picLocks noChangeAspect="1"/>
          </p:cNvPicPr>
          <p:nvPr/>
        </p:nvPicPr>
        <p:blipFill>
          <a:blip r:embed="rId2"/>
          <a:stretch>
            <a:fillRect/>
          </a:stretch>
        </p:blipFill>
        <p:spPr>
          <a:xfrm>
            <a:off x="8183879" y="2477516"/>
            <a:ext cx="3566159" cy="2113280"/>
          </a:xfrm>
          <a:prstGeom prst="rect">
            <a:avLst/>
          </a:prstGeom>
          <a:ln w="9525">
            <a:solidFill>
              <a:srgbClr val="D9D9D9"/>
            </a:solidFill>
          </a:ln>
        </p:spPr>
      </p:pic>
      <p:sp>
        <p:nvSpPr>
          <p:cNvPr id="6" name="Figure 1 caption"/>
          <p:cNvSpPr txBox="1"/>
          <p:nvPr/>
        </p:nvSpPr>
        <p:spPr>
          <a:xfrm>
            <a:off x="8092440" y="4636515"/>
            <a:ext cx="3749039" cy="274320"/>
          </a:xfrm>
          <a:prstGeom prst="rect">
            <a:avLst/>
          </a:prstGeom>
          <a:noFill/>
        </p:spPr>
        <p:txBody>
          <a:bodyPr wrap="square" lIns="0" rIns="0" tIns="0" bIns="0" anchor="t">
            <a:noAutofit/>
          </a:bodyPr>
          <a:lstStyle/>
          <a:p>
            <a:pPr algn="ctr"/>
            <a:r>
              <a:rPr sz="1000" b="0" i="1">
                <a:solidFill>
                  <a:srgbClr val="6B6B6B"/>
                </a:solidFill>
                <a:latin typeface="Arial"/>
              </a:rPr>
              <a:t>Reported fix vs. reference</a:t>
            </a:r>
          </a:p>
        </p:txBody>
      </p:sp>
      <p:sp>
        <p:nvSpPr>
          <p:cNvPr id="7" name="Field 1 card"/>
          <p:cNvSpPr/>
          <p:nvPr/>
        </p:nvSpPr>
        <p:spPr>
          <a:xfrm>
            <a:off x="1280160" y="1371600"/>
            <a:ext cx="2799650" cy="4617720"/>
          </a:xfrm>
          <a:prstGeom prst="roundRect">
            <a:avLst>
              <a:gd name="adj" fmla="val 5879"/>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Field 1 text"/>
          <p:cNvSpPr txBox="1"/>
          <p:nvPr/>
        </p:nvSpPr>
        <p:spPr>
          <a:xfrm>
            <a:off x="1463039" y="1554480"/>
            <a:ext cx="2433890" cy="4251959"/>
          </a:xfrm>
          <a:prstGeom prst="rect">
            <a:avLst/>
          </a:prstGeom>
          <a:noFill/>
        </p:spPr>
        <p:txBody>
          <a:bodyPr wrap="square" lIns="0" rIns="0" tIns="0" bIns="0" anchor="t">
            <a:noAutofit/>
          </a:bodyPr>
          <a:lstStyle/>
          <a:p>
            <a:pPr>
              <a:spcAft>
                <a:spcPts val="630"/>
              </a:spcAft>
              <a:buNone/>
            </a:pPr>
            <a:r>
              <a:rPr sz="1600" b="1" i="0">
                <a:solidFill>
                  <a:srgbClr val="006B2A"/>
                </a:solidFill>
                <a:latin typeface="Arial"/>
              </a:rPr>
              <a:t>GPS: 5/7 · 71.43%</a:t>
            </a:r>
          </a:p>
          <a:p>
            <a:pPr marL="201168" indent="-201168">
              <a:spcAft>
                <a:spcPts val="532"/>
              </a:spcAft>
              <a:buClr>
                <a:srgbClr val="00943A"/>
              </a:buClr>
              <a:buFont typeface="Arial"/>
              <a:buChar char="•"/>
            </a:pPr>
            <a:r>
              <a:rPr sz="1400" b="1" i="0">
                <a:solidFill>
                  <a:srgbClr val="2B2B2B"/>
                </a:solidFill>
                <a:latin typeface="Arial"/>
              </a:rPr>
              <a:t>PASSED:</a:t>
            </a:r>
            <a:r>
              <a:rPr sz="1400" b="0" i="0">
                <a:solidFill>
                  <a:srgbClr val="2B2B2B"/>
                </a:solidFill>
                <a:latin typeface="Arial"/>
              </a:rPr>
              <a:t> </a:t>
            </a:r>
            <a:r>
              <a:rPr sz="1400" b="1" i="0">
                <a:solidFill>
                  <a:srgbClr val="2B2B2B"/>
                </a:solidFill>
                <a:latin typeface="Arial"/>
              </a:rPr>
              <a:t>TC-GPS-01</a:t>
            </a:r>
            <a:r>
              <a:rPr sz="1400" b="0" i="0">
                <a:solidFill>
                  <a:srgbClr val="2B2B2B"/>
                </a:solidFill>
                <a:latin typeface="Arial"/>
              </a:rPr>
              <a:t> module detected · </a:t>
            </a:r>
            <a:r>
              <a:rPr sz="1400" b="1" i="0">
                <a:solidFill>
                  <a:srgbClr val="2B2B2B"/>
                </a:solidFill>
                <a:latin typeface="Arial"/>
              </a:rPr>
              <a:t>02</a:t>
            </a:r>
            <a:r>
              <a:rPr sz="1400" b="0" i="0">
                <a:solidFill>
                  <a:srgbClr val="2B2B2B"/>
                </a:solidFill>
                <a:latin typeface="Arial"/>
              </a:rPr>
              <a:t> satellite acquisition · </a:t>
            </a:r>
            <a:r>
              <a:rPr sz="1400" b="1" i="0">
                <a:solidFill>
                  <a:srgbClr val="2B2B2B"/>
                </a:solidFill>
                <a:latin typeface="Arial"/>
              </a:rPr>
              <a:t>04</a:t>
            </a:r>
            <a:r>
              <a:rPr sz="1400" b="0" i="0">
                <a:solidFill>
                  <a:srgbClr val="2B2B2B"/>
                </a:solidFill>
                <a:latin typeface="Arial"/>
              </a:rPr>
              <a:t> stable while stationary · </a:t>
            </a:r>
            <a:r>
              <a:rPr sz="1400" b="1" i="0">
                <a:solidFill>
                  <a:srgbClr val="2B2B2B"/>
                </a:solidFill>
                <a:latin typeface="Arial"/>
              </a:rPr>
              <a:t>05</a:t>
            </a:r>
            <a:r>
              <a:rPr sz="1400" b="0" i="0">
                <a:solidFill>
                  <a:srgbClr val="2B2B2B"/>
                </a:solidFill>
                <a:latin typeface="Arial"/>
              </a:rPr>
              <a:t> live updates while moving · </a:t>
            </a:r>
            <a:r>
              <a:rPr sz="1400" b="1" i="0">
                <a:solidFill>
                  <a:srgbClr val="2B2B2B"/>
                </a:solidFill>
                <a:latin typeface="Arial"/>
              </a:rPr>
              <a:t>07</a:t>
            </a:r>
            <a:r>
              <a:rPr sz="1400" b="0" i="0">
                <a:solidFill>
                  <a:srgbClr val="2B2B2B"/>
                </a:solidFill>
                <a:latin typeface="Arial"/>
              </a:rPr>
              <a:t> auto-recovery after obstruction</a:t>
            </a:r>
          </a:p>
          <a:p>
            <a:pPr marL="201168" indent="-201168">
              <a:spcAft>
                <a:spcPts val="532"/>
              </a:spcAft>
              <a:buClr>
                <a:srgbClr val="00943A"/>
              </a:buClr>
              <a:buFont typeface="Arial"/>
              <a:buChar char="•"/>
            </a:pPr>
            <a:r>
              <a:rPr sz="1400" b="1" i="0">
                <a:solidFill>
                  <a:srgbClr val="2B2B2B"/>
                </a:solidFill>
                <a:latin typeface="Arial"/>
              </a:rPr>
              <a:t>TC-GPS-03 Location retrieval: FAILED.</a:t>
            </a:r>
            <a:r>
              <a:rPr sz="1400" b="0" i="0">
                <a:solidFill>
                  <a:srgbClr val="2B2B2B"/>
                </a:solidFill>
                <a:latin typeface="Arial"/>
              </a:rPr>
              <a:t> Fix at </a:t>
            </a:r>
            <a:r>
              <a:rPr sz="1400" b="1" i="0">
                <a:solidFill>
                  <a:srgbClr val="2B2B2B"/>
                </a:solidFill>
                <a:latin typeface="Arial"/>
              </a:rPr>
              <a:t>13.9428247 N, 121.1458764 E</a:t>
            </a:r>
            <a:r>
              <a:rPr sz="1400" b="0" i="0">
                <a:solidFill>
                  <a:srgbClr val="2B2B2B"/>
                </a:solidFill>
                <a:latin typeface="Arial"/>
              </a:rPr>
              <a:t> </a:t>
            </a:r>
            <a:r>
              <a:rPr sz="1400" b="1" i="0">
                <a:solidFill>
                  <a:srgbClr val="2B2B2B"/>
                </a:solidFill>
                <a:latin typeface="Arial"/>
              </a:rPr>
              <a:t>deviated beyond the 10 m tolerance</a:t>
            </a:r>
          </a:p>
          <a:p>
            <a:pPr marL="201168" indent="-201168">
              <a:spcAft>
                <a:spcPts val="532"/>
              </a:spcAft>
              <a:buClr>
                <a:srgbClr val="00943A"/>
              </a:buClr>
              <a:buFont typeface="Arial"/>
              <a:buChar char="•"/>
            </a:pPr>
            <a:r>
              <a:rPr sz="1400" b="1" i="0">
                <a:solidFill>
                  <a:srgbClr val="2B2B2B"/>
                </a:solidFill>
                <a:latin typeface="Arial"/>
              </a:rPr>
              <a:t>TC-GPS-06 Signal interruption: FAILED</a:t>
            </a:r>
          </a:p>
        </p:txBody>
      </p:sp>
      <p:sp>
        <p:nvSpPr>
          <p:cNvPr id="9" name="Field 2 card"/>
          <p:cNvSpPr/>
          <p:nvPr/>
        </p:nvSpPr>
        <p:spPr>
          <a:xfrm>
            <a:off x="4335842" y="1371600"/>
            <a:ext cx="3592005" cy="4617720"/>
          </a:xfrm>
          <a:prstGeom prst="roundRect">
            <a:avLst>
              <a:gd name="adj" fmla="val 4582"/>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Field 2 text"/>
          <p:cNvSpPr txBox="1"/>
          <p:nvPr/>
        </p:nvSpPr>
        <p:spPr>
          <a:xfrm>
            <a:off x="4518722" y="1554480"/>
            <a:ext cx="3226245" cy="4251959"/>
          </a:xfrm>
          <a:prstGeom prst="rect">
            <a:avLst/>
          </a:prstGeom>
          <a:noFill/>
        </p:spPr>
        <p:txBody>
          <a:bodyPr wrap="square" lIns="0" rIns="0" tIns="0" bIns="0" anchor="t">
            <a:noAutofit/>
          </a:bodyPr>
          <a:lstStyle/>
          <a:p>
            <a:pPr marL="201168" indent="-201168">
              <a:spcAft>
                <a:spcPts val="532"/>
              </a:spcAft>
              <a:buClr>
                <a:srgbClr val="00943A"/>
              </a:buClr>
              <a:buFont typeface="Arial"/>
              <a:buChar char="•"/>
            </a:pPr>
            <a:r>
              <a:rPr sz="1400" b="1" i="0">
                <a:solidFill>
                  <a:srgbClr val="2B2B2B"/>
                </a:solidFill>
                <a:latin typeface="Arial"/>
              </a:rPr>
              <a:t>Receiver:</a:t>
            </a:r>
            <a:r>
              <a:rPr sz="1400" b="0" i="0">
                <a:solidFill>
                  <a:srgbClr val="2B2B2B"/>
                </a:solidFill>
                <a:latin typeface="Arial"/>
              </a:rPr>
              <a:t> SIM7600G-H </a:t>
            </a:r>
            <a:r>
              <a:rPr sz="1400" b="1" i="0">
                <a:solidFill>
                  <a:srgbClr val="2B2B2B"/>
                </a:solidFill>
                <a:latin typeface="Arial"/>
              </a:rPr>
              <a:t>integrated GNSS</a:t>
            </a:r>
          </a:p>
          <a:p>
            <a:pPr marL="201168" indent="-201168">
              <a:spcAft>
                <a:spcPts val="532"/>
              </a:spcAft>
              <a:buClr>
                <a:srgbClr val="00943A"/>
              </a:buClr>
              <a:buFont typeface="Arial"/>
              <a:buChar char="•"/>
            </a:pPr>
            <a:r>
              <a:rPr sz="1400" b="1" i="0">
                <a:solidFill>
                  <a:srgbClr val="2B2B2B"/>
                </a:solidFill>
                <a:latin typeface="Arial"/>
              </a:rPr>
              <a:t>Why &gt; 10 m matters:</a:t>
            </a:r>
            <a:r>
              <a:rPr sz="1400" b="0" i="0">
                <a:solidFill>
                  <a:srgbClr val="2B2B2B"/>
                </a:solidFill>
                <a:latin typeface="Arial"/>
              </a:rPr>
              <a:t> pedestrian turns and building entrances are often </a:t>
            </a:r>
            <a:r>
              <a:rPr sz="1400" b="1" i="0">
                <a:solidFill>
                  <a:srgbClr val="2B2B2B"/>
                </a:solidFill>
                <a:latin typeface="Arial"/>
              </a:rPr>
              <a:t>&lt; 10 m apart</a:t>
            </a:r>
          </a:p>
          <a:p>
            <a:pPr marL="201168" indent="-201168">
              <a:spcAft>
                <a:spcPts val="532"/>
              </a:spcAft>
              <a:buClr>
                <a:srgbClr val="00943A"/>
              </a:buClr>
              <a:buFont typeface="Arial"/>
              <a:buChar char="•"/>
            </a:pPr>
            <a:r>
              <a:rPr sz="1400" b="1" i="0">
                <a:solidFill>
                  <a:srgbClr val="2B2B2B"/>
                </a:solidFill>
                <a:latin typeface="Arial"/>
              </a:rPr>
              <a:t>Contributing factors:</a:t>
            </a:r>
            <a:r>
              <a:rPr sz="1400" b="0" i="0">
                <a:solidFill>
                  <a:srgbClr val="2B2B2B"/>
                </a:solidFill>
                <a:latin typeface="Arial"/>
              </a:rPr>
              <a:t> antenna placement </a:t>
            </a:r>
            <a:r>
              <a:rPr sz="1400" b="1" i="0">
                <a:solidFill>
                  <a:srgbClr val="2B2B2B"/>
                </a:solidFill>
                <a:latin typeface="Arial"/>
              </a:rPr>
              <a:t>on the body (vest)</a:t>
            </a:r>
            <a:r>
              <a:rPr sz="1400" b="0" i="0">
                <a:solidFill>
                  <a:srgbClr val="2B2B2B"/>
                </a:solidFill>
                <a:latin typeface="Arial"/>
              </a:rPr>
              <a:t>, </a:t>
            </a:r>
            <a:r>
              <a:rPr sz="1400" b="1" i="0">
                <a:solidFill>
                  <a:srgbClr val="2B2B2B"/>
                </a:solidFill>
                <a:latin typeface="Arial"/>
              </a:rPr>
              <a:t>multipath</a:t>
            </a:r>
            <a:r>
              <a:rPr sz="1400" b="0" i="0">
                <a:solidFill>
                  <a:srgbClr val="2B2B2B"/>
                </a:solidFill>
                <a:latin typeface="Arial"/>
              </a:rPr>
              <a:t> near buildings, </a:t>
            </a:r>
            <a:r>
              <a:rPr sz="1400" b="1" i="0">
                <a:solidFill>
                  <a:srgbClr val="2B2B2B"/>
                </a:solidFill>
                <a:latin typeface="Arial"/>
              </a:rPr>
              <a:t>cold-start</a:t>
            </a:r>
            <a:r>
              <a:rPr sz="1400" b="0" i="0">
                <a:solidFill>
                  <a:srgbClr val="2B2B2B"/>
                </a:solidFill>
                <a:latin typeface="Arial"/>
              </a:rPr>
              <a:t> fix quality</a:t>
            </a:r>
          </a:p>
          <a:p>
            <a:pPr marL="201168" indent="-201168">
              <a:spcAft>
                <a:spcPts val="532"/>
              </a:spcAft>
              <a:buClr>
                <a:srgbClr val="00943A"/>
              </a:buClr>
              <a:buFont typeface="Arial"/>
              <a:buChar char="•"/>
            </a:pPr>
            <a:r>
              <a:rPr sz="1400" b="1" i="0">
                <a:solidFill>
                  <a:srgbClr val="2B2B2B"/>
                </a:solidFill>
                <a:latin typeface="Arial"/>
              </a:rPr>
              <a:t>Design response:</a:t>
            </a:r>
            <a:r>
              <a:rPr sz="1400" b="0" i="0">
                <a:solidFill>
                  <a:srgbClr val="2B2B2B"/>
                </a:solidFill>
                <a:latin typeface="Arial"/>
              </a:rPr>
              <a:t> turn-to-face tolerance set to </a:t>
            </a:r>
            <a:r>
              <a:rPr sz="1400" b="1" i="0">
                <a:solidFill>
                  <a:srgbClr val="2B2B2B"/>
                </a:solidFill>
                <a:latin typeface="Arial"/>
              </a:rPr>
              <a:t>±15°</a:t>
            </a:r>
            <a:r>
              <a:rPr sz="1400" b="0" i="0">
                <a:solidFill>
                  <a:srgbClr val="2B2B2B"/>
                </a:solidFill>
                <a:latin typeface="Arial"/>
              </a:rPr>
              <a:t>, because the target bearing </a:t>
            </a:r>
            <a:r>
              <a:rPr sz="1400" b="1" i="0">
                <a:solidFill>
                  <a:srgbClr val="2B2B2B"/>
                </a:solidFill>
                <a:latin typeface="Arial"/>
              </a:rPr>
              <a:t>inherits several metres of GPS error</a:t>
            </a:r>
          </a:p>
          <a:p>
            <a:pPr marL="201168" indent="-201168">
              <a:spcAft>
                <a:spcPts val="532"/>
              </a:spcAft>
              <a:buClr>
                <a:srgbClr val="00943A"/>
              </a:buClr>
              <a:buFont typeface="Arial"/>
              <a:buChar char="•"/>
            </a:pPr>
            <a:r>
              <a:rPr sz="1400" b="1" i="0">
                <a:solidFill>
                  <a:srgbClr val="2B2B2B"/>
                </a:solidFill>
                <a:latin typeface="Arial"/>
              </a:rPr>
              <a:t>Stationary stability passed</a:t>
            </a:r>
            <a:r>
              <a:rPr sz="1400" b="0" i="0">
                <a:solidFill>
                  <a:srgbClr val="2B2B2B"/>
                </a:solidFill>
                <a:latin typeface="Arial"/>
              </a:rPr>
              <a:t>, so the error is an </a:t>
            </a:r>
            <a:r>
              <a:rPr sz="1400" b="1" i="0">
                <a:solidFill>
                  <a:srgbClr val="2B2B2B"/>
                </a:solidFill>
                <a:latin typeface="Arial"/>
              </a:rPr>
              <a:t>offset</a:t>
            </a:r>
            <a:r>
              <a:rPr sz="1400" b="0" i="0">
                <a:solidFill>
                  <a:srgbClr val="2B2B2B"/>
                </a:solidFill>
                <a:latin typeface="Arial"/>
              </a:rPr>
              <a:t>, not jitter</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tion kicker"/>
          <p:cNvSpPr txBox="1"/>
          <p:nvPr/>
        </p:nvSpPr>
        <p:spPr>
          <a:xfrm>
            <a:off x="1280160" y="292608"/>
            <a:ext cx="8686800" cy="256032"/>
          </a:xfrm>
          <a:prstGeom prst="rect">
            <a:avLst/>
          </a:prstGeom>
          <a:noFill/>
        </p:spPr>
        <p:txBody>
          <a:bodyPr wrap="square" lIns="0" rIns="0" tIns="0" bIns="0" anchor="t">
            <a:noAutofit/>
          </a:bodyPr>
          <a:lstStyle/>
          <a:p>
            <a:r>
              <a:rPr sz="1100" b="1" i="0">
                <a:solidFill>
                  <a:srgbClr val="6B6B6B"/>
                </a:solidFill>
                <a:latin typeface="Arial"/>
              </a:rPr>
              <a:t>RESULTS: BENCH VALIDATION (FAILED / LIMITATIONS)</a:t>
            </a:r>
          </a:p>
        </p:txBody>
      </p:sp>
      <p:sp>
        <p:nvSpPr>
          <p:cNvPr id="3" name="Title"/>
          <p:cNvSpPr txBox="1"/>
          <p:nvPr/>
        </p:nvSpPr>
        <p:spPr>
          <a:xfrm>
            <a:off x="1280160" y="502920"/>
            <a:ext cx="10469880" cy="731520"/>
          </a:xfrm>
          <a:prstGeom prst="rect">
            <a:avLst/>
          </a:prstGeom>
          <a:noFill/>
        </p:spPr>
        <p:txBody>
          <a:bodyPr wrap="square" lIns="0" rIns="0" tIns="0" bIns="0" anchor="ctr">
            <a:noAutofit/>
          </a:bodyPr>
          <a:lstStyle/>
          <a:p>
            <a:r>
              <a:rPr sz="2800" b="1" i="0">
                <a:solidFill>
                  <a:srgbClr val="00943A"/>
                </a:solidFill>
                <a:latin typeface="Arial"/>
              </a:rPr>
              <a:t>Limitation: Object Recognition Under Variable Conditions</a:t>
            </a:r>
          </a:p>
        </p:txBody>
      </p:sp>
      <p:sp>
        <p:nvSpPr>
          <p:cNvPr id="4" name="Slide number"/>
          <p:cNvSpPr txBox="1"/>
          <p:nvPr/>
        </p:nvSpPr>
        <p:spPr>
          <a:xfrm>
            <a:off x="1280160" y="6327648"/>
            <a:ext cx="2286000" cy="274320"/>
          </a:xfrm>
          <a:prstGeom prst="rect">
            <a:avLst/>
          </a:prstGeom>
          <a:noFill/>
        </p:spPr>
        <p:txBody>
          <a:bodyPr wrap="square" lIns="0" rIns="0" tIns="0" bIns="0" anchor="t">
            <a:noAutofit/>
          </a:bodyPr>
          <a:lstStyle/>
          <a:p>
            <a:r>
              <a:rPr sz="1000" b="0" i="0">
                <a:solidFill>
                  <a:srgbClr val="6B6B6B"/>
                </a:solidFill>
                <a:latin typeface="Arial"/>
              </a:rPr>
              <a:t>IndepenSense · 37</a:t>
            </a:r>
          </a:p>
        </p:txBody>
      </p:sp>
      <p:sp>
        <p:nvSpPr>
          <p:cNvPr id="5" name="Field 1 card"/>
          <p:cNvSpPr/>
          <p:nvPr/>
        </p:nvSpPr>
        <p:spPr>
          <a:xfrm>
            <a:off x="1280160" y="1371600"/>
            <a:ext cx="4099530" cy="4617720"/>
          </a:xfrm>
          <a:prstGeom prst="roundRect">
            <a:avLst>
              <a:gd name="adj" fmla="val 4014"/>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ield 1 text"/>
          <p:cNvSpPr txBox="1"/>
          <p:nvPr/>
        </p:nvSpPr>
        <p:spPr>
          <a:xfrm>
            <a:off x="1463039" y="1554480"/>
            <a:ext cx="3733770" cy="4251959"/>
          </a:xfrm>
          <a:prstGeom prst="rect">
            <a:avLst/>
          </a:prstGeom>
          <a:noFill/>
        </p:spPr>
        <p:txBody>
          <a:bodyPr wrap="square" lIns="0" rIns="0" tIns="0" bIns="0" anchor="t">
            <a:noAutofit/>
          </a:bodyPr>
          <a:lstStyle/>
          <a:p>
            <a:pPr>
              <a:spcAft>
                <a:spcPts val="810"/>
              </a:spcAft>
              <a:buNone/>
            </a:pPr>
            <a:r>
              <a:rPr sz="2000" b="1" i="0">
                <a:solidFill>
                  <a:srgbClr val="006B2A"/>
                </a:solidFill>
                <a:latin typeface="Arial"/>
              </a:rPr>
              <a:t>Camera / Object Recognition: 5/6 · 83.33%</a:t>
            </a:r>
          </a:p>
          <a:p>
            <a:pPr marL="201168" indent="-201168">
              <a:spcAft>
                <a:spcPts val="684"/>
              </a:spcAft>
              <a:buClr>
                <a:srgbClr val="00943A"/>
              </a:buClr>
              <a:buFont typeface="Arial"/>
              <a:buChar char="•"/>
            </a:pPr>
            <a:r>
              <a:rPr sz="1800" b="1" i="0">
                <a:solidFill>
                  <a:srgbClr val="2B2B2B"/>
                </a:solidFill>
                <a:latin typeface="Arial"/>
              </a:rPr>
              <a:t>PASSED:</a:t>
            </a:r>
            <a:r>
              <a:rPr sz="1800" b="0" i="0">
                <a:solidFill>
                  <a:srgbClr val="2B2B2B"/>
                </a:solidFill>
                <a:latin typeface="Arial"/>
              </a:rPr>
              <a:t> </a:t>
            </a:r>
            <a:r>
              <a:rPr sz="1800" b="1" i="0">
                <a:solidFill>
                  <a:srgbClr val="2B2B2B"/>
                </a:solidFill>
                <a:latin typeface="Arial"/>
              </a:rPr>
              <a:t>TC-CAM-01</a:t>
            </a:r>
            <a:r>
              <a:rPr sz="1800" b="0" i="0">
                <a:solidFill>
                  <a:srgbClr val="2B2B2B"/>
                </a:solidFill>
                <a:latin typeface="Arial"/>
              </a:rPr>
              <a:t> camera detected · </a:t>
            </a:r>
            <a:r>
              <a:rPr sz="1800" b="1" i="0">
                <a:solidFill>
                  <a:srgbClr val="2B2B2B"/>
                </a:solidFill>
                <a:latin typeface="Arial"/>
              </a:rPr>
              <a:t>02</a:t>
            </a:r>
            <a:r>
              <a:rPr sz="1800" b="0" i="0">
                <a:solidFill>
                  <a:srgbClr val="2B2B2B"/>
                </a:solidFill>
                <a:latin typeface="Arial"/>
              </a:rPr>
              <a:t> </a:t>
            </a:r>
            <a:r>
              <a:rPr sz="1800" b="1" i="0">
                <a:solidFill>
                  <a:srgbClr val="2B2B2B"/>
                </a:solidFill>
                <a:latin typeface="Arial"/>
              </a:rPr>
              <a:t>voice-activated capture</a:t>
            </a:r>
            <a:r>
              <a:rPr sz="1800" b="0" i="0">
                <a:solidFill>
                  <a:srgbClr val="2B2B2B"/>
                </a:solidFill>
                <a:latin typeface="Arial"/>
              </a:rPr>
              <a:t> · </a:t>
            </a:r>
            <a:r>
              <a:rPr sz="1800" b="1" i="0">
                <a:solidFill>
                  <a:srgbClr val="2B2B2B"/>
                </a:solidFill>
                <a:latin typeface="Arial"/>
              </a:rPr>
              <a:t>03</a:t>
            </a:r>
            <a:r>
              <a:rPr sz="1800" b="0" i="0">
                <a:solidFill>
                  <a:srgbClr val="2B2B2B"/>
                </a:solidFill>
                <a:latin typeface="Arial"/>
              </a:rPr>
              <a:t> image captured and processed · </a:t>
            </a:r>
            <a:r>
              <a:rPr sz="1800" b="1" i="0">
                <a:solidFill>
                  <a:srgbClr val="2B2B2B"/>
                </a:solidFill>
                <a:latin typeface="Arial"/>
              </a:rPr>
              <a:t>04</a:t>
            </a:r>
            <a:r>
              <a:rPr sz="1800" b="0" i="0">
                <a:solidFill>
                  <a:srgbClr val="2B2B2B"/>
                </a:solidFill>
                <a:latin typeface="Arial"/>
              </a:rPr>
              <a:t> </a:t>
            </a:r>
            <a:r>
              <a:rPr sz="1800" b="1" i="0">
                <a:solidFill>
                  <a:srgbClr val="2B2B2B"/>
                </a:solidFill>
                <a:latin typeface="Arial"/>
              </a:rPr>
              <a:t>objects recognised and described</a:t>
            </a:r>
            <a:r>
              <a:rPr sz="1800" b="0" i="0">
                <a:solidFill>
                  <a:srgbClr val="2B2B2B"/>
                </a:solidFill>
                <a:latin typeface="Arial"/>
              </a:rPr>
              <a:t> · </a:t>
            </a:r>
            <a:r>
              <a:rPr sz="1800" b="1" i="0">
                <a:solidFill>
                  <a:srgbClr val="2B2B2B"/>
                </a:solidFill>
                <a:latin typeface="Arial"/>
              </a:rPr>
              <a:t>05</a:t>
            </a:r>
            <a:r>
              <a:rPr sz="1800" b="0" i="0">
                <a:solidFill>
                  <a:srgbClr val="2B2B2B"/>
                </a:solidFill>
                <a:latin typeface="Arial"/>
              </a:rPr>
              <a:t> </a:t>
            </a:r>
            <a:r>
              <a:rPr sz="1800" b="1" i="0">
                <a:solidFill>
                  <a:srgbClr val="2B2B2B"/>
                </a:solidFill>
                <a:latin typeface="Arial"/>
              </a:rPr>
              <a:t>description spoken</a:t>
            </a:r>
          </a:p>
          <a:p>
            <a:pPr marL="201168" indent="-201168">
              <a:spcAft>
                <a:spcPts val="684"/>
              </a:spcAft>
              <a:buClr>
                <a:srgbClr val="00943A"/>
              </a:buClr>
              <a:buFont typeface="Arial"/>
              <a:buChar char="•"/>
            </a:pPr>
            <a:r>
              <a:rPr sz="1800" b="1" i="0">
                <a:solidFill>
                  <a:srgbClr val="2B2B2B"/>
                </a:solidFill>
                <a:latin typeface="Arial"/>
              </a:rPr>
              <a:t>TC-CAM-06 Different distances and lighting: FAILED.</a:t>
            </a:r>
            <a:r>
              <a:rPr sz="1800" b="0" i="0">
                <a:solidFill>
                  <a:srgbClr val="2B2B2B"/>
                </a:solidFill>
                <a:latin typeface="Arial"/>
              </a:rPr>
              <a:t> Performance </a:t>
            </a:r>
            <a:r>
              <a:rPr sz="1800" b="1" i="0">
                <a:solidFill>
                  <a:srgbClr val="2B2B2B"/>
                </a:solidFill>
                <a:latin typeface="Arial"/>
              </a:rPr>
              <a:t>varied with distance and light</a:t>
            </a:r>
          </a:p>
        </p:txBody>
      </p:sp>
      <p:sp>
        <p:nvSpPr>
          <p:cNvPr id="7" name="Field 2 card"/>
          <p:cNvSpPr/>
          <p:nvPr/>
        </p:nvSpPr>
        <p:spPr>
          <a:xfrm>
            <a:off x="5635722" y="1371600"/>
            <a:ext cx="6114317" cy="4617720"/>
          </a:xfrm>
          <a:prstGeom prst="roundRect">
            <a:avLst>
              <a:gd name="adj" fmla="val 3564"/>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Field 2 text"/>
          <p:cNvSpPr txBox="1"/>
          <p:nvPr/>
        </p:nvSpPr>
        <p:spPr>
          <a:xfrm>
            <a:off x="5818602" y="1554480"/>
            <a:ext cx="5748557" cy="4251959"/>
          </a:xfrm>
          <a:prstGeom prst="rect">
            <a:avLst/>
          </a:prstGeom>
          <a:noFill/>
        </p:spPr>
        <p:txBody>
          <a:bodyPr wrap="square" lIns="0" rIns="0" tIns="0" bIns="0" anchor="t">
            <a:noAutofit/>
          </a:bodyPr>
          <a:lstStyle/>
          <a:p>
            <a:pPr marL="201168" indent="-201168">
              <a:spcAft>
                <a:spcPts val="684"/>
              </a:spcAft>
              <a:buClr>
                <a:srgbClr val="00943A"/>
              </a:buClr>
              <a:buFont typeface="Arial"/>
              <a:buChar char="•"/>
            </a:pPr>
            <a:r>
              <a:rPr sz="1800" b="1" i="0">
                <a:solidFill>
                  <a:srgbClr val="2B2B2B"/>
                </a:solidFill>
                <a:latin typeface="Arial"/>
              </a:rPr>
              <a:t>Model:</a:t>
            </a:r>
            <a:r>
              <a:rPr sz="1800" b="0" i="0">
                <a:solidFill>
                  <a:srgbClr val="2B2B2B"/>
                </a:solidFill>
                <a:latin typeface="Arial"/>
              </a:rPr>
              <a:t> </a:t>
            </a:r>
            <a:r>
              <a:rPr sz="1800" b="1" i="0">
                <a:solidFill>
                  <a:srgbClr val="2B2B2B"/>
                </a:solidFill>
                <a:latin typeface="Arial"/>
              </a:rPr>
              <a:t>YOLOv8m, Open Images V7</a:t>
            </a:r>
            <a:r>
              <a:rPr sz="1800" b="0" i="0">
                <a:solidFill>
                  <a:srgbClr val="2B2B2B"/>
                </a:solidFill>
                <a:latin typeface="Arial"/>
              </a:rPr>
              <a:t> (~600 classes), </a:t>
            </a:r>
            <a:r>
              <a:rPr sz="1800" b="1" i="0">
                <a:solidFill>
                  <a:srgbClr val="2B2B2B"/>
                </a:solidFill>
                <a:latin typeface="Arial"/>
              </a:rPr>
              <a:t>confidence ≥ 0.3</a:t>
            </a:r>
          </a:p>
          <a:p>
            <a:pPr marL="201168" indent="-201168">
              <a:spcAft>
                <a:spcPts val="684"/>
              </a:spcAft>
              <a:buClr>
                <a:srgbClr val="00943A"/>
              </a:buClr>
              <a:buFont typeface="Arial"/>
              <a:buChar char="•"/>
            </a:pPr>
            <a:r>
              <a:rPr sz="1800" b="1" i="0">
                <a:solidFill>
                  <a:srgbClr val="2B2B2B"/>
                </a:solidFill>
                <a:latin typeface="Arial"/>
              </a:rPr>
              <a:t>Input:</a:t>
            </a:r>
            <a:r>
              <a:rPr sz="1800" b="0" i="0">
                <a:solidFill>
                  <a:srgbClr val="2B2B2B"/>
                </a:solidFill>
                <a:latin typeface="Arial"/>
              </a:rPr>
              <a:t> </a:t>
            </a:r>
            <a:r>
              <a:rPr sz="1800" b="1" i="0">
                <a:solidFill>
                  <a:srgbClr val="2B2B2B"/>
                </a:solidFill>
                <a:latin typeface="Arial"/>
              </a:rPr>
              <a:t>1280×720</a:t>
            </a:r>
            <a:r>
              <a:rPr sz="1800" b="0" i="0">
                <a:solidFill>
                  <a:srgbClr val="2B2B2B"/>
                </a:solidFill>
                <a:latin typeface="Arial"/>
              </a:rPr>
              <a:t> frames from </a:t>
            </a:r>
            <a:r>
              <a:rPr sz="1800" b="1" i="0">
                <a:solidFill>
                  <a:srgbClr val="2B2B2B"/>
                </a:solidFill>
                <a:latin typeface="Arial"/>
              </a:rPr>
              <a:t>Camera Module 3</a:t>
            </a:r>
          </a:p>
          <a:p>
            <a:pPr marL="201168" indent="-201168">
              <a:spcAft>
                <a:spcPts val="684"/>
              </a:spcAft>
              <a:buClr>
                <a:srgbClr val="00943A"/>
              </a:buClr>
              <a:buFont typeface="Arial"/>
              <a:buChar char="•"/>
            </a:pPr>
            <a:r>
              <a:rPr sz="1800" b="1" i="0">
                <a:solidFill>
                  <a:srgbClr val="2B2B2B"/>
                </a:solidFill>
                <a:latin typeface="Arial"/>
              </a:rPr>
              <a:t>Failure mechanism:</a:t>
            </a:r>
            <a:r>
              <a:rPr sz="1800" b="0" i="0">
                <a:solidFill>
                  <a:srgbClr val="2B2B2B"/>
                </a:solidFill>
                <a:latin typeface="Arial"/>
              </a:rPr>
              <a:t> small or distant objects shrink below the detector's resolution, and </a:t>
            </a:r>
            <a:r>
              <a:rPr sz="1800" b="1" i="0">
                <a:solidFill>
                  <a:srgbClr val="2B2B2B"/>
                </a:solidFill>
                <a:latin typeface="Arial"/>
              </a:rPr>
              <a:t>low or harsh light</a:t>
            </a:r>
            <a:r>
              <a:rPr sz="1800" b="0" i="0">
                <a:solidFill>
                  <a:srgbClr val="2B2B2B"/>
                </a:solidFill>
                <a:latin typeface="Arial"/>
              </a:rPr>
              <a:t> lowers confidence below the threshold</a:t>
            </a:r>
          </a:p>
          <a:p>
            <a:pPr marL="201168" indent="-201168">
              <a:spcAft>
                <a:spcPts val="684"/>
              </a:spcAft>
              <a:buClr>
                <a:srgbClr val="00943A"/>
              </a:buClr>
              <a:buFont typeface="Arial"/>
              <a:buChar char="•"/>
            </a:pPr>
            <a:r>
              <a:rPr sz="1800" b="1" i="0">
                <a:solidFill>
                  <a:srgbClr val="2B2B2B"/>
                </a:solidFill>
                <a:latin typeface="Arial"/>
              </a:rPr>
              <a:t>Graceful fallback:</a:t>
            </a:r>
            <a:r>
              <a:rPr sz="1800" b="0" i="0">
                <a:solidFill>
                  <a:srgbClr val="2B2B2B"/>
                </a:solidFill>
                <a:latin typeface="Arial"/>
              </a:rPr>
              <a:t> when nothing is recognised, the device reports the </a:t>
            </a:r>
            <a:r>
              <a:rPr sz="1800" b="1" i="0">
                <a:solidFill>
                  <a:srgbClr val="2B2B2B"/>
                </a:solidFill>
                <a:latin typeface="Arial"/>
              </a:rPr>
              <a:t>forward ultrasonic distance</a:t>
            </a:r>
            <a:r>
              <a:rPr sz="1800" b="0" i="0">
                <a:solidFill>
                  <a:srgbClr val="2B2B2B"/>
                </a:solidFill>
                <a:latin typeface="Arial"/>
              </a:rPr>
              <a:t> instead ("something is about 40 cm away")</a:t>
            </a:r>
          </a:p>
          <a:p>
            <a:pPr marL="201168" indent="-201168">
              <a:spcAft>
                <a:spcPts val="684"/>
              </a:spcAft>
              <a:buClr>
                <a:srgbClr val="00943A"/>
              </a:buClr>
              <a:buFont typeface="Arial"/>
              <a:buChar char="•"/>
            </a:pPr>
            <a:r>
              <a:rPr sz="1800" b="1" i="0">
                <a:solidFill>
                  <a:srgbClr val="2B2B2B"/>
                </a:solidFill>
                <a:latin typeface="Arial"/>
              </a:rPr>
              <a:t>Pipeline works end to end.</a:t>
            </a:r>
            <a:r>
              <a:rPr sz="1800" b="0" i="0">
                <a:solidFill>
                  <a:srgbClr val="2B2B2B"/>
                </a:solidFill>
                <a:latin typeface="Arial"/>
              </a:rPr>
              <a:t> </a:t>
            </a:r>
            <a:r>
              <a:rPr sz="1800" b="1" i="0">
                <a:solidFill>
                  <a:srgbClr val="2B2B2B"/>
                </a:solidFill>
                <a:latin typeface="Arial"/>
              </a:rPr>
              <a:t>Robustness</a:t>
            </a:r>
            <a:r>
              <a:rPr sz="1800" b="0" i="0">
                <a:solidFill>
                  <a:srgbClr val="2B2B2B"/>
                </a:solidFill>
                <a:latin typeface="Arial"/>
              </a:rPr>
              <a:t> is the gap</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tion kicker"/>
          <p:cNvSpPr txBox="1"/>
          <p:nvPr/>
        </p:nvSpPr>
        <p:spPr>
          <a:xfrm>
            <a:off x="1280160" y="292608"/>
            <a:ext cx="8686800" cy="256032"/>
          </a:xfrm>
          <a:prstGeom prst="rect">
            <a:avLst/>
          </a:prstGeom>
          <a:noFill/>
        </p:spPr>
        <p:txBody>
          <a:bodyPr wrap="square" lIns="0" rIns="0" tIns="0" bIns="0" anchor="t">
            <a:noAutofit/>
          </a:bodyPr>
          <a:lstStyle/>
          <a:p>
            <a:r>
              <a:rPr sz="1100" b="1" i="0">
                <a:solidFill>
                  <a:srgbClr val="6B6B6B"/>
                </a:solidFill>
                <a:latin typeface="Arial"/>
              </a:rPr>
              <a:t>RESULTS: BENCH VALIDATION (FAILED / LIMITATIONS)</a:t>
            </a:r>
          </a:p>
        </p:txBody>
      </p:sp>
      <p:sp>
        <p:nvSpPr>
          <p:cNvPr id="3" name="Title"/>
          <p:cNvSpPr txBox="1"/>
          <p:nvPr/>
        </p:nvSpPr>
        <p:spPr>
          <a:xfrm>
            <a:off x="1280160" y="502920"/>
            <a:ext cx="10469880" cy="731520"/>
          </a:xfrm>
          <a:prstGeom prst="rect">
            <a:avLst/>
          </a:prstGeom>
          <a:noFill/>
        </p:spPr>
        <p:txBody>
          <a:bodyPr wrap="square" lIns="0" rIns="0" tIns="0" bIns="0" anchor="ctr">
            <a:noAutofit/>
          </a:bodyPr>
          <a:lstStyle/>
          <a:p>
            <a:r>
              <a:rPr sz="3200" b="1" i="0">
                <a:solidFill>
                  <a:srgbClr val="00943A"/>
                </a:solidFill>
                <a:latin typeface="Arial"/>
              </a:rPr>
              <a:t>Bench Validation Summary Matrix</a:t>
            </a:r>
          </a:p>
        </p:txBody>
      </p:sp>
      <p:sp>
        <p:nvSpPr>
          <p:cNvPr id="4" name="Slide number"/>
          <p:cNvSpPr txBox="1"/>
          <p:nvPr/>
        </p:nvSpPr>
        <p:spPr>
          <a:xfrm>
            <a:off x="1280160" y="6327648"/>
            <a:ext cx="2286000" cy="274320"/>
          </a:xfrm>
          <a:prstGeom prst="rect">
            <a:avLst/>
          </a:prstGeom>
          <a:noFill/>
        </p:spPr>
        <p:txBody>
          <a:bodyPr wrap="square" lIns="0" rIns="0" tIns="0" bIns="0" anchor="t">
            <a:noAutofit/>
          </a:bodyPr>
          <a:lstStyle/>
          <a:p>
            <a:r>
              <a:rPr sz="1000" b="0" i="0">
                <a:solidFill>
                  <a:srgbClr val="6B6B6B"/>
                </a:solidFill>
                <a:latin typeface="Arial"/>
              </a:rPr>
              <a:t>IndepenSense · 38</a:t>
            </a:r>
          </a:p>
        </p:txBody>
      </p:sp>
      <p:graphicFrame>
        <p:nvGraphicFramePr>
          <p:cNvPr id="5" name="Results table"/>
          <p:cNvGraphicFramePr>
            <a:graphicFrameLocks noGrp="1"/>
          </p:cNvGraphicFramePr>
          <p:nvPr/>
        </p:nvGraphicFramePr>
        <p:xfrm>
          <a:off x="1280160" y="1371600"/>
          <a:ext cx="6922006" cy="4096498"/>
        </p:xfrm>
        <a:graphic>
          <a:graphicData uri="http://schemas.openxmlformats.org/drawingml/2006/table">
            <a:tbl>
              <a:tblPr firstRow="0" bandRow="0">
                <a:tableStyleId>{5C22544A-7EE6-4342-B048-85BDC9FD1C3A}</a:tableStyleId>
              </a:tblPr>
              <a:tblGrid>
                <a:gridCol w="3359209"/>
                <a:gridCol w="1017942"/>
                <a:gridCol w="1425119"/>
                <a:gridCol w="1119736"/>
              </a:tblGrid>
              <a:tr h="292607">
                <a:tc>
                  <a:txBody>
                    <a:bodyPr wrap="square"/>
                    <a:lstStyle/>
                    <a:p>
                      <a:r>
                        <a:rPr sz="1200" b="1" i="0">
                          <a:solidFill>
                            <a:srgbClr val="FFFFFF"/>
                          </a:solidFill>
                          <a:latin typeface="Arial"/>
                        </a:rPr>
                        <a:t>Module</a:t>
                      </a:r>
                    </a:p>
                  </a:txBody>
                  <a:tcPr marL="73152" marR="73152" marT="45720" marB="45720" anchor="ctr">
                    <a:solidFill>
                      <a:srgbClr val="00943A"/>
                    </a:solidFill>
                  </a:tcPr>
                </a:tc>
                <a:tc>
                  <a:txBody>
                    <a:bodyPr wrap="square"/>
                    <a:lstStyle/>
                    <a:p>
                      <a:r>
                        <a:rPr sz="1200" b="1" i="0">
                          <a:solidFill>
                            <a:srgbClr val="FFFFFF"/>
                          </a:solidFill>
                          <a:latin typeface="Arial"/>
                        </a:rPr>
                        <a:t>Table</a:t>
                      </a:r>
                    </a:p>
                  </a:txBody>
                  <a:tcPr marL="73152" marR="73152" marT="45720" marB="45720" anchor="ctr">
                    <a:solidFill>
                      <a:srgbClr val="00943A"/>
                    </a:solidFill>
                  </a:tcPr>
                </a:tc>
                <a:tc>
                  <a:txBody>
                    <a:bodyPr wrap="square"/>
                    <a:lstStyle/>
                    <a:p>
                      <a:r>
                        <a:rPr sz="1200" b="1" i="0">
                          <a:solidFill>
                            <a:srgbClr val="FFFFFF"/>
                          </a:solidFill>
                          <a:latin typeface="Arial"/>
                        </a:rPr>
                        <a:t>Passed / Total</a:t>
                      </a:r>
                    </a:p>
                  </a:txBody>
                  <a:tcPr marL="73152" marR="73152" marT="45720" marB="45720" anchor="ctr">
                    <a:solidFill>
                      <a:srgbClr val="00943A"/>
                    </a:solidFill>
                  </a:tcPr>
                </a:tc>
                <a:tc>
                  <a:txBody>
                    <a:bodyPr wrap="square"/>
                    <a:lstStyle/>
                    <a:p>
                      <a:r>
                        <a:rPr sz="1200" b="1" i="0">
                          <a:solidFill>
                            <a:srgbClr val="FFFFFF"/>
                          </a:solidFill>
                          <a:latin typeface="Arial"/>
                        </a:rPr>
                        <a:t>Rate</a:t>
                      </a:r>
                    </a:p>
                  </a:txBody>
                  <a:tcPr marL="73152" marR="73152" marT="45720" marB="45720" anchor="ctr">
                    <a:solidFill>
                      <a:srgbClr val="00943A"/>
                    </a:solidFill>
                  </a:tcPr>
                </a:tc>
              </a:tr>
              <a:tr h="292607">
                <a:tc>
                  <a:txBody>
                    <a:bodyPr wrap="square"/>
                    <a:lstStyle/>
                    <a:p>
                      <a:r>
                        <a:rPr sz="1200" b="0" i="0">
                          <a:solidFill>
                            <a:srgbClr val="2B2B2B"/>
                          </a:solidFill>
                          <a:latin typeface="Arial"/>
                        </a:rPr>
                        <a:t>Ultrasonic Sensor 1</a:t>
                      </a:r>
                    </a:p>
                  </a:txBody>
                  <a:tcPr marL="73152" marR="73152" marT="45720" marB="45720" anchor="ctr">
                    <a:solidFill>
                      <a:srgbClr val="FFFFFF"/>
                    </a:solidFill>
                  </a:tcPr>
                </a:tc>
                <a:tc>
                  <a:txBody>
                    <a:bodyPr wrap="square"/>
                    <a:lstStyle/>
                    <a:p>
                      <a:r>
                        <a:rPr sz="1200" b="0" i="0">
                          <a:solidFill>
                            <a:srgbClr val="2B2B2B"/>
                          </a:solidFill>
                          <a:latin typeface="Arial"/>
                        </a:rPr>
                        <a:t>5</a:t>
                      </a:r>
                    </a:p>
                  </a:txBody>
                  <a:tcPr marL="73152" marR="73152" marT="45720" marB="45720" anchor="ctr">
                    <a:solidFill>
                      <a:srgbClr val="FFFFFF"/>
                    </a:solidFill>
                  </a:tcPr>
                </a:tc>
                <a:tc>
                  <a:txBody>
                    <a:bodyPr wrap="square"/>
                    <a:lstStyle/>
                    <a:p>
                      <a:r>
                        <a:rPr sz="1200" b="1" i="0">
                          <a:solidFill>
                            <a:srgbClr val="2B2B2B"/>
                          </a:solidFill>
                          <a:latin typeface="Arial"/>
                        </a:rPr>
                        <a:t>4/4</a:t>
                      </a:r>
                    </a:p>
                  </a:txBody>
                  <a:tcPr marL="73152" marR="73152" marT="45720" marB="45720" anchor="ctr">
                    <a:solidFill>
                      <a:srgbClr val="FFFFFF"/>
                    </a:solidFill>
                  </a:tcPr>
                </a:tc>
                <a:tc>
                  <a:txBody>
                    <a:bodyPr wrap="square"/>
                    <a:lstStyle/>
                    <a:p>
                      <a:r>
                        <a:rPr sz="1200" b="1" i="0">
                          <a:solidFill>
                            <a:srgbClr val="006B2A"/>
                          </a:solidFill>
                          <a:latin typeface="Arial"/>
                        </a:rPr>
                        <a:t>100%</a:t>
                      </a:r>
                    </a:p>
                  </a:txBody>
                  <a:tcPr marL="73152" marR="73152" marT="45720" marB="45720" anchor="ctr">
                    <a:solidFill>
                      <a:srgbClr val="E6F4EA"/>
                    </a:solidFill>
                  </a:tcPr>
                </a:tc>
              </a:tr>
              <a:tr h="292607">
                <a:tc>
                  <a:txBody>
                    <a:bodyPr wrap="square"/>
                    <a:lstStyle/>
                    <a:p>
                      <a:r>
                        <a:rPr sz="1200" b="0" i="0">
                          <a:solidFill>
                            <a:srgbClr val="2B2B2B"/>
                          </a:solidFill>
                          <a:latin typeface="Arial"/>
                        </a:rPr>
                        <a:t>Ultrasonic Sensor 2</a:t>
                      </a:r>
                    </a:p>
                  </a:txBody>
                  <a:tcPr marL="73152" marR="73152" marT="45720" marB="45720" anchor="ctr">
                    <a:solidFill>
                      <a:srgbClr val="F6F8F6"/>
                    </a:solidFill>
                  </a:tcPr>
                </a:tc>
                <a:tc>
                  <a:txBody>
                    <a:bodyPr wrap="square"/>
                    <a:lstStyle/>
                    <a:p>
                      <a:r>
                        <a:rPr sz="1200" b="0" i="0">
                          <a:solidFill>
                            <a:srgbClr val="2B2B2B"/>
                          </a:solidFill>
                          <a:latin typeface="Arial"/>
                        </a:rPr>
                        <a:t>6</a:t>
                      </a:r>
                    </a:p>
                  </a:txBody>
                  <a:tcPr marL="73152" marR="73152" marT="45720" marB="45720" anchor="ctr">
                    <a:solidFill>
                      <a:srgbClr val="F6F8F6"/>
                    </a:solidFill>
                  </a:tcPr>
                </a:tc>
                <a:tc>
                  <a:txBody>
                    <a:bodyPr wrap="square"/>
                    <a:lstStyle/>
                    <a:p>
                      <a:r>
                        <a:rPr sz="1200" b="1" i="0">
                          <a:solidFill>
                            <a:srgbClr val="2B2B2B"/>
                          </a:solidFill>
                          <a:latin typeface="Arial"/>
                        </a:rPr>
                        <a:t>4/4</a:t>
                      </a:r>
                    </a:p>
                  </a:txBody>
                  <a:tcPr marL="73152" marR="73152" marT="45720" marB="45720" anchor="ctr">
                    <a:solidFill>
                      <a:srgbClr val="F6F8F6"/>
                    </a:solidFill>
                  </a:tcPr>
                </a:tc>
                <a:tc>
                  <a:txBody>
                    <a:bodyPr wrap="square"/>
                    <a:lstStyle/>
                    <a:p>
                      <a:r>
                        <a:rPr sz="1200" b="1" i="0">
                          <a:solidFill>
                            <a:srgbClr val="006B2A"/>
                          </a:solidFill>
                          <a:latin typeface="Arial"/>
                        </a:rPr>
                        <a:t>100%</a:t>
                      </a:r>
                    </a:p>
                  </a:txBody>
                  <a:tcPr marL="73152" marR="73152" marT="45720" marB="45720" anchor="ctr">
                    <a:solidFill>
                      <a:srgbClr val="E6F4EA"/>
                    </a:solidFill>
                  </a:tcPr>
                </a:tc>
              </a:tr>
              <a:tr h="292607">
                <a:tc>
                  <a:txBody>
                    <a:bodyPr wrap="square"/>
                    <a:lstStyle/>
                    <a:p>
                      <a:r>
                        <a:rPr sz="1200" b="0" i="0">
                          <a:solidFill>
                            <a:srgbClr val="2B2B2B"/>
                          </a:solidFill>
                          <a:latin typeface="Arial"/>
                        </a:rPr>
                        <a:t>Push Buttons 1–3</a:t>
                      </a:r>
                    </a:p>
                  </a:txBody>
                  <a:tcPr marL="73152" marR="73152" marT="45720" marB="45720" anchor="ctr">
                    <a:solidFill>
                      <a:srgbClr val="FFFFFF"/>
                    </a:solidFill>
                  </a:tcPr>
                </a:tc>
                <a:tc>
                  <a:txBody>
                    <a:bodyPr wrap="square"/>
                    <a:lstStyle/>
                    <a:p>
                      <a:r>
                        <a:rPr sz="1200" b="0" i="0">
                          <a:solidFill>
                            <a:srgbClr val="2B2B2B"/>
                          </a:solidFill>
                          <a:latin typeface="Arial"/>
                        </a:rPr>
                        <a:t>7–9</a:t>
                      </a:r>
                    </a:p>
                  </a:txBody>
                  <a:tcPr marL="73152" marR="73152" marT="45720" marB="45720" anchor="ctr">
                    <a:solidFill>
                      <a:srgbClr val="FFFFFF"/>
                    </a:solidFill>
                  </a:tcPr>
                </a:tc>
                <a:tc>
                  <a:txBody>
                    <a:bodyPr wrap="square"/>
                    <a:lstStyle/>
                    <a:p>
                      <a:r>
                        <a:rPr sz="1200" b="1" i="0">
                          <a:solidFill>
                            <a:srgbClr val="2B2B2B"/>
                          </a:solidFill>
                          <a:latin typeface="Arial"/>
                        </a:rPr>
                        <a:t>6/6</a:t>
                      </a:r>
                    </a:p>
                  </a:txBody>
                  <a:tcPr marL="73152" marR="73152" marT="45720" marB="45720" anchor="ctr">
                    <a:solidFill>
                      <a:srgbClr val="FFFFFF"/>
                    </a:solidFill>
                  </a:tcPr>
                </a:tc>
                <a:tc>
                  <a:txBody>
                    <a:bodyPr wrap="square"/>
                    <a:lstStyle/>
                    <a:p>
                      <a:r>
                        <a:rPr sz="1200" b="1" i="0">
                          <a:solidFill>
                            <a:srgbClr val="006B2A"/>
                          </a:solidFill>
                          <a:latin typeface="Arial"/>
                        </a:rPr>
                        <a:t>100%</a:t>
                      </a:r>
                    </a:p>
                  </a:txBody>
                  <a:tcPr marL="73152" marR="73152" marT="45720" marB="45720" anchor="ctr">
                    <a:solidFill>
                      <a:srgbClr val="E6F4EA"/>
                    </a:solidFill>
                  </a:tcPr>
                </a:tc>
              </a:tr>
              <a:tr h="292607">
                <a:tc>
                  <a:txBody>
                    <a:bodyPr wrap="square"/>
                    <a:lstStyle/>
                    <a:p>
                      <a:r>
                        <a:rPr sz="1200" b="0" i="0">
                          <a:solidFill>
                            <a:srgbClr val="2B2B2B"/>
                          </a:solidFill>
                          <a:latin typeface="Arial"/>
                        </a:rPr>
                        <a:t>Vibration Motors</a:t>
                      </a:r>
                    </a:p>
                  </a:txBody>
                  <a:tcPr marL="73152" marR="73152" marT="45720" marB="45720" anchor="ctr">
                    <a:solidFill>
                      <a:srgbClr val="F6F8F6"/>
                    </a:solidFill>
                  </a:tcPr>
                </a:tc>
                <a:tc>
                  <a:txBody>
                    <a:bodyPr wrap="square"/>
                    <a:lstStyle/>
                    <a:p>
                      <a:r>
                        <a:rPr sz="1200" b="0" i="0">
                          <a:solidFill>
                            <a:srgbClr val="2B2B2B"/>
                          </a:solidFill>
                          <a:latin typeface="Arial"/>
                        </a:rPr>
                        <a:t>10</a:t>
                      </a:r>
                    </a:p>
                  </a:txBody>
                  <a:tcPr marL="73152" marR="73152" marT="45720" marB="45720" anchor="ctr">
                    <a:solidFill>
                      <a:srgbClr val="F6F8F6"/>
                    </a:solidFill>
                  </a:tcPr>
                </a:tc>
                <a:tc>
                  <a:txBody>
                    <a:bodyPr wrap="square"/>
                    <a:lstStyle/>
                    <a:p>
                      <a:r>
                        <a:rPr sz="1200" b="1" i="0">
                          <a:solidFill>
                            <a:srgbClr val="2B2B2B"/>
                          </a:solidFill>
                          <a:latin typeface="Arial"/>
                        </a:rPr>
                        <a:t>4/4</a:t>
                      </a:r>
                    </a:p>
                  </a:txBody>
                  <a:tcPr marL="73152" marR="73152" marT="45720" marB="45720" anchor="ctr">
                    <a:solidFill>
                      <a:srgbClr val="F6F8F6"/>
                    </a:solidFill>
                  </a:tcPr>
                </a:tc>
                <a:tc>
                  <a:txBody>
                    <a:bodyPr wrap="square"/>
                    <a:lstStyle/>
                    <a:p>
                      <a:r>
                        <a:rPr sz="1200" b="1" i="0">
                          <a:solidFill>
                            <a:srgbClr val="006B2A"/>
                          </a:solidFill>
                          <a:latin typeface="Arial"/>
                        </a:rPr>
                        <a:t>100%</a:t>
                      </a:r>
                    </a:p>
                  </a:txBody>
                  <a:tcPr marL="73152" marR="73152" marT="45720" marB="45720" anchor="ctr">
                    <a:solidFill>
                      <a:srgbClr val="E6F4EA"/>
                    </a:solidFill>
                  </a:tcPr>
                </a:tc>
              </a:tr>
              <a:tr h="292607">
                <a:tc>
                  <a:txBody>
                    <a:bodyPr wrap="square"/>
                    <a:lstStyle/>
                    <a:p>
                      <a:r>
                        <a:rPr sz="1200" b="0" i="0">
                          <a:solidFill>
                            <a:srgbClr val="2B2B2B"/>
                          </a:solidFill>
                          <a:latin typeface="Arial"/>
                        </a:rPr>
                        <a:t>Buzzer</a:t>
                      </a:r>
                    </a:p>
                  </a:txBody>
                  <a:tcPr marL="73152" marR="73152" marT="45720" marB="45720" anchor="ctr">
                    <a:solidFill>
                      <a:srgbClr val="FFFFFF"/>
                    </a:solidFill>
                  </a:tcPr>
                </a:tc>
                <a:tc>
                  <a:txBody>
                    <a:bodyPr wrap="square"/>
                    <a:lstStyle/>
                    <a:p>
                      <a:r>
                        <a:rPr sz="1200" b="0" i="0">
                          <a:solidFill>
                            <a:srgbClr val="2B2B2B"/>
                          </a:solidFill>
                          <a:latin typeface="Arial"/>
                        </a:rPr>
                        <a:t>11</a:t>
                      </a:r>
                    </a:p>
                  </a:txBody>
                  <a:tcPr marL="73152" marR="73152" marT="45720" marB="45720" anchor="ctr">
                    <a:solidFill>
                      <a:srgbClr val="FFFFFF"/>
                    </a:solidFill>
                  </a:tcPr>
                </a:tc>
                <a:tc>
                  <a:txBody>
                    <a:bodyPr wrap="square"/>
                    <a:lstStyle/>
                    <a:p>
                      <a:r>
                        <a:rPr sz="1200" b="1" i="0">
                          <a:solidFill>
                            <a:srgbClr val="2B2B2B"/>
                          </a:solidFill>
                          <a:latin typeface="Arial"/>
                        </a:rPr>
                        <a:t>6/6</a:t>
                      </a:r>
                    </a:p>
                  </a:txBody>
                  <a:tcPr marL="73152" marR="73152" marT="45720" marB="45720" anchor="ctr">
                    <a:solidFill>
                      <a:srgbClr val="FFFFFF"/>
                    </a:solidFill>
                  </a:tcPr>
                </a:tc>
                <a:tc>
                  <a:txBody>
                    <a:bodyPr wrap="square"/>
                    <a:lstStyle/>
                    <a:p>
                      <a:r>
                        <a:rPr sz="1200" b="1" i="0">
                          <a:solidFill>
                            <a:srgbClr val="006B2A"/>
                          </a:solidFill>
                          <a:latin typeface="Arial"/>
                        </a:rPr>
                        <a:t>100%</a:t>
                      </a:r>
                    </a:p>
                  </a:txBody>
                  <a:tcPr marL="73152" marR="73152" marT="45720" marB="45720" anchor="ctr">
                    <a:solidFill>
                      <a:srgbClr val="E6F4EA"/>
                    </a:solidFill>
                  </a:tcPr>
                </a:tc>
              </a:tr>
              <a:tr h="292607">
                <a:tc>
                  <a:txBody>
                    <a:bodyPr wrap="square"/>
                    <a:lstStyle/>
                    <a:p>
                      <a:r>
                        <a:rPr sz="1200" b="0" i="0">
                          <a:solidFill>
                            <a:srgbClr val="2B2B2B"/>
                          </a:solidFill>
                          <a:latin typeface="Arial"/>
                        </a:rPr>
                        <a:t>SIM7600G-H</a:t>
                      </a:r>
                    </a:p>
                  </a:txBody>
                  <a:tcPr marL="73152" marR="73152" marT="45720" marB="45720" anchor="ctr">
                    <a:solidFill>
                      <a:srgbClr val="F6F8F6"/>
                    </a:solidFill>
                  </a:tcPr>
                </a:tc>
                <a:tc>
                  <a:txBody>
                    <a:bodyPr wrap="square"/>
                    <a:lstStyle/>
                    <a:p>
                      <a:r>
                        <a:rPr sz="1200" b="0" i="0">
                          <a:solidFill>
                            <a:srgbClr val="2B2B2B"/>
                          </a:solidFill>
                          <a:latin typeface="Arial"/>
                        </a:rPr>
                        <a:t>14</a:t>
                      </a:r>
                    </a:p>
                  </a:txBody>
                  <a:tcPr marL="73152" marR="73152" marT="45720" marB="45720" anchor="ctr">
                    <a:solidFill>
                      <a:srgbClr val="F6F8F6"/>
                    </a:solidFill>
                  </a:tcPr>
                </a:tc>
                <a:tc>
                  <a:txBody>
                    <a:bodyPr wrap="square"/>
                    <a:lstStyle/>
                    <a:p>
                      <a:r>
                        <a:rPr sz="1200" b="1" i="0">
                          <a:solidFill>
                            <a:srgbClr val="2B2B2B"/>
                          </a:solidFill>
                          <a:latin typeface="Arial"/>
                        </a:rPr>
                        <a:t>9/9</a:t>
                      </a:r>
                    </a:p>
                  </a:txBody>
                  <a:tcPr marL="73152" marR="73152" marT="45720" marB="45720" anchor="ctr">
                    <a:solidFill>
                      <a:srgbClr val="F6F8F6"/>
                    </a:solidFill>
                  </a:tcPr>
                </a:tc>
                <a:tc>
                  <a:txBody>
                    <a:bodyPr wrap="square"/>
                    <a:lstStyle/>
                    <a:p>
                      <a:r>
                        <a:rPr sz="1200" b="1" i="0">
                          <a:solidFill>
                            <a:srgbClr val="006B2A"/>
                          </a:solidFill>
                          <a:latin typeface="Arial"/>
                        </a:rPr>
                        <a:t>100%</a:t>
                      </a:r>
                    </a:p>
                  </a:txBody>
                  <a:tcPr marL="73152" marR="73152" marT="45720" marB="45720" anchor="ctr">
                    <a:solidFill>
                      <a:srgbClr val="E6F4EA"/>
                    </a:solidFill>
                  </a:tcPr>
                </a:tc>
              </a:tr>
              <a:tr h="292607">
                <a:tc>
                  <a:txBody>
                    <a:bodyPr wrap="square"/>
                    <a:lstStyle/>
                    <a:p>
                      <a:r>
                        <a:rPr sz="1200" b="0" i="0">
                          <a:solidFill>
                            <a:srgbClr val="2B2B2B"/>
                          </a:solidFill>
                          <a:latin typeface="Arial"/>
                        </a:rPr>
                        <a:t>Audio Feedback</a:t>
                      </a:r>
                    </a:p>
                  </a:txBody>
                  <a:tcPr marL="73152" marR="73152" marT="45720" marB="45720" anchor="ctr">
                    <a:solidFill>
                      <a:srgbClr val="FFFFFF"/>
                    </a:solidFill>
                  </a:tcPr>
                </a:tc>
                <a:tc>
                  <a:txBody>
                    <a:bodyPr wrap="square"/>
                    <a:lstStyle/>
                    <a:p>
                      <a:r>
                        <a:rPr sz="1200" b="0" i="0">
                          <a:solidFill>
                            <a:srgbClr val="2B2B2B"/>
                          </a:solidFill>
                          <a:latin typeface="Arial"/>
                        </a:rPr>
                        <a:t>18</a:t>
                      </a:r>
                    </a:p>
                  </a:txBody>
                  <a:tcPr marL="73152" marR="73152" marT="45720" marB="45720" anchor="ctr">
                    <a:solidFill>
                      <a:srgbClr val="FFFFFF"/>
                    </a:solidFill>
                  </a:tcPr>
                </a:tc>
                <a:tc>
                  <a:txBody>
                    <a:bodyPr wrap="square"/>
                    <a:lstStyle/>
                    <a:p>
                      <a:r>
                        <a:rPr sz="1200" b="1" i="0">
                          <a:solidFill>
                            <a:srgbClr val="2B2B2B"/>
                          </a:solidFill>
                          <a:latin typeface="Arial"/>
                        </a:rPr>
                        <a:t>5/5</a:t>
                      </a:r>
                    </a:p>
                  </a:txBody>
                  <a:tcPr marL="73152" marR="73152" marT="45720" marB="45720" anchor="ctr">
                    <a:solidFill>
                      <a:srgbClr val="FFFFFF"/>
                    </a:solidFill>
                  </a:tcPr>
                </a:tc>
                <a:tc>
                  <a:txBody>
                    <a:bodyPr wrap="square"/>
                    <a:lstStyle/>
                    <a:p>
                      <a:r>
                        <a:rPr sz="1200" b="1" i="0">
                          <a:solidFill>
                            <a:srgbClr val="006B2A"/>
                          </a:solidFill>
                          <a:latin typeface="Arial"/>
                        </a:rPr>
                        <a:t>100%</a:t>
                      </a:r>
                    </a:p>
                  </a:txBody>
                  <a:tcPr marL="73152" marR="73152" marT="45720" marB="45720" anchor="ctr">
                    <a:solidFill>
                      <a:srgbClr val="E6F4EA"/>
                    </a:solidFill>
                  </a:tcPr>
                </a:tc>
              </a:tr>
              <a:tr h="292607">
                <a:tc>
                  <a:txBody>
                    <a:bodyPr wrap="square"/>
                    <a:lstStyle/>
                    <a:p>
                      <a:r>
                        <a:rPr sz="1200" b="0" i="0">
                          <a:solidFill>
                            <a:srgbClr val="2B2B2B"/>
                          </a:solidFill>
                          <a:latin typeface="Arial"/>
                        </a:rPr>
                        <a:t>Guardian App</a:t>
                      </a:r>
                    </a:p>
                  </a:txBody>
                  <a:tcPr marL="73152" marR="73152" marT="45720" marB="45720" anchor="ctr">
                    <a:solidFill>
                      <a:srgbClr val="F6F8F6"/>
                    </a:solidFill>
                  </a:tcPr>
                </a:tc>
                <a:tc>
                  <a:txBody>
                    <a:bodyPr wrap="square"/>
                    <a:lstStyle/>
                    <a:p>
                      <a:r>
                        <a:rPr sz="1200" b="0" i="0">
                          <a:solidFill>
                            <a:srgbClr val="2B2B2B"/>
                          </a:solidFill>
                          <a:latin typeface="Arial"/>
                        </a:rPr>
                        <a:t>19</a:t>
                      </a:r>
                    </a:p>
                  </a:txBody>
                  <a:tcPr marL="73152" marR="73152" marT="45720" marB="45720" anchor="ctr">
                    <a:solidFill>
                      <a:srgbClr val="F6F8F6"/>
                    </a:solidFill>
                  </a:tcPr>
                </a:tc>
                <a:tc>
                  <a:txBody>
                    <a:bodyPr wrap="square"/>
                    <a:lstStyle/>
                    <a:p>
                      <a:r>
                        <a:rPr sz="1200" b="1" i="0">
                          <a:solidFill>
                            <a:srgbClr val="2B2B2B"/>
                          </a:solidFill>
                          <a:latin typeface="Arial"/>
                        </a:rPr>
                        <a:t>5/5</a:t>
                      </a:r>
                    </a:p>
                  </a:txBody>
                  <a:tcPr marL="73152" marR="73152" marT="45720" marB="45720" anchor="ctr">
                    <a:solidFill>
                      <a:srgbClr val="F6F8F6"/>
                    </a:solidFill>
                  </a:tcPr>
                </a:tc>
                <a:tc>
                  <a:txBody>
                    <a:bodyPr wrap="square"/>
                    <a:lstStyle/>
                    <a:p>
                      <a:r>
                        <a:rPr sz="1200" b="1" i="0">
                          <a:solidFill>
                            <a:srgbClr val="006B2A"/>
                          </a:solidFill>
                          <a:latin typeface="Arial"/>
                        </a:rPr>
                        <a:t>100%</a:t>
                      </a:r>
                    </a:p>
                  </a:txBody>
                  <a:tcPr marL="73152" marR="73152" marT="45720" marB="45720" anchor="ctr">
                    <a:solidFill>
                      <a:srgbClr val="E6F4EA"/>
                    </a:solidFill>
                  </a:tcPr>
                </a:tc>
              </a:tr>
              <a:tr h="292607">
                <a:tc>
                  <a:txBody>
                    <a:bodyPr wrap="square"/>
                    <a:lstStyle/>
                    <a:p>
                      <a:r>
                        <a:rPr sz="1200" b="0" i="0">
                          <a:solidFill>
                            <a:srgbClr val="2B2B2B"/>
                          </a:solidFill>
                          <a:latin typeface="Arial"/>
                        </a:rPr>
                        <a:t>MPU-6050</a:t>
                      </a:r>
                    </a:p>
                  </a:txBody>
                  <a:tcPr marL="73152" marR="73152" marT="45720" marB="45720" anchor="ctr">
                    <a:solidFill>
                      <a:srgbClr val="FFFFFF"/>
                    </a:solidFill>
                  </a:tcPr>
                </a:tc>
                <a:tc>
                  <a:txBody>
                    <a:bodyPr wrap="square"/>
                    <a:lstStyle/>
                    <a:p>
                      <a:r>
                        <a:rPr sz="1200" b="0" i="0">
                          <a:solidFill>
                            <a:srgbClr val="2B2B2B"/>
                          </a:solidFill>
                          <a:latin typeface="Arial"/>
                        </a:rPr>
                        <a:t>13</a:t>
                      </a:r>
                    </a:p>
                  </a:txBody>
                  <a:tcPr marL="73152" marR="73152" marT="45720" marB="45720" anchor="ctr">
                    <a:solidFill>
                      <a:srgbClr val="FFFFFF"/>
                    </a:solidFill>
                  </a:tcPr>
                </a:tc>
                <a:tc>
                  <a:txBody>
                    <a:bodyPr wrap="square"/>
                    <a:lstStyle/>
                    <a:p>
                      <a:r>
                        <a:rPr sz="1200" b="1" i="0">
                          <a:solidFill>
                            <a:srgbClr val="2B2B2B"/>
                          </a:solidFill>
                          <a:latin typeface="Arial"/>
                        </a:rPr>
                        <a:t>8/9</a:t>
                      </a:r>
                    </a:p>
                  </a:txBody>
                  <a:tcPr marL="73152" marR="73152" marT="45720" marB="45720" anchor="ctr">
                    <a:solidFill>
                      <a:srgbClr val="FFFFFF"/>
                    </a:solidFill>
                  </a:tcPr>
                </a:tc>
                <a:tc>
                  <a:txBody>
                    <a:bodyPr wrap="square"/>
                    <a:lstStyle/>
                    <a:p>
                      <a:r>
                        <a:rPr sz="1200" b="1" i="0">
                          <a:solidFill>
                            <a:srgbClr val="2B2B2B"/>
                          </a:solidFill>
                          <a:latin typeface="Arial"/>
                        </a:rPr>
                        <a:t>88.89%</a:t>
                      </a:r>
                    </a:p>
                  </a:txBody>
                  <a:tcPr marL="73152" marR="73152" marT="45720" marB="45720" anchor="ctr">
                    <a:solidFill>
                      <a:srgbClr val="FFFFFF"/>
                    </a:solidFill>
                  </a:tcPr>
                </a:tc>
              </a:tr>
              <a:tr h="292607">
                <a:tc>
                  <a:txBody>
                    <a:bodyPr wrap="square"/>
                    <a:lstStyle/>
                    <a:p>
                      <a:r>
                        <a:rPr sz="1200" b="0" i="0">
                          <a:solidFill>
                            <a:srgbClr val="2B2B2B"/>
                          </a:solidFill>
                          <a:latin typeface="Arial"/>
                        </a:rPr>
                        <a:t>Camera / Object Recognition</a:t>
                      </a:r>
                    </a:p>
                  </a:txBody>
                  <a:tcPr marL="73152" marR="73152" marT="45720" marB="45720" anchor="ctr">
                    <a:solidFill>
                      <a:srgbClr val="F6F8F6"/>
                    </a:solidFill>
                  </a:tcPr>
                </a:tc>
                <a:tc>
                  <a:txBody>
                    <a:bodyPr wrap="square"/>
                    <a:lstStyle/>
                    <a:p>
                      <a:r>
                        <a:rPr sz="1200" b="0" i="0">
                          <a:solidFill>
                            <a:srgbClr val="2B2B2B"/>
                          </a:solidFill>
                          <a:latin typeface="Arial"/>
                        </a:rPr>
                        <a:t>16</a:t>
                      </a:r>
                    </a:p>
                  </a:txBody>
                  <a:tcPr marL="73152" marR="73152" marT="45720" marB="45720" anchor="ctr">
                    <a:solidFill>
                      <a:srgbClr val="F6F8F6"/>
                    </a:solidFill>
                  </a:tcPr>
                </a:tc>
                <a:tc>
                  <a:txBody>
                    <a:bodyPr wrap="square"/>
                    <a:lstStyle/>
                    <a:p>
                      <a:r>
                        <a:rPr sz="1200" b="1" i="0">
                          <a:solidFill>
                            <a:srgbClr val="2B2B2B"/>
                          </a:solidFill>
                          <a:latin typeface="Arial"/>
                        </a:rPr>
                        <a:t>5/6</a:t>
                      </a:r>
                    </a:p>
                  </a:txBody>
                  <a:tcPr marL="73152" marR="73152" marT="45720" marB="45720" anchor="ctr">
                    <a:solidFill>
                      <a:srgbClr val="F6F8F6"/>
                    </a:solidFill>
                  </a:tcPr>
                </a:tc>
                <a:tc>
                  <a:txBody>
                    <a:bodyPr wrap="square"/>
                    <a:lstStyle/>
                    <a:p>
                      <a:r>
                        <a:rPr sz="1200" b="1" i="0">
                          <a:solidFill>
                            <a:srgbClr val="2B2B2B"/>
                          </a:solidFill>
                          <a:latin typeface="Arial"/>
                        </a:rPr>
                        <a:t>83.33%</a:t>
                      </a:r>
                    </a:p>
                  </a:txBody>
                  <a:tcPr marL="73152" marR="73152" marT="45720" marB="45720" anchor="ctr">
                    <a:solidFill>
                      <a:srgbClr val="F6F8F6"/>
                    </a:solidFill>
                  </a:tcPr>
                </a:tc>
              </a:tr>
              <a:tr h="292607">
                <a:tc>
                  <a:txBody>
                    <a:bodyPr wrap="square"/>
                    <a:lstStyle/>
                    <a:p>
                      <a:r>
                        <a:rPr sz="1200" b="0" i="0">
                          <a:solidFill>
                            <a:srgbClr val="2B2B2B"/>
                          </a:solidFill>
                          <a:latin typeface="Arial"/>
                        </a:rPr>
                        <a:t>Audio Input/Output</a:t>
                      </a:r>
                    </a:p>
                  </a:txBody>
                  <a:tcPr marL="73152" marR="73152" marT="45720" marB="45720" anchor="ctr">
                    <a:solidFill>
                      <a:srgbClr val="FFFFFF"/>
                    </a:solidFill>
                  </a:tcPr>
                </a:tc>
                <a:tc>
                  <a:txBody>
                    <a:bodyPr wrap="square"/>
                    <a:lstStyle/>
                    <a:p>
                      <a:r>
                        <a:rPr sz="1200" b="0" i="0">
                          <a:solidFill>
                            <a:srgbClr val="2B2B2B"/>
                          </a:solidFill>
                          <a:latin typeface="Arial"/>
                        </a:rPr>
                        <a:t>12</a:t>
                      </a:r>
                    </a:p>
                  </a:txBody>
                  <a:tcPr marL="73152" marR="73152" marT="45720" marB="45720" anchor="ctr">
                    <a:solidFill>
                      <a:srgbClr val="FFFFFF"/>
                    </a:solidFill>
                  </a:tcPr>
                </a:tc>
                <a:tc>
                  <a:txBody>
                    <a:bodyPr wrap="square"/>
                    <a:lstStyle/>
                    <a:p>
                      <a:r>
                        <a:rPr sz="1200" b="1" i="0">
                          <a:solidFill>
                            <a:srgbClr val="2B2B2B"/>
                          </a:solidFill>
                          <a:latin typeface="Arial"/>
                        </a:rPr>
                        <a:t>6/8</a:t>
                      </a:r>
                    </a:p>
                  </a:txBody>
                  <a:tcPr marL="73152" marR="73152" marT="45720" marB="45720" anchor="ctr">
                    <a:solidFill>
                      <a:srgbClr val="FFFFFF"/>
                    </a:solidFill>
                  </a:tcPr>
                </a:tc>
                <a:tc>
                  <a:txBody>
                    <a:bodyPr wrap="square"/>
                    <a:lstStyle/>
                    <a:p>
                      <a:r>
                        <a:rPr sz="1200" b="1" i="0">
                          <a:solidFill>
                            <a:srgbClr val="2B2B2B"/>
                          </a:solidFill>
                          <a:latin typeface="Arial"/>
                        </a:rPr>
                        <a:t>75.00%</a:t>
                      </a:r>
                    </a:p>
                  </a:txBody>
                  <a:tcPr marL="73152" marR="73152" marT="45720" marB="45720" anchor="ctr">
                    <a:solidFill>
                      <a:srgbClr val="FFFFFF"/>
                    </a:solidFill>
                  </a:tcPr>
                </a:tc>
              </a:tr>
              <a:tr h="292607">
                <a:tc>
                  <a:txBody>
                    <a:bodyPr wrap="square"/>
                    <a:lstStyle/>
                    <a:p>
                      <a:r>
                        <a:rPr sz="1200" b="0" i="0">
                          <a:solidFill>
                            <a:srgbClr val="2B2B2B"/>
                          </a:solidFill>
                          <a:latin typeface="Arial"/>
                        </a:rPr>
                        <a:t>GPS</a:t>
                      </a:r>
                    </a:p>
                  </a:txBody>
                  <a:tcPr marL="73152" marR="73152" marT="45720" marB="45720" anchor="ctr">
                    <a:solidFill>
                      <a:srgbClr val="F6F8F6"/>
                    </a:solidFill>
                  </a:tcPr>
                </a:tc>
                <a:tc>
                  <a:txBody>
                    <a:bodyPr wrap="square"/>
                    <a:lstStyle/>
                    <a:p>
                      <a:r>
                        <a:rPr sz="1200" b="0" i="0">
                          <a:solidFill>
                            <a:srgbClr val="2B2B2B"/>
                          </a:solidFill>
                          <a:latin typeface="Arial"/>
                        </a:rPr>
                        <a:t>17</a:t>
                      </a:r>
                    </a:p>
                  </a:txBody>
                  <a:tcPr marL="73152" marR="73152" marT="45720" marB="45720" anchor="ctr">
                    <a:solidFill>
                      <a:srgbClr val="F6F8F6"/>
                    </a:solidFill>
                  </a:tcPr>
                </a:tc>
                <a:tc>
                  <a:txBody>
                    <a:bodyPr wrap="square"/>
                    <a:lstStyle/>
                    <a:p>
                      <a:r>
                        <a:rPr sz="1200" b="1" i="0">
                          <a:solidFill>
                            <a:srgbClr val="2B2B2B"/>
                          </a:solidFill>
                          <a:latin typeface="Arial"/>
                        </a:rPr>
                        <a:t>5/7</a:t>
                      </a:r>
                    </a:p>
                  </a:txBody>
                  <a:tcPr marL="73152" marR="73152" marT="45720" marB="45720" anchor="ctr">
                    <a:solidFill>
                      <a:srgbClr val="F6F8F6"/>
                    </a:solidFill>
                  </a:tcPr>
                </a:tc>
                <a:tc>
                  <a:txBody>
                    <a:bodyPr wrap="square"/>
                    <a:lstStyle/>
                    <a:p>
                      <a:r>
                        <a:rPr sz="1200" b="1" i="0">
                          <a:solidFill>
                            <a:srgbClr val="2B2B2B"/>
                          </a:solidFill>
                          <a:latin typeface="Arial"/>
                        </a:rPr>
                        <a:t>71.43%</a:t>
                      </a:r>
                    </a:p>
                  </a:txBody>
                  <a:tcPr marL="73152" marR="73152" marT="45720" marB="45720" anchor="ctr">
                    <a:solidFill>
                      <a:srgbClr val="F6F8F6"/>
                    </a:solidFill>
                  </a:tcPr>
                </a:tc>
              </a:tr>
              <a:tr h="292607">
                <a:tc>
                  <a:txBody>
                    <a:bodyPr wrap="square"/>
                    <a:lstStyle/>
                    <a:p>
                      <a:r>
                        <a:rPr sz="1200" b="0" i="0">
                          <a:solidFill>
                            <a:srgbClr val="2B2B2B"/>
                          </a:solidFill>
                          <a:latin typeface="Arial"/>
                        </a:rPr>
                        <a:t>Magnetometer headings (post-cal.)</a:t>
                      </a:r>
                    </a:p>
                  </a:txBody>
                  <a:tcPr marL="73152" marR="73152" marT="45720" marB="45720" anchor="ctr">
                    <a:solidFill>
                      <a:srgbClr val="FFFFFF"/>
                    </a:solidFill>
                  </a:tcPr>
                </a:tc>
                <a:tc>
                  <a:txBody>
                    <a:bodyPr wrap="square"/>
                    <a:lstStyle/>
                    <a:p>
                      <a:r>
                        <a:rPr sz="1200" b="0" i="0">
                          <a:solidFill>
                            <a:srgbClr val="2B2B2B"/>
                          </a:solidFill>
                          <a:latin typeface="Arial"/>
                        </a:rPr>
                        <a:t>15</a:t>
                      </a:r>
                    </a:p>
                  </a:txBody>
                  <a:tcPr marL="73152" marR="73152" marT="45720" marB="45720" anchor="ctr">
                    <a:solidFill>
                      <a:srgbClr val="FFFFFF"/>
                    </a:solidFill>
                  </a:tcPr>
                </a:tc>
                <a:tc>
                  <a:txBody>
                    <a:bodyPr wrap="square"/>
                    <a:lstStyle/>
                    <a:p>
                      <a:r>
                        <a:rPr sz="1200" b="1" i="0">
                          <a:solidFill>
                            <a:srgbClr val="2B2B2B"/>
                          </a:solidFill>
                          <a:latin typeface="Arial"/>
                        </a:rPr>
                        <a:t>5/5</a:t>
                      </a:r>
                    </a:p>
                  </a:txBody>
                  <a:tcPr marL="73152" marR="73152" marT="45720" marB="45720" anchor="ctr">
                    <a:solidFill>
                      <a:srgbClr val="FFFFFF"/>
                    </a:solidFill>
                  </a:tcPr>
                </a:tc>
                <a:tc>
                  <a:txBody>
                    <a:bodyPr wrap="square"/>
                    <a:lstStyle/>
                    <a:p>
                      <a:r>
                        <a:rPr sz="1200" b="1" i="0">
                          <a:solidFill>
                            <a:srgbClr val="006B2A"/>
                          </a:solidFill>
                          <a:latin typeface="Arial"/>
                        </a:rPr>
                        <a:t>100%</a:t>
                      </a:r>
                    </a:p>
                  </a:txBody>
                  <a:tcPr marL="73152" marR="73152" marT="45720" marB="45720" anchor="ctr">
                    <a:solidFill>
                      <a:srgbClr val="E6F4EA"/>
                    </a:solidFill>
                  </a:tcPr>
                </a:tc>
              </a:tr>
            </a:tbl>
          </a:graphicData>
        </a:graphic>
      </p:graphicFrame>
      <p:sp>
        <p:nvSpPr>
          <p:cNvPr id="6" name="Field callouts card"/>
          <p:cNvSpPr/>
          <p:nvPr/>
        </p:nvSpPr>
        <p:spPr>
          <a:xfrm>
            <a:off x="8458199" y="1371600"/>
            <a:ext cx="3291840" cy="4617720"/>
          </a:xfrm>
          <a:prstGeom prst="roundRect">
            <a:avLst>
              <a:gd name="adj" fmla="val 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Field callouts text"/>
          <p:cNvSpPr txBox="1"/>
          <p:nvPr/>
        </p:nvSpPr>
        <p:spPr>
          <a:xfrm>
            <a:off x="8641079" y="1554480"/>
            <a:ext cx="2926080" cy="4251959"/>
          </a:xfrm>
          <a:prstGeom prst="rect">
            <a:avLst/>
          </a:prstGeom>
          <a:noFill/>
        </p:spPr>
        <p:txBody>
          <a:bodyPr wrap="square" lIns="0" rIns="0" tIns="0" bIns="0" anchor="t">
            <a:noAutofit/>
          </a:bodyPr>
          <a:lstStyle/>
          <a:p>
            <a:pPr marL="201168" indent="-201168">
              <a:spcAft>
                <a:spcPts val="570"/>
              </a:spcAft>
              <a:buClr>
                <a:srgbClr val="00943A"/>
              </a:buClr>
              <a:buFont typeface="Arial"/>
              <a:buChar char="•"/>
            </a:pPr>
            <a:r>
              <a:rPr sz="1500" b="1" i="0">
                <a:solidFill>
                  <a:srgbClr val="2B2B2B"/>
                </a:solidFill>
                <a:latin typeface="Arial"/>
              </a:rPr>
              <a:t>Aggregate (excluding magnetometer): 67/74 · 90.5%</a:t>
            </a:r>
            <a:r>
              <a:rPr sz="1500" b="0" i="0">
                <a:solidFill>
                  <a:srgbClr val="2B2B2B"/>
                </a:solidFill>
                <a:latin typeface="Arial"/>
              </a:rPr>
              <a:t> </a:t>
            </a:r>
            <a:r>
              <a:rPr sz="1500" b="0" i="1">
                <a:solidFill>
                  <a:srgbClr val="2B2B2B"/>
                </a:solidFill>
                <a:latin typeface="Arial"/>
              </a:rPr>
              <a:t>(computed from Tables 5–19)</a:t>
            </a:r>
          </a:p>
          <a:p>
            <a:pPr marL="201168" indent="-201168">
              <a:spcAft>
                <a:spcPts val="570"/>
              </a:spcAft>
              <a:buClr>
                <a:srgbClr val="00943A"/>
              </a:buClr>
              <a:buFont typeface="Arial"/>
              <a:buChar char="•"/>
            </a:pPr>
            <a:r>
              <a:rPr sz="1500" b="1" i="0">
                <a:solidFill>
                  <a:srgbClr val="2B2B2B"/>
                </a:solidFill>
                <a:latin typeface="Arial"/>
              </a:rPr>
              <a:t>Every failure sits in a perception or environment-sensitive block</a:t>
            </a:r>
            <a:r>
              <a:rPr sz="1500" b="0" i="0">
                <a:solidFill>
                  <a:srgbClr val="2B2B2B"/>
                </a:solidFill>
                <a:latin typeface="Arial"/>
              </a:rPr>
              <a:t>: audio input, GPS, vision, long-run IMU</a:t>
            </a:r>
          </a:p>
          <a:p>
            <a:pPr marL="201168" indent="-201168">
              <a:spcAft>
                <a:spcPts val="570"/>
              </a:spcAft>
              <a:buClr>
                <a:srgbClr val="00943A"/>
              </a:buClr>
              <a:buFont typeface="Arial"/>
              <a:buChar char="•"/>
            </a:pPr>
            <a:r>
              <a:rPr sz="1500" b="1" i="0">
                <a:solidFill>
                  <a:srgbClr val="2B2B2B"/>
                </a:solidFill>
                <a:latin typeface="Arial"/>
              </a:rPr>
              <a:t>Every safety-actuation block passed 100%</a:t>
            </a:r>
            <a:r>
              <a:rPr sz="1500" b="0" i="0">
                <a:solidFill>
                  <a:srgbClr val="2B2B2B"/>
                </a:solidFill>
                <a:latin typeface="Arial"/>
              </a:rPr>
              <a:t>: buttons, motors, buzzer, SMS, app alerts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tion kicker"/>
          <p:cNvSpPr txBox="1"/>
          <p:nvPr/>
        </p:nvSpPr>
        <p:spPr>
          <a:xfrm>
            <a:off x="1280160" y="292608"/>
            <a:ext cx="8686800" cy="256032"/>
          </a:xfrm>
          <a:prstGeom prst="rect">
            <a:avLst/>
          </a:prstGeom>
          <a:noFill/>
        </p:spPr>
        <p:txBody>
          <a:bodyPr wrap="square" lIns="0" rIns="0" tIns="0" bIns="0" anchor="t">
            <a:noAutofit/>
          </a:bodyPr>
          <a:lstStyle/>
          <a:p>
            <a:r>
              <a:rPr sz="1100" b="1" i="0">
                <a:solidFill>
                  <a:srgbClr val="6B6B6B"/>
                </a:solidFill>
                <a:latin typeface="Arial"/>
              </a:rPr>
              <a:t>RESULTS: ON-SITE DEPLOYMENT</a:t>
            </a:r>
          </a:p>
        </p:txBody>
      </p:sp>
      <p:sp>
        <p:nvSpPr>
          <p:cNvPr id="3" name="Title"/>
          <p:cNvSpPr txBox="1"/>
          <p:nvPr/>
        </p:nvSpPr>
        <p:spPr>
          <a:xfrm>
            <a:off x="1280160" y="502920"/>
            <a:ext cx="10469880" cy="731520"/>
          </a:xfrm>
          <a:prstGeom prst="rect">
            <a:avLst/>
          </a:prstGeom>
          <a:noFill/>
        </p:spPr>
        <p:txBody>
          <a:bodyPr wrap="square" lIns="0" rIns="0" tIns="0" bIns="0" anchor="ctr">
            <a:noAutofit/>
          </a:bodyPr>
          <a:lstStyle/>
          <a:p>
            <a:r>
              <a:rPr sz="3200" b="1" i="0">
                <a:solidFill>
                  <a:srgbClr val="00943A"/>
                </a:solidFill>
                <a:latin typeface="Arial"/>
              </a:rPr>
              <a:t>On-Site Field Test: Robinsons Lipa</a:t>
            </a:r>
          </a:p>
        </p:txBody>
      </p:sp>
      <p:sp>
        <p:nvSpPr>
          <p:cNvPr id="4" name="Slide number"/>
          <p:cNvSpPr txBox="1"/>
          <p:nvPr/>
        </p:nvSpPr>
        <p:spPr>
          <a:xfrm>
            <a:off x="1280160" y="6327648"/>
            <a:ext cx="2286000" cy="274320"/>
          </a:xfrm>
          <a:prstGeom prst="rect">
            <a:avLst/>
          </a:prstGeom>
          <a:noFill/>
        </p:spPr>
        <p:txBody>
          <a:bodyPr wrap="square" lIns="0" rIns="0" tIns="0" bIns="0" anchor="t">
            <a:noAutofit/>
          </a:bodyPr>
          <a:lstStyle/>
          <a:p>
            <a:r>
              <a:rPr sz="1000" b="0" i="0">
                <a:solidFill>
                  <a:srgbClr val="6B6B6B"/>
                </a:solidFill>
                <a:latin typeface="Arial"/>
              </a:rPr>
              <a:t>IndepenSense · 39</a:t>
            </a:r>
          </a:p>
        </p:txBody>
      </p:sp>
      <p:pic>
        <p:nvPicPr>
          <p:cNvPr id="5" name="Figure 1" descr="p89_X293.png"/>
          <p:cNvPicPr>
            <a:picLocks noChangeAspect="1"/>
          </p:cNvPicPr>
          <p:nvPr/>
        </p:nvPicPr>
        <p:blipFill>
          <a:blip r:embed="rId2"/>
          <a:stretch>
            <a:fillRect/>
          </a:stretch>
        </p:blipFill>
        <p:spPr>
          <a:xfrm>
            <a:off x="8183879" y="2010909"/>
            <a:ext cx="1711967" cy="3046493"/>
          </a:xfrm>
          <a:prstGeom prst="rect">
            <a:avLst/>
          </a:prstGeom>
          <a:ln w="9525">
            <a:solidFill>
              <a:srgbClr val="D9D9D9"/>
            </a:solidFill>
          </a:ln>
        </p:spPr>
      </p:pic>
      <p:sp>
        <p:nvSpPr>
          <p:cNvPr id="6" name="Figure 1 caption"/>
          <p:cNvSpPr txBox="1"/>
          <p:nvPr/>
        </p:nvSpPr>
        <p:spPr>
          <a:xfrm>
            <a:off x="8092440" y="5103122"/>
            <a:ext cx="1894847" cy="274320"/>
          </a:xfrm>
          <a:prstGeom prst="rect">
            <a:avLst/>
          </a:prstGeom>
          <a:noFill/>
        </p:spPr>
        <p:txBody>
          <a:bodyPr wrap="square" lIns="0" rIns="0" tIns="0" bIns="0" anchor="t">
            <a:noAutofit/>
          </a:bodyPr>
          <a:lstStyle/>
          <a:p>
            <a:pPr algn="ctr"/>
            <a:r>
              <a:rPr sz="1000" b="0" i="1">
                <a:solidFill>
                  <a:srgbClr val="6B6B6B"/>
                </a:solidFill>
                <a:latin typeface="Arial"/>
              </a:rPr>
              <a:t>On-site test</a:t>
            </a:r>
          </a:p>
        </p:txBody>
      </p:sp>
      <p:pic>
        <p:nvPicPr>
          <p:cNvPr id="7" name="Figure 2" descr="p89_X294.png"/>
          <p:cNvPicPr>
            <a:picLocks noChangeAspect="1"/>
          </p:cNvPicPr>
          <p:nvPr/>
        </p:nvPicPr>
        <p:blipFill>
          <a:blip r:embed="rId3"/>
          <a:stretch>
            <a:fillRect/>
          </a:stretch>
        </p:blipFill>
        <p:spPr>
          <a:xfrm>
            <a:off x="10033007" y="2010909"/>
            <a:ext cx="1717032" cy="3046493"/>
          </a:xfrm>
          <a:prstGeom prst="rect">
            <a:avLst/>
          </a:prstGeom>
          <a:ln w="9525">
            <a:solidFill>
              <a:srgbClr val="D9D9D9"/>
            </a:solidFill>
          </a:ln>
        </p:spPr>
      </p:pic>
      <p:sp>
        <p:nvSpPr>
          <p:cNvPr id="8" name="Figure 2 caption"/>
          <p:cNvSpPr txBox="1"/>
          <p:nvPr/>
        </p:nvSpPr>
        <p:spPr>
          <a:xfrm>
            <a:off x="9941567" y="5103122"/>
            <a:ext cx="1899912" cy="274320"/>
          </a:xfrm>
          <a:prstGeom prst="rect">
            <a:avLst/>
          </a:prstGeom>
          <a:noFill/>
        </p:spPr>
        <p:txBody>
          <a:bodyPr wrap="square" lIns="0" rIns="0" tIns="0" bIns="0" anchor="t">
            <a:noAutofit/>
          </a:bodyPr>
          <a:lstStyle/>
          <a:p>
            <a:pPr algn="ctr"/>
            <a:r>
              <a:rPr sz="1000" b="0" i="1">
                <a:solidFill>
                  <a:srgbClr val="6B6B6B"/>
                </a:solidFill>
                <a:latin typeface="Arial"/>
              </a:rPr>
              <a:t>On-site test</a:t>
            </a:r>
          </a:p>
        </p:txBody>
      </p:sp>
      <p:sp>
        <p:nvSpPr>
          <p:cNvPr id="9" name="Field 1 card"/>
          <p:cNvSpPr/>
          <p:nvPr/>
        </p:nvSpPr>
        <p:spPr>
          <a:xfrm>
            <a:off x="1280160" y="1371600"/>
            <a:ext cx="3489863" cy="4617720"/>
          </a:xfrm>
          <a:prstGeom prst="roundRect">
            <a:avLst>
              <a:gd name="adj" fmla="val 4716"/>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Field 1 text"/>
          <p:cNvSpPr txBox="1"/>
          <p:nvPr/>
        </p:nvSpPr>
        <p:spPr>
          <a:xfrm>
            <a:off x="1463039" y="1554480"/>
            <a:ext cx="3124103" cy="4251959"/>
          </a:xfrm>
          <a:prstGeom prst="rect">
            <a:avLst/>
          </a:prstGeom>
          <a:noFill/>
        </p:spPr>
        <p:txBody>
          <a:bodyPr wrap="square" lIns="0" rIns="0" tIns="0" bIns="0" anchor="t">
            <a:noAutofit/>
          </a:bodyPr>
          <a:lstStyle/>
          <a:p>
            <a:pPr marL="201168" indent="-201168">
              <a:spcAft>
                <a:spcPts val="532"/>
              </a:spcAft>
              <a:buClr>
                <a:srgbClr val="00943A"/>
              </a:buClr>
              <a:buFont typeface="Arial"/>
              <a:buChar char="•"/>
            </a:pPr>
            <a:r>
              <a:rPr sz="1400" b="1" i="0">
                <a:solidFill>
                  <a:srgbClr val="2B2B2B"/>
                </a:solidFill>
                <a:latin typeface="Arial"/>
              </a:rPr>
              <a:t>Venue:</a:t>
            </a:r>
            <a:r>
              <a:rPr sz="1400" b="0" i="0">
                <a:solidFill>
                  <a:srgbClr val="2B2B2B"/>
                </a:solidFill>
                <a:latin typeface="Arial"/>
              </a:rPr>
              <a:t> </a:t>
            </a:r>
            <a:r>
              <a:rPr sz="1400" b="1" i="0">
                <a:solidFill>
                  <a:srgbClr val="2B2B2B"/>
                </a:solidFill>
                <a:latin typeface="Arial"/>
              </a:rPr>
              <a:t>Robinsons Lipa</a:t>
            </a:r>
            <a:r>
              <a:rPr sz="1400" b="0" i="0">
                <a:solidFill>
                  <a:srgbClr val="2B2B2B"/>
                </a:solidFill>
                <a:latin typeface="Arial"/>
              </a:rPr>
              <a:t>, with walking paths, indoor areas, people and fixtures</a:t>
            </a:r>
          </a:p>
          <a:p>
            <a:pPr marL="201168" indent="-201168">
              <a:spcAft>
                <a:spcPts val="532"/>
              </a:spcAft>
              <a:buClr>
                <a:srgbClr val="00943A"/>
              </a:buClr>
              <a:buFont typeface="Arial"/>
              <a:buChar char="•"/>
            </a:pPr>
            <a:r>
              <a:rPr sz="1400" b="1" i="0">
                <a:solidFill>
                  <a:srgbClr val="2B2B2B"/>
                </a:solidFill>
                <a:latin typeface="Arial"/>
              </a:rPr>
              <a:t>Participant:</a:t>
            </a:r>
            <a:r>
              <a:rPr sz="1400" b="0" i="0">
                <a:solidFill>
                  <a:srgbClr val="2B2B2B"/>
                </a:solidFill>
                <a:latin typeface="Arial"/>
              </a:rPr>
              <a:t> </a:t>
            </a:r>
            <a:r>
              <a:rPr sz="1400" b="1" i="0">
                <a:solidFill>
                  <a:srgbClr val="2B2B2B"/>
                </a:solidFill>
                <a:latin typeface="Arial"/>
              </a:rPr>
              <a:t>one adult</a:t>
            </a:r>
            <a:r>
              <a:rPr sz="1400" b="0" i="0">
                <a:solidFill>
                  <a:srgbClr val="2B2B2B"/>
                </a:solidFill>
                <a:latin typeface="Arial"/>
              </a:rPr>
              <a:t> with visual impairment</a:t>
            </a:r>
          </a:p>
          <a:p>
            <a:pPr marL="201168" indent="-201168">
              <a:spcAft>
                <a:spcPts val="532"/>
              </a:spcAft>
              <a:buClr>
                <a:srgbClr val="00943A"/>
              </a:buClr>
              <a:buFont typeface="Arial"/>
              <a:buChar char="•"/>
            </a:pPr>
            <a:r>
              <a:rPr sz="1400" b="1" i="0">
                <a:solidFill>
                  <a:srgbClr val="2B2B2B"/>
                </a:solidFill>
                <a:latin typeface="Arial"/>
              </a:rPr>
              <a:t>Protocol:</a:t>
            </a:r>
            <a:r>
              <a:rPr sz="1400" b="0" i="0">
                <a:solidFill>
                  <a:srgbClr val="2B2B2B"/>
                </a:solidFill>
                <a:latin typeface="Arial"/>
              </a:rPr>
              <a:t> </a:t>
            </a:r>
            <a:r>
              <a:rPr sz="1400" b="1" i="0">
                <a:solidFill>
                  <a:srgbClr val="2B2B2B"/>
                </a:solidFill>
                <a:latin typeface="Arial"/>
              </a:rPr>
              <a:t>18 test cases (TC-ONS-01 to 18)</a:t>
            </a:r>
            <a:r>
              <a:rPr sz="1400" b="0" i="0">
                <a:solidFill>
                  <a:srgbClr val="2B2B2B"/>
                </a:solidFill>
                <a:latin typeface="Arial"/>
              </a:rPr>
              <a:t> covering mobility tasks, obstacle approaches, voice commands, camera requests, GPS transitions, SOS simulation, simulated falls and extended use</a:t>
            </a:r>
          </a:p>
          <a:p>
            <a:pPr marL="201168" indent="-201168">
              <a:spcAft>
                <a:spcPts val="532"/>
              </a:spcAft>
              <a:buClr>
                <a:srgbClr val="00943A"/>
              </a:buClr>
              <a:buFont typeface="Arial"/>
              <a:buChar char="•"/>
            </a:pPr>
            <a:r>
              <a:rPr sz="1400" b="1" i="0">
                <a:solidFill>
                  <a:srgbClr val="2B2B2B"/>
                </a:solidFill>
                <a:latin typeface="Arial"/>
              </a:rPr>
              <a:t>Post-test interview</a:t>
            </a:r>
            <a:r>
              <a:rPr sz="1400" b="0" i="0">
                <a:solidFill>
                  <a:srgbClr val="2B2B2B"/>
                </a:solidFill>
                <a:latin typeface="Arial"/>
              </a:rPr>
              <a:t> guided by the Appendix A instrument</a:t>
            </a:r>
          </a:p>
        </p:txBody>
      </p:sp>
      <p:sp>
        <p:nvSpPr>
          <p:cNvPr id="11" name="Field 2 card"/>
          <p:cNvSpPr/>
          <p:nvPr/>
        </p:nvSpPr>
        <p:spPr>
          <a:xfrm>
            <a:off x="5026055" y="1371600"/>
            <a:ext cx="2901792" cy="4617720"/>
          </a:xfrm>
          <a:prstGeom prst="roundRect">
            <a:avLst>
              <a:gd name="adj" fmla="val 5672"/>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Field 2 text"/>
          <p:cNvSpPr txBox="1"/>
          <p:nvPr/>
        </p:nvSpPr>
        <p:spPr>
          <a:xfrm>
            <a:off x="5208935" y="1554480"/>
            <a:ext cx="2536032" cy="4251959"/>
          </a:xfrm>
          <a:prstGeom prst="rect">
            <a:avLst/>
          </a:prstGeom>
          <a:noFill/>
        </p:spPr>
        <p:txBody>
          <a:bodyPr wrap="square" lIns="0" rIns="0" tIns="0" bIns="0" anchor="t">
            <a:noAutofit/>
          </a:bodyPr>
          <a:lstStyle/>
          <a:p>
            <a:pPr marL="201168" indent="-201168">
              <a:spcAft>
                <a:spcPts val="532"/>
              </a:spcAft>
              <a:buClr>
                <a:srgbClr val="00943A"/>
              </a:buClr>
              <a:buFont typeface="Arial"/>
              <a:buChar char="•"/>
            </a:pPr>
            <a:r>
              <a:rPr sz="1400" b="1" i="0">
                <a:solidFill>
                  <a:srgbClr val="2B2B2B"/>
                </a:solidFill>
                <a:latin typeface="Arial"/>
              </a:rPr>
              <a:t>Result: 17/18 · 94.44%</a:t>
            </a:r>
          </a:p>
          <a:p>
            <a:pPr marL="201168" indent="-201168">
              <a:spcAft>
                <a:spcPts val="532"/>
              </a:spcAft>
              <a:buClr>
                <a:srgbClr val="00943A"/>
              </a:buClr>
              <a:buFont typeface="Arial"/>
              <a:buChar char="•"/>
            </a:pPr>
            <a:r>
              <a:rPr sz="1400" b="1" i="0">
                <a:solidFill>
                  <a:srgbClr val="2B2B2B"/>
                </a:solidFill>
                <a:latin typeface="Arial"/>
              </a:rPr>
              <a:t>Why this venue:</a:t>
            </a:r>
            <a:r>
              <a:rPr sz="1400" b="0" i="0">
                <a:solidFill>
                  <a:srgbClr val="2B2B2B"/>
                </a:solidFill>
                <a:latin typeface="Arial"/>
              </a:rPr>
              <a:t> </a:t>
            </a:r>
            <a:r>
              <a:rPr sz="1400" b="1" i="0">
                <a:solidFill>
                  <a:srgbClr val="2B2B2B"/>
                </a:solidFill>
                <a:latin typeface="Arial"/>
              </a:rPr>
              <a:t>accessible</a:t>
            </a:r>
            <a:r>
              <a:rPr sz="1400" b="0" i="0">
                <a:solidFill>
                  <a:srgbClr val="2B2B2B"/>
                </a:solidFill>
                <a:latin typeface="Arial"/>
              </a:rPr>
              <a:t> for the participant, and </a:t>
            </a:r>
            <a:r>
              <a:rPr sz="1400" b="1" i="0">
                <a:solidFill>
                  <a:srgbClr val="2B2B2B"/>
                </a:solidFill>
                <a:latin typeface="Arial"/>
              </a:rPr>
              <a:t>safer</a:t>
            </a:r>
            <a:r>
              <a:rPr sz="1400" b="0" i="0">
                <a:solidFill>
                  <a:srgbClr val="2B2B2B"/>
                </a:solidFill>
                <a:latin typeface="Arial"/>
              </a:rPr>
              <a:t> than unfamiliar outdoor streets for a first field trial</a:t>
            </a:r>
          </a:p>
          <a:p>
            <a:pPr marL="201168" indent="-201168">
              <a:spcAft>
                <a:spcPts val="532"/>
              </a:spcAft>
              <a:buClr>
                <a:srgbClr val="00943A"/>
              </a:buClr>
              <a:buFont typeface="Arial"/>
              <a:buChar char="•"/>
            </a:pPr>
            <a:r>
              <a:rPr sz="1400" b="0" i="0">
                <a:solidFill>
                  <a:srgbClr val="2B2B2B"/>
                </a:solidFill>
                <a:latin typeface="Arial"/>
              </a:rPr>
              <a:t>Realistic obstacles: </a:t>
            </a:r>
            <a:r>
              <a:rPr sz="1400" b="1" i="0">
                <a:solidFill>
                  <a:srgbClr val="2B2B2B"/>
                </a:solidFill>
                <a:latin typeface="Arial"/>
              </a:rPr>
              <a:t>walls, chairs, displays, crowds</a:t>
            </a:r>
          </a:p>
          <a:p>
            <a:pPr marL="201168" indent="-201168">
              <a:spcAft>
                <a:spcPts val="532"/>
              </a:spcAft>
              <a:buClr>
                <a:srgbClr val="00943A"/>
              </a:buClr>
              <a:buFont typeface="Arial"/>
              <a:buChar char="•"/>
            </a:pPr>
            <a:r>
              <a:rPr sz="1400" b="1" i="0">
                <a:solidFill>
                  <a:srgbClr val="2B2B2B"/>
                </a:solidFill>
                <a:latin typeface="Arial"/>
              </a:rPr>
              <a:t>Indoor-outdoor transitions</a:t>
            </a:r>
            <a:r>
              <a:rPr sz="1400" b="0" i="0">
                <a:solidFill>
                  <a:srgbClr val="2B2B2B"/>
                </a:solidFill>
                <a:latin typeface="Arial"/>
              </a:rPr>
              <a:t> exercised GNSS loss and recovery</a:t>
            </a:r>
          </a:p>
          <a:p>
            <a:pPr marL="201168" indent="-201168">
              <a:spcAft>
                <a:spcPts val="532"/>
              </a:spcAft>
              <a:buClr>
                <a:srgbClr val="00943A"/>
              </a:buClr>
              <a:buFont typeface="Arial"/>
              <a:buChar char="•"/>
            </a:pPr>
            <a:r>
              <a:rPr sz="1400" b="1" i="0">
                <a:solidFill>
                  <a:srgbClr val="2B2B2B"/>
                </a:solidFill>
                <a:latin typeface="Arial"/>
              </a:rPr>
              <a:t>Threat to validity:</a:t>
            </a:r>
            <a:r>
              <a:rPr sz="1400" b="0" i="0">
                <a:solidFill>
                  <a:srgbClr val="2B2B2B"/>
                </a:solidFill>
                <a:latin typeface="Arial"/>
              </a:rPr>
              <a:t> </a:t>
            </a:r>
            <a:r>
              <a:rPr sz="1400" b="1" i="0">
                <a:solidFill>
                  <a:srgbClr val="2B2B2B"/>
                </a:solidFill>
                <a:latin typeface="Arial"/>
              </a:rPr>
              <a:t>n = 1</a:t>
            </a:r>
            <a:r>
              <a:rPr sz="1400" b="0" i="0">
                <a:solidFill>
                  <a:srgbClr val="2B2B2B"/>
                </a:solidFill>
                <a:latin typeface="Arial"/>
              </a:rPr>
              <a:t> participant, a </a:t>
            </a:r>
            <a:r>
              <a:rPr sz="1400" b="1" i="0">
                <a:solidFill>
                  <a:srgbClr val="2B2B2B"/>
                </a:solidFill>
                <a:latin typeface="Arial"/>
              </a:rPr>
              <a:t>single session</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tion kicker"/>
          <p:cNvSpPr txBox="1"/>
          <p:nvPr/>
        </p:nvSpPr>
        <p:spPr>
          <a:xfrm>
            <a:off x="1280160" y="292608"/>
            <a:ext cx="8686800" cy="256032"/>
          </a:xfrm>
          <a:prstGeom prst="rect">
            <a:avLst/>
          </a:prstGeom>
          <a:noFill/>
        </p:spPr>
        <p:txBody>
          <a:bodyPr wrap="square" lIns="0" rIns="0" tIns="0" bIns="0" anchor="t">
            <a:noAutofit/>
          </a:bodyPr>
          <a:lstStyle/>
          <a:p>
            <a:r>
              <a:rPr sz="1100" b="1" i="0">
                <a:solidFill>
                  <a:srgbClr val="6B6B6B"/>
                </a:solidFill>
                <a:latin typeface="Arial"/>
              </a:rPr>
              <a:t>RESULTS: ON-SITE DEPLOYMENT</a:t>
            </a:r>
          </a:p>
        </p:txBody>
      </p:sp>
      <p:sp>
        <p:nvSpPr>
          <p:cNvPr id="3" name="Title"/>
          <p:cNvSpPr txBox="1"/>
          <p:nvPr/>
        </p:nvSpPr>
        <p:spPr>
          <a:xfrm>
            <a:off x="1280160" y="502920"/>
            <a:ext cx="10469880" cy="731520"/>
          </a:xfrm>
          <a:prstGeom prst="rect">
            <a:avLst/>
          </a:prstGeom>
          <a:noFill/>
        </p:spPr>
        <p:txBody>
          <a:bodyPr wrap="square" lIns="0" rIns="0" tIns="0" bIns="0" anchor="ctr">
            <a:noAutofit/>
          </a:bodyPr>
          <a:lstStyle/>
          <a:p>
            <a:r>
              <a:rPr sz="3200" b="1" i="0">
                <a:solidFill>
                  <a:srgbClr val="00943A"/>
                </a:solidFill>
                <a:latin typeface="Arial"/>
              </a:rPr>
              <a:t>Usability Wins: Haptic Collision Avoidance</a:t>
            </a:r>
          </a:p>
        </p:txBody>
      </p:sp>
      <p:sp>
        <p:nvSpPr>
          <p:cNvPr id="4" name="Slide number"/>
          <p:cNvSpPr txBox="1"/>
          <p:nvPr/>
        </p:nvSpPr>
        <p:spPr>
          <a:xfrm>
            <a:off x="1280160" y="6327648"/>
            <a:ext cx="2286000" cy="274320"/>
          </a:xfrm>
          <a:prstGeom prst="rect">
            <a:avLst/>
          </a:prstGeom>
          <a:noFill/>
        </p:spPr>
        <p:txBody>
          <a:bodyPr wrap="square" lIns="0" rIns="0" tIns="0" bIns="0" anchor="t">
            <a:noAutofit/>
          </a:bodyPr>
          <a:lstStyle/>
          <a:p>
            <a:r>
              <a:rPr sz="1000" b="0" i="0">
                <a:solidFill>
                  <a:srgbClr val="6B6B6B"/>
                </a:solidFill>
                <a:latin typeface="Arial"/>
              </a:rPr>
              <a:t>IndepenSense · 40</a:t>
            </a:r>
          </a:p>
        </p:txBody>
      </p:sp>
      <p:pic>
        <p:nvPicPr>
          <p:cNvPr id="5" name="Figure 1" descr="p89_X295.png"/>
          <p:cNvPicPr>
            <a:picLocks noChangeAspect="1"/>
          </p:cNvPicPr>
          <p:nvPr/>
        </p:nvPicPr>
        <p:blipFill>
          <a:blip r:embed="rId2"/>
          <a:stretch>
            <a:fillRect/>
          </a:stretch>
        </p:blipFill>
        <p:spPr>
          <a:xfrm>
            <a:off x="9325935" y="1371600"/>
            <a:ext cx="2424104" cy="4325112"/>
          </a:xfrm>
          <a:prstGeom prst="rect">
            <a:avLst/>
          </a:prstGeom>
          <a:ln w="9525">
            <a:solidFill>
              <a:srgbClr val="D9D9D9"/>
            </a:solidFill>
          </a:ln>
        </p:spPr>
      </p:pic>
      <p:sp>
        <p:nvSpPr>
          <p:cNvPr id="6" name="Figure 1 caption"/>
          <p:cNvSpPr txBox="1"/>
          <p:nvPr/>
        </p:nvSpPr>
        <p:spPr>
          <a:xfrm>
            <a:off x="9234495" y="5742431"/>
            <a:ext cx="2606984" cy="274320"/>
          </a:xfrm>
          <a:prstGeom prst="rect">
            <a:avLst/>
          </a:prstGeom>
          <a:noFill/>
        </p:spPr>
        <p:txBody>
          <a:bodyPr wrap="square" lIns="0" rIns="0" tIns="0" bIns="0" anchor="t">
            <a:noAutofit/>
          </a:bodyPr>
          <a:lstStyle/>
          <a:p>
            <a:pPr algn="ctr"/>
            <a:r>
              <a:rPr sz="1000" b="0" i="1">
                <a:solidFill>
                  <a:srgbClr val="6B6B6B"/>
                </a:solidFill>
                <a:latin typeface="Arial"/>
              </a:rPr>
              <a:t>Obstacle approach</a:t>
            </a:r>
          </a:p>
        </p:txBody>
      </p:sp>
      <p:sp>
        <p:nvSpPr>
          <p:cNvPr id="7" name="Card 1 card"/>
          <p:cNvSpPr/>
          <p:nvPr/>
        </p:nvSpPr>
        <p:spPr>
          <a:xfrm>
            <a:off x="1280160" y="1371600"/>
            <a:ext cx="2425893" cy="2180844"/>
          </a:xfrm>
          <a:prstGeom prst="roundRect">
            <a:avLst>
              <a:gd name="adj" fmla="val 7547"/>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Card 1 text"/>
          <p:cNvSpPr txBox="1"/>
          <p:nvPr/>
        </p:nvSpPr>
        <p:spPr>
          <a:xfrm>
            <a:off x="1463039" y="1554480"/>
            <a:ext cx="2060133" cy="1815084"/>
          </a:xfrm>
          <a:prstGeom prst="rect">
            <a:avLst/>
          </a:prstGeom>
          <a:noFill/>
        </p:spPr>
        <p:txBody>
          <a:bodyPr wrap="square" lIns="0" rIns="0" tIns="0" bIns="0" anchor="t">
            <a:noAutofit/>
          </a:bodyPr>
          <a:lstStyle/>
          <a:p>
            <a:pPr>
              <a:spcAft>
                <a:spcPts val="540"/>
              </a:spcAft>
              <a:buNone/>
            </a:pPr>
            <a:r>
              <a:rPr sz="1400" b="1" i="0">
                <a:solidFill>
                  <a:srgbClr val="006B2A"/>
                </a:solidFill>
                <a:latin typeface="Arial"/>
              </a:rPr>
              <a:t>TC-ONS-03 Obstacle detection: PASSED</a:t>
            </a:r>
          </a:p>
          <a:p>
            <a:pPr>
              <a:spcAft>
                <a:spcPts val="456"/>
              </a:spcAft>
              <a:buNone/>
            </a:pPr>
            <a:r>
              <a:rPr sz="1200" b="0" i="0">
                <a:solidFill>
                  <a:srgbClr val="2B2B2B"/>
                </a:solidFill>
                <a:latin typeface="Arial"/>
              </a:rPr>
              <a:t>Vibration alerts came </a:t>
            </a:r>
            <a:r>
              <a:rPr sz="1200" b="1" i="0">
                <a:solidFill>
                  <a:srgbClr val="2B2B2B"/>
                </a:solidFill>
                <a:latin typeface="Arial"/>
              </a:rPr>
              <a:t>before any collision</a:t>
            </a:r>
            <a:r>
              <a:rPr sz="1200" b="0" i="0">
                <a:solidFill>
                  <a:srgbClr val="2B2B2B"/>
                </a:solidFill>
                <a:latin typeface="Arial"/>
              </a:rPr>
              <a:t> with walls, chairs and displays</a:t>
            </a:r>
          </a:p>
        </p:txBody>
      </p:sp>
      <p:sp>
        <p:nvSpPr>
          <p:cNvPr id="9" name="Card 2 card"/>
          <p:cNvSpPr/>
          <p:nvPr/>
        </p:nvSpPr>
        <p:spPr>
          <a:xfrm>
            <a:off x="3962085" y="1371600"/>
            <a:ext cx="2425893" cy="2180844"/>
          </a:xfrm>
          <a:prstGeom prst="roundRect">
            <a:avLst>
              <a:gd name="adj" fmla="val 7547"/>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Card 2 text"/>
          <p:cNvSpPr txBox="1"/>
          <p:nvPr/>
        </p:nvSpPr>
        <p:spPr>
          <a:xfrm>
            <a:off x="4144965" y="1554480"/>
            <a:ext cx="2060133" cy="1815084"/>
          </a:xfrm>
          <a:prstGeom prst="rect">
            <a:avLst/>
          </a:prstGeom>
          <a:noFill/>
        </p:spPr>
        <p:txBody>
          <a:bodyPr wrap="square" lIns="0" rIns="0" tIns="0" bIns="0" anchor="t">
            <a:noAutofit/>
          </a:bodyPr>
          <a:lstStyle/>
          <a:p>
            <a:pPr>
              <a:spcAft>
                <a:spcPts val="540"/>
              </a:spcAft>
              <a:buNone/>
            </a:pPr>
            <a:r>
              <a:rPr sz="1400" b="1" i="0">
                <a:solidFill>
                  <a:srgbClr val="006B2A"/>
                </a:solidFill>
                <a:latin typeface="Arial"/>
              </a:rPr>
              <a:t>TC-ONS-04 Dynamic distance tracking: PASSED</a:t>
            </a:r>
          </a:p>
          <a:p>
            <a:pPr>
              <a:spcAft>
                <a:spcPts val="456"/>
              </a:spcAft>
              <a:buNone/>
            </a:pPr>
            <a:r>
              <a:rPr sz="1200" b="0" i="0">
                <a:solidFill>
                  <a:srgbClr val="2B2B2B"/>
                </a:solidFill>
                <a:latin typeface="Arial"/>
              </a:rPr>
              <a:t>The participant </a:t>
            </a:r>
            <a:r>
              <a:rPr sz="1200" b="1" i="0">
                <a:solidFill>
                  <a:srgbClr val="2B2B2B"/>
                </a:solidFill>
                <a:latin typeface="Arial"/>
              </a:rPr>
              <a:t>used the vibration to estimate obstacle distance</a:t>
            </a:r>
            <a:r>
              <a:rPr sz="1200" b="0" i="0">
                <a:solidFill>
                  <a:srgbClr val="2B2B2B"/>
                </a:solidFill>
                <a:latin typeface="Arial"/>
              </a:rPr>
              <a:t> while walking toward and away from it</a:t>
            </a:r>
          </a:p>
        </p:txBody>
      </p:sp>
      <p:sp>
        <p:nvSpPr>
          <p:cNvPr id="11" name="Card 3 card"/>
          <p:cNvSpPr/>
          <p:nvPr/>
        </p:nvSpPr>
        <p:spPr>
          <a:xfrm>
            <a:off x="6644010" y="1371600"/>
            <a:ext cx="2425893" cy="2180844"/>
          </a:xfrm>
          <a:prstGeom prst="roundRect">
            <a:avLst>
              <a:gd name="adj" fmla="val 7547"/>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Card 3 text"/>
          <p:cNvSpPr txBox="1"/>
          <p:nvPr/>
        </p:nvSpPr>
        <p:spPr>
          <a:xfrm>
            <a:off x="6826890" y="1554480"/>
            <a:ext cx="2060133" cy="1815084"/>
          </a:xfrm>
          <a:prstGeom prst="rect">
            <a:avLst/>
          </a:prstGeom>
          <a:noFill/>
        </p:spPr>
        <p:txBody>
          <a:bodyPr wrap="square" lIns="0" rIns="0" tIns="0" bIns="0" anchor="t">
            <a:noAutofit/>
          </a:bodyPr>
          <a:lstStyle/>
          <a:p>
            <a:pPr>
              <a:spcAft>
                <a:spcPts val="540"/>
              </a:spcAft>
              <a:buNone/>
            </a:pPr>
            <a:r>
              <a:rPr sz="1400" b="1" i="0">
                <a:solidFill>
                  <a:srgbClr val="006B2A"/>
                </a:solidFill>
                <a:latin typeface="Arial"/>
              </a:rPr>
              <a:t>TC-ONS-05 Vibration comfort: PASSED</a:t>
            </a:r>
          </a:p>
          <a:p>
            <a:pPr>
              <a:spcAft>
                <a:spcPts val="456"/>
              </a:spcAft>
              <a:buNone/>
            </a:pPr>
            <a:r>
              <a:rPr sz="1200" b="0" i="0">
                <a:solidFill>
                  <a:srgbClr val="2B2B2B"/>
                </a:solidFill>
                <a:latin typeface="Arial"/>
              </a:rPr>
              <a:t>Vibration was </a:t>
            </a:r>
            <a:r>
              <a:rPr sz="1200" b="1" i="0">
                <a:solidFill>
                  <a:srgbClr val="2B2B2B"/>
                </a:solidFill>
                <a:latin typeface="Arial"/>
              </a:rPr>
              <a:t>comfortable and useful</a:t>
            </a:r>
            <a:r>
              <a:rPr sz="1200" b="0" i="0">
                <a:solidFill>
                  <a:srgbClr val="2B2B2B"/>
                </a:solidFill>
                <a:latin typeface="Arial"/>
              </a:rPr>
              <a:t> for proximity</a:t>
            </a:r>
          </a:p>
        </p:txBody>
      </p:sp>
      <p:sp>
        <p:nvSpPr>
          <p:cNvPr id="13" name="Card 4 card"/>
          <p:cNvSpPr/>
          <p:nvPr/>
        </p:nvSpPr>
        <p:spPr>
          <a:xfrm>
            <a:off x="1280160" y="3808476"/>
            <a:ext cx="2425893" cy="2180844"/>
          </a:xfrm>
          <a:prstGeom prst="roundRect">
            <a:avLst>
              <a:gd name="adj" fmla="val 7547"/>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Card 4 text"/>
          <p:cNvSpPr txBox="1"/>
          <p:nvPr/>
        </p:nvSpPr>
        <p:spPr>
          <a:xfrm>
            <a:off x="1463039" y="3991356"/>
            <a:ext cx="2060133" cy="1815084"/>
          </a:xfrm>
          <a:prstGeom prst="rect">
            <a:avLst/>
          </a:prstGeom>
          <a:noFill/>
        </p:spPr>
        <p:txBody>
          <a:bodyPr wrap="square" lIns="0" rIns="0" tIns="0" bIns="0" anchor="t">
            <a:noAutofit/>
          </a:bodyPr>
          <a:lstStyle/>
          <a:p>
            <a:pPr>
              <a:spcAft>
                <a:spcPts val="540"/>
              </a:spcAft>
              <a:buNone/>
            </a:pPr>
            <a:r>
              <a:rPr sz="1400" b="1" i="0">
                <a:solidFill>
                  <a:srgbClr val="006B2A"/>
                </a:solidFill>
                <a:latin typeface="Arial"/>
              </a:rPr>
              <a:t>TC-ONS-01/02 Independent movement: PASSED</a:t>
            </a:r>
          </a:p>
          <a:p>
            <a:pPr>
              <a:spcAft>
                <a:spcPts val="456"/>
              </a:spcAft>
              <a:buNone/>
            </a:pPr>
            <a:r>
              <a:rPr sz="1200" b="0" i="0">
                <a:solidFill>
                  <a:srgbClr val="2B2B2B"/>
                </a:solidFill>
                <a:latin typeface="Arial"/>
              </a:rPr>
              <a:t>"</a:t>
            </a:r>
            <a:r>
              <a:rPr sz="1200" b="1" i="0">
                <a:solidFill>
                  <a:srgbClr val="2B2B2B"/>
                </a:solidFill>
                <a:latin typeface="Arial"/>
              </a:rPr>
              <a:t>Easy to use</a:t>
            </a:r>
            <a:r>
              <a:rPr sz="1200" b="0" i="0">
                <a:solidFill>
                  <a:srgbClr val="2B2B2B"/>
                </a:solidFill>
                <a:latin typeface="Arial"/>
              </a:rPr>
              <a:t>", with </a:t>
            </a:r>
            <a:r>
              <a:rPr sz="1200" b="1" i="0">
                <a:solidFill>
                  <a:srgbClr val="2B2B2B"/>
                </a:solidFill>
                <a:latin typeface="Arial"/>
              </a:rPr>
              <a:t>added awareness</a:t>
            </a:r>
            <a:r>
              <a:rPr sz="1200" b="0" i="0">
                <a:solidFill>
                  <a:srgbClr val="2B2B2B"/>
                </a:solidFill>
                <a:latin typeface="Arial"/>
              </a:rPr>
              <a:t> in an unfamiliar place</a:t>
            </a:r>
          </a:p>
        </p:txBody>
      </p:sp>
      <p:sp>
        <p:nvSpPr>
          <p:cNvPr id="15" name="Card 5 card"/>
          <p:cNvSpPr/>
          <p:nvPr/>
        </p:nvSpPr>
        <p:spPr>
          <a:xfrm>
            <a:off x="3962085" y="3808476"/>
            <a:ext cx="2425893" cy="2180844"/>
          </a:xfrm>
          <a:prstGeom prst="roundRect">
            <a:avLst>
              <a:gd name="adj" fmla="val 7547"/>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Card 5 text"/>
          <p:cNvSpPr txBox="1"/>
          <p:nvPr/>
        </p:nvSpPr>
        <p:spPr>
          <a:xfrm>
            <a:off x="4144965" y="3991356"/>
            <a:ext cx="2060133" cy="1815084"/>
          </a:xfrm>
          <a:prstGeom prst="rect">
            <a:avLst/>
          </a:prstGeom>
          <a:noFill/>
        </p:spPr>
        <p:txBody>
          <a:bodyPr wrap="square" lIns="0" rIns="0" tIns="0" bIns="0" anchor="t">
            <a:noAutofit/>
          </a:bodyPr>
          <a:lstStyle/>
          <a:p>
            <a:pPr>
              <a:spcAft>
                <a:spcPts val="540"/>
              </a:spcAft>
              <a:buNone/>
            </a:pPr>
            <a:r>
              <a:rPr sz="1400" b="1" i="0">
                <a:solidFill>
                  <a:srgbClr val="006B2A"/>
                </a:solidFill>
                <a:latin typeface="Arial"/>
              </a:rPr>
              <a:t>Interpretation</a:t>
            </a:r>
          </a:p>
          <a:p>
            <a:pPr>
              <a:spcAft>
                <a:spcPts val="456"/>
              </a:spcAft>
              <a:buNone/>
            </a:pPr>
            <a:r>
              <a:rPr sz="1200" b="0" i="0">
                <a:solidFill>
                  <a:srgbClr val="2B2B2B"/>
                </a:solidFill>
                <a:latin typeface="Arial"/>
              </a:rPr>
              <a:t>the </a:t>
            </a:r>
            <a:r>
              <a:rPr sz="1200" b="1" i="0">
                <a:solidFill>
                  <a:srgbClr val="2B2B2B"/>
                </a:solidFill>
                <a:latin typeface="Arial"/>
              </a:rPr>
              <a:t>rate-encodes-distance</a:t>
            </a:r>
            <a:r>
              <a:rPr sz="1200" b="0" i="0">
                <a:solidFill>
                  <a:srgbClr val="2B2B2B"/>
                </a:solidFill>
                <a:latin typeface="Arial"/>
              </a:rPr>
              <a:t> design was understood </a:t>
            </a:r>
            <a:r>
              <a:rPr sz="1200" b="1" i="0">
                <a:solidFill>
                  <a:srgbClr val="2B2B2B"/>
                </a:solidFill>
                <a:latin typeface="Arial"/>
              </a:rPr>
              <a:t>without training</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tion kicker"/>
          <p:cNvSpPr txBox="1"/>
          <p:nvPr/>
        </p:nvSpPr>
        <p:spPr>
          <a:xfrm>
            <a:off x="1280160" y="292608"/>
            <a:ext cx="8686800" cy="256032"/>
          </a:xfrm>
          <a:prstGeom prst="rect">
            <a:avLst/>
          </a:prstGeom>
          <a:noFill/>
        </p:spPr>
        <p:txBody>
          <a:bodyPr wrap="square" lIns="0" rIns="0" tIns="0" bIns="0" anchor="t">
            <a:noAutofit/>
          </a:bodyPr>
          <a:lstStyle/>
          <a:p>
            <a:r>
              <a:rPr sz="1100" b="1" i="0">
                <a:solidFill>
                  <a:srgbClr val="6B6B6B"/>
                </a:solidFill>
                <a:latin typeface="Arial"/>
              </a:rPr>
              <a:t>RESULTS: ON-SITE DEPLOYMENT</a:t>
            </a:r>
          </a:p>
        </p:txBody>
      </p:sp>
      <p:sp>
        <p:nvSpPr>
          <p:cNvPr id="3" name="Title"/>
          <p:cNvSpPr txBox="1"/>
          <p:nvPr/>
        </p:nvSpPr>
        <p:spPr>
          <a:xfrm>
            <a:off x="1280160" y="502920"/>
            <a:ext cx="10469880" cy="731520"/>
          </a:xfrm>
          <a:prstGeom prst="rect">
            <a:avLst/>
          </a:prstGeom>
          <a:noFill/>
        </p:spPr>
        <p:txBody>
          <a:bodyPr wrap="square" lIns="0" rIns="0" tIns="0" bIns="0" anchor="ctr">
            <a:noAutofit/>
          </a:bodyPr>
          <a:lstStyle/>
          <a:p>
            <a:r>
              <a:rPr sz="2800" b="1" i="0">
                <a:solidFill>
                  <a:srgbClr val="00943A"/>
                </a:solidFill>
                <a:latin typeface="Arial"/>
              </a:rPr>
              <a:t>Usability Wins: Ergonomics, Controls and Connectivity</a:t>
            </a:r>
          </a:p>
        </p:txBody>
      </p:sp>
      <p:sp>
        <p:nvSpPr>
          <p:cNvPr id="4" name="Slide number"/>
          <p:cNvSpPr txBox="1"/>
          <p:nvPr/>
        </p:nvSpPr>
        <p:spPr>
          <a:xfrm>
            <a:off x="1280160" y="6327648"/>
            <a:ext cx="2286000" cy="274320"/>
          </a:xfrm>
          <a:prstGeom prst="rect">
            <a:avLst/>
          </a:prstGeom>
          <a:noFill/>
        </p:spPr>
        <p:txBody>
          <a:bodyPr wrap="square" lIns="0" rIns="0" tIns="0" bIns="0" anchor="t">
            <a:noAutofit/>
          </a:bodyPr>
          <a:lstStyle/>
          <a:p>
            <a:r>
              <a:rPr sz="1000" b="0" i="0">
                <a:solidFill>
                  <a:srgbClr val="6B6B6B"/>
                </a:solidFill>
                <a:latin typeface="Arial"/>
              </a:rPr>
              <a:t>IndepenSense · 41</a:t>
            </a:r>
          </a:p>
        </p:txBody>
      </p:sp>
      <p:pic>
        <p:nvPicPr>
          <p:cNvPr id="5" name="Figure 1" descr="p89_X296.png"/>
          <p:cNvPicPr>
            <a:picLocks noChangeAspect="1"/>
          </p:cNvPicPr>
          <p:nvPr/>
        </p:nvPicPr>
        <p:blipFill>
          <a:blip r:embed="rId2"/>
          <a:stretch>
            <a:fillRect/>
          </a:stretch>
        </p:blipFill>
        <p:spPr>
          <a:xfrm>
            <a:off x="9355668" y="1371600"/>
            <a:ext cx="2394371" cy="4325112"/>
          </a:xfrm>
          <a:prstGeom prst="rect">
            <a:avLst/>
          </a:prstGeom>
          <a:ln w="9525">
            <a:solidFill>
              <a:srgbClr val="D9D9D9"/>
            </a:solidFill>
          </a:ln>
        </p:spPr>
      </p:pic>
      <p:sp>
        <p:nvSpPr>
          <p:cNvPr id="6" name="Figure 1 caption"/>
          <p:cNvSpPr txBox="1"/>
          <p:nvPr/>
        </p:nvSpPr>
        <p:spPr>
          <a:xfrm>
            <a:off x="9264228" y="5742431"/>
            <a:ext cx="2577251" cy="274320"/>
          </a:xfrm>
          <a:prstGeom prst="rect">
            <a:avLst/>
          </a:prstGeom>
          <a:noFill/>
        </p:spPr>
        <p:txBody>
          <a:bodyPr wrap="square" lIns="0" rIns="0" tIns="0" bIns="0" anchor="t">
            <a:noAutofit/>
          </a:bodyPr>
          <a:lstStyle/>
          <a:p>
            <a:pPr algn="ctr"/>
            <a:r>
              <a:rPr sz="1000" b="0" i="1">
                <a:solidFill>
                  <a:srgbClr val="6B6B6B"/>
                </a:solidFill>
                <a:latin typeface="Arial"/>
              </a:rPr>
              <a:t>Wearing the vest</a:t>
            </a:r>
          </a:p>
        </p:txBody>
      </p:sp>
      <p:sp>
        <p:nvSpPr>
          <p:cNvPr id="7" name="Step 1 card"/>
          <p:cNvSpPr/>
          <p:nvPr/>
        </p:nvSpPr>
        <p:spPr>
          <a:xfrm>
            <a:off x="1280160" y="1371600"/>
            <a:ext cx="2411420" cy="2276652"/>
          </a:xfrm>
          <a:prstGeom prst="roundRect">
            <a:avLst>
              <a:gd name="adj" fmla="val 7229"/>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Step 1 text"/>
          <p:cNvSpPr txBox="1"/>
          <p:nvPr/>
        </p:nvSpPr>
        <p:spPr>
          <a:xfrm>
            <a:off x="1463039" y="1554480"/>
            <a:ext cx="2045660" cy="1910892"/>
          </a:xfrm>
          <a:prstGeom prst="rect">
            <a:avLst/>
          </a:prstGeom>
          <a:noFill/>
        </p:spPr>
        <p:txBody>
          <a:bodyPr wrap="square" lIns="0" rIns="0" tIns="0" bIns="0" anchor="t">
            <a:noAutofit/>
          </a:bodyPr>
          <a:lstStyle/>
          <a:p>
            <a:pPr>
              <a:spcAft>
                <a:spcPts val="540"/>
              </a:spcAft>
              <a:buNone/>
            </a:pPr>
            <a:r>
              <a:rPr sz="1400" b="1" i="0">
                <a:solidFill>
                  <a:srgbClr val="006B2A"/>
                </a:solidFill>
                <a:latin typeface="Arial"/>
              </a:rPr>
              <a:t>Wearability: TC-ONS-16 PASSED</a:t>
            </a:r>
          </a:p>
          <a:p>
            <a:pPr>
              <a:spcAft>
                <a:spcPts val="456"/>
              </a:spcAft>
              <a:buNone/>
            </a:pPr>
            <a:r>
              <a:rPr sz="1200" b="0" i="0">
                <a:solidFill>
                  <a:srgbClr val="2B2B2B"/>
                </a:solidFill>
                <a:latin typeface="Arial"/>
              </a:rPr>
              <a:t>The prototype was </a:t>
            </a:r>
            <a:r>
              <a:rPr sz="1200" b="1" i="0">
                <a:solidFill>
                  <a:srgbClr val="2B2B2B"/>
                </a:solidFill>
                <a:latin typeface="Arial"/>
              </a:rPr>
              <a:t>lightweight and manageable</a:t>
            </a:r>
            <a:r>
              <a:rPr sz="1200" b="0" i="0">
                <a:solidFill>
                  <a:srgbClr val="2B2B2B"/>
                </a:solidFill>
                <a:latin typeface="Arial"/>
              </a:rPr>
              <a:t>, and the </a:t>
            </a:r>
            <a:r>
              <a:rPr sz="1200" b="1" i="0">
                <a:solidFill>
                  <a:srgbClr val="2B2B2B"/>
                </a:solidFill>
                <a:latin typeface="Arial"/>
              </a:rPr>
              <a:t>vest made it easier to carry</a:t>
            </a:r>
          </a:p>
        </p:txBody>
      </p:sp>
      <p:sp>
        <p:nvSpPr>
          <p:cNvPr id="9" name="Arrow 1"/>
          <p:cNvSpPr/>
          <p:nvPr/>
        </p:nvSpPr>
        <p:spPr>
          <a:xfrm>
            <a:off x="3737300" y="2391054"/>
            <a:ext cx="201168" cy="237744"/>
          </a:xfrm>
          <a:prstGeom prst="rightArrow">
            <a:avLst/>
          </a:prstGeom>
          <a:solidFill>
            <a:srgbClr val="009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tep 2 card"/>
          <p:cNvSpPr/>
          <p:nvPr/>
        </p:nvSpPr>
        <p:spPr>
          <a:xfrm>
            <a:off x="3984188" y="1371600"/>
            <a:ext cx="2411420" cy="2276652"/>
          </a:xfrm>
          <a:prstGeom prst="roundRect">
            <a:avLst>
              <a:gd name="adj" fmla="val 7229"/>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Step 2 text"/>
          <p:cNvSpPr txBox="1"/>
          <p:nvPr/>
        </p:nvSpPr>
        <p:spPr>
          <a:xfrm>
            <a:off x="4167068" y="1554480"/>
            <a:ext cx="2045660" cy="1910892"/>
          </a:xfrm>
          <a:prstGeom prst="rect">
            <a:avLst/>
          </a:prstGeom>
          <a:noFill/>
        </p:spPr>
        <p:txBody>
          <a:bodyPr wrap="square" lIns="0" rIns="0" tIns="0" bIns="0" anchor="t">
            <a:noAutofit/>
          </a:bodyPr>
          <a:lstStyle/>
          <a:p>
            <a:pPr>
              <a:spcAft>
                <a:spcPts val="540"/>
              </a:spcAft>
              <a:buNone/>
            </a:pPr>
            <a:r>
              <a:rPr sz="1400" b="1" i="0">
                <a:solidFill>
                  <a:srgbClr val="006B2A"/>
                </a:solidFill>
                <a:latin typeface="Arial"/>
              </a:rPr>
              <a:t>Controls: TC-ONS-07 / 17 PASSED</a:t>
            </a:r>
          </a:p>
          <a:p>
            <a:pPr>
              <a:spcAft>
                <a:spcPts val="456"/>
              </a:spcAft>
              <a:buNone/>
            </a:pPr>
            <a:r>
              <a:rPr sz="1200" b="0" i="0">
                <a:solidFill>
                  <a:srgbClr val="2B2B2B"/>
                </a:solidFill>
                <a:latin typeface="Arial"/>
              </a:rPr>
              <a:t>Buttons were </a:t>
            </a:r>
            <a:r>
              <a:rPr sz="1200" b="1" i="0">
                <a:solidFill>
                  <a:srgbClr val="2B2B2B"/>
                </a:solidFill>
                <a:latin typeface="Arial"/>
              </a:rPr>
              <a:t>easily locatable by touch</a:t>
            </a:r>
            <a:r>
              <a:rPr sz="1200" b="0" i="0">
                <a:solidFill>
                  <a:srgbClr val="2B2B2B"/>
                </a:solidFill>
                <a:latin typeface="Arial"/>
              </a:rPr>
              <a:t> and easy to press, including the </a:t>
            </a:r>
            <a:r>
              <a:rPr sz="1200" b="1" i="0">
                <a:solidFill>
                  <a:srgbClr val="2B2B2B"/>
                </a:solidFill>
                <a:latin typeface="Arial"/>
              </a:rPr>
              <a:t>power switch</a:t>
            </a:r>
          </a:p>
        </p:txBody>
      </p:sp>
      <p:sp>
        <p:nvSpPr>
          <p:cNvPr id="12" name="Arrow 2"/>
          <p:cNvSpPr/>
          <p:nvPr/>
        </p:nvSpPr>
        <p:spPr>
          <a:xfrm>
            <a:off x="6441328" y="2391054"/>
            <a:ext cx="201168" cy="237744"/>
          </a:xfrm>
          <a:prstGeom prst="rightArrow">
            <a:avLst/>
          </a:prstGeom>
          <a:solidFill>
            <a:srgbClr val="009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tep 3 card"/>
          <p:cNvSpPr/>
          <p:nvPr/>
        </p:nvSpPr>
        <p:spPr>
          <a:xfrm>
            <a:off x="6688216" y="1371600"/>
            <a:ext cx="2411420" cy="2276652"/>
          </a:xfrm>
          <a:prstGeom prst="roundRect">
            <a:avLst>
              <a:gd name="adj" fmla="val 7229"/>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Step 3 text"/>
          <p:cNvSpPr txBox="1"/>
          <p:nvPr/>
        </p:nvSpPr>
        <p:spPr>
          <a:xfrm>
            <a:off x="6871096" y="1554480"/>
            <a:ext cx="2045660" cy="1910892"/>
          </a:xfrm>
          <a:prstGeom prst="rect">
            <a:avLst/>
          </a:prstGeom>
          <a:noFill/>
        </p:spPr>
        <p:txBody>
          <a:bodyPr wrap="square" lIns="0" rIns="0" tIns="0" bIns="0" anchor="t">
            <a:noAutofit/>
          </a:bodyPr>
          <a:lstStyle/>
          <a:p>
            <a:pPr>
              <a:spcAft>
                <a:spcPts val="540"/>
              </a:spcAft>
              <a:buNone/>
            </a:pPr>
            <a:r>
              <a:rPr sz="1400" b="1" i="0">
                <a:solidFill>
                  <a:srgbClr val="006B2A"/>
                </a:solidFill>
                <a:latin typeface="Arial"/>
              </a:rPr>
              <a:t>Voice: TC-ONS-07 PASSED</a:t>
            </a:r>
          </a:p>
          <a:p>
            <a:pPr>
              <a:spcAft>
                <a:spcPts val="456"/>
              </a:spcAft>
              <a:buNone/>
            </a:pPr>
            <a:r>
              <a:rPr sz="1200" b="0" i="0">
                <a:solidFill>
                  <a:srgbClr val="2B2B2B"/>
                </a:solidFill>
                <a:latin typeface="Arial"/>
              </a:rPr>
              <a:t>PTT command </a:t>
            </a:r>
            <a:r>
              <a:rPr sz="1200" b="1" i="0">
                <a:solidFill>
                  <a:srgbClr val="2B2B2B"/>
                </a:solidFill>
                <a:latin typeface="Arial"/>
              </a:rPr>
              <a:t>recognised</a:t>
            </a:r>
            <a:r>
              <a:rPr sz="1200" b="0" i="0">
                <a:solidFill>
                  <a:srgbClr val="2B2B2B"/>
                </a:solidFill>
                <a:latin typeface="Arial"/>
              </a:rPr>
              <a:t> and the function </a:t>
            </a:r>
            <a:r>
              <a:rPr sz="1200" b="1" i="0">
                <a:solidFill>
                  <a:srgbClr val="2B2B2B"/>
                </a:solidFill>
                <a:latin typeface="Arial"/>
              </a:rPr>
              <a:t>activated</a:t>
            </a:r>
          </a:p>
        </p:txBody>
      </p:sp>
      <p:sp>
        <p:nvSpPr>
          <p:cNvPr id="15" name="Field 2 card"/>
          <p:cNvSpPr/>
          <p:nvPr/>
        </p:nvSpPr>
        <p:spPr>
          <a:xfrm>
            <a:off x="1280160" y="3904284"/>
            <a:ext cx="7819476" cy="2085035"/>
          </a:xfrm>
          <a:prstGeom prst="roundRect">
            <a:avLst>
              <a:gd name="adj" fmla="val 7893"/>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Field 2 text 1"/>
          <p:cNvSpPr txBox="1"/>
          <p:nvPr/>
        </p:nvSpPr>
        <p:spPr>
          <a:xfrm>
            <a:off x="1463039" y="4087164"/>
            <a:ext cx="3589698" cy="1719275"/>
          </a:xfrm>
          <a:prstGeom prst="rect">
            <a:avLst/>
          </a:prstGeom>
          <a:noFill/>
        </p:spPr>
        <p:txBody>
          <a:bodyPr wrap="square" lIns="0" rIns="0" tIns="0" bIns="0" anchor="t">
            <a:noAutofit/>
          </a:bodyPr>
          <a:lstStyle/>
          <a:p>
            <a:pPr marL="201168" indent="-201168">
              <a:spcAft>
                <a:spcPts val="456"/>
              </a:spcAft>
              <a:buClr>
                <a:srgbClr val="00943A"/>
              </a:buClr>
              <a:buFont typeface="Arial"/>
              <a:buChar char="•"/>
            </a:pPr>
            <a:r>
              <a:rPr sz="1200" b="1" i="0">
                <a:solidFill>
                  <a:srgbClr val="2B2B2B"/>
                </a:solidFill>
                <a:latin typeface="Arial"/>
              </a:rPr>
              <a:t>Safety link: TC-ONS-13 PASSED.</a:t>
            </a:r>
            <a:r>
              <a:rPr sz="1200" b="0" i="0">
                <a:solidFill>
                  <a:srgbClr val="2B2B2B"/>
                </a:solidFill>
                <a:latin typeface="Arial"/>
              </a:rPr>
              <a:t> </a:t>
            </a:r>
            <a:r>
              <a:rPr sz="1200" b="1" i="0">
                <a:solidFill>
                  <a:srgbClr val="2B2B2B"/>
                </a:solidFill>
                <a:latin typeface="Arial"/>
              </a:rPr>
              <a:t>Emergency SOS</a:t>
            </a:r>
            <a:r>
              <a:rPr sz="1200" b="0" i="0">
                <a:solidFill>
                  <a:srgbClr val="2B2B2B"/>
                </a:solidFill>
                <a:latin typeface="Arial"/>
              </a:rPr>
              <a:t> reached the </a:t>
            </a:r>
            <a:r>
              <a:rPr sz="1200" b="1" i="0">
                <a:solidFill>
                  <a:srgbClr val="2B2B2B"/>
                </a:solidFill>
                <a:latin typeface="Arial"/>
              </a:rPr>
              <a:t>guardian application</a:t>
            </a:r>
          </a:p>
          <a:p>
            <a:pPr marL="201168" indent="-201168">
              <a:spcAft>
                <a:spcPts val="456"/>
              </a:spcAft>
              <a:buClr>
                <a:srgbClr val="00943A"/>
              </a:buClr>
              <a:buFont typeface="Arial"/>
              <a:buChar char="•"/>
            </a:pPr>
            <a:r>
              <a:rPr sz="1200" b="1" i="0">
                <a:solidFill>
                  <a:srgbClr val="2B2B2B"/>
                </a:solidFill>
                <a:latin typeface="Arial"/>
              </a:rPr>
              <a:t>Tracking: TC-ONS-12 PASSED.</a:t>
            </a:r>
            <a:r>
              <a:rPr sz="1200" b="0" i="0">
                <a:solidFill>
                  <a:srgbClr val="2B2B2B"/>
                </a:solidFill>
                <a:latin typeface="Arial"/>
              </a:rPr>
              <a:t> Guardian app </a:t>
            </a:r>
            <a:r>
              <a:rPr sz="1200" b="1" i="0">
                <a:solidFill>
                  <a:srgbClr val="2B2B2B"/>
                </a:solidFill>
                <a:latin typeface="Arial"/>
              </a:rPr>
              <a:t>received updated location and status</a:t>
            </a:r>
          </a:p>
          <a:p>
            <a:pPr marL="201168" indent="-201168">
              <a:spcAft>
                <a:spcPts val="456"/>
              </a:spcAft>
              <a:buClr>
                <a:srgbClr val="00943A"/>
              </a:buClr>
              <a:buFont typeface="Arial"/>
              <a:buChar char="•"/>
            </a:pPr>
            <a:r>
              <a:rPr sz="1200" b="1" i="0">
                <a:solidFill>
                  <a:srgbClr val="2B2B2B"/>
                </a:solidFill>
                <a:latin typeface="Arial"/>
              </a:rPr>
              <a:t>GNSS: TC-ONS-10 / 11 PASSED.</a:t>
            </a:r>
            <a:r>
              <a:rPr sz="1200" b="0" i="0">
                <a:solidFill>
                  <a:srgbClr val="2B2B2B"/>
                </a:solidFill>
                <a:latin typeface="Arial"/>
              </a:rPr>
              <a:t> Location </a:t>
            </a:r>
            <a:r>
              <a:rPr sz="1200" b="1" i="0">
                <a:solidFill>
                  <a:srgbClr val="2B2B2B"/>
                </a:solidFill>
                <a:latin typeface="Arial"/>
              </a:rPr>
              <a:t>recorded</a:t>
            </a:r>
            <a:r>
              <a:rPr sz="1200" b="0" i="0">
                <a:solidFill>
                  <a:srgbClr val="2B2B2B"/>
                </a:solidFill>
                <a:latin typeface="Arial"/>
              </a:rPr>
              <a:t>, with </a:t>
            </a:r>
            <a:r>
              <a:rPr sz="1200" b="1" i="0">
                <a:solidFill>
                  <a:srgbClr val="2B2B2B"/>
                </a:solidFill>
                <a:latin typeface="Arial"/>
              </a:rPr>
              <a:t>reconnection</a:t>
            </a:r>
            <a:r>
              <a:rPr sz="1200" b="0" i="0">
                <a:solidFill>
                  <a:srgbClr val="2B2B2B"/>
                </a:solidFill>
                <a:latin typeface="Arial"/>
              </a:rPr>
              <a:t> after indoor/outdoor transitions</a:t>
            </a:r>
          </a:p>
        </p:txBody>
      </p:sp>
      <p:sp>
        <p:nvSpPr>
          <p:cNvPr id="17" name="Field 2 text 2"/>
          <p:cNvSpPr txBox="1"/>
          <p:nvPr/>
        </p:nvSpPr>
        <p:spPr>
          <a:xfrm>
            <a:off x="5327058" y="4087164"/>
            <a:ext cx="3589698" cy="1719275"/>
          </a:xfrm>
          <a:prstGeom prst="rect">
            <a:avLst/>
          </a:prstGeom>
          <a:noFill/>
        </p:spPr>
        <p:txBody>
          <a:bodyPr wrap="square" lIns="0" rIns="0" tIns="0" bIns="0" anchor="t">
            <a:noAutofit/>
          </a:bodyPr>
          <a:lstStyle/>
          <a:p>
            <a:pPr marL="201168" indent="-201168">
              <a:spcAft>
                <a:spcPts val="456"/>
              </a:spcAft>
              <a:buClr>
                <a:srgbClr val="00943A"/>
              </a:buClr>
              <a:buFont typeface="Arial"/>
              <a:buChar char="•"/>
            </a:pPr>
            <a:r>
              <a:rPr sz="1200" b="1" i="0">
                <a:solidFill>
                  <a:srgbClr val="2B2B2B"/>
                </a:solidFill>
                <a:latin typeface="Arial"/>
              </a:rPr>
              <a:t>Endurance: TC-ONS-15 PASSED.</a:t>
            </a:r>
            <a:r>
              <a:rPr sz="1200" b="0" i="0">
                <a:solidFill>
                  <a:srgbClr val="2B2B2B"/>
                </a:solidFill>
                <a:latin typeface="Arial"/>
              </a:rPr>
              <a:t> </a:t>
            </a:r>
            <a:r>
              <a:rPr sz="1200" b="1" i="0">
                <a:solidFill>
                  <a:srgbClr val="2B2B2B"/>
                </a:solidFill>
                <a:latin typeface="Arial"/>
              </a:rPr>
              <a:t>No unexpected shutdowns</a:t>
            </a:r>
            <a:r>
              <a:rPr sz="1200" b="0" i="0">
                <a:solidFill>
                  <a:srgbClr val="2B2B2B"/>
                </a:solidFill>
                <a:latin typeface="Arial"/>
              </a:rPr>
              <a:t> during the session</a:t>
            </a:r>
          </a:p>
          <a:p>
            <a:pPr marL="201168" indent="-201168">
              <a:spcAft>
                <a:spcPts val="456"/>
              </a:spcAft>
              <a:buClr>
                <a:srgbClr val="00943A"/>
              </a:buClr>
              <a:buFont typeface="Arial"/>
              <a:buChar char="•"/>
            </a:pPr>
            <a:r>
              <a:rPr sz="1200" b="1" i="0">
                <a:solidFill>
                  <a:srgbClr val="2B2B2B"/>
                </a:solidFill>
                <a:latin typeface="Arial"/>
              </a:rPr>
              <a:t>Camera: TC-ONS-08 PASSED.</a:t>
            </a:r>
            <a:r>
              <a:rPr sz="1200" b="0" i="0">
                <a:solidFill>
                  <a:srgbClr val="2B2B2B"/>
                </a:solidFill>
                <a:latin typeface="Arial"/>
              </a:rPr>
              <a:t> </a:t>
            </a:r>
            <a:r>
              <a:rPr sz="1200" b="1" i="0">
                <a:solidFill>
                  <a:srgbClr val="2B2B2B"/>
                </a:solidFill>
                <a:latin typeface="Arial"/>
              </a:rPr>
              <a:t>Helpful</a:t>
            </a:r>
            <a:r>
              <a:rPr sz="1200" b="0" i="0">
                <a:solidFill>
                  <a:srgbClr val="2B2B2B"/>
                </a:solidFill>
                <a:latin typeface="Arial"/>
              </a:rPr>
              <a:t> for identifying objects ahead</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tion kicker"/>
          <p:cNvSpPr txBox="1"/>
          <p:nvPr/>
        </p:nvSpPr>
        <p:spPr>
          <a:xfrm>
            <a:off x="1280160" y="292608"/>
            <a:ext cx="8686800" cy="256032"/>
          </a:xfrm>
          <a:prstGeom prst="rect">
            <a:avLst/>
          </a:prstGeom>
          <a:noFill/>
        </p:spPr>
        <p:txBody>
          <a:bodyPr wrap="square" lIns="0" rIns="0" tIns="0" bIns="0" anchor="t">
            <a:noAutofit/>
          </a:bodyPr>
          <a:lstStyle/>
          <a:p>
            <a:r>
              <a:rPr sz="1100" b="1" i="0">
                <a:solidFill>
                  <a:srgbClr val="6B6B6B"/>
                </a:solidFill>
                <a:latin typeface="Arial"/>
              </a:rPr>
              <a:t>RESULTS: ON-SITE DEPLOYMENT</a:t>
            </a:r>
          </a:p>
        </p:txBody>
      </p:sp>
      <p:sp>
        <p:nvSpPr>
          <p:cNvPr id="3" name="Title"/>
          <p:cNvSpPr txBox="1"/>
          <p:nvPr/>
        </p:nvSpPr>
        <p:spPr>
          <a:xfrm>
            <a:off x="1280160" y="502920"/>
            <a:ext cx="10469880" cy="731520"/>
          </a:xfrm>
          <a:prstGeom prst="rect">
            <a:avLst/>
          </a:prstGeom>
          <a:noFill/>
        </p:spPr>
        <p:txBody>
          <a:bodyPr wrap="square" lIns="0" rIns="0" tIns="0" bIns="0" anchor="ctr">
            <a:noAutofit/>
          </a:bodyPr>
          <a:lstStyle/>
          <a:p>
            <a:r>
              <a:rPr sz="2800" b="1" i="0">
                <a:solidFill>
                  <a:srgbClr val="00943A"/>
                </a:solidFill>
                <a:latin typeface="Arial"/>
              </a:rPr>
              <a:t>Critical Failure: Computer Vision in Public Lighting</a:t>
            </a:r>
          </a:p>
        </p:txBody>
      </p:sp>
      <p:sp>
        <p:nvSpPr>
          <p:cNvPr id="4" name="Slide number"/>
          <p:cNvSpPr txBox="1"/>
          <p:nvPr/>
        </p:nvSpPr>
        <p:spPr>
          <a:xfrm>
            <a:off x="1280160" y="6327648"/>
            <a:ext cx="2286000" cy="274320"/>
          </a:xfrm>
          <a:prstGeom prst="rect">
            <a:avLst/>
          </a:prstGeom>
          <a:noFill/>
        </p:spPr>
        <p:txBody>
          <a:bodyPr wrap="square" lIns="0" rIns="0" tIns="0" bIns="0" anchor="t">
            <a:noAutofit/>
          </a:bodyPr>
          <a:lstStyle/>
          <a:p>
            <a:r>
              <a:rPr sz="1000" b="0" i="0">
                <a:solidFill>
                  <a:srgbClr val="6B6B6B"/>
                </a:solidFill>
                <a:latin typeface="Arial"/>
              </a:rPr>
              <a:t>IndepenSense · 42</a:t>
            </a:r>
          </a:p>
        </p:txBody>
      </p:sp>
      <p:sp>
        <p:nvSpPr>
          <p:cNvPr id="5" name="Field 1 card"/>
          <p:cNvSpPr/>
          <p:nvPr/>
        </p:nvSpPr>
        <p:spPr>
          <a:xfrm>
            <a:off x="1280160" y="1371600"/>
            <a:ext cx="4762206" cy="4617720"/>
          </a:xfrm>
          <a:prstGeom prst="roundRect">
            <a:avLst>
              <a:gd name="adj" fmla="val 3564"/>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ield 1 text"/>
          <p:cNvSpPr txBox="1"/>
          <p:nvPr/>
        </p:nvSpPr>
        <p:spPr>
          <a:xfrm>
            <a:off x="1463039" y="1554480"/>
            <a:ext cx="4396446" cy="4251959"/>
          </a:xfrm>
          <a:prstGeom prst="rect">
            <a:avLst/>
          </a:prstGeom>
          <a:noFill/>
        </p:spPr>
        <p:txBody>
          <a:bodyPr wrap="square" lIns="0" rIns="0" tIns="0" bIns="0" anchor="t">
            <a:noAutofit/>
          </a:bodyPr>
          <a:lstStyle/>
          <a:p>
            <a:pPr>
              <a:spcAft>
                <a:spcPts val="720"/>
              </a:spcAft>
              <a:buNone/>
            </a:pPr>
            <a:r>
              <a:rPr sz="1800" b="1" i="0">
                <a:solidFill>
                  <a:srgbClr val="006B2A"/>
                </a:solidFill>
                <a:latin typeface="Arial"/>
              </a:rPr>
              <a:t>TC-ONS-09 Object recognition with common objects: FAILED</a:t>
            </a:r>
          </a:p>
          <a:p>
            <a:pPr marL="201168" indent="-201168">
              <a:spcAft>
                <a:spcPts val="608"/>
              </a:spcAft>
              <a:buClr>
                <a:srgbClr val="00943A"/>
              </a:buClr>
              <a:buFont typeface="Arial"/>
              <a:buChar char="•"/>
            </a:pPr>
            <a:r>
              <a:rPr sz="1600" b="0" i="0">
                <a:solidFill>
                  <a:srgbClr val="2B2B2B"/>
                </a:solidFill>
                <a:latin typeface="Arial"/>
              </a:rPr>
              <a:t>Test objects: </a:t>
            </a:r>
            <a:r>
              <a:rPr sz="1600" b="1" i="0">
                <a:solidFill>
                  <a:srgbClr val="2B2B2B"/>
                </a:solidFill>
                <a:latin typeface="Arial"/>
              </a:rPr>
              <a:t>signs, chairs, tables, displays</a:t>
            </a:r>
          </a:p>
          <a:p>
            <a:pPr marL="201168" indent="-201168">
              <a:spcAft>
                <a:spcPts val="608"/>
              </a:spcAft>
              <a:buClr>
                <a:srgbClr val="00943A"/>
              </a:buClr>
              <a:buFont typeface="Arial"/>
              <a:buChar char="•"/>
            </a:pPr>
            <a:r>
              <a:rPr sz="1600" b="0" i="0">
                <a:solidFill>
                  <a:srgbClr val="2B2B2B"/>
                </a:solidFill>
                <a:latin typeface="Arial"/>
              </a:rPr>
              <a:t>Objects </a:t>
            </a:r>
            <a:r>
              <a:rPr sz="1600" b="1" i="0">
                <a:solidFill>
                  <a:srgbClr val="2B2B2B"/>
                </a:solidFill>
                <a:latin typeface="Arial"/>
              </a:rPr>
              <a:t>not detected with high accuracy</a:t>
            </a:r>
          </a:p>
          <a:p>
            <a:pPr marL="201168" indent="-201168">
              <a:spcAft>
                <a:spcPts val="608"/>
              </a:spcAft>
              <a:buClr>
                <a:srgbClr val="00943A"/>
              </a:buClr>
              <a:buFont typeface="Arial"/>
              <a:buChar char="•"/>
            </a:pPr>
            <a:r>
              <a:rPr sz="1600" b="0" i="0">
                <a:solidFill>
                  <a:srgbClr val="2B2B2B"/>
                </a:solidFill>
                <a:latin typeface="Arial"/>
              </a:rPr>
              <a:t>Recognition </a:t>
            </a:r>
            <a:r>
              <a:rPr sz="1600" b="1" i="0">
                <a:solidFill>
                  <a:srgbClr val="2B2B2B"/>
                </a:solidFill>
                <a:latin typeface="Arial"/>
              </a:rPr>
              <a:t>dropped significantly</a:t>
            </a:r>
            <a:r>
              <a:rPr sz="1600" b="0" i="0">
                <a:solidFill>
                  <a:srgbClr val="2B2B2B"/>
                </a:solidFill>
                <a:latin typeface="Arial"/>
              </a:rPr>
              <a:t> under </a:t>
            </a:r>
            <a:r>
              <a:rPr sz="1600" b="1" i="0">
                <a:solidFill>
                  <a:srgbClr val="2B2B2B"/>
                </a:solidFill>
                <a:latin typeface="Arial"/>
              </a:rPr>
              <a:t>public indoor lighting</a:t>
            </a:r>
            <a:r>
              <a:rPr sz="1600" b="0" i="0">
                <a:solidFill>
                  <a:srgbClr val="2B2B2B"/>
                </a:solidFill>
                <a:latin typeface="Arial"/>
              </a:rPr>
              <a:t> and </a:t>
            </a:r>
            <a:r>
              <a:rPr sz="1600" b="1" i="0">
                <a:solidFill>
                  <a:srgbClr val="2B2B2B"/>
                </a:solidFill>
                <a:latin typeface="Arial"/>
              </a:rPr>
              <a:t>depth/distance variation</a:t>
            </a:r>
          </a:p>
          <a:p>
            <a:pPr marL="201168" indent="-201168">
              <a:spcAft>
                <a:spcPts val="608"/>
              </a:spcAft>
              <a:buClr>
                <a:srgbClr val="00943A"/>
              </a:buClr>
              <a:buFont typeface="Arial"/>
              <a:buChar char="•"/>
            </a:pPr>
            <a:r>
              <a:rPr sz="1600" b="1" i="0">
                <a:solidFill>
                  <a:srgbClr val="2B2B2B"/>
                </a:solidFill>
                <a:latin typeface="Arial"/>
              </a:rPr>
              <a:t>Public signs not read accurately</a:t>
            </a:r>
          </a:p>
          <a:p>
            <a:pPr marL="201168" indent="-201168">
              <a:spcAft>
                <a:spcPts val="608"/>
              </a:spcAft>
              <a:buClr>
                <a:srgbClr val="00943A"/>
              </a:buClr>
              <a:buFont typeface="Arial"/>
              <a:buChar char="•"/>
            </a:pPr>
            <a:r>
              <a:rPr sz="1600" b="0" i="0">
                <a:solidFill>
                  <a:srgbClr val="2B2B2B"/>
                </a:solidFill>
                <a:latin typeface="Arial"/>
              </a:rPr>
              <a:t>On </a:t>
            </a:r>
            <a:r>
              <a:rPr sz="1600" b="1" i="0">
                <a:solidFill>
                  <a:srgbClr val="2B2B2B"/>
                </a:solidFill>
                <a:latin typeface="Arial"/>
              </a:rPr>
              <a:t>one or two occasions</a:t>
            </a:r>
            <a:r>
              <a:rPr sz="1600" b="0" i="0">
                <a:solidFill>
                  <a:srgbClr val="2B2B2B"/>
                </a:solidFill>
                <a:latin typeface="Arial"/>
              </a:rPr>
              <a:t> a misdetection </a:t>
            </a:r>
            <a:r>
              <a:rPr sz="1600" b="1" i="0">
                <a:solidFill>
                  <a:srgbClr val="2B2B2B"/>
                </a:solidFill>
                <a:latin typeface="Arial"/>
              </a:rPr>
              <a:t>affected the spoken description</a:t>
            </a:r>
          </a:p>
          <a:p>
            <a:pPr marL="201168" indent="-201168">
              <a:spcAft>
                <a:spcPts val="608"/>
              </a:spcAft>
              <a:buClr>
                <a:srgbClr val="00943A"/>
              </a:buClr>
              <a:buFont typeface="Arial"/>
              <a:buChar char="•"/>
            </a:pPr>
            <a:r>
              <a:rPr sz="1600" b="0" i="0">
                <a:solidFill>
                  <a:srgbClr val="2B2B2B"/>
                </a:solidFill>
                <a:latin typeface="Arial"/>
              </a:rPr>
              <a:t>Consistent with bench </a:t>
            </a:r>
            <a:r>
              <a:rPr sz="1600" b="1" i="0">
                <a:solidFill>
                  <a:srgbClr val="2B2B2B"/>
                </a:solidFill>
                <a:latin typeface="Arial"/>
              </a:rPr>
              <a:t>TC-CAM-06 (FAILED)</a:t>
            </a:r>
          </a:p>
        </p:txBody>
      </p:sp>
      <p:sp>
        <p:nvSpPr>
          <p:cNvPr id="7" name="Field 2 card"/>
          <p:cNvSpPr/>
          <p:nvPr/>
        </p:nvSpPr>
        <p:spPr>
          <a:xfrm>
            <a:off x="6298398" y="1371600"/>
            <a:ext cx="5451641" cy="4617720"/>
          </a:xfrm>
          <a:prstGeom prst="roundRect">
            <a:avLst>
              <a:gd name="adj" fmla="val 3564"/>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Field 2 text"/>
          <p:cNvSpPr txBox="1"/>
          <p:nvPr/>
        </p:nvSpPr>
        <p:spPr>
          <a:xfrm>
            <a:off x="6481278" y="1554480"/>
            <a:ext cx="5085881" cy="4251959"/>
          </a:xfrm>
          <a:prstGeom prst="rect">
            <a:avLst/>
          </a:prstGeom>
          <a:noFill/>
        </p:spPr>
        <p:txBody>
          <a:bodyPr wrap="square" lIns="0" rIns="0" tIns="0" bIns="0" anchor="t">
            <a:noAutofit/>
          </a:bodyPr>
          <a:lstStyle/>
          <a:p>
            <a:pPr marL="201168" indent="-201168">
              <a:spcAft>
                <a:spcPts val="608"/>
              </a:spcAft>
              <a:buClr>
                <a:srgbClr val="00943A"/>
              </a:buClr>
              <a:buFont typeface="Arial"/>
              <a:buChar char="•"/>
            </a:pPr>
            <a:r>
              <a:rPr sz="1600" b="1" i="0">
                <a:solidFill>
                  <a:srgbClr val="2B2B2B"/>
                </a:solidFill>
                <a:latin typeface="Arial"/>
              </a:rPr>
              <a:t>Lighting:</a:t>
            </a:r>
            <a:r>
              <a:rPr sz="1600" b="0" i="0">
                <a:solidFill>
                  <a:srgbClr val="2B2B2B"/>
                </a:solidFill>
                <a:latin typeface="Arial"/>
              </a:rPr>
              <a:t> mall lighting creates </a:t>
            </a:r>
            <a:r>
              <a:rPr sz="1600" b="1" i="0">
                <a:solidFill>
                  <a:srgbClr val="2B2B2B"/>
                </a:solidFill>
                <a:latin typeface="Arial"/>
              </a:rPr>
              <a:t>glare, reflections and back-lit displays</a:t>
            </a:r>
          </a:p>
          <a:p>
            <a:pPr marL="201168" indent="-201168">
              <a:spcAft>
                <a:spcPts val="608"/>
              </a:spcAft>
              <a:buClr>
                <a:srgbClr val="00943A"/>
              </a:buClr>
              <a:buFont typeface="Arial"/>
              <a:buChar char="•"/>
            </a:pPr>
            <a:r>
              <a:rPr sz="1600" b="1" i="0">
                <a:solidFill>
                  <a:srgbClr val="2B2B2B"/>
                </a:solidFill>
                <a:latin typeface="Arial"/>
              </a:rPr>
              <a:t>Depth:</a:t>
            </a:r>
            <a:r>
              <a:rPr sz="1600" b="0" i="0">
                <a:solidFill>
                  <a:srgbClr val="2B2B2B"/>
                </a:solidFill>
                <a:latin typeface="Arial"/>
              </a:rPr>
              <a:t> objects at varying range fall </a:t>
            </a:r>
            <a:r>
              <a:rPr sz="1600" b="1" i="0">
                <a:solidFill>
                  <a:srgbClr val="2B2B2B"/>
                </a:solidFill>
                <a:latin typeface="Arial"/>
              </a:rPr>
              <a:t>below detector resolution</a:t>
            </a:r>
          </a:p>
          <a:p>
            <a:pPr marL="201168" indent="-201168">
              <a:spcAft>
                <a:spcPts val="608"/>
              </a:spcAft>
              <a:buClr>
                <a:srgbClr val="00943A"/>
              </a:buClr>
              <a:buFont typeface="Arial"/>
              <a:buChar char="•"/>
            </a:pPr>
            <a:r>
              <a:rPr sz="1600" b="1" i="0">
                <a:solidFill>
                  <a:srgbClr val="2B2B2B"/>
                </a:solidFill>
                <a:latin typeface="Arial"/>
              </a:rPr>
              <a:t>Sign reading:</a:t>
            </a:r>
            <a:r>
              <a:rPr sz="1600" b="0" i="0">
                <a:solidFill>
                  <a:srgbClr val="2B2B2B"/>
                </a:solidFill>
                <a:latin typeface="Arial"/>
              </a:rPr>
              <a:t> OCR needs </a:t>
            </a:r>
            <a:r>
              <a:rPr sz="1600" b="1" i="0">
                <a:solidFill>
                  <a:srgbClr val="2B2B2B"/>
                </a:solidFill>
                <a:latin typeface="Arial"/>
              </a:rPr>
              <a:t>near-frontal, sharp, well-lit text</a:t>
            </a:r>
            <a:r>
              <a:rPr sz="1600" b="0" i="0">
                <a:solidFill>
                  <a:srgbClr val="2B2B2B"/>
                </a:solidFill>
                <a:latin typeface="Arial"/>
              </a:rPr>
              <a:t>. Signs are </a:t>
            </a:r>
            <a:r>
              <a:rPr sz="1600" b="1" i="0">
                <a:solidFill>
                  <a:srgbClr val="2B2B2B"/>
                </a:solidFill>
                <a:latin typeface="Arial"/>
              </a:rPr>
              <a:t>angled, distant and stylised</a:t>
            </a:r>
            <a:r>
              <a:rPr sz="1600" b="0" i="0">
                <a:solidFill>
                  <a:srgbClr val="2B2B2B"/>
                </a:solidFill>
                <a:latin typeface="Arial"/>
              </a:rPr>
              <a:t>, and a blind user </a:t>
            </a:r>
            <a:r>
              <a:rPr sz="1600" b="1" i="0">
                <a:solidFill>
                  <a:srgbClr val="2B2B2B"/>
                </a:solidFill>
                <a:latin typeface="Arial"/>
              </a:rPr>
              <a:t>cannot aim</a:t>
            </a:r>
            <a:r>
              <a:rPr sz="1600" b="0" i="0">
                <a:solidFill>
                  <a:srgbClr val="2B2B2B"/>
                </a:solidFill>
                <a:latin typeface="Arial"/>
              </a:rPr>
              <a:t> the camera precisely</a:t>
            </a:r>
          </a:p>
          <a:p>
            <a:pPr marL="201168" indent="-201168">
              <a:spcAft>
                <a:spcPts val="608"/>
              </a:spcAft>
              <a:buClr>
                <a:srgbClr val="00943A"/>
              </a:buClr>
              <a:buFont typeface="Arial"/>
              <a:buChar char="•"/>
            </a:pPr>
            <a:r>
              <a:rPr sz="1600" b="1" i="0">
                <a:solidFill>
                  <a:srgbClr val="2B2B2B"/>
                </a:solidFill>
                <a:latin typeface="Arial"/>
              </a:rPr>
              <a:t>Compute:</a:t>
            </a:r>
            <a:r>
              <a:rPr sz="1600" b="0" i="0">
                <a:solidFill>
                  <a:srgbClr val="2B2B2B"/>
                </a:solidFill>
                <a:latin typeface="Arial"/>
              </a:rPr>
              <a:t> a larger CPU model on the Pi limits </a:t>
            </a:r>
            <a:r>
              <a:rPr sz="1600" b="1" i="0">
                <a:solidFill>
                  <a:srgbClr val="2B2B2B"/>
                </a:solidFill>
                <a:latin typeface="Arial"/>
              </a:rPr>
              <a:t>frame rate and retries</a:t>
            </a:r>
          </a:p>
          <a:p>
            <a:pPr marL="201168" indent="-201168">
              <a:spcAft>
                <a:spcPts val="608"/>
              </a:spcAft>
              <a:buClr>
                <a:srgbClr val="00943A"/>
              </a:buClr>
              <a:buFont typeface="Arial"/>
              <a:buChar char="•"/>
            </a:pPr>
            <a:r>
              <a:rPr sz="1600" b="1" i="0">
                <a:solidFill>
                  <a:srgbClr val="2B2B2B"/>
                </a:solidFill>
                <a:latin typeface="Arial"/>
              </a:rPr>
              <a:t>Safety boundary held:</a:t>
            </a:r>
            <a:r>
              <a:rPr sz="1600" b="0" i="0">
                <a:solidFill>
                  <a:srgbClr val="2B2B2B"/>
                </a:solidFill>
                <a:latin typeface="Arial"/>
              </a:rPr>
              <a:t> obstacle avoidance relies on the </a:t>
            </a:r>
            <a:r>
              <a:rPr sz="1600" b="1" i="0">
                <a:solidFill>
                  <a:srgbClr val="2B2B2B"/>
                </a:solidFill>
                <a:latin typeface="Arial"/>
              </a:rPr>
              <a:t>ultrasonics</a:t>
            </a:r>
            <a:r>
              <a:rPr sz="1600" b="0" i="0">
                <a:solidFill>
                  <a:srgbClr val="2B2B2B"/>
                </a:solidFill>
                <a:latin typeface="Arial"/>
              </a:rPr>
              <a:t>, not vision</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tion kicker"/>
          <p:cNvSpPr txBox="1"/>
          <p:nvPr/>
        </p:nvSpPr>
        <p:spPr>
          <a:xfrm>
            <a:off x="1280160" y="292608"/>
            <a:ext cx="8686800" cy="256032"/>
          </a:xfrm>
          <a:prstGeom prst="rect">
            <a:avLst/>
          </a:prstGeom>
          <a:noFill/>
        </p:spPr>
        <p:txBody>
          <a:bodyPr wrap="square" lIns="0" rIns="0" tIns="0" bIns="0" anchor="t">
            <a:noAutofit/>
          </a:bodyPr>
          <a:lstStyle/>
          <a:p>
            <a:r>
              <a:rPr sz="1100" b="1" i="0">
                <a:solidFill>
                  <a:srgbClr val="6B6B6B"/>
                </a:solidFill>
                <a:latin typeface="Arial"/>
              </a:rPr>
              <a:t>RESULTS: ON-SITE DEPLOYMENT</a:t>
            </a:r>
          </a:p>
        </p:txBody>
      </p:sp>
      <p:sp>
        <p:nvSpPr>
          <p:cNvPr id="3" name="Title"/>
          <p:cNvSpPr txBox="1"/>
          <p:nvPr/>
        </p:nvSpPr>
        <p:spPr>
          <a:xfrm>
            <a:off x="1280160" y="502920"/>
            <a:ext cx="10469880" cy="731520"/>
          </a:xfrm>
          <a:prstGeom prst="rect">
            <a:avLst/>
          </a:prstGeom>
          <a:noFill/>
        </p:spPr>
        <p:txBody>
          <a:bodyPr wrap="square" lIns="0" rIns="0" tIns="0" bIns="0" anchor="ctr">
            <a:noAutofit/>
          </a:bodyPr>
          <a:lstStyle/>
          <a:p>
            <a:r>
              <a:rPr sz="2800" b="1" i="0">
                <a:solidFill>
                  <a:srgbClr val="00943A"/>
                </a:solidFill>
                <a:latin typeface="Arial"/>
              </a:rPr>
              <a:t>Edge Cases: Speech Accent and Fall Verification</a:t>
            </a:r>
          </a:p>
        </p:txBody>
      </p:sp>
      <p:sp>
        <p:nvSpPr>
          <p:cNvPr id="4" name="Slide number"/>
          <p:cNvSpPr txBox="1"/>
          <p:nvPr/>
        </p:nvSpPr>
        <p:spPr>
          <a:xfrm>
            <a:off x="1280160" y="6327648"/>
            <a:ext cx="2286000" cy="274320"/>
          </a:xfrm>
          <a:prstGeom prst="rect">
            <a:avLst/>
          </a:prstGeom>
          <a:noFill/>
        </p:spPr>
        <p:txBody>
          <a:bodyPr wrap="square" lIns="0" rIns="0" tIns="0" bIns="0" anchor="t">
            <a:noAutofit/>
          </a:bodyPr>
          <a:lstStyle/>
          <a:p>
            <a:r>
              <a:rPr sz="1000" b="0" i="0">
                <a:solidFill>
                  <a:srgbClr val="6B6B6B"/>
                </a:solidFill>
                <a:latin typeface="Arial"/>
              </a:rPr>
              <a:t>IndepenSense · 43</a:t>
            </a:r>
          </a:p>
        </p:txBody>
      </p:sp>
      <p:sp>
        <p:nvSpPr>
          <p:cNvPr id="5" name="Field 1 card"/>
          <p:cNvSpPr/>
          <p:nvPr/>
        </p:nvSpPr>
        <p:spPr>
          <a:xfrm>
            <a:off x="1280160" y="1371600"/>
            <a:ext cx="5583217" cy="4617720"/>
          </a:xfrm>
          <a:prstGeom prst="roundRect">
            <a:avLst>
              <a:gd name="adj" fmla="val 3564"/>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ield 1 text"/>
          <p:cNvSpPr txBox="1"/>
          <p:nvPr/>
        </p:nvSpPr>
        <p:spPr>
          <a:xfrm>
            <a:off x="1463039" y="1554480"/>
            <a:ext cx="5217457" cy="4251959"/>
          </a:xfrm>
          <a:prstGeom prst="rect">
            <a:avLst/>
          </a:prstGeom>
          <a:noFill/>
        </p:spPr>
        <p:txBody>
          <a:bodyPr wrap="square" lIns="0" rIns="0" tIns="0" bIns="0" anchor="t">
            <a:noAutofit/>
          </a:bodyPr>
          <a:lstStyle/>
          <a:p>
            <a:pPr>
              <a:spcAft>
                <a:spcPts val="765"/>
              </a:spcAft>
              <a:buNone/>
            </a:pPr>
            <a:r>
              <a:rPr sz="1900" b="1" i="0">
                <a:solidFill>
                  <a:srgbClr val="006B2A"/>
                </a:solidFill>
                <a:latin typeface="Arial"/>
              </a:rPr>
              <a:t>TC-ONS-06 Audio feedback: PASSED, with a qualification</a:t>
            </a:r>
          </a:p>
          <a:p>
            <a:pPr marL="201168" indent="-201168">
              <a:spcAft>
                <a:spcPts val="646"/>
              </a:spcAft>
              <a:buClr>
                <a:srgbClr val="00943A"/>
              </a:buClr>
              <a:buFont typeface="Arial"/>
              <a:buChar char="•"/>
            </a:pPr>
            <a:r>
              <a:rPr sz="1700" b="0" i="0">
                <a:solidFill>
                  <a:srgbClr val="2B2B2B"/>
                </a:solidFill>
                <a:latin typeface="Arial"/>
              </a:rPr>
              <a:t>The participant </a:t>
            </a:r>
            <a:r>
              <a:rPr sz="1700" b="1" i="0">
                <a:solidFill>
                  <a:srgbClr val="2B2B2B"/>
                </a:solidFill>
                <a:latin typeface="Arial"/>
              </a:rPr>
              <a:t>could hear</a:t>
            </a:r>
            <a:r>
              <a:rPr sz="1700" b="0" i="0">
                <a:solidFill>
                  <a:srgbClr val="2B2B2B"/>
                </a:solidFill>
                <a:latin typeface="Arial"/>
              </a:rPr>
              <a:t> the feedback, and it was </a:t>
            </a:r>
            <a:r>
              <a:rPr sz="1700" b="1" i="0">
                <a:solidFill>
                  <a:srgbClr val="2B2B2B"/>
                </a:solidFill>
                <a:latin typeface="Arial"/>
              </a:rPr>
              <a:t>generally understandable</a:t>
            </a:r>
          </a:p>
          <a:p>
            <a:pPr marL="201168" indent="-201168">
              <a:spcAft>
                <a:spcPts val="646"/>
              </a:spcAft>
              <a:buClr>
                <a:srgbClr val="00943A"/>
              </a:buClr>
              <a:buFont typeface="Arial"/>
              <a:buChar char="•"/>
            </a:pPr>
            <a:r>
              <a:rPr sz="1700" b="1" i="0">
                <a:solidFill>
                  <a:srgbClr val="2B2B2B"/>
                </a:solidFill>
                <a:latin typeface="Arial"/>
              </a:rPr>
              <a:t>The assistant's voice had a heavy accent</a:t>
            </a:r>
            <a:r>
              <a:rPr sz="1700" b="0" i="0">
                <a:solidFill>
                  <a:srgbClr val="2B2B2B"/>
                </a:solidFill>
                <a:latin typeface="Arial"/>
              </a:rPr>
              <a:t>, which the participant flagged for improvement</a:t>
            </a:r>
          </a:p>
          <a:p>
            <a:pPr marL="201168" indent="-201168">
              <a:spcAft>
                <a:spcPts val="646"/>
              </a:spcAft>
              <a:buClr>
                <a:srgbClr val="00943A"/>
              </a:buClr>
              <a:buFont typeface="Arial"/>
              <a:buChar char="•"/>
            </a:pPr>
            <a:r>
              <a:rPr sz="1700" b="1" i="0">
                <a:solidFill>
                  <a:srgbClr val="2B2B2B"/>
                </a:solidFill>
                <a:latin typeface="Arial"/>
              </a:rPr>
              <a:t>Context:</a:t>
            </a:r>
            <a:r>
              <a:rPr sz="1700" b="0" i="0">
                <a:solidFill>
                  <a:srgbClr val="2B2B2B"/>
                </a:solidFill>
                <a:latin typeface="Arial"/>
              </a:rPr>
              <a:t> </a:t>
            </a:r>
            <a:r>
              <a:rPr sz="1700" b="1" i="0">
                <a:solidFill>
                  <a:srgbClr val="2B2B2B"/>
                </a:solidFill>
                <a:latin typeface="Arial"/>
              </a:rPr>
              <a:t>English</a:t>
            </a:r>
            <a:r>
              <a:rPr sz="1700" b="0" i="0">
                <a:solidFill>
                  <a:srgbClr val="2B2B2B"/>
                </a:solidFill>
                <a:latin typeface="Arial"/>
              </a:rPr>
              <a:t> uses </a:t>
            </a:r>
            <a:r>
              <a:rPr sz="1700" b="1" i="0">
                <a:solidFill>
                  <a:srgbClr val="2B2B2B"/>
                </a:solidFill>
                <a:latin typeface="Arial"/>
              </a:rPr>
              <a:t>Piper</a:t>
            </a:r>
            <a:r>
              <a:rPr sz="1700" b="0" i="0">
                <a:solidFill>
                  <a:srgbClr val="2B2B2B"/>
                </a:solidFill>
                <a:latin typeface="Arial"/>
              </a:rPr>
              <a:t> on device · </a:t>
            </a:r>
            <a:r>
              <a:rPr sz="1700" b="1" i="0">
                <a:solidFill>
                  <a:srgbClr val="2B2B2B"/>
                </a:solidFill>
                <a:latin typeface="Arial"/>
              </a:rPr>
              <a:t>Tagalog</a:t>
            </a:r>
            <a:r>
              <a:rPr sz="1700" b="0" i="0">
                <a:solidFill>
                  <a:srgbClr val="2B2B2B"/>
                </a:solidFill>
                <a:latin typeface="Arial"/>
              </a:rPr>
              <a:t> uses a </a:t>
            </a:r>
            <a:r>
              <a:rPr sz="1700" b="1" i="0">
                <a:solidFill>
                  <a:srgbClr val="2B2B2B"/>
                </a:solidFill>
                <a:latin typeface="Arial"/>
              </a:rPr>
              <a:t>cloud Filipino fine-tune</a:t>
            </a:r>
            <a:r>
              <a:rPr sz="1700" b="0" i="0">
                <a:solidFill>
                  <a:srgbClr val="2B2B2B"/>
                </a:solidFill>
                <a:latin typeface="Arial"/>
              </a:rPr>
              <a:t>, falling back to </a:t>
            </a:r>
            <a:r>
              <a:rPr sz="1700" b="1" i="0">
                <a:solidFill>
                  <a:srgbClr val="2B2B2B"/>
                </a:solidFill>
                <a:latin typeface="Arial"/>
              </a:rPr>
              <a:t>Meta MMS</a:t>
            </a:r>
            <a:r>
              <a:rPr sz="1700" b="0" i="0">
                <a:solidFill>
                  <a:srgbClr val="2B2B2B"/>
                </a:solidFill>
                <a:latin typeface="Arial"/>
              </a:rPr>
              <a:t>, which is </a:t>
            </a:r>
            <a:r>
              <a:rPr sz="1700" b="1" i="0">
                <a:solidFill>
                  <a:srgbClr val="2B2B2B"/>
                </a:solidFill>
                <a:latin typeface="Arial"/>
              </a:rPr>
              <a:t>markedly less natural</a:t>
            </a:r>
          </a:p>
          <a:p>
            <a:pPr marL="201168" indent="-201168">
              <a:spcAft>
                <a:spcPts val="646"/>
              </a:spcAft>
              <a:buClr>
                <a:srgbClr val="00943A"/>
              </a:buClr>
              <a:buFont typeface="Arial"/>
              <a:buChar char="•"/>
            </a:pPr>
            <a:r>
              <a:rPr sz="1700" b="1" i="0">
                <a:solidFill>
                  <a:srgbClr val="2B2B2B"/>
                </a:solidFill>
                <a:latin typeface="Arial"/>
              </a:rPr>
              <a:t>Needed:</a:t>
            </a:r>
            <a:r>
              <a:rPr sz="1700" b="0" i="0">
                <a:solidFill>
                  <a:srgbClr val="2B2B2B"/>
                </a:solidFill>
                <a:latin typeface="Arial"/>
              </a:rPr>
              <a:t> confirm </a:t>
            </a:r>
            <a:r>
              <a:rPr sz="1700" b="1" i="0">
                <a:solidFill>
                  <a:srgbClr val="2B2B2B"/>
                </a:solidFill>
                <a:latin typeface="Arial"/>
              </a:rPr>
              <a:t>which language and voice</a:t>
            </a:r>
            <a:r>
              <a:rPr sz="1700" b="0" i="0">
                <a:solidFill>
                  <a:srgbClr val="2B2B2B"/>
                </a:solidFill>
                <a:latin typeface="Arial"/>
              </a:rPr>
              <a:t> was active during the trial</a:t>
            </a:r>
          </a:p>
        </p:txBody>
      </p:sp>
      <p:sp>
        <p:nvSpPr>
          <p:cNvPr id="7" name="Field 2 card"/>
          <p:cNvSpPr/>
          <p:nvPr/>
        </p:nvSpPr>
        <p:spPr>
          <a:xfrm>
            <a:off x="7119409" y="1371600"/>
            <a:ext cx="4630630" cy="4617720"/>
          </a:xfrm>
          <a:prstGeom prst="roundRect">
            <a:avLst>
              <a:gd name="adj" fmla="val 3564"/>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Field 2 text"/>
          <p:cNvSpPr txBox="1"/>
          <p:nvPr/>
        </p:nvSpPr>
        <p:spPr>
          <a:xfrm>
            <a:off x="7302289" y="1554480"/>
            <a:ext cx="4264870" cy="4251959"/>
          </a:xfrm>
          <a:prstGeom prst="rect">
            <a:avLst/>
          </a:prstGeom>
          <a:noFill/>
        </p:spPr>
        <p:txBody>
          <a:bodyPr wrap="square" lIns="0" rIns="0" tIns="0" bIns="0" anchor="t">
            <a:noAutofit/>
          </a:bodyPr>
          <a:lstStyle/>
          <a:p>
            <a:pPr>
              <a:spcAft>
                <a:spcPts val="765"/>
              </a:spcAft>
              <a:buNone/>
            </a:pPr>
            <a:r>
              <a:rPr sz="1900" b="1" i="0">
                <a:solidFill>
                  <a:srgbClr val="006B2A"/>
                </a:solidFill>
                <a:latin typeface="Arial"/>
              </a:rPr>
              <a:t>TC-ONS-14 Fall detection: UNCONFIRMED</a:t>
            </a:r>
          </a:p>
          <a:p>
            <a:pPr marL="201168" indent="-201168">
              <a:spcAft>
                <a:spcPts val="646"/>
              </a:spcAft>
              <a:buClr>
                <a:srgbClr val="00943A"/>
              </a:buClr>
              <a:buFont typeface="Arial"/>
              <a:buChar char="•"/>
            </a:pPr>
            <a:r>
              <a:rPr sz="1700" b="0" i="0">
                <a:solidFill>
                  <a:srgbClr val="2B2B2B"/>
                </a:solidFill>
                <a:latin typeface="Arial"/>
              </a:rPr>
              <a:t>The system </a:t>
            </a:r>
            <a:r>
              <a:rPr sz="1700" b="1" i="0">
                <a:solidFill>
                  <a:srgbClr val="2B2B2B"/>
                </a:solidFill>
                <a:latin typeface="Arial"/>
              </a:rPr>
              <a:t>triggered on simulated fall movements</a:t>
            </a:r>
          </a:p>
          <a:p>
            <a:pPr marL="201168" indent="-201168">
              <a:spcAft>
                <a:spcPts val="646"/>
              </a:spcAft>
              <a:buClr>
                <a:srgbClr val="00943A"/>
              </a:buClr>
              <a:buFont typeface="Arial"/>
              <a:buChar char="•"/>
            </a:pPr>
            <a:r>
              <a:rPr sz="1700" b="1" i="0">
                <a:solidFill>
                  <a:srgbClr val="2B2B2B"/>
                </a:solidFill>
                <a:latin typeface="Arial"/>
              </a:rPr>
              <a:t>Accuracy was not confirmed</a:t>
            </a:r>
            <a:r>
              <a:rPr sz="1700" b="0" i="0">
                <a:solidFill>
                  <a:srgbClr val="2B2B2B"/>
                </a:solidFill>
                <a:latin typeface="Arial"/>
              </a:rPr>
              <a:t> during </a:t>
            </a:r>
            <a:r>
              <a:rPr sz="1700" b="1" i="0">
                <a:solidFill>
                  <a:srgbClr val="2B2B2B"/>
                </a:solidFill>
                <a:latin typeface="Arial"/>
              </a:rPr>
              <a:t>live, active use</a:t>
            </a:r>
          </a:p>
          <a:p>
            <a:pPr marL="201168" indent="-201168">
              <a:spcAft>
                <a:spcPts val="646"/>
              </a:spcAft>
              <a:buClr>
                <a:srgbClr val="00943A"/>
              </a:buClr>
              <a:buFont typeface="Arial"/>
              <a:buChar char="•"/>
            </a:pPr>
            <a:r>
              <a:rPr sz="1700" b="0" i="0">
                <a:solidFill>
                  <a:srgbClr val="2B2B2B"/>
                </a:solidFill>
                <a:latin typeface="Arial"/>
              </a:rPr>
              <a:t>The participant reported </a:t>
            </a:r>
            <a:r>
              <a:rPr sz="1700" b="1" i="0">
                <a:solidFill>
                  <a:srgbClr val="2B2B2B"/>
                </a:solidFill>
                <a:latin typeface="Arial"/>
              </a:rPr>
              <a:t>real falls on raised road surfaces and humps</a:t>
            </a:r>
            <a:r>
              <a:rPr sz="1700" b="0" i="0">
                <a:solidFill>
                  <a:srgbClr val="2B2B2B"/>
                </a:solidFill>
                <a:latin typeface="Arial"/>
              </a:rPr>
              <a:t>, which is the exact scenario the feature targets</a:t>
            </a:r>
          </a:p>
          <a:p>
            <a:pPr marL="201168" indent="-201168">
              <a:spcAft>
                <a:spcPts val="646"/>
              </a:spcAft>
              <a:buClr>
                <a:srgbClr val="00943A"/>
              </a:buClr>
              <a:buFont typeface="Arial"/>
              <a:buChar char="•"/>
            </a:pPr>
            <a:r>
              <a:rPr sz="1700" b="1" i="0">
                <a:solidFill>
                  <a:srgbClr val="2B2B2B"/>
                </a:solidFill>
                <a:latin typeface="Arial"/>
              </a:rPr>
              <a:t>Why it is unconfirmed:</a:t>
            </a:r>
            <a:r>
              <a:rPr sz="1700" b="0" i="0">
                <a:solidFill>
                  <a:srgbClr val="2B2B2B"/>
                </a:solidFill>
                <a:latin typeface="Arial"/>
              </a:rPr>
              <a:t> a real fall </a:t>
            </a:r>
            <a:r>
              <a:rPr sz="1700" b="1" i="0">
                <a:solidFill>
                  <a:srgbClr val="2B2B2B"/>
                </a:solidFill>
                <a:latin typeface="Arial"/>
              </a:rPr>
              <a:t>cannot ethically be induced</a:t>
            </a:r>
            <a:r>
              <a:rPr sz="1700" b="0" i="0">
                <a:solidFill>
                  <a:srgbClr val="2B2B2B"/>
                </a:solidFill>
                <a:latin typeface="Arial"/>
              </a:rPr>
              <a:t> in a visually impaired participant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tion kicker"/>
          <p:cNvSpPr txBox="1"/>
          <p:nvPr/>
        </p:nvSpPr>
        <p:spPr>
          <a:xfrm>
            <a:off x="1280160" y="292608"/>
            <a:ext cx="8686800" cy="256032"/>
          </a:xfrm>
          <a:prstGeom prst="rect">
            <a:avLst/>
          </a:prstGeom>
          <a:noFill/>
        </p:spPr>
        <p:txBody>
          <a:bodyPr wrap="square" lIns="0" rIns="0" tIns="0" bIns="0" anchor="t">
            <a:noAutofit/>
          </a:bodyPr>
          <a:lstStyle/>
          <a:p>
            <a:r>
              <a:rPr sz="1100" b="1" i="0">
                <a:solidFill>
                  <a:srgbClr val="6B6B6B"/>
                </a:solidFill>
                <a:latin typeface="Arial"/>
              </a:rPr>
              <a:t>RESULTS: ON-SITE DEPLOYMENT</a:t>
            </a:r>
          </a:p>
        </p:txBody>
      </p:sp>
      <p:sp>
        <p:nvSpPr>
          <p:cNvPr id="3" name="Title"/>
          <p:cNvSpPr txBox="1"/>
          <p:nvPr/>
        </p:nvSpPr>
        <p:spPr>
          <a:xfrm>
            <a:off x="1280160" y="502920"/>
            <a:ext cx="10469880" cy="731520"/>
          </a:xfrm>
          <a:prstGeom prst="rect">
            <a:avLst/>
          </a:prstGeom>
          <a:noFill/>
        </p:spPr>
        <p:txBody>
          <a:bodyPr wrap="square" lIns="0" rIns="0" tIns="0" bIns="0" anchor="ctr">
            <a:noAutofit/>
          </a:bodyPr>
          <a:lstStyle/>
          <a:p>
            <a:r>
              <a:rPr sz="3200" b="1" i="0">
                <a:solidFill>
                  <a:srgbClr val="00943A"/>
                </a:solidFill>
                <a:latin typeface="Arial"/>
              </a:rPr>
              <a:t>Post-Test Interview: Design Evaluation Summary</a:t>
            </a:r>
          </a:p>
        </p:txBody>
      </p:sp>
      <p:sp>
        <p:nvSpPr>
          <p:cNvPr id="4" name="Slide number"/>
          <p:cNvSpPr txBox="1"/>
          <p:nvPr/>
        </p:nvSpPr>
        <p:spPr>
          <a:xfrm>
            <a:off x="1280160" y="6327648"/>
            <a:ext cx="2286000" cy="274320"/>
          </a:xfrm>
          <a:prstGeom prst="rect">
            <a:avLst/>
          </a:prstGeom>
          <a:noFill/>
        </p:spPr>
        <p:txBody>
          <a:bodyPr wrap="square" lIns="0" rIns="0" tIns="0" bIns="0" anchor="t">
            <a:noAutofit/>
          </a:bodyPr>
          <a:lstStyle/>
          <a:p>
            <a:r>
              <a:rPr sz="1000" b="0" i="0">
                <a:solidFill>
                  <a:srgbClr val="6B6B6B"/>
                </a:solidFill>
                <a:latin typeface="Arial"/>
              </a:rPr>
              <a:t>IndepenSense · 44</a:t>
            </a:r>
          </a:p>
        </p:txBody>
      </p:sp>
      <p:graphicFrame>
        <p:nvGraphicFramePr>
          <p:cNvPr id="5" name="Results table"/>
          <p:cNvGraphicFramePr>
            <a:graphicFrameLocks noGrp="1"/>
          </p:cNvGraphicFramePr>
          <p:nvPr/>
        </p:nvGraphicFramePr>
        <p:xfrm>
          <a:off x="1280160" y="1371600"/>
          <a:ext cx="6922007" cy="3444240"/>
        </p:xfrm>
        <a:graphic>
          <a:graphicData uri="http://schemas.openxmlformats.org/drawingml/2006/table">
            <a:tbl>
              <a:tblPr firstRow="0" bandRow="0">
                <a:tableStyleId>{5C22544A-7EE6-4342-B048-85BDC9FD1C3A}</a:tableStyleId>
              </a:tblPr>
              <a:tblGrid>
                <a:gridCol w="2621972"/>
                <a:gridCol w="4300035"/>
              </a:tblGrid>
              <a:tr h="536448">
                <a:tc>
                  <a:txBody>
                    <a:bodyPr wrap="square"/>
                    <a:lstStyle/>
                    <a:p>
                      <a:r>
                        <a:rPr sz="1400" b="1" i="0">
                          <a:solidFill>
                            <a:srgbClr val="FFFFFF"/>
                          </a:solidFill>
                          <a:latin typeface="Arial"/>
                        </a:rPr>
                        <a:t>Evaluation item (Table 4)</a:t>
                      </a:r>
                    </a:p>
                  </a:txBody>
                  <a:tcPr marL="73152" marR="73152" marT="45720" marB="45720" anchor="ctr">
                    <a:solidFill>
                      <a:srgbClr val="00943A"/>
                    </a:solidFill>
                  </a:tcPr>
                </a:tc>
                <a:tc>
                  <a:txBody>
                    <a:bodyPr wrap="square"/>
                    <a:lstStyle/>
                    <a:p>
                      <a:r>
                        <a:rPr sz="1400" b="1" i="0">
                          <a:solidFill>
                            <a:srgbClr val="FFFFFF"/>
                          </a:solidFill>
                          <a:latin typeface="Arial"/>
                        </a:rPr>
                        <a:t>Participant response</a:t>
                      </a:r>
                    </a:p>
                  </a:txBody>
                  <a:tcPr marL="73152" marR="73152" marT="45720" marB="45720" anchor="ctr">
                    <a:solidFill>
                      <a:srgbClr val="00943A"/>
                    </a:solidFill>
                  </a:tcPr>
                </a:tc>
              </a:tr>
              <a:tr h="323088">
                <a:tc>
                  <a:txBody>
                    <a:bodyPr wrap="square"/>
                    <a:lstStyle/>
                    <a:p>
                      <a:r>
                        <a:rPr sz="1400" b="1" i="0">
                          <a:solidFill>
                            <a:srgbClr val="2B2B2B"/>
                          </a:solidFill>
                          <a:latin typeface="Arial"/>
                        </a:rPr>
                        <a:t>Overall experience</a:t>
                      </a:r>
                    </a:p>
                  </a:txBody>
                  <a:tcPr marL="73152" marR="73152" marT="45720" marB="45720" anchor="ctr">
                    <a:solidFill>
                      <a:srgbClr val="FFFFFF"/>
                    </a:solidFill>
                  </a:tcPr>
                </a:tc>
                <a:tc>
                  <a:txBody>
                    <a:bodyPr wrap="square"/>
                    <a:lstStyle/>
                    <a:p>
                      <a:r>
                        <a:rPr sz="1400" b="1" i="0">
                          <a:solidFill>
                            <a:srgbClr val="2B2B2B"/>
                          </a:solidFill>
                          <a:latin typeface="Arial"/>
                        </a:rPr>
                        <a:t>Generally positive</a:t>
                      </a:r>
                    </a:p>
                  </a:txBody>
                  <a:tcPr marL="73152" marR="73152" marT="45720" marB="45720" anchor="ctr">
                    <a:solidFill>
                      <a:srgbClr val="FFFFFF"/>
                    </a:solidFill>
                  </a:tcPr>
                </a:tc>
              </a:tr>
              <a:tr h="323088">
                <a:tc>
                  <a:txBody>
                    <a:bodyPr wrap="square"/>
                    <a:lstStyle/>
                    <a:p>
                      <a:r>
                        <a:rPr sz="1400" b="1" i="0">
                          <a:solidFill>
                            <a:srgbClr val="2B2B2B"/>
                          </a:solidFill>
                          <a:latin typeface="Arial"/>
                        </a:rPr>
                        <a:t>Buttons &amp; controls</a:t>
                      </a:r>
                    </a:p>
                  </a:txBody>
                  <a:tcPr marL="73152" marR="73152" marT="45720" marB="45720" anchor="ctr">
                    <a:solidFill>
                      <a:srgbClr val="F6F8F6"/>
                    </a:solidFill>
                  </a:tcPr>
                </a:tc>
                <a:tc>
                  <a:txBody>
                    <a:bodyPr wrap="square"/>
                    <a:lstStyle/>
                    <a:p>
                      <a:r>
                        <a:rPr sz="1400" b="1" i="0">
                          <a:solidFill>
                            <a:srgbClr val="2B2B2B"/>
                          </a:solidFill>
                          <a:latin typeface="Arial"/>
                        </a:rPr>
                        <a:t>Easy to locate and operate by touch</a:t>
                      </a:r>
                    </a:p>
                  </a:txBody>
                  <a:tcPr marL="73152" marR="73152" marT="45720" marB="45720" anchor="ctr">
                    <a:solidFill>
                      <a:srgbClr val="F6F8F6"/>
                    </a:solidFill>
                  </a:tcPr>
                </a:tc>
              </a:tr>
              <a:tr h="323088">
                <a:tc>
                  <a:txBody>
                    <a:bodyPr wrap="square"/>
                    <a:lstStyle/>
                    <a:p>
                      <a:r>
                        <a:rPr sz="1400" b="1" i="0">
                          <a:solidFill>
                            <a:srgbClr val="2B2B2B"/>
                          </a:solidFill>
                          <a:latin typeface="Arial"/>
                        </a:rPr>
                        <a:t>Physical design &amp; weight</a:t>
                      </a:r>
                    </a:p>
                  </a:txBody>
                  <a:tcPr marL="73152" marR="73152" marT="45720" marB="45720" anchor="ctr">
                    <a:solidFill>
                      <a:srgbClr val="FFFFFF"/>
                    </a:solidFill>
                  </a:tcPr>
                </a:tc>
                <a:tc>
                  <a:txBody>
                    <a:bodyPr wrap="square"/>
                    <a:lstStyle/>
                    <a:p>
                      <a:r>
                        <a:rPr sz="1400" b="1" i="0">
                          <a:solidFill>
                            <a:srgbClr val="2B2B2B"/>
                          </a:solidFill>
                          <a:latin typeface="Arial"/>
                        </a:rPr>
                        <a:t>Lightweight, manageable</a:t>
                      </a:r>
                      <a:r>
                        <a:rPr sz="1400" b="0" i="0">
                          <a:solidFill>
                            <a:srgbClr val="2B2B2B"/>
                          </a:solidFill>
                          <a:latin typeface="Arial"/>
                        </a:rPr>
                        <a:t>, vest helps</a:t>
                      </a:r>
                    </a:p>
                  </a:txBody>
                  <a:tcPr marL="73152" marR="73152" marT="45720" marB="45720" anchor="ctr">
                    <a:solidFill>
                      <a:srgbClr val="FFFFFF"/>
                    </a:solidFill>
                  </a:tcPr>
                </a:tc>
              </a:tr>
              <a:tr h="323088">
                <a:tc>
                  <a:txBody>
                    <a:bodyPr wrap="square"/>
                    <a:lstStyle/>
                    <a:p>
                      <a:r>
                        <a:rPr sz="1400" b="1" i="0">
                          <a:solidFill>
                            <a:srgbClr val="2B2B2B"/>
                          </a:solidFill>
                          <a:latin typeface="Arial"/>
                        </a:rPr>
                        <a:t>Obstacle detection</a:t>
                      </a:r>
                    </a:p>
                  </a:txBody>
                  <a:tcPr marL="73152" marR="73152" marT="45720" marB="45720" anchor="ctr">
                    <a:solidFill>
                      <a:srgbClr val="F6F8F6"/>
                    </a:solidFill>
                  </a:tcPr>
                </a:tc>
                <a:tc>
                  <a:txBody>
                    <a:bodyPr wrap="square"/>
                    <a:lstStyle/>
                    <a:p>
                      <a:r>
                        <a:rPr sz="1400" b="1" i="0">
                          <a:solidFill>
                            <a:srgbClr val="2B2B2B"/>
                          </a:solidFill>
                          <a:latin typeface="Arial"/>
                        </a:rPr>
                        <a:t>Appreciated</a:t>
                      </a:r>
                      <a:r>
                        <a:rPr sz="1400" b="0" i="0">
                          <a:solidFill>
                            <a:srgbClr val="2B2B2B"/>
                          </a:solidFill>
                          <a:latin typeface="Arial"/>
                        </a:rPr>
                        <a:t>, helped navigation</a:t>
                      </a:r>
                    </a:p>
                  </a:txBody>
                  <a:tcPr marL="73152" marR="73152" marT="45720" marB="45720" anchor="ctr">
                    <a:solidFill>
                      <a:srgbClr val="F6F8F6"/>
                    </a:solidFill>
                  </a:tcPr>
                </a:tc>
              </a:tr>
              <a:tr h="323088">
                <a:tc>
                  <a:txBody>
                    <a:bodyPr wrap="square"/>
                    <a:lstStyle/>
                    <a:p>
                      <a:r>
                        <a:rPr sz="1400" b="1" i="0">
                          <a:solidFill>
                            <a:srgbClr val="2B2B2B"/>
                          </a:solidFill>
                          <a:latin typeface="Arial"/>
                        </a:rPr>
                        <a:t>Audio clarity</a:t>
                      </a:r>
                    </a:p>
                  </a:txBody>
                  <a:tcPr marL="73152" marR="73152" marT="45720" marB="45720" anchor="ctr">
                    <a:solidFill>
                      <a:srgbClr val="FFFFFF"/>
                    </a:solidFill>
                  </a:tcPr>
                </a:tc>
                <a:tc>
                  <a:txBody>
                    <a:bodyPr wrap="square"/>
                    <a:lstStyle/>
                    <a:p>
                      <a:r>
                        <a:rPr sz="1400" b="1" i="0">
                          <a:solidFill>
                            <a:srgbClr val="2B2B2B"/>
                          </a:solidFill>
                          <a:latin typeface="Arial"/>
                        </a:rPr>
                        <a:t>Appreciated</a:t>
                      </a:r>
                    </a:p>
                  </a:txBody>
                  <a:tcPr marL="73152" marR="73152" marT="45720" marB="45720" anchor="ctr">
                    <a:solidFill>
                      <a:srgbClr val="FFFFFF"/>
                    </a:solidFill>
                  </a:tcPr>
                </a:tc>
              </a:tr>
              <a:tr h="323088">
                <a:tc>
                  <a:txBody>
                    <a:bodyPr wrap="square"/>
                    <a:lstStyle/>
                    <a:p>
                      <a:r>
                        <a:rPr sz="1400" b="1" i="0">
                          <a:solidFill>
                            <a:srgbClr val="2B2B2B"/>
                          </a:solidFill>
                          <a:latin typeface="Arial"/>
                        </a:rPr>
                        <a:t>Vibration feedback</a:t>
                      </a:r>
                    </a:p>
                  </a:txBody>
                  <a:tcPr marL="73152" marR="73152" marT="45720" marB="45720" anchor="ctr">
                    <a:solidFill>
                      <a:srgbClr val="F6F8F6"/>
                    </a:solidFill>
                  </a:tcPr>
                </a:tc>
                <a:tc>
                  <a:txBody>
                    <a:bodyPr wrap="square"/>
                    <a:lstStyle/>
                    <a:p>
                      <a:r>
                        <a:rPr sz="1400" b="1" i="0">
                          <a:solidFill>
                            <a:srgbClr val="2B2B2B"/>
                          </a:solidFill>
                          <a:latin typeface="Arial"/>
                        </a:rPr>
                        <a:t>Appreciated</a:t>
                      </a:r>
                    </a:p>
                  </a:txBody>
                  <a:tcPr marL="73152" marR="73152" marT="45720" marB="45720" anchor="ctr">
                    <a:solidFill>
                      <a:srgbClr val="F6F8F6"/>
                    </a:solidFill>
                  </a:tcPr>
                </a:tc>
              </a:tr>
              <a:tr h="323088">
                <a:tc>
                  <a:txBody>
                    <a:bodyPr wrap="square"/>
                    <a:lstStyle/>
                    <a:p>
                      <a:r>
                        <a:rPr sz="1400" b="1" i="0">
                          <a:solidFill>
                            <a:srgbClr val="2B2B2B"/>
                          </a:solidFill>
                          <a:latin typeface="Arial"/>
                        </a:rPr>
                        <a:t>Object recognition</a:t>
                      </a:r>
                    </a:p>
                  </a:txBody>
                  <a:tcPr marL="73152" marR="73152" marT="45720" marB="45720" anchor="ctr">
                    <a:solidFill>
                      <a:srgbClr val="FFFFFF"/>
                    </a:solidFill>
                  </a:tcPr>
                </a:tc>
                <a:tc>
                  <a:txBody>
                    <a:bodyPr wrap="square"/>
                    <a:lstStyle/>
                    <a:p>
                      <a:r>
                        <a:rPr sz="1400" b="0" i="0">
                          <a:solidFill>
                            <a:srgbClr val="2B2B2B"/>
                          </a:solidFill>
                          <a:latin typeface="Arial"/>
                        </a:rPr>
                        <a:t>Liked the feature, </a:t>
                      </a:r>
                      <a:r>
                        <a:rPr sz="1400" b="1" i="0">
                          <a:solidFill>
                            <a:srgbClr val="2B2B2B"/>
                          </a:solidFill>
                          <a:latin typeface="Arial"/>
                        </a:rPr>
                        <a:t>accuracy needs work</a:t>
                      </a:r>
                    </a:p>
                  </a:txBody>
                  <a:tcPr marL="73152" marR="73152" marT="45720" marB="45720" anchor="ctr">
                    <a:solidFill>
                      <a:srgbClr val="FFFFFF"/>
                    </a:solidFill>
                  </a:tcPr>
                </a:tc>
              </a:tr>
              <a:tr h="323088">
                <a:tc>
                  <a:txBody>
                    <a:bodyPr wrap="square"/>
                    <a:lstStyle/>
                    <a:p>
                      <a:r>
                        <a:rPr sz="1400" b="1" i="0">
                          <a:solidFill>
                            <a:srgbClr val="2B2B2B"/>
                          </a:solidFill>
                          <a:latin typeface="Arial"/>
                        </a:rPr>
                        <a:t>Emergency / fall</a:t>
                      </a:r>
                    </a:p>
                  </a:txBody>
                  <a:tcPr marL="73152" marR="73152" marT="45720" marB="45720" anchor="ctr">
                    <a:solidFill>
                      <a:srgbClr val="F6F8F6"/>
                    </a:solidFill>
                  </a:tcPr>
                </a:tc>
                <a:tc>
                  <a:txBody>
                    <a:bodyPr wrap="square"/>
                    <a:lstStyle/>
                    <a:p>
                      <a:r>
                        <a:rPr sz="1400" b="0" i="0">
                          <a:solidFill>
                            <a:srgbClr val="9A6700"/>
                          </a:solidFill>
                          <a:latin typeface="Arial"/>
                        </a:rPr>
                        <a:t>Falls on </a:t>
                      </a:r>
                      <a:r>
                        <a:rPr sz="1400" b="1" i="0">
                          <a:solidFill>
                            <a:srgbClr val="9A6700"/>
                          </a:solidFill>
                          <a:latin typeface="Arial"/>
                        </a:rPr>
                        <a:t>humps</a:t>
                      </a:r>
                      <a:r>
                        <a:rPr sz="1400" b="0" i="0">
                          <a:solidFill>
                            <a:srgbClr val="9A6700"/>
                          </a:solidFill>
                          <a:latin typeface="Arial"/>
                        </a:rPr>
                        <a:t>, accuracy </a:t>
                      </a:r>
                      <a:r>
                        <a:rPr sz="1400" b="1" i="0">
                          <a:solidFill>
                            <a:srgbClr val="9A6700"/>
                          </a:solidFill>
                          <a:latin typeface="Arial"/>
                        </a:rPr>
                        <a:t>unconfirmed</a:t>
                      </a:r>
                    </a:p>
                  </a:txBody>
                  <a:tcPr marL="73152" marR="73152" marT="45720" marB="45720" anchor="ctr">
                    <a:solidFill>
                      <a:srgbClr val="FFF4D6"/>
                    </a:solidFill>
                  </a:tcPr>
                </a:tc>
              </a:tr>
              <a:tr h="323088">
                <a:tc>
                  <a:txBody>
                    <a:bodyPr wrap="square"/>
                    <a:lstStyle/>
                    <a:p>
                      <a:r>
                        <a:rPr sz="1400" b="1" i="0">
                          <a:solidFill>
                            <a:srgbClr val="2B2B2B"/>
                          </a:solidFill>
                          <a:latin typeface="Arial"/>
                        </a:rPr>
                        <a:t>GPS / location</a:t>
                      </a:r>
                    </a:p>
                  </a:txBody>
                  <a:tcPr marL="73152" marR="73152" marT="45720" marB="45720" anchor="ctr">
                    <a:solidFill>
                      <a:srgbClr val="FFFFFF"/>
                    </a:solidFill>
                  </a:tcPr>
                </a:tc>
                <a:tc>
                  <a:txBody>
                    <a:bodyPr wrap="square"/>
                    <a:lstStyle/>
                    <a:p>
                      <a:r>
                        <a:rPr sz="1400" b="0" i="0">
                          <a:solidFill>
                            <a:srgbClr val="2B2B2B"/>
                          </a:solidFill>
                          <a:latin typeface="Arial"/>
                        </a:rPr>
                        <a:t>Seen as useful, </a:t>
                      </a:r>
                      <a:r>
                        <a:rPr sz="1400" b="1" i="0">
                          <a:solidFill>
                            <a:srgbClr val="2B2B2B"/>
                          </a:solidFill>
                          <a:latin typeface="Arial"/>
                        </a:rPr>
                        <a:t>no performance assessment</a:t>
                      </a:r>
                    </a:p>
                  </a:txBody>
                  <a:tcPr marL="73152" marR="73152" marT="45720" marB="45720" anchor="ctr">
                    <a:solidFill>
                      <a:srgbClr val="FFFFFF"/>
                    </a:solidFill>
                  </a:tcPr>
                </a:tc>
              </a:tr>
            </a:tbl>
          </a:graphicData>
        </a:graphic>
      </p:graphicFrame>
      <p:sp>
        <p:nvSpPr>
          <p:cNvPr id="6" name="Field callouts card"/>
          <p:cNvSpPr/>
          <p:nvPr/>
        </p:nvSpPr>
        <p:spPr>
          <a:xfrm>
            <a:off x="8458199" y="1371600"/>
            <a:ext cx="3291840" cy="4617720"/>
          </a:xfrm>
          <a:prstGeom prst="roundRect">
            <a:avLst>
              <a:gd name="adj" fmla="val 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Field callouts text"/>
          <p:cNvSpPr txBox="1"/>
          <p:nvPr/>
        </p:nvSpPr>
        <p:spPr>
          <a:xfrm>
            <a:off x="8641079" y="1554480"/>
            <a:ext cx="2926080" cy="4251959"/>
          </a:xfrm>
          <a:prstGeom prst="rect">
            <a:avLst/>
          </a:prstGeom>
          <a:noFill/>
        </p:spPr>
        <p:txBody>
          <a:bodyPr wrap="square" lIns="0" rIns="0" tIns="0" bIns="0" anchor="t">
            <a:noAutofit/>
          </a:bodyPr>
          <a:lstStyle/>
          <a:p>
            <a:pPr marL="201168" indent="-201168">
              <a:spcAft>
                <a:spcPts val="570"/>
              </a:spcAft>
              <a:buClr>
                <a:srgbClr val="00943A"/>
              </a:buClr>
              <a:buFont typeface="Arial"/>
              <a:buChar char="•"/>
            </a:pPr>
            <a:r>
              <a:rPr sz="1500" b="1" i="0">
                <a:solidFill>
                  <a:srgbClr val="2B2B2B"/>
                </a:solidFill>
                <a:latin typeface="Arial"/>
              </a:rPr>
              <a:t>Most valued:</a:t>
            </a:r>
            <a:r>
              <a:rPr sz="1500" b="0" i="0">
                <a:solidFill>
                  <a:srgbClr val="2B2B2B"/>
                </a:solidFill>
                <a:latin typeface="Arial"/>
              </a:rPr>
              <a:t> </a:t>
            </a:r>
            <a:r>
              <a:rPr sz="1500" b="1" i="0">
                <a:solidFill>
                  <a:srgbClr val="2B2B2B"/>
                </a:solidFill>
                <a:latin typeface="Arial"/>
              </a:rPr>
              <a:t>obstacle detection, vibration, audio output, camera</a:t>
            </a:r>
          </a:p>
          <a:p>
            <a:pPr marL="201168" indent="-201168">
              <a:spcAft>
                <a:spcPts val="570"/>
              </a:spcAft>
              <a:buClr>
                <a:srgbClr val="00943A"/>
              </a:buClr>
              <a:buFont typeface="Arial"/>
              <a:buChar char="•"/>
            </a:pPr>
            <a:r>
              <a:rPr sz="1500" b="1" i="0">
                <a:solidFill>
                  <a:srgbClr val="2B2B2B"/>
                </a:solidFill>
                <a:latin typeface="Arial"/>
              </a:rPr>
              <a:t>Requested improvements:</a:t>
            </a:r>
            <a:r>
              <a:rPr sz="1500" b="0" i="0">
                <a:solidFill>
                  <a:srgbClr val="2B2B2B"/>
                </a:solidFill>
                <a:latin typeface="Arial"/>
              </a:rPr>
              <a:t> </a:t>
            </a:r>
            <a:r>
              <a:rPr sz="1500" b="1" i="0">
                <a:solidFill>
                  <a:srgbClr val="2B2B2B"/>
                </a:solidFill>
                <a:latin typeface="Arial"/>
              </a:rPr>
              <a:t>object recognition accuracy</a:t>
            </a:r>
            <a:r>
              <a:rPr sz="1500" b="0" i="0">
                <a:solidFill>
                  <a:srgbClr val="2B2B2B"/>
                </a:solidFill>
                <a:latin typeface="Arial"/>
              </a:rPr>
              <a:t> and </a:t>
            </a:r>
            <a:r>
              <a:rPr sz="1500" b="1" i="0">
                <a:solidFill>
                  <a:srgbClr val="2B2B2B"/>
                </a:solidFill>
                <a:latin typeface="Arial"/>
              </a:rPr>
              <a:t>directional guidance</a:t>
            </a:r>
          </a:p>
          <a:p>
            <a:pPr marL="201168" indent="-201168">
              <a:spcAft>
                <a:spcPts val="570"/>
              </a:spcAft>
              <a:buClr>
                <a:srgbClr val="00943A"/>
              </a:buClr>
              <a:buFont typeface="Arial"/>
              <a:buChar char="•"/>
            </a:pPr>
            <a:r>
              <a:rPr sz="1500" b="1" i="0">
                <a:solidFill>
                  <a:srgbClr val="2B2B2B"/>
                </a:solidFill>
                <a:latin typeface="Arial"/>
              </a:rPr>
              <a:t>Directional guidance</a:t>
            </a:r>
            <a:r>
              <a:rPr sz="1500" b="0" i="0">
                <a:solidFill>
                  <a:srgbClr val="2B2B2B"/>
                </a:solidFill>
                <a:latin typeface="Arial"/>
              </a:rPr>
              <a:t> aligns with the </a:t>
            </a:r>
            <a:r>
              <a:rPr sz="1500" b="1" i="0">
                <a:solidFill>
                  <a:srgbClr val="2B2B2B"/>
                </a:solidFill>
                <a:latin typeface="Arial"/>
              </a:rPr>
              <a:t>left/right sensing</a:t>
            </a:r>
            <a:r>
              <a:rPr sz="1500" b="0" i="0">
                <a:solidFill>
                  <a:srgbClr val="2B2B2B"/>
                </a:solidFill>
                <a:latin typeface="Arial"/>
              </a:rPr>
              <a:t> recommendation, since the motors cannot convey side</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tion kicker"/>
          <p:cNvSpPr txBox="1"/>
          <p:nvPr/>
        </p:nvSpPr>
        <p:spPr>
          <a:xfrm>
            <a:off x="1280160" y="292608"/>
            <a:ext cx="8686800" cy="256032"/>
          </a:xfrm>
          <a:prstGeom prst="rect">
            <a:avLst/>
          </a:prstGeom>
          <a:noFill/>
        </p:spPr>
        <p:txBody>
          <a:bodyPr wrap="square" lIns="0" rIns="0" tIns="0" bIns="0" anchor="t">
            <a:noAutofit/>
          </a:bodyPr>
          <a:lstStyle/>
          <a:p>
            <a:r>
              <a:rPr sz="1100" b="1" i="0">
                <a:solidFill>
                  <a:srgbClr val="6B6B6B"/>
                </a:solidFill>
                <a:latin typeface="Arial"/>
              </a:rPr>
              <a:t>CONCLUSION</a:t>
            </a:r>
          </a:p>
        </p:txBody>
      </p:sp>
      <p:sp>
        <p:nvSpPr>
          <p:cNvPr id="3" name="Title"/>
          <p:cNvSpPr txBox="1"/>
          <p:nvPr/>
        </p:nvSpPr>
        <p:spPr>
          <a:xfrm>
            <a:off x="1280160" y="502920"/>
            <a:ext cx="10469880" cy="731520"/>
          </a:xfrm>
          <a:prstGeom prst="rect">
            <a:avLst/>
          </a:prstGeom>
          <a:noFill/>
        </p:spPr>
        <p:txBody>
          <a:bodyPr wrap="square" lIns="0" rIns="0" tIns="0" bIns="0" anchor="ctr">
            <a:noAutofit/>
          </a:bodyPr>
          <a:lstStyle/>
          <a:p>
            <a:r>
              <a:rPr sz="3200" b="1" i="0">
                <a:solidFill>
                  <a:srgbClr val="00943A"/>
                </a:solidFill>
                <a:latin typeface="Arial"/>
              </a:rPr>
              <a:t>Conclusion: Objectives Against Evidence</a:t>
            </a:r>
          </a:p>
        </p:txBody>
      </p:sp>
      <p:sp>
        <p:nvSpPr>
          <p:cNvPr id="4" name="Slide number"/>
          <p:cNvSpPr txBox="1"/>
          <p:nvPr/>
        </p:nvSpPr>
        <p:spPr>
          <a:xfrm>
            <a:off x="1280160" y="6327648"/>
            <a:ext cx="2286000" cy="274320"/>
          </a:xfrm>
          <a:prstGeom prst="rect">
            <a:avLst/>
          </a:prstGeom>
          <a:noFill/>
        </p:spPr>
        <p:txBody>
          <a:bodyPr wrap="square" lIns="0" rIns="0" tIns="0" bIns="0" anchor="t">
            <a:noAutofit/>
          </a:bodyPr>
          <a:lstStyle/>
          <a:p>
            <a:r>
              <a:rPr sz="1000" b="0" i="0">
                <a:solidFill>
                  <a:srgbClr val="6B6B6B"/>
                </a:solidFill>
                <a:latin typeface="Arial"/>
              </a:rPr>
              <a:t>IndepenSense · 45</a:t>
            </a:r>
          </a:p>
        </p:txBody>
      </p:sp>
      <p:graphicFrame>
        <p:nvGraphicFramePr>
          <p:cNvPr id="5" name="Results table"/>
          <p:cNvGraphicFramePr>
            <a:graphicFrameLocks noGrp="1"/>
          </p:cNvGraphicFramePr>
          <p:nvPr/>
        </p:nvGraphicFramePr>
        <p:xfrm>
          <a:off x="1280160" y="1371600"/>
          <a:ext cx="6922007" cy="3328416"/>
        </p:xfrm>
        <a:graphic>
          <a:graphicData uri="http://schemas.openxmlformats.org/drawingml/2006/table">
            <a:tbl>
              <a:tblPr firstRow="0" bandRow="0">
                <a:tableStyleId>{5C22544A-7EE6-4342-B048-85BDC9FD1C3A}</a:tableStyleId>
              </a:tblPr>
              <a:tblGrid>
                <a:gridCol w="2925797"/>
                <a:gridCol w="2140827"/>
                <a:gridCol w="1855383"/>
              </a:tblGrid>
              <a:tr h="323088">
                <a:tc>
                  <a:txBody>
                    <a:bodyPr wrap="square"/>
                    <a:lstStyle/>
                    <a:p>
                      <a:r>
                        <a:rPr sz="1400" b="1" i="0">
                          <a:solidFill>
                            <a:srgbClr val="FFFFFF"/>
                          </a:solidFill>
                          <a:latin typeface="Arial"/>
                        </a:rPr>
                        <a:t>Objective</a:t>
                      </a:r>
                    </a:p>
                  </a:txBody>
                  <a:tcPr marL="73152" marR="73152" marT="45720" marB="45720" anchor="ctr">
                    <a:solidFill>
                      <a:srgbClr val="00943A"/>
                    </a:solidFill>
                  </a:tcPr>
                </a:tc>
                <a:tc>
                  <a:txBody>
                    <a:bodyPr wrap="square"/>
                    <a:lstStyle/>
                    <a:p>
                      <a:r>
                        <a:rPr sz="1400" b="1" i="0">
                          <a:solidFill>
                            <a:srgbClr val="FFFFFF"/>
                          </a:solidFill>
                          <a:latin typeface="Arial"/>
                        </a:rPr>
                        <a:t>Evidence</a:t>
                      </a:r>
                    </a:p>
                  </a:txBody>
                  <a:tcPr marL="73152" marR="73152" marT="45720" marB="45720" anchor="ctr">
                    <a:solidFill>
                      <a:srgbClr val="00943A"/>
                    </a:solidFill>
                  </a:tcPr>
                </a:tc>
                <a:tc>
                  <a:txBody>
                    <a:bodyPr wrap="square"/>
                    <a:lstStyle/>
                    <a:p>
                      <a:r>
                        <a:rPr sz="1400" b="1" i="0">
                          <a:solidFill>
                            <a:srgbClr val="FFFFFF"/>
                          </a:solidFill>
                          <a:latin typeface="Arial"/>
                        </a:rPr>
                        <a:t>Status</a:t>
                      </a:r>
                    </a:p>
                  </a:txBody>
                  <a:tcPr marL="73152" marR="73152" marT="45720" marB="45720" anchor="ctr">
                    <a:solidFill>
                      <a:srgbClr val="00943A"/>
                    </a:solidFill>
                  </a:tcPr>
                </a:tc>
              </a:tr>
              <a:tr h="536448">
                <a:tc>
                  <a:txBody>
                    <a:bodyPr wrap="square"/>
                    <a:lstStyle/>
                    <a:p>
                      <a:r>
                        <a:rPr sz="1400" b="1" i="0">
                          <a:solidFill>
                            <a:srgbClr val="2B2B2B"/>
                          </a:solidFill>
                          <a:latin typeface="Arial"/>
                        </a:rPr>
                        <a:t>SO1</a:t>
                      </a:r>
                      <a:r>
                        <a:rPr sz="1400" b="0" i="0">
                          <a:solidFill>
                            <a:srgbClr val="2B2B2B"/>
                          </a:solidFill>
                          <a:latin typeface="Arial"/>
                        </a:rPr>
                        <a:t> Sensor-equipped smart cane</a:t>
                      </a:r>
                    </a:p>
                  </a:txBody>
                  <a:tcPr marL="73152" marR="73152" marT="45720" marB="45720" anchor="ctr">
                    <a:solidFill>
                      <a:srgbClr val="FFFFFF"/>
                    </a:solidFill>
                  </a:tcPr>
                </a:tc>
                <a:tc>
                  <a:txBody>
                    <a:bodyPr wrap="square"/>
                    <a:lstStyle/>
                    <a:p>
                      <a:r>
                        <a:rPr sz="1400" b="0" i="0">
                          <a:solidFill>
                            <a:srgbClr val="2B2B2B"/>
                          </a:solidFill>
                          <a:latin typeface="Arial"/>
                        </a:rPr>
                        <a:t>Tables 5–6, 13–17</a:t>
                      </a:r>
                    </a:p>
                  </a:txBody>
                  <a:tcPr marL="73152" marR="73152" marT="45720" marB="45720" anchor="ctr">
                    <a:solidFill>
                      <a:srgbClr val="FFFFFF"/>
                    </a:solidFill>
                  </a:tcPr>
                </a:tc>
                <a:tc>
                  <a:txBody>
                    <a:bodyPr wrap="square"/>
                    <a:lstStyle/>
                    <a:p>
                      <a:r>
                        <a:rPr sz="1400" b="1" i="0">
                          <a:solidFill>
                            <a:srgbClr val="006B2A"/>
                          </a:solidFill>
                          <a:latin typeface="Arial"/>
                        </a:rPr>
                        <a:t>Achieved</a:t>
                      </a:r>
                    </a:p>
                  </a:txBody>
                  <a:tcPr marL="73152" marR="73152" marT="45720" marB="45720" anchor="ctr">
                    <a:solidFill>
                      <a:srgbClr val="E6F4EA"/>
                    </a:solidFill>
                  </a:tcPr>
                </a:tc>
              </a:tr>
              <a:tr h="536448">
                <a:tc>
                  <a:txBody>
                    <a:bodyPr wrap="square"/>
                    <a:lstStyle/>
                    <a:p>
                      <a:r>
                        <a:rPr sz="1400" b="1" i="0">
                          <a:solidFill>
                            <a:srgbClr val="2B2B2B"/>
                          </a:solidFill>
                          <a:latin typeface="Arial"/>
                        </a:rPr>
                        <a:t>SO2</a:t>
                      </a:r>
                      <a:r>
                        <a:rPr sz="1400" b="0" i="0">
                          <a:solidFill>
                            <a:srgbClr val="2B2B2B"/>
                          </a:solidFill>
                          <a:latin typeface="Arial"/>
                        </a:rPr>
                        <a:t> Haptic + audio feedback</a:t>
                      </a:r>
                    </a:p>
                  </a:txBody>
                  <a:tcPr marL="73152" marR="73152" marT="45720" marB="45720" anchor="ctr">
                    <a:solidFill>
                      <a:srgbClr val="F6F8F6"/>
                    </a:solidFill>
                  </a:tcPr>
                </a:tc>
                <a:tc>
                  <a:txBody>
                    <a:bodyPr wrap="square"/>
                    <a:lstStyle/>
                    <a:p>
                      <a:r>
                        <a:rPr sz="1400" b="0" i="0">
                          <a:solidFill>
                            <a:srgbClr val="2B2B2B"/>
                          </a:solidFill>
                          <a:latin typeface="Arial"/>
                        </a:rPr>
                        <a:t>Tables 10–12, 18; TC-ONS-03–06</a:t>
                      </a:r>
                    </a:p>
                  </a:txBody>
                  <a:tcPr marL="73152" marR="73152" marT="45720" marB="45720" anchor="ctr">
                    <a:solidFill>
                      <a:srgbClr val="F6F8F6"/>
                    </a:solidFill>
                  </a:tcPr>
                </a:tc>
                <a:tc>
                  <a:txBody>
                    <a:bodyPr wrap="square"/>
                    <a:lstStyle/>
                    <a:p>
                      <a:r>
                        <a:rPr sz="1400" b="1" i="0">
                          <a:solidFill>
                            <a:srgbClr val="006B2A"/>
                          </a:solidFill>
                          <a:latin typeface="Arial"/>
                        </a:rPr>
                        <a:t>Achieved</a:t>
                      </a:r>
                    </a:p>
                  </a:txBody>
                  <a:tcPr marL="73152" marR="73152" marT="45720" marB="45720" anchor="ctr">
                    <a:solidFill>
                      <a:srgbClr val="E6F4EA"/>
                    </a:solidFill>
                  </a:tcPr>
                </a:tc>
              </a:tr>
              <a:tr h="536448">
                <a:tc>
                  <a:txBody>
                    <a:bodyPr wrap="square"/>
                    <a:lstStyle/>
                    <a:p>
                      <a:r>
                        <a:rPr sz="1400" b="1" i="0">
                          <a:solidFill>
                            <a:srgbClr val="2B2B2B"/>
                          </a:solidFill>
                          <a:latin typeface="Arial"/>
                        </a:rPr>
                        <a:t>SO3</a:t>
                      </a:r>
                      <a:r>
                        <a:rPr sz="1400" b="0" i="0">
                          <a:solidFill>
                            <a:srgbClr val="2B2B2B"/>
                          </a:solidFill>
                          <a:latin typeface="Arial"/>
                        </a:rPr>
                        <a:t> AI object recognition (supplementary)</a:t>
                      </a:r>
                    </a:p>
                  </a:txBody>
                  <a:tcPr marL="73152" marR="73152" marT="45720" marB="45720" anchor="ctr">
                    <a:solidFill>
                      <a:srgbClr val="FFFFFF"/>
                    </a:solidFill>
                  </a:tcPr>
                </a:tc>
                <a:tc>
                  <a:txBody>
                    <a:bodyPr wrap="square"/>
                    <a:lstStyle/>
                    <a:p>
                      <a:r>
                        <a:rPr sz="1400" b="0" i="0">
                          <a:solidFill>
                            <a:srgbClr val="2B2B2B"/>
                          </a:solidFill>
                          <a:latin typeface="Arial"/>
                        </a:rPr>
                        <a:t>Table 16; TC-ONS-08/09</a:t>
                      </a:r>
                    </a:p>
                  </a:txBody>
                  <a:tcPr marL="73152" marR="73152" marT="45720" marB="45720" anchor="ctr">
                    <a:solidFill>
                      <a:srgbClr val="FFFFFF"/>
                    </a:solidFill>
                  </a:tcPr>
                </a:tc>
                <a:tc>
                  <a:txBody>
                    <a:bodyPr wrap="square"/>
                    <a:lstStyle/>
                    <a:p>
                      <a:r>
                        <a:rPr sz="1400" b="1" i="0">
                          <a:solidFill>
                            <a:srgbClr val="9A6700"/>
                          </a:solidFill>
                          <a:latin typeface="Arial"/>
                        </a:rPr>
                        <a:t>Achieved, accuracy limited</a:t>
                      </a:r>
                    </a:p>
                  </a:txBody>
                  <a:tcPr marL="73152" marR="73152" marT="45720" marB="45720" anchor="ctr">
                    <a:solidFill>
                      <a:srgbClr val="FFF4D6"/>
                    </a:solidFill>
                  </a:tcPr>
                </a:tc>
              </a:tr>
              <a:tr h="536448">
                <a:tc>
                  <a:txBody>
                    <a:bodyPr wrap="square"/>
                    <a:lstStyle/>
                    <a:p>
                      <a:r>
                        <a:rPr sz="1400" b="1" i="0">
                          <a:solidFill>
                            <a:srgbClr val="2B2B2B"/>
                          </a:solidFill>
                          <a:latin typeface="Arial"/>
                        </a:rPr>
                        <a:t>SO4</a:t>
                      </a:r>
                      <a:r>
                        <a:rPr sz="1400" b="0" i="0">
                          <a:solidFill>
                            <a:srgbClr val="2B2B2B"/>
                          </a:solidFill>
                          <a:latin typeface="Arial"/>
                        </a:rPr>
                        <a:t> GPS outdoor navigation</a:t>
                      </a:r>
                    </a:p>
                  </a:txBody>
                  <a:tcPr marL="73152" marR="73152" marT="45720" marB="45720" anchor="ctr">
                    <a:solidFill>
                      <a:srgbClr val="F6F8F6"/>
                    </a:solidFill>
                  </a:tcPr>
                </a:tc>
                <a:tc>
                  <a:txBody>
                    <a:bodyPr wrap="square"/>
                    <a:lstStyle/>
                    <a:p>
                      <a:r>
                        <a:rPr sz="1400" b="0" i="0">
                          <a:solidFill>
                            <a:srgbClr val="2B2B2B"/>
                          </a:solidFill>
                          <a:latin typeface="Arial"/>
                        </a:rPr>
                        <a:t>Table 17; TC-ONS-10/11</a:t>
                      </a:r>
                    </a:p>
                  </a:txBody>
                  <a:tcPr marL="73152" marR="73152" marT="45720" marB="45720" anchor="ctr">
                    <a:solidFill>
                      <a:srgbClr val="F6F8F6"/>
                    </a:solidFill>
                  </a:tcPr>
                </a:tc>
                <a:tc>
                  <a:txBody>
                    <a:bodyPr wrap="square"/>
                    <a:lstStyle/>
                    <a:p>
                      <a:r>
                        <a:rPr sz="1400" b="1" i="0">
                          <a:solidFill>
                            <a:srgbClr val="9A6700"/>
                          </a:solidFill>
                          <a:latin typeface="Arial"/>
                        </a:rPr>
                        <a:t>Achieved, &gt; 10 m drift</a:t>
                      </a:r>
                    </a:p>
                  </a:txBody>
                  <a:tcPr marL="73152" marR="73152" marT="45720" marB="45720" anchor="ctr">
                    <a:solidFill>
                      <a:srgbClr val="FFF4D6"/>
                    </a:solidFill>
                  </a:tcPr>
                </a:tc>
              </a:tr>
              <a:tr h="536448">
                <a:tc>
                  <a:txBody>
                    <a:bodyPr wrap="square"/>
                    <a:lstStyle/>
                    <a:p>
                      <a:r>
                        <a:rPr sz="1400" b="1" i="0">
                          <a:solidFill>
                            <a:srgbClr val="2B2B2B"/>
                          </a:solidFill>
                          <a:latin typeface="Arial"/>
                        </a:rPr>
                        <a:t>SO5</a:t>
                      </a:r>
                      <a:r>
                        <a:rPr sz="1400" b="0" i="0">
                          <a:solidFill>
                            <a:srgbClr val="2B2B2B"/>
                          </a:solidFill>
                          <a:latin typeface="Arial"/>
                        </a:rPr>
                        <a:t> Emergency response + location</a:t>
                      </a:r>
                    </a:p>
                  </a:txBody>
                  <a:tcPr marL="73152" marR="73152" marT="45720" marB="45720" anchor="ctr">
                    <a:solidFill>
                      <a:srgbClr val="FFFFFF"/>
                    </a:solidFill>
                  </a:tcPr>
                </a:tc>
                <a:tc>
                  <a:txBody>
                    <a:bodyPr wrap="square"/>
                    <a:lstStyle/>
                    <a:p>
                      <a:r>
                        <a:rPr sz="1400" b="0" i="0">
                          <a:solidFill>
                            <a:srgbClr val="2B2B2B"/>
                          </a:solidFill>
                          <a:latin typeface="Arial"/>
                        </a:rPr>
                        <a:t>Tables 11, 14, 19; TC-ONS-13</a:t>
                      </a:r>
                    </a:p>
                  </a:txBody>
                  <a:tcPr marL="73152" marR="73152" marT="45720" marB="45720" anchor="ctr">
                    <a:solidFill>
                      <a:srgbClr val="FFFFFF"/>
                    </a:solidFill>
                  </a:tcPr>
                </a:tc>
                <a:tc>
                  <a:txBody>
                    <a:bodyPr wrap="square"/>
                    <a:lstStyle/>
                    <a:p>
                      <a:r>
                        <a:rPr sz="1400" b="1" i="0">
                          <a:solidFill>
                            <a:srgbClr val="006B2A"/>
                          </a:solidFill>
                          <a:latin typeface="Arial"/>
                        </a:rPr>
                        <a:t>Achieved</a:t>
                      </a:r>
                    </a:p>
                  </a:txBody>
                  <a:tcPr marL="73152" marR="73152" marT="45720" marB="45720" anchor="ctr">
                    <a:solidFill>
                      <a:srgbClr val="E6F4EA"/>
                    </a:solidFill>
                  </a:tcPr>
                </a:tc>
              </a:tr>
              <a:tr h="323088">
                <a:tc>
                  <a:txBody>
                    <a:bodyPr wrap="square"/>
                    <a:lstStyle/>
                    <a:p>
                      <a:r>
                        <a:rPr sz="1400" b="1" i="0">
                          <a:solidFill>
                            <a:srgbClr val="2B2B2B"/>
                          </a:solidFill>
                          <a:latin typeface="Arial"/>
                        </a:rPr>
                        <a:t>SO6</a:t>
                      </a:r>
                      <a:r>
                        <a:rPr sz="1400" b="0" i="0">
                          <a:solidFill>
                            <a:srgbClr val="2B2B2B"/>
                          </a:solidFill>
                          <a:latin typeface="Arial"/>
                        </a:rPr>
                        <a:t> Guardian web platform</a:t>
                      </a:r>
                    </a:p>
                  </a:txBody>
                  <a:tcPr marL="73152" marR="73152" marT="45720" marB="45720" anchor="ctr">
                    <a:solidFill>
                      <a:srgbClr val="F6F8F6"/>
                    </a:solidFill>
                  </a:tcPr>
                </a:tc>
                <a:tc>
                  <a:txBody>
                    <a:bodyPr wrap="square"/>
                    <a:lstStyle/>
                    <a:p>
                      <a:r>
                        <a:rPr sz="1400" b="0" i="0">
                          <a:solidFill>
                            <a:srgbClr val="2B2B2B"/>
                          </a:solidFill>
                          <a:latin typeface="Arial"/>
                        </a:rPr>
                        <a:t>Table 19; TC-ONS-12</a:t>
                      </a:r>
                    </a:p>
                  </a:txBody>
                  <a:tcPr marL="73152" marR="73152" marT="45720" marB="45720" anchor="ctr">
                    <a:solidFill>
                      <a:srgbClr val="F6F8F6"/>
                    </a:solidFill>
                  </a:tcPr>
                </a:tc>
                <a:tc>
                  <a:txBody>
                    <a:bodyPr wrap="square"/>
                    <a:lstStyle/>
                    <a:p>
                      <a:r>
                        <a:rPr sz="1400" b="1" i="0">
                          <a:solidFill>
                            <a:srgbClr val="006B2A"/>
                          </a:solidFill>
                          <a:latin typeface="Arial"/>
                        </a:rPr>
                        <a:t>Achieved</a:t>
                      </a:r>
                    </a:p>
                  </a:txBody>
                  <a:tcPr marL="73152" marR="73152" marT="45720" marB="45720" anchor="ctr">
                    <a:solidFill>
                      <a:srgbClr val="E6F4EA"/>
                    </a:solidFill>
                  </a:tcPr>
                </a:tc>
              </a:tr>
            </a:tbl>
          </a:graphicData>
        </a:graphic>
      </p:graphicFrame>
      <p:sp>
        <p:nvSpPr>
          <p:cNvPr id="6" name="Field callouts card"/>
          <p:cNvSpPr/>
          <p:nvPr/>
        </p:nvSpPr>
        <p:spPr>
          <a:xfrm>
            <a:off x="8458199" y="1371600"/>
            <a:ext cx="3291840" cy="4617720"/>
          </a:xfrm>
          <a:prstGeom prst="roundRect">
            <a:avLst>
              <a:gd name="adj" fmla="val 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Field callouts text"/>
          <p:cNvSpPr txBox="1"/>
          <p:nvPr/>
        </p:nvSpPr>
        <p:spPr>
          <a:xfrm>
            <a:off x="8641079" y="1554480"/>
            <a:ext cx="2926080" cy="4251959"/>
          </a:xfrm>
          <a:prstGeom prst="rect">
            <a:avLst/>
          </a:prstGeom>
          <a:noFill/>
        </p:spPr>
        <p:txBody>
          <a:bodyPr wrap="square" lIns="0" rIns="0" tIns="0" bIns="0" anchor="t">
            <a:noAutofit/>
          </a:bodyPr>
          <a:lstStyle/>
          <a:p>
            <a:pPr marL="201168" indent="-201168">
              <a:spcAft>
                <a:spcPts val="570"/>
              </a:spcAft>
              <a:buClr>
                <a:srgbClr val="00943A"/>
              </a:buClr>
              <a:buFont typeface="Arial"/>
              <a:buChar char="•"/>
            </a:pPr>
            <a:r>
              <a:rPr sz="1500" b="1" i="0">
                <a:solidFill>
                  <a:srgbClr val="2B2B2B"/>
                </a:solidFill>
                <a:latin typeface="Arial"/>
              </a:rPr>
              <a:t>All six specific objectives were implemented and demonstrated</a:t>
            </a:r>
            <a:r>
              <a:rPr sz="1500" b="0" i="0">
                <a:solidFill>
                  <a:srgbClr val="2B2B2B"/>
                </a:solidFill>
                <a:latin typeface="Arial"/>
              </a:rPr>
              <a:t> at the prototype level</a:t>
            </a:r>
          </a:p>
          <a:p>
            <a:pPr marL="201168" indent="-201168">
              <a:spcAft>
                <a:spcPts val="570"/>
              </a:spcAft>
              <a:buClr>
                <a:srgbClr val="00943A"/>
              </a:buClr>
              <a:buFont typeface="Arial"/>
              <a:buChar char="•"/>
            </a:pPr>
            <a:r>
              <a:rPr sz="1500" b="1" i="0">
                <a:solidFill>
                  <a:srgbClr val="2B2B2B"/>
                </a:solidFill>
                <a:latin typeface="Arial"/>
              </a:rPr>
              <a:t>Bench: 67/74 (90.5%)</a:t>
            </a:r>
            <a:r>
              <a:rPr sz="1500" b="0" i="0">
                <a:solidFill>
                  <a:srgbClr val="2B2B2B"/>
                </a:solidFill>
                <a:latin typeface="Arial"/>
              </a:rPr>
              <a:t> · </a:t>
            </a:r>
            <a:r>
              <a:rPr sz="1500" b="1" i="0">
                <a:solidFill>
                  <a:srgbClr val="2B2B2B"/>
                </a:solidFill>
                <a:latin typeface="Arial"/>
              </a:rPr>
              <a:t>On-site: 17/18 (94.44%)</a:t>
            </a:r>
          </a:p>
          <a:p>
            <a:pPr marL="201168" indent="-201168">
              <a:spcAft>
                <a:spcPts val="570"/>
              </a:spcAft>
              <a:buClr>
                <a:srgbClr val="00943A"/>
              </a:buClr>
              <a:buFont typeface="Arial"/>
              <a:buChar char="•"/>
            </a:pPr>
            <a:r>
              <a:rPr sz="1500" b="1" i="0">
                <a:solidFill>
                  <a:srgbClr val="2B2B2B"/>
                </a:solidFill>
                <a:latin typeface="Arial"/>
              </a:rPr>
              <a:t>Safety-actuation chain: 100%</a:t>
            </a:r>
            <a:r>
              <a:rPr sz="1500" b="0" i="0">
                <a:solidFill>
                  <a:srgbClr val="2B2B2B"/>
                </a:solidFill>
                <a:latin typeface="Arial"/>
              </a:rPr>
              <a:t> on the bench</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tion kicker"/>
          <p:cNvSpPr txBox="1"/>
          <p:nvPr/>
        </p:nvSpPr>
        <p:spPr>
          <a:xfrm>
            <a:off x="1280160" y="292608"/>
            <a:ext cx="8686800" cy="256032"/>
          </a:xfrm>
          <a:prstGeom prst="rect">
            <a:avLst/>
          </a:prstGeom>
          <a:noFill/>
        </p:spPr>
        <p:txBody>
          <a:bodyPr wrap="square" lIns="0" rIns="0" tIns="0" bIns="0" anchor="t">
            <a:noAutofit/>
          </a:bodyPr>
          <a:lstStyle/>
          <a:p>
            <a:r>
              <a:rPr sz="1100" b="1" i="0">
                <a:solidFill>
                  <a:srgbClr val="6B6B6B"/>
                </a:solidFill>
                <a:latin typeface="Arial"/>
              </a:rPr>
              <a:t>CONCLUSION</a:t>
            </a:r>
          </a:p>
        </p:txBody>
      </p:sp>
      <p:sp>
        <p:nvSpPr>
          <p:cNvPr id="3" name="Title"/>
          <p:cNvSpPr txBox="1"/>
          <p:nvPr/>
        </p:nvSpPr>
        <p:spPr>
          <a:xfrm>
            <a:off x="1280160" y="502920"/>
            <a:ext cx="10469880" cy="731520"/>
          </a:xfrm>
          <a:prstGeom prst="rect">
            <a:avLst/>
          </a:prstGeom>
          <a:noFill/>
        </p:spPr>
        <p:txBody>
          <a:bodyPr wrap="square" lIns="0" rIns="0" tIns="0" bIns="0" anchor="ctr">
            <a:noAutofit/>
          </a:bodyPr>
          <a:lstStyle/>
          <a:p>
            <a:r>
              <a:rPr sz="3200" b="1" i="0">
                <a:solidFill>
                  <a:srgbClr val="00943A"/>
                </a:solidFill>
                <a:latin typeface="Arial"/>
              </a:rPr>
              <a:t>Conclusion: A Validated Multi-Modal Baseline</a:t>
            </a:r>
          </a:p>
        </p:txBody>
      </p:sp>
      <p:sp>
        <p:nvSpPr>
          <p:cNvPr id="4" name="Slide number"/>
          <p:cNvSpPr txBox="1"/>
          <p:nvPr/>
        </p:nvSpPr>
        <p:spPr>
          <a:xfrm>
            <a:off x="1280160" y="6327648"/>
            <a:ext cx="2286000" cy="274320"/>
          </a:xfrm>
          <a:prstGeom prst="rect">
            <a:avLst/>
          </a:prstGeom>
          <a:noFill/>
        </p:spPr>
        <p:txBody>
          <a:bodyPr wrap="square" lIns="0" rIns="0" tIns="0" bIns="0" anchor="t">
            <a:noAutofit/>
          </a:bodyPr>
          <a:lstStyle/>
          <a:p>
            <a:r>
              <a:rPr sz="1000" b="0" i="0">
                <a:solidFill>
                  <a:srgbClr val="6B6B6B"/>
                </a:solidFill>
                <a:latin typeface="Arial"/>
              </a:rPr>
              <a:t>IndepenSense · 46</a:t>
            </a:r>
          </a:p>
        </p:txBody>
      </p:sp>
      <p:sp>
        <p:nvSpPr>
          <p:cNvPr id="5" name="Step 1 card"/>
          <p:cNvSpPr/>
          <p:nvPr/>
        </p:nvSpPr>
        <p:spPr>
          <a:xfrm>
            <a:off x="1280160" y="1371600"/>
            <a:ext cx="3294887" cy="2379065"/>
          </a:xfrm>
          <a:prstGeom prst="roundRect">
            <a:avLst>
              <a:gd name="adj" fmla="val 6918"/>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Step 1 text"/>
          <p:cNvSpPr txBox="1"/>
          <p:nvPr/>
        </p:nvSpPr>
        <p:spPr>
          <a:xfrm>
            <a:off x="1463039" y="1554480"/>
            <a:ext cx="2929128" cy="2013305"/>
          </a:xfrm>
          <a:prstGeom prst="rect">
            <a:avLst/>
          </a:prstGeom>
          <a:noFill/>
        </p:spPr>
        <p:txBody>
          <a:bodyPr wrap="square" lIns="0" rIns="0" tIns="0" bIns="0" anchor="t">
            <a:noAutofit/>
          </a:bodyPr>
          <a:lstStyle/>
          <a:p>
            <a:pPr>
              <a:spcAft>
                <a:spcPts val="675"/>
              </a:spcAft>
              <a:buNone/>
            </a:pPr>
            <a:r>
              <a:rPr sz="1700" b="1" i="0">
                <a:solidFill>
                  <a:srgbClr val="006B2A"/>
                </a:solidFill>
                <a:latin typeface="Arial"/>
              </a:rPr>
              <a:t>Validated 1: Multi-modal integration is feasible</a:t>
            </a:r>
          </a:p>
          <a:p>
            <a:pPr>
              <a:spcAft>
                <a:spcPts val="570"/>
              </a:spcAft>
              <a:buNone/>
            </a:pPr>
            <a:r>
              <a:rPr sz="1500" b="0" i="0">
                <a:solidFill>
                  <a:srgbClr val="2B2B2B"/>
                </a:solidFill>
                <a:latin typeface="Arial"/>
              </a:rPr>
              <a:t>Sensing, vision, voice and cellular alerting run together on </a:t>
            </a:r>
            <a:r>
              <a:rPr sz="1500" b="1" i="0">
                <a:solidFill>
                  <a:srgbClr val="2B2B2B"/>
                </a:solidFill>
                <a:latin typeface="Arial"/>
              </a:rPr>
              <a:t>one Raspberry Pi 5</a:t>
            </a:r>
          </a:p>
        </p:txBody>
      </p:sp>
      <p:sp>
        <p:nvSpPr>
          <p:cNvPr id="7" name="Arrow 1"/>
          <p:cNvSpPr/>
          <p:nvPr/>
        </p:nvSpPr>
        <p:spPr>
          <a:xfrm>
            <a:off x="4620767" y="2442260"/>
            <a:ext cx="201168" cy="237744"/>
          </a:xfrm>
          <a:prstGeom prst="rightArrow">
            <a:avLst/>
          </a:prstGeom>
          <a:solidFill>
            <a:srgbClr val="009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tep 2 card"/>
          <p:cNvSpPr/>
          <p:nvPr/>
        </p:nvSpPr>
        <p:spPr>
          <a:xfrm>
            <a:off x="4867655" y="1371600"/>
            <a:ext cx="3294887" cy="2379065"/>
          </a:xfrm>
          <a:prstGeom prst="roundRect">
            <a:avLst>
              <a:gd name="adj" fmla="val 6918"/>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Step 2 text"/>
          <p:cNvSpPr txBox="1"/>
          <p:nvPr/>
        </p:nvSpPr>
        <p:spPr>
          <a:xfrm>
            <a:off x="5050535" y="1554480"/>
            <a:ext cx="2929128" cy="2013305"/>
          </a:xfrm>
          <a:prstGeom prst="rect">
            <a:avLst/>
          </a:prstGeom>
          <a:noFill/>
        </p:spPr>
        <p:txBody>
          <a:bodyPr wrap="square" lIns="0" rIns="0" tIns="0" bIns="0" anchor="t">
            <a:noAutofit/>
          </a:bodyPr>
          <a:lstStyle/>
          <a:p>
            <a:pPr>
              <a:spcAft>
                <a:spcPts val="675"/>
              </a:spcAft>
              <a:buNone/>
            </a:pPr>
            <a:r>
              <a:rPr sz="1700" b="1" i="0">
                <a:solidFill>
                  <a:srgbClr val="006B2A"/>
                </a:solidFill>
                <a:latin typeface="Arial"/>
              </a:rPr>
              <a:t>Validated 2: The ergonomic split works</a:t>
            </a:r>
          </a:p>
          <a:p>
            <a:pPr>
              <a:spcAft>
                <a:spcPts val="570"/>
              </a:spcAft>
              <a:buNone/>
            </a:pPr>
            <a:r>
              <a:rPr sz="1500" b="0" i="0">
                <a:solidFill>
                  <a:srgbClr val="2B2B2B"/>
                </a:solidFill>
                <a:latin typeface="Arial"/>
              </a:rPr>
              <a:t>A </a:t>
            </a:r>
            <a:r>
              <a:rPr sz="1500" b="1" i="0">
                <a:solidFill>
                  <a:srgbClr val="2B2B2B"/>
                </a:solidFill>
                <a:latin typeface="Arial"/>
              </a:rPr>
              <a:t>light cane + weighted vest</a:t>
            </a:r>
            <a:r>
              <a:rPr sz="1500" b="0" i="0">
                <a:solidFill>
                  <a:srgbClr val="2B2B2B"/>
                </a:solidFill>
                <a:latin typeface="Arial"/>
              </a:rPr>
              <a:t> was rated comfortable in the field</a:t>
            </a:r>
          </a:p>
        </p:txBody>
      </p:sp>
      <p:sp>
        <p:nvSpPr>
          <p:cNvPr id="10" name="Arrow 2"/>
          <p:cNvSpPr/>
          <p:nvPr/>
        </p:nvSpPr>
        <p:spPr>
          <a:xfrm>
            <a:off x="8208264" y="2442260"/>
            <a:ext cx="201168" cy="237744"/>
          </a:xfrm>
          <a:prstGeom prst="rightArrow">
            <a:avLst/>
          </a:prstGeom>
          <a:solidFill>
            <a:srgbClr val="009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tep 3 card"/>
          <p:cNvSpPr/>
          <p:nvPr/>
        </p:nvSpPr>
        <p:spPr>
          <a:xfrm>
            <a:off x="8455152" y="1371600"/>
            <a:ext cx="3294887" cy="2379065"/>
          </a:xfrm>
          <a:prstGeom prst="roundRect">
            <a:avLst>
              <a:gd name="adj" fmla="val 6918"/>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Step 3 text"/>
          <p:cNvSpPr txBox="1"/>
          <p:nvPr/>
        </p:nvSpPr>
        <p:spPr>
          <a:xfrm>
            <a:off x="8638031" y="1554480"/>
            <a:ext cx="2929128" cy="2013305"/>
          </a:xfrm>
          <a:prstGeom prst="rect">
            <a:avLst/>
          </a:prstGeom>
          <a:noFill/>
        </p:spPr>
        <p:txBody>
          <a:bodyPr wrap="square" lIns="0" rIns="0" tIns="0" bIns="0" anchor="t">
            <a:noAutofit/>
          </a:bodyPr>
          <a:lstStyle/>
          <a:p>
            <a:pPr>
              <a:spcAft>
                <a:spcPts val="675"/>
              </a:spcAft>
              <a:buNone/>
            </a:pPr>
            <a:r>
              <a:rPr sz="1700" b="1" i="0">
                <a:solidFill>
                  <a:srgbClr val="006B2A"/>
                </a:solidFill>
                <a:latin typeface="Arial"/>
              </a:rPr>
              <a:t>Validated 3: Distributed safety works</a:t>
            </a:r>
          </a:p>
          <a:p>
            <a:pPr>
              <a:spcAft>
                <a:spcPts val="570"/>
              </a:spcAft>
              <a:buNone/>
            </a:pPr>
            <a:r>
              <a:rPr sz="1500" b="0" i="0">
                <a:solidFill>
                  <a:srgbClr val="2B2B2B"/>
                </a:solidFill>
                <a:latin typeface="Arial"/>
              </a:rPr>
              <a:t>Local alarm, </a:t>
            </a:r>
            <a:r>
              <a:rPr sz="1500" b="1" i="0">
                <a:solidFill>
                  <a:srgbClr val="2B2B2B"/>
                </a:solidFill>
                <a:latin typeface="Arial"/>
              </a:rPr>
              <a:t>HTTPS + SMS</a:t>
            </a:r>
            <a:r>
              <a:rPr sz="1500" b="0" i="0">
                <a:solidFill>
                  <a:srgbClr val="2B2B2B"/>
                </a:solidFill>
                <a:latin typeface="Arial"/>
              </a:rPr>
              <a:t> to the guardian, and </a:t>
            </a:r>
            <a:r>
              <a:rPr sz="1500" b="1" i="0">
                <a:solidFill>
                  <a:srgbClr val="2B2B2B"/>
                </a:solidFill>
                <a:latin typeface="Arial"/>
              </a:rPr>
              <a:t>offline survival</a:t>
            </a:r>
            <a:r>
              <a:rPr sz="1500" b="0" i="0">
                <a:solidFill>
                  <a:srgbClr val="2B2B2B"/>
                </a:solidFill>
                <a:latin typeface="Arial"/>
              </a:rPr>
              <a:t> of safety features</a:t>
            </a:r>
          </a:p>
        </p:txBody>
      </p:sp>
      <p:sp>
        <p:nvSpPr>
          <p:cNvPr id="13" name="Field 2 card"/>
          <p:cNvSpPr/>
          <p:nvPr/>
        </p:nvSpPr>
        <p:spPr>
          <a:xfrm>
            <a:off x="1280160" y="4006697"/>
            <a:ext cx="10469880" cy="1982622"/>
          </a:xfrm>
          <a:prstGeom prst="roundRect">
            <a:avLst>
              <a:gd name="adj" fmla="val 8301"/>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Field 2 text 1"/>
          <p:cNvSpPr txBox="1"/>
          <p:nvPr/>
        </p:nvSpPr>
        <p:spPr>
          <a:xfrm>
            <a:off x="1463039" y="4189577"/>
            <a:ext cx="10104119" cy="1616862"/>
          </a:xfrm>
          <a:prstGeom prst="rect">
            <a:avLst/>
          </a:prstGeom>
          <a:noFill/>
        </p:spPr>
        <p:txBody>
          <a:bodyPr wrap="square" lIns="0" rIns="0" tIns="0" bIns="0" anchor="t">
            <a:noAutofit/>
          </a:bodyPr>
          <a:lstStyle/>
          <a:p>
            <a:pPr marL="201168" indent="-201168">
              <a:spcAft>
                <a:spcPts val="570"/>
              </a:spcAft>
              <a:buClr>
                <a:srgbClr val="00943A"/>
              </a:buClr>
              <a:buFont typeface="Arial"/>
              <a:buChar char="•"/>
            </a:pPr>
            <a:r>
              <a:rPr sz="1500" b="1" i="0">
                <a:solidFill>
                  <a:srgbClr val="2B2B2B"/>
                </a:solidFill>
                <a:latin typeface="Arial"/>
              </a:rPr>
              <a:t>Baseline established</a:t>
            </a:r>
            <a:r>
              <a:rPr sz="1500" b="0" i="0">
                <a:solidFill>
                  <a:srgbClr val="2B2B2B"/>
                </a:solidFill>
                <a:latin typeface="Arial"/>
              </a:rPr>
              <a:t> for </a:t>
            </a:r>
            <a:r>
              <a:rPr sz="1500" b="1" i="0">
                <a:solidFill>
                  <a:srgbClr val="2B2B2B"/>
                </a:solidFill>
                <a:latin typeface="Arial"/>
              </a:rPr>
              <a:t>user spatial safety</a:t>
            </a:r>
            <a:r>
              <a:rPr sz="1500" b="0" i="0">
                <a:solidFill>
                  <a:srgbClr val="2B2B2B"/>
                </a:solidFill>
                <a:latin typeface="Arial"/>
              </a:rPr>
              <a:t>: forward obstacle cone, fall alerting, guardian visibility</a:t>
            </a:r>
          </a:p>
          <a:p>
            <a:pPr marL="201168" indent="-201168">
              <a:spcAft>
                <a:spcPts val="570"/>
              </a:spcAft>
              <a:buClr>
                <a:srgbClr val="00943A"/>
              </a:buClr>
              <a:buFont typeface="Arial"/>
              <a:buChar char="•"/>
            </a:pPr>
            <a:r>
              <a:rPr sz="1500" b="1" i="0">
                <a:solidFill>
                  <a:srgbClr val="2B2B2B"/>
                </a:solidFill>
                <a:latin typeface="Arial"/>
              </a:rPr>
              <a:t>Defined frontier:</a:t>
            </a:r>
            <a:r>
              <a:rPr sz="1500" b="0" i="0">
                <a:solidFill>
                  <a:srgbClr val="2B2B2B"/>
                </a:solidFill>
                <a:latin typeface="Arial"/>
              </a:rPr>
              <a:t> vision robustness, GNSS accuracy, audio capture, fall verification</a:t>
            </a:r>
          </a:p>
          <a:p>
            <a:pPr marL="201168" indent="-201168">
              <a:spcAft>
                <a:spcPts val="570"/>
              </a:spcAft>
              <a:buClr>
                <a:srgbClr val="00943A"/>
              </a:buClr>
              <a:buFont typeface="Arial"/>
              <a:buChar char="•"/>
            </a:pPr>
            <a:r>
              <a:rPr sz="1500" b="1" i="0">
                <a:solidFill>
                  <a:srgbClr val="2B2B2B"/>
                </a:solidFill>
                <a:latin typeface="Arial"/>
              </a:rPr>
              <a:t>Contribution:</a:t>
            </a:r>
            <a:r>
              <a:rPr sz="1500" b="0" i="0">
                <a:solidFill>
                  <a:srgbClr val="2B2B2B"/>
                </a:solidFill>
                <a:latin typeface="Arial"/>
              </a:rPr>
              <a:t> an </a:t>
            </a:r>
            <a:r>
              <a:rPr sz="1500" b="1" i="0">
                <a:solidFill>
                  <a:srgbClr val="2B2B2B"/>
                </a:solidFill>
                <a:latin typeface="Arial"/>
              </a:rPr>
              <a:t>integrated architecture</a:t>
            </a:r>
            <a:r>
              <a:rPr sz="1500" b="0" i="0">
                <a:solidFill>
                  <a:srgbClr val="2B2B2B"/>
                </a:solidFill>
                <a:latin typeface="Arial"/>
              </a:rPr>
              <a:t>, where the literature mostly offers </a:t>
            </a:r>
            <a:r>
              <a:rPr sz="1500" b="1" i="0">
                <a:solidFill>
                  <a:srgbClr val="2B2B2B"/>
                </a:solidFill>
                <a:latin typeface="Arial"/>
              </a:rPr>
              <a:t>single-subsystem improvements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tion kicker"/>
          <p:cNvSpPr txBox="1"/>
          <p:nvPr/>
        </p:nvSpPr>
        <p:spPr>
          <a:xfrm>
            <a:off x="1280160" y="292608"/>
            <a:ext cx="8686800" cy="256032"/>
          </a:xfrm>
          <a:prstGeom prst="rect">
            <a:avLst/>
          </a:prstGeom>
          <a:noFill/>
        </p:spPr>
        <p:txBody>
          <a:bodyPr wrap="square" lIns="0" rIns="0" tIns="0" bIns="0" anchor="t">
            <a:noAutofit/>
          </a:bodyPr>
          <a:lstStyle/>
          <a:p>
            <a:r>
              <a:rPr sz="1100" b="1" i="0">
                <a:solidFill>
                  <a:srgbClr val="6B6B6B"/>
                </a:solidFill>
                <a:latin typeface="Arial"/>
              </a:rPr>
              <a:t>RECOMMENDATIONS</a:t>
            </a:r>
          </a:p>
        </p:txBody>
      </p:sp>
      <p:sp>
        <p:nvSpPr>
          <p:cNvPr id="3" name="Title"/>
          <p:cNvSpPr txBox="1"/>
          <p:nvPr/>
        </p:nvSpPr>
        <p:spPr>
          <a:xfrm>
            <a:off x="1280160" y="502920"/>
            <a:ext cx="10469880" cy="731520"/>
          </a:xfrm>
          <a:prstGeom prst="rect">
            <a:avLst/>
          </a:prstGeom>
          <a:noFill/>
        </p:spPr>
        <p:txBody>
          <a:bodyPr wrap="square" lIns="0" rIns="0" tIns="0" bIns="0" anchor="ctr">
            <a:noAutofit/>
          </a:bodyPr>
          <a:lstStyle/>
          <a:p>
            <a:r>
              <a:rPr sz="3200" b="1" i="0">
                <a:solidFill>
                  <a:srgbClr val="00943A"/>
                </a:solidFill>
                <a:latin typeface="Arial"/>
              </a:rPr>
              <a:t>Recommendation 1: Quantized Computer Vision</a:t>
            </a:r>
          </a:p>
        </p:txBody>
      </p:sp>
      <p:sp>
        <p:nvSpPr>
          <p:cNvPr id="4" name="Slide number"/>
          <p:cNvSpPr txBox="1"/>
          <p:nvPr/>
        </p:nvSpPr>
        <p:spPr>
          <a:xfrm>
            <a:off x="1280160" y="6327648"/>
            <a:ext cx="2286000" cy="274320"/>
          </a:xfrm>
          <a:prstGeom prst="rect">
            <a:avLst/>
          </a:prstGeom>
          <a:noFill/>
        </p:spPr>
        <p:txBody>
          <a:bodyPr wrap="square" lIns="0" rIns="0" tIns="0" bIns="0" anchor="t">
            <a:noAutofit/>
          </a:bodyPr>
          <a:lstStyle/>
          <a:p>
            <a:r>
              <a:rPr sz="1000" b="0" i="0">
                <a:solidFill>
                  <a:srgbClr val="6B6B6B"/>
                </a:solidFill>
                <a:latin typeface="Arial"/>
              </a:rPr>
              <a:t>IndepenSense · 47</a:t>
            </a:r>
          </a:p>
        </p:txBody>
      </p:sp>
      <p:sp>
        <p:nvSpPr>
          <p:cNvPr id="5" name="Field 1 card"/>
          <p:cNvSpPr/>
          <p:nvPr/>
        </p:nvSpPr>
        <p:spPr>
          <a:xfrm>
            <a:off x="1280160" y="1371600"/>
            <a:ext cx="3881262" cy="4617720"/>
          </a:xfrm>
          <a:prstGeom prst="roundRect">
            <a:avLst>
              <a:gd name="adj" fmla="val 424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ield 1 text"/>
          <p:cNvSpPr txBox="1"/>
          <p:nvPr/>
        </p:nvSpPr>
        <p:spPr>
          <a:xfrm>
            <a:off x="1463039" y="1554480"/>
            <a:ext cx="3515502" cy="4251959"/>
          </a:xfrm>
          <a:prstGeom prst="rect">
            <a:avLst/>
          </a:prstGeom>
          <a:noFill/>
        </p:spPr>
        <p:txBody>
          <a:bodyPr wrap="square" lIns="0" rIns="0" tIns="0" bIns="0" anchor="t">
            <a:noAutofit/>
          </a:bodyPr>
          <a:lstStyle/>
          <a:p>
            <a:pPr>
              <a:spcAft>
                <a:spcPts val="810"/>
              </a:spcAft>
              <a:buNone/>
            </a:pPr>
            <a:r>
              <a:rPr sz="2000" b="1" i="0">
                <a:solidFill>
                  <a:srgbClr val="006B2A"/>
                </a:solidFill>
                <a:latin typeface="Arial"/>
              </a:rPr>
              <a:t>Current</a:t>
            </a:r>
          </a:p>
          <a:p>
            <a:pPr marL="201168" indent="-201168">
              <a:spcAft>
                <a:spcPts val="684"/>
              </a:spcAft>
              <a:buClr>
                <a:srgbClr val="00943A"/>
              </a:buClr>
              <a:buFont typeface="Arial"/>
              <a:buChar char="•"/>
            </a:pPr>
            <a:r>
              <a:rPr sz="1800" b="1" i="0">
                <a:solidFill>
                  <a:srgbClr val="2B2B2B"/>
                </a:solidFill>
                <a:latin typeface="Arial"/>
              </a:rPr>
              <a:t>YOLOv8m</a:t>
            </a:r>
            <a:r>
              <a:rPr sz="1800" b="0" i="0">
                <a:solidFill>
                  <a:srgbClr val="2B2B2B"/>
                </a:solidFill>
                <a:latin typeface="Arial"/>
              </a:rPr>
              <a:t>, </a:t>
            </a:r>
            <a:r>
              <a:rPr sz="1800" b="1" i="0">
                <a:solidFill>
                  <a:srgbClr val="2B2B2B"/>
                </a:solidFill>
                <a:latin typeface="Arial"/>
              </a:rPr>
              <a:t>FP32 PyTorch</a:t>
            </a:r>
            <a:r>
              <a:rPr sz="1800" b="0" i="0">
                <a:solidFill>
                  <a:srgbClr val="2B2B2B"/>
                </a:solidFill>
                <a:latin typeface="Arial"/>
              </a:rPr>
              <a:t> on the </a:t>
            </a:r>
            <a:r>
              <a:rPr sz="1800" b="1" i="0">
                <a:solidFill>
                  <a:srgbClr val="2B2B2B"/>
                </a:solidFill>
                <a:latin typeface="Arial"/>
              </a:rPr>
              <a:t>Pi 5 CPU</a:t>
            </a:r>
          </a:p>
          <a:p>
            <a:pPr marL="201168" indent="-201168">
              <a:spcAft>
                <a:spcPts val="684"/>
              </a:spcAft>
              <a:buClr>
                <a:srgbClr val="00943A"/>
              </a:buClr>
              <a:buFont typeface="Arial"/>
              <a:buChar char="•"/>
            </a:pPr>
            <a:r>
              <a:rPr sz="1800" b="1" i="0">
                <a:solidFill>
                  <a:srgbClr val="2B2B2B"/>
                </a:solidFill>
                <a:latin typeface="Arial"/>
              </a:rPr>
              <a:t>1280×720</a:t>
            </a:r>
            <a:r>
              <a:rPr sz="1800" b="0" i="0">
                <a:solidFill>
                  <a:srgbClr val="2B2B2B"/>
                </a:solidFill>
                <a:latin typeface="Arial"/>
              </a:rPr>
              <a:t> input · conf </a:t>
            </a:r>
            <a:r>
              <a:rPr sz="1800" b="1" i="0">
                <a:solidFill>
                  <a:srgbClr val="2B2B2B"/>
                </a:solidFill>
                <a:latin typeface="Arial"/>
              </a:rPr>
              <a:t>0.3</a:t>
            </a:r>
          </a:p>
          <a:p>
            <a:pPr marL="201168" indent="-201168">
              <a:spcAft>
                <a:spcPts val="684"/>
              </a:spcAft>
              <a:buClr>
                <a:srgbClr val="00943A"/>
              </a:buClr>
              <a:buFont typeface="Arial"/>
              <a:buChar char="•"/>
            </a:pPr>
            <a:r>
              <a:rPr sz="1800" b="0" i="0">
                <a:solidFill>
                  <a:srgbClr val="2B2B2B"/>
                </a:solidFill>
                <a:latin typeface="Arial"/>
              </a:rPr>
              <a:t>Field accuracy </a:t>
            </a:r>
            <a:r>
              <a:rPr sz="1800" b="1" i="0">
                <a:solidFill>
                  <a:srgbClr val="2B2B2B"/>
                </a:solidFill>
                <a:latin typeface="Arial"/>
              </a:rPr>
              <a:t>dropped</a:t>
            </a:r>
            <a:r>
              <a:rPr sz="1800" b="0" i="0">
                <a:solidFill>
                  <a:srgbClr val="2B2B2B"/>
                </a:solidFill>
                <a:latin typeface="Arial"/>
              </a:rPr>
              <a:t> in indoor light and with depth variation (</a:t>
            </a:r>
            <a:r>
              <a:rPr sz="1800" b="1" i="0">
                <a:solidFill>
                  <a:srgbClr val="2B2B2B"/>
                </a:solidFill>
                <a:latin typeface="Arial"/>
              </a:rPr>
              <a:t>TC-ONS-09</a:t>
            </a:r>
            <a:r>
              <a:rPr sz="1800" b="0" i="0">
                <a:solidFill>
                  <a:srgbClr val="2B2B2B"/>
                </a:solidFill>
                <a:latin typeface="Arial"/>
              </a:rPr>
              <a:t>)</a:t>
            </a:r>
          </a:p>
        </p:txBody>
      </p:sp>
      <p:sp>
        <p:nvSpPr>
          <p:cNvPr id="7" name="Field 2 card"/>
          <p:cNvSpPr/>
          <p:nvPr/>
        </p:nvSpPr>
        <p:spPr>
          <a:xfrm>
            <a:off x="5417454" y="1371600"/>
            <a:ext cx="6332585" cy="4617720"/>
          </a:xfrm>
          <a:prstGeom prst="roundRect">
            <a:avLst>
              <a:gd name="adj" fmla="val 3564"/>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Field 2 text"/>
          <p:cNvSpPr txBox="1"/>
          <p:nvPr/>
        </p:nvSpPr>
        <p:spPr>
          <a:xfrm>
            <a:off x="5600334" y="1554480"/>
            <a:ext cx="5966825" cy="4251959"/>
          </a:xfrm>
          <a:prstGeom prst="rect">
            <a:avLst/>
          </a:prstGeom>
          <a:noFill/>
        </p:spPr>
        <p:txBody>
          <a:bodyPr wrap="square" lIns="0" rIns="0" tIns="0" bIns="0" anchor="t">
            <a:noAutofit/>
          </a:bodyPr>
          <a:lstStyle/>
          <a:p>
            <a:pPr>
              <a:spcAft>
                <a:spcPts val="810"/>
              </a:spcAft>
              <a:buNone/>
            </a:pPr>
            <a:r>
              <a:rPr sz="2000" b="1" i="0">
                <a:solidFill>
                  <a:srgbClr val="006B2A"/>
                </a:solidFill>
                <a:latin typeface="Arial"/>
              </a:rPr>
              <a:t>Recommended</a:t>
            </a:r>
          </a:p>
          <a:p>
            <a:pPr marL="201168" indent="-201168">
              <a:spcAft>
                <a:spcPts val="684"/>
              </a:spcAft>
              <a:buClr>
                <a:srgbClr val="00943A"/>
              </a:buClr>
              <a:buFont typeface="Arial"/>
              <a:buChar char="•"/>
            </a:pPr>
            <a:r>
              <a:rPr sz="1800" b="1" i="0">
                <a:solidFill>
                  <a:srgbClr val="2B2B2B"/>
                </a:solidFill>
                <a:latin typeface="Arial"/>
              </a:rPr>
              <a:t>Model quantization:</a:t>
            </a:r>
            <a:r>
              <a:rPr sz="1800" b="0" i="0">
                <a:solidFill>
                  <a:srgbClr val="2B2B2B"/>
                </a:solidFill>
                <a:latin typeface="Arial"/>
              </a:rPr>
              <a:t> </a:t>
            </a:r>
            <a:r>
              <a:rPr sz="1800" b="1" i="0">
                <a:solidFill>
                  <a:srgbClr val="2B2B2B"/>
                </a:solidFill>
                <a:latin typeface="Arial"/>
              </a:rPr>
              <a:t>INT8</a:t>
            </a:r>
            <a:r>
              <a:rPr sz="1800" b="0" i="0">
                <a:solidFill>
                  <a:srgbClr val="2B2B2B"/>
                </a:solidFill>
                <a:latin typeface="Arial"/>
              </a:rPr>
              <a:t> export (e.g. </a:t>
            </a:r>
            <a:r>
              <a:rPr sz="1800" b="1" i="0">
                <a:solidFill>
                  <a:srgbClr val="2B2B2B"/>
                </a:solidFill>
                <a:latin typeface="Arial"/>
              </a:rPr>
              <a:t>NCNN / ONNX Runtime / TFLite</a:t>
            </a:r>
            <a:r>
              <a:rPr sz="1800" b="0" i="0">
                <a:solidFill>
                  <a:srgbClr val="2B2B2B"/>
                </a:solidFill>
                <a:latin typeface="Arial"/>
              </a:rPr>
              <a:t>) for </a:t>
            </a:r>
            <a:r>
              <a:rPr sz="1800" b="1" i="0">
                <a:solidFill>
                  <a:srgbClr val="2B2B2B"/>
                </a:solidFill>
                <a:latin typeface="Arial"/>
              </a:rPr>
              <a:t>faster inference</a:t>
            </a:r>
            <a:r>
              <a:rPr sz="1800" b="0" i="0">
                <a:solidFill>
                  <a:srgbClr val="2B2B2B"/>
                </a:solidFill>
                <a:latin typeface="Arial"/>
              </a:rPr>
              <a:t> on ARM</a:t>
            </a:r>
          </a:p>
          <a:p>
            <a:pPr marL="201168" indent="-201168">
              <a:spcAft>
                <a:spcPts val="684"/>
              </a:spcAft>
              <a:buClr>
                <a:srgbClr val="00943A"/>
              </a:buClr>
              <a:buFont typeface="Arial"/>
              <a:buChar char="•"/>
            </a:pPr>
            <a:r>
              <a:rPr sz="1800" b="0" i="0">
                <a:solidFill>
                  <a:srgbClr val="2B2B2B"/>
                </a:solidFill>
                <a:latin typeface="Arial"/>
              </a:rPr>
              <a:t>Speed buys </a:t>
            </a:r>
            <a:r>
              <a:rPr sz="1800" b="1" i="0">
                <a:solidFill>
                  <a:srgbClr val="2B2B2B"/>
                </a:solidFill>
                <a:latin typeface="Arial"/>
              </a:rPr>
              <a:t>multi-frame voting</a:t>
            </a:r>
            <a:r>
              <a:rPr sz="1800" b="0" i="0">
                <a:solidFill>
                  <a:srgbClr val="2B2B2B"/>
                </a:solidFill>
                <a:latin typeface="Arial"/>
              </a:rPr>
              <a:t> (several frames per request), which raises </a:t>
            </a:r>
            <a:r>
              <a:rPr sz="1800" b="1" i="0">
                <a:solidFill>
                  <a:srgbClr val="2B2B2B"/>
                </a:solidFill>
                <a:latin typeface="Arial"/>
              </a:rPr>
              <a:t>effective accuracy</a:t>
            </a:r>
            <a:r>
              <a:rPr sz="1800" b="0" i="0">
                <a:solidFill>
                  <a:srgbClr val="2B2B2B"/>
                </a:solidFill>
                <a:latin typeface="Arial"/>
              </a:rPr>
              <a:t> without a bigger model</a:t>
            </a:r>
          </a:p>
          <a:p>
            <a:pPr marL="201168" indent="-201168">
              <a:spcAft>
                <a:spcPts val="684"/>
              </a:spcAft>
              <a:buClr>
                <a:srgbClr val="00943A"/>
              </a:buClr>
              <a:buFont typeface="Arial"/>
              <a:buChar char="•"/>
            </a:pPr>
            <a:r>
              <a:rPr sz="1800" b="0" i="0">
                <a:solidFill>
                  <a:srgbClr val="2B2B2B"/>
                </a:solidFill>
                <a:latin typeface="Arial"/>
              </a:rPr>
              <a:t>Evaluate </a:t>
            </a:r>
            <a:r>
              <a:rPr sz="1800" b="1" i="0">
                <a:solidFill>
                  <a:srgbClr val="2B2B2B"/>
                </a:solidFill>
                <a:latin typeface="Arial"/>
              </a:rPr>
              <a:t>YOLOv8n/s vs m</a:t>
            </a:r>
            <a:r>
              <a:rPr sz="1800" b="0" i="0">
                <a:solidFill>
                  <a:srgbClr val="2B2B2B"/>
                </a:solidFill>
                <a:latin typeface="Arial"/>
              </a:rPr>
              <a:t> on a </a:t>
            </a:r>
            <a:r>
              <a:rPr sz="1800" b="1" i="0">
                <a:solidFill>
                  <a:srgbClr val="2B2B2B"/>
                </a:solidFill>
                <a:latin typeface="Arial"/>
              </a:rPr>
              <a:t>local dataset</a:t>
            </a:r>
            <a:r>
              <a:rPr sz="1800" b="0" i="0">
                <a:solidFill>
                  <a:srgbClr val="2B2B2B"/>
                </a:solidFill>
                <a:latin typeface="Arial"/>
              </a:rPr>
              <a:t> (Lipa signage, mall fixtures)</a:t>
            </a:r>
          </a:p>
          <a:p>
            <a:pPr marL="201168" indent="-201168">
              <a:spcAft>
                <a:spcPts val="684"/>
              </a:spcAft>
              <a:buClr>
                <a:srgbClr val="00943A"/>
              </a:buClr>
              <a:buFont typeface="Arial"/>
              <a:buChar char="•"/>
            </a:pPr>
            <a:r>
              <a:rPr sz="1800" b="1" i="0">
                <a:solidFill>
                  <a:srgbClr val="2B2B2B"/>
                </a:solidFill>
                <a:latin typeface="Arial"/>
              </a:rPr>
              <a:t>Fine-tune</a:t>
            </a:r>
            <a:r>
              <a:rPr sz="1800" b="0" i="0">
                <a:solidFill>
                  <a:srgbClr val="2B2B2B"/>
                </a:solidFill>
                <a:latin typeface="Arial"/>
              </a:rPr>
              <a:t> on </a:t>
            </a:r>
            <a:r>
              <a:rPr sz="1800" b="1" i="0">
                <a:solidFill>
                  <a:srgbClr val="2B2B2B"/>
                </a:solidFill>
                <a:latin typeface="Arial"/>
              </a:rPr>
              <a:t>locally collected images</a:t>
            </a:r>
            <a:r>
              <a:rPr sz="1800" b="0" i="0">
                <a:solidFill>
                  <a:srgbClr val="2B2B2B"/>
                </a:solidFill>
                <a:latin typeface="Arial"/>
              </a:rPr>
              <a:t>; add </a:t>
            </a:r>
            <a:r>
              <a:rPr sz="1800" b="1" i="0">
                <a:solidFill>
                  <a:srgbClr val="2B2B2B"/>
                </a:solidFill>
                <a:latin typeface="Arial"/>
              </a:rPr>
              <a:t>exposure / HDR</a:t>
            </a:r>
            <a:r>
              <a:rPr sz="1800" b="0" i="0">
                <a:solidFill>
                  <a:srgbClr val="2B2B2B"/>
                </a:solidFill>
                <a:latin typeface="Arial"/>
              </a:rPr>
              <a:t> settings for glare</a:t>
            </a:r>
          </a:p>
          <a:p>
            <a:pPr marL="201168" indent="-201168">
              <a:spcAft>
                <a:spcPts val="684"/>
              </a:spcAft>
              <a:buClr>
                <a:srgbClr val="00943A"/>
              </a:buClr>
              <a:buFont typeface="Arial"/>
              <a:buChar char="•"/>
            </a:pPr>
            <a:r>
              <a:rPr sz="1800" b="0" i="0">
                <a:solidFill>
                  <a:srgbClr val="2B2B2B"/>
                </a:solidFill>
                <a:latin typeface="Arial"/>
              </a:rPr>
              <a:t>Consider an </a:t>
            </a:r>
            <a:r>
              <a:rPr sz="1800" b="1" i="0">
                <a:solidFill>
                  <a:srgbClr val="2B2B2B"/>
                </a:solidFill>
                <a:latin typeface="Arial"/>
              </a:rPr>
              <a:t>edge accelerator</a:t>
            </a:r>
            <a:r>
              <a:rPr sz="1800" b="0" i="0">
                <a:solidFill>
                  <a:srgbClr val="2B2B2B"/>
                </a:solidFill>
                <a:latin typeface="Arial"/>
              </a:rPr>
              <a:t> (e.g. Raspberry Pi AI HAT) if the budget allows</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tion kicker"/>
          <p:cNvSpPr txBox="1"/>
          <p:nvPr/>
        </p:nvSpPr>
        <p:spPr>
          <a:xfrm>
            <a:off x="1280160" y="292608"/>
            <a:ext cx="8686800" cy="256032"/>
          </a:xfrm>
          <a:prstGeom prst="rect">
            <a:avLst/>
          </a:prstGeom>
          <a:noFill/>
        </p:spPr>
        <p:txBody>
          <a:bodyPr wrap="square" lIns="0" rIns="0" tIns="0" bIns="0" anchor="t">
            <a:noAutofit/>
          </a:bodyPr>
          <a:lstStyle/>
          <a:p>
            <a:r>
              <a:rPr sz="1100" b="1" i="0">
                <a:solidFill>
                  <a:srgbClr val="6B6B6B"/>
                </a:solidFill>
                <a:latin typeface="Arial"/>
              </a:rPr>
              <a:t>RECOMMENDATIONS</a:t>
            </a:r>
          </a:p>
        </p:txBody>
      </p:sp>
      <p:sp>
        <p:nvSpPr>
          <p:cNvPr id="3" name="Title"/>
          <p:cNvSpPr txBox="1"/>
          <p:nvPr/>
        </p:nvSpPr>
        <p:spPr>
          <a:xfrm>
            <a:off x="1280160" y="502920"/>
            <a:ext cx="10469880" cy="731520"/>
          </a:xfrm>
          <a:prstGeom prst="rect">
            <a:avLst/>
          </a:prstGeom>
          <a:noFill/>
        </p:spPr>
        <p:txBody>
          <a:bodyPr wrap="square" lIns="0" rIns="0" tIns="0" bIns="0" anchor="ctr">
            <a:noAutofit/>
          </a:bodyPr>
          <a:lstStyle/>
          <a:p>
            <a:r>
              <a:rPr sz="3200" b="1" i="0">
                <a:solidFill>
                  <a:srgbClr val="00943A"/>
                </a:solidFill>
                <a:latin typeface="Arial"/>
              </a:rPr>
              <a:t>Recommendation 2: Left and Right Sensing</a:t>
            </a:r>
          </a:p>
        </p:txBody>
      </p:sp>
      <p:sp>
        <p:nvSpPr>
          <p:cNvPr id="4" name="Slide number"/>
          <p:cNvSpPr txBox="1"/>
          <p:nvPr/>
        </p:nvSpPr>
        <p:spPr>
          <a:xfrm>
            <a:off x="1280160" y="6327648"/>
            <a:ext cx="2286000" cy="274320"/>
          </a:xfrm>
          <a:prstGeom prst="rect">
            <a:avLst/>
          </a:prstGeom>
          <a:noFill/>
        </p:spPr>
        <p:txBody>
          <a:bodyPr wrap="square" lIns="0" rIns="0" tIns="0" bIns="0" anchor="t">
            <a:noAutofit/>
          </a:bodyPr>
          <a:lstStyle/>
          <a:p>
            <a:r>
              <a:rPr sz="1000" b="0" i="0">
                <a:solidFill>
                  <a:srgbClr val="6B6B6B"/>
                </a:solidFill>
                <a:latin typeface="Arial"/>
              </a:rPr>
              <a:t>IndepenSense · 48</a:t>
            </a:r>
          </a:p>
        </p:txBody>
      </p:sp>
      <p:sp>
        <p:nvSpPr>
          <p:cNvPr id="5" name="Field 1 card"/>
          <p:cNvSpPr/>
          <p:nvPr/>
        </p:nvSpPr>
        <p:spPr>
          <a:xfrm>
            <a:off x="1280160" y="1371600"/>
            <a:ext cx="4552363" cy="4617720"/>
          </a:xfrm>
          <a:prstGeom prst="roundRect">
            <a:avLst>
              <a:gd name="adj" fmla="val 3615"/>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ield 1 text"/>
          <p:cNvSpPr txBox="1"/>
          <p:nvPr/>
        </p:nvSpPr>
        <p:spPr>
          <a:xfrm>
            <a:off x="1463039" y="1554480"/>
            <a:ext cx="4186603" cy="4251959"/>
          </a:xfrm>
          <a:prstGeom prst="rect">
            <a:avLst/>
          </a:prstGeom>
          <a:noFill/>
        </p:spPr>
        <p:txBody>
          <a:bodyPr wrap="square" lIns="0" rIns="0" tIns="0" bIns="0" anchor="t">
            <a:noAutofit/>
          </a:bodyPr>
          <a:lstStyle/>
          <a:p>
            <a:pPr marL="201168" indent="-201168">
              <a:spcAft>
                <a:spcPts val="684"/>
              </a:spcAft>
              <a:buClr>
                <a:srgbClr val="00943A"/>
              </a:buClr>
              <a:buFont typeface="Arial"/>
              <a:buChar char="•"/>
            </a:pPr>
            <a:r>
              <a:rPr sz="1800" b="1" i="0">
                <a:solidFill>
                  <a:srgbClr val="2B2B2B"/>
                </a:solidFill>
                <a:latin typeface="Arial"/>
              </a:rPr>
              <a:t>Current:</a:t>
            </a:r>
            <a:r>
              <a:rPr sz="1800" b="0" i="0">
                <a:solidFill>
                  <a:srgbClr val="2B2B2B"/>
                </a:solidFill>
                <a:latin typeface="Arial"/>
              </a:rPr>
              <a:t> </a:t>
            </a:r>
            <a:r>
              <a:rPr sz="1800" b="1" i="0">
                <a:solidFill>
                  <a:srgbClr val="2B2B2B"/>
                </a:solidFill>
                <a:latin typeface="Arial"/>
              </a:rPr>
              <a:t>2 forward-facing ultrasonics</a:t>
            </a:r>
            <a:r>
              <a:rPr sz="1800" b="0" i="0">
                <a:solidFill>
                  <a:srgbClr val="2B2B2B"/>
                </a:solidFill>
                <a:latin typeface="Arial"/>
              </a:rPr>
              <a:t> (top + bottom) cover only a </a:t>
            </a:r>
            <a:r>
              <a:rPr sz="1800" b="1" i="0">
                <a:solidFill>
                  <a:srgbClr val="2B2B2B"/>
                </a:solidFill>
                <a:latin typeface="Arial"/>
              </a:rPr>
              <a:t>35°–45° cone</a:t>
            </a:r>
          </a:p>
          <a:p>
            <a:pPr marL="201168" indent="-201168">
              <a:spcAft>
                <a:spcPts val="684"/>
              </a:spcAft>
              <a:buClr>
                <a:srgbClr val="00943A"/>
              </a:buClr>
              <a:buFont typeface="Arial"/>
              <a:buChar char="•"/>
            </a:pPr>
            <a:r>
              <a:rPr sz="1800" b="1" i="0">
                <a:solidFill>
                  <a:srgbClr val="2B2B2B"/>
                </a:solidFill>
                <a:latin typeface="Arial"/>
              </a:rPr>
              <a:t>Gap:</a:t>
            </a:r>
            <a:r>
              <a:rPr sz="1800" b="0" i="0">
                <a:solidFill>
                  <a:srgbClr val="2B2B2B"/>
                </a:solidFill>
                <a:latin typeface="Arial"/>
              </a:rPr>
              <a:t> obstacles </a:t>
            </a:r>
            <a:r>
              <a:rPr sz="1800" b="1" i="0">
                <a:solidFill>
                  <a:srgbClr val="2B2B2B"/>
                </a:solidFill>
                <a:latin typeface="Arial"/>
              </a:rPr>
              <a:t>beside</a:t>
            </a:r>
            <a:r>
              <a:rPr sz="1800" b="0" i="0">
                <a:solidFill>
                  <a:srgbClr val="2B2B2B"/>
                </a:solidFill>
                <a:latin typeface="Arial"/>
              </a:rPr>
              <a:t> the user are </a:t>
            </a:r>
            <a:r>
              <a:rPr sz="1800" b="1" i="0">
                <a:solidFill>
                  <a:srgbClr val="2B2B2B"/>
                </a:solidFill>
                <a:latin typeface="Arial"/>
              </a:rPr>
              <a:t>undetected</a:t>
            </a:r>
          </a:p>
          <a:p>
            <a:pPr marL="201168" indent="-201168">
              <a:spcAft>
                <a:spcPts val="684"/>
              </a:spcAft>
              <a:buClr>
                <a:srgbClr val="00943A"/>
              </a:buClr>
              <a:buFont typeface="Arial"/>
              <a:buChar char="•"/>
            </a:pPr>
            <a:r>
              <a:rPr sz="1800" b="1" i="0">
                <a:solidFill>
                  <a:srgbClr val="2B2B2B"/>
                </a:solidFill>
                <a:latin typeface="Arial"/>
              </a:rPr>
              <a:t>Participant request:</a:t>
            </a:r>
            <a:r>
              <a:rPr sz="1800" b="0" i="0">
                <a:solidFill>
                  <a:srgbClr val="2B2B2B"/>
                </a:solidFill>
                <a:latin typeface="Arial"/>
              </a:rPr>
              <a:t> </a:t>
            </a:r>
            <a:r>
              <a:rPr sz="1800" b="1" i="0">
                <a:solidFill>
                  <a:srgbClr val="2B2B2B"/>
                </a:solidFill>
                <a:latin typeface="Arial"/>
              </a:rPr>
              <a:t>directional guidance</a:t>
            </a:r>
            <a:r>
              <a:rPr sz="1800" b="0" i="0">
                <a:solidFill>
                  <a:srgbClr val="2B2B2B"/>
                </a:solidFill>
                <a:latin typeface="Arial"/>
              </a:rPr>
              <a:t> (Table 4)</a:t>
            </a:r>
          </a:p>
          <a:p>
            <a:pPr marL="201168" indent="-201168">
              <a:spcAft>
                <a:spcPts val="684"/>
              </a:spcAft>
              <a:buClr>
                <a:srgbClr val="00943A"/>
              </a:buClr>
              <a:buFont typeface="Arial"/>
              <a:buChar char="•"/>
            </a:pPr>
            <a:r>
              <a:rPr sz="1800" b="1" i="0">
                <a:solidFill>
                  <a:srgbClr val="2B2B2B"/>
                </a:solidFill>
                <a:latin typeface="Arial"/>
              </a:rPr>
              <a:t>Hardware truth:</a:t>
            </a:r>
            <a:r>
              <a:rPr sz="1800" b="0" i="0">
                <a:solidFill>
                  <a:srgbClr val="2B2B2B"/>
                </a:solidFill>
                <a:latin typeface="Arial"/>
              </a:rPr>
              <a:t> </a:t>
            </a:r>
            <a:r>
              <a:rPr sz="1800" b="1" i="0">
                <a:solidFill>
                  <a:srgbClr val="2B2B2B"/>
                </a:solidFill>
                <a:latin typeface="Arial"/>
              </a:rPr>
              <a:t>3 motors in one handle</a:t>
            </a:r>
            <a:r>
              <a:rPr sz="1800" b="0" i="0">
                <a:solidFill>
                  <a:srgbClr val="2B2B2B"/>
                </a:solidFill>
                <a:latin typeface="Arial"/>
              </a:rPr>
              <a:t> are perceived as </a:t>
            </a:r>
            <a:r>
              <a:rPr sz="1800" b="1" i="0">
                <a:solidFill>
                  <a:srgbClr val="2B2B2B"/>
                </a:solidFill>
                <a:latin typeface="Arial"/>
              </a:rPr>
              <a:t>one vibrator</a:t>
            </a:r>
            <a:r>
              <a:rPr sz="1800" b="0" i="0">
                <a:solidFill>
                  <a:srgbClr val="2B2B2B"/>
                </a:solidFill>
                <a:latin typeface="Arial"/>
              </a:rPr>
              <a:t>, so side </a:t>
            </a:r>
            <a:r>
              <a:rPr sz="1800" b="1" i="0">
                <a:solidFill>
                  <a:srgbClr val="2B2B2B"/>
                </a:solidFill>
                <a:latin typeface="Arial"/>
              </a:rPr>
              <a:t>cannot</a:t>
            </a:r>
            <a:r>
              <a:rPr sz="1800" b="0" i="0">
                <a:solidFill>
                  <a:srgbClr val="2B2B2B"/>
                </a:solidFill>
                <a:latin typeface="Arial"/>
              </a:rPr>
              <a:t> be encoded today</a:t>
            </a:r>
          </a:p>
        </p:txBody>
      </p:sp>
      <p:sp>
        <p:nvSpPr>
          <p:cNvPr id="7" name="Field 2 card"/>
          <p:cNvSpPr/>
          <p:nvPr/>
        </p:nvSpPr>
        <p:spPr>
          <a:xfrm>
            <a:off x="6088555" y="1371600"/>
            <a:ext cx="5661484" cy="4617720"/>
          </a:xfrm>
          <a:prstGeom prst="roundRect">
            <a:avLst>
              <a:gd name="adj" fmla="val 3564"/>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Field 2 text"/>
          <p:cNvSpPr txBox="1"/>
          <p:nvPr/>
        </p:nvSpPr>
        <p:spPr>
          <a:xfrm>
            <a:off x="6271435" y="1554480"/>
            <a:ext cx="5295724" cy="4251959"/>
          </a:xfrm>
          <a:prstGeom prst="rect">
            <a:avLst/>
          </a:prstGeom>
          <a:noFill/>
        </p:spPr>
        <p:txBody>
          <a:bodyPr wrap="square" lIns="0" rIns="0" tIns="0" bIns="0" anchor="t">
            <a:noAutofit/>
          </a:bodyPr>
          <a:lstStyle/>
          <a:p>
            <a:pPr marL="201168" indent="-201168">
              <a:spcAft>
                <a:spcPts val="684"/>
              </a:spcAft>
              <a:buClr>
                <a:srgbClr val="00943A"/>
              </a:buClr>
              <a:buFont typeface="Arial"/>
              <a:buChar char="•"/>
            </a:pPr>
            <a:r>
              <a:rPr sz="1800" b="1" i="0">
                <a:solidFill>
                  <a:srgbClr val="2B2B2B"/>
                </a:solidFill>
                <a:latin typeface="Arial"/>
              </a:rPr>
              <a:t>Add lateral ultrasonics</a:t>
            </a:r>
            <a:r>
              <a:rPr sz="1800" b="0" i="0">
                <a:solidFill>
                  <a:srgbClr val="2B2B2B"/>
                </a:solidFill>
                <a:latin typeface="Arial"/>
              </a:rPr>
              <a:t>, angled left and right, for </a:t>
            </a:r>
            <a:r>
              <a:rPr sz="1800" b="1" i="0">
                <a:solidFill>
                  <a:srgbClr val="2B2B2B"/>
                </a:solidFill>
                <a:latin typeface="Arial"/>
              </a:rPr>
              <a:t>near-180° frontal coverage</a:t>
            </a:r>
          </a:p>
          <a:p>
            <a:pPr marL="201168" indent="-201168">
              <a:spcAft>
                <a:spcPts val="684"/>
              </a:spcAft>
              <a:buClr>
                <a:srgbClr val="00943A"/>
              </a:buClr>
              <a:buFont typeface="Arial"/>
              <a:buChar char="•"/>
            </a:pPr>
            <a:r>
              <a:rPr sz="1800" b="1" i="0">
                <a:solidFill>
                  <a:srgbClr val="2B2B2B"/>
                </a:solidFill>
                <a:latin typeface="Arial"/>
              </a:rPr>
              <a:t>Relocate haptics off the handle</a:t>
            </a:r>
            <a:r>
              <a:rPr sz="1800" b="0" i="0">
                <a:solidFill>
                  <a:srgbClr val="2B2B2B"/>
                </a:solidFill>
                <a:latin typeface="Arial"/>
              </a:rPr>
              <a:t>: </a:t>
            </a:r>
            <a:r>
              <a:rPr sz="1800" b="1" i="0">
                <a:solidFill>
                  <a:srgbClr val="2B2B2B"/>
                </a:solidFill>
                <a:latin typeface="Arial"/>
              </a:rPr>
              <a:t>wrist bands</a:t>
            </a:r>
            <a:r>
              <a:rPr sz="1800" b="0" i="0">
                <a:solidFill>
                  <a:srgbClr val="2B2B2B"/>
                </a:solidFill>
                <a:latin typeface="Arial"/>
              </a:rPr>
              <a:t> or </a:t>
            </a:r>
            <a:r>
              <a:rPr sz="1800" b="1" i="0">
                <a:solidFill>
                  <a:srgbClr val="2B2B2B"/>
                </a:solidFill>
                <a:latin typeface="Arial"/>
              </a:rPr>
              <a:t>vest-shoulder motors</a:t>
            </a:r>
            <a:r>
              <a:rPr sz="1800" b="0" i="0">
                <a:solidFill>
                  <a:srgbClr val="2B2B2B"/>
                </a:solidFill>
                <a:latin typeface="Arial"/>
              </a:rPr>
              <a:t> on separate bodies, so left and right are </a:t>
            </a:r>
            <a:r>
              <a:rPr sz="1800" b="1" i="0">
                <a:solidFill>
                  <a:srgbClr val="2B2B2B"/>
                </a:solidFill>
                <a:latin typeface="Arial"/>
              </a:rPr>
              <a:t>physically distinguishable</a:t>
            </a:r>
          </a:p>
          <a:p>
            <a:pPr marL="201168" indent="-201168">
              <a:spcAft>
                <a:spcPts val="684"/>
              </a:spcAft>
              <a:buClr>
                <a:srgbClr val="00943A"/>
              </a:buClr>
              <a:buFont typeface="Arial"/>
              <a:buChar char="•"/>
            </a:pPr>
            <a:r>
              <a:rPr sz="1800" b="0" i="0">
                <a:solidFill>
                  <a:srgbClr val="2B2B2B"/>
                </a:solidFill>
                <a:latin typeface="Arial"/>
              </a:rPr>
              <a:t>Alternatively, use </a:t>
            </a:r>
            <a:r>
              <a:rPr sz="1800" b="1" i="0">
                <a:solidFill>
                  <a:srgbClr val="2B2B2B"/>
                </a:solidFill>
                <a:latin typeface="Arial"/>
              </a:rPr>
              <a:t>spatial audio cues</a:t>
            </a:r>
            <a:r>
              <a:rPr sz="1800" b="0" i="0">
                <a:solidFill>
                  <a:srgbClr val="2B2B2B"/>
                </a:solidFill>
                <a:latin typeface="Arial"/>
              </a:rPr>
              <a:t> (left/right ear) for side</a:t>
            </a:r>
          </a:p>
          <a:p>
            <a:pPr marL="201168" indent="-201168">
              <a:spcAft>
                <a:spcPts val="684"/>
              </a:spcAft>
              <a:buClr>
                <a:srgbClr val="00943A"/>
              </a:buClr>
              <a:buFont typeface="Arial"/>
              <a:buChar char="•"/>
            </a:pPr>
            <a:r>
              <a:rPr sz="1800" b="1" i="0">
                <a:solidFill>
                  <a:srgbClr val="2B2B2B"/>
                </a:solidFill>
                <a:latin typeface="Arial"/>
              </a:rPr>
              <a:t>Re-test</a:t>
            </a:r>
            <a:r>
              <a:rPr sz="1800" b="0" i="0">
                <a:solidFill>
                  <a:srgbClr val="2B2B2B"/>
                </a:solidFill>
                <a:latin typeface="Arial"/>
              </a:rPr>
              <a:t> with an </a:t>
            </a:r>
            <a:r>
              <a:rPr sz="1800" b="1" i="0">
                <a:solidFill>
                  <a:srgbClr val="2B2B2B"/>
                </a:solidFill>
                <a:latin typeface="Arial"/>
              </a:rPr>
              <a:t>angular coverage protocol</a:t>
            </a:r>
            <a:r>
              <a:rPr sz="1800" b="0" i="0">
                <a:solidFill>
                  <a:srgbClr val="2B2B2B"/>
                </a:solidFill>
                <a:latin typeface="Arial"/>
              </a:rPr>
              <a:t> (0°, ±30°, ±60°, ±90°)</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tion kicker"/>
          <p:cNvSpPr txBox="1"/>
          <p:nvPr/>
        </p:nvSpPr>
        <p:spPr>
          <a:xfrm>
            <a:off x="1280160" y="292608"/>
            <a:ext cx="8686800" cy="256032"/>
          </a:xfrm>
          <a:prstGeom prst="rect">
            <a:avLst/>
          </a:prstGeom>
          <a:noFill/>
        </p:spPr>
        <p:txBody>
          <a:bodyPr wrap="square" lIns="0" rIns="0" tIns="0" bIns="0" anchor="t">
            <a:noAutofit/>
          </a:bodyPr>
          <a:lstStyle/>
          <a:p>
            <a:r>
              <a:rPr sz="1100" b="1" i="0">
                <a:solidFill>
                  <a:srgbClr val="6B6B6B"/>
                </a:solidFill>
                <a:latin typeface="Arial"/>
              </a:rPr>
              <a:t>RECOMMENDATIONS</a:t>
            </a:r>
          </a:p>
        </p:txBody>
      </p:sp>
      <p:sp>
        <p:nvSpPr>
          <p:cNvPr id="3" name="Title"/>
          <p:cNvSpPr txBox="1"/>
          <p:nvPr/>
        </p:nvSpPr>
        <p:spPr>
          <a:xfrm>
            <a:off x="1280160" y="502920"/>
            <a:ext cx="10469880" cy="731520"/>
          </a:xfrm>
          <a:prstGeom prst="rect">
            <a:avLst/>
          </a:prstGeom>
          <a:noFill/>
        </p:spPr>
        <p:txBody>
          <a:bodyPr wrap="square" lIns="0" rIns="0" tIns="0" bIns="0" anchor="ctr">
            <a:noAutofit/>
          </a:bodyPr>
          <a:lstStyle/>
          <a:p>
            <a:r>
              <a:rPr sz="2800" b="1" i="0">
                <a:solidFill>
                  <a:srgbClr val="00943A"/>
                </a:solidFill>
                <a:latin typeface="Arial"/>
              </a:rPr>
              <a:t>Recommendation 3: Battery and Power Optimization</a:t>
            </a:r>
          </a:p>
        </p:txBody>
      </p:sp>
      <p:sp>
        <p:nvSpPr>
          <p:cNvPr id="4" name="Slide number"/>
          <p:cNvSpPr txBox="1"/>
          <p:nvPr/>
        </p:nvSpPr>
        <p:spPr>
          <a:xfrm>
            <a:off x="1280160" y="6327648"/>
            <a:ext cx="2286000" cy="274320"/>
          </a:xfrm>
          <a:prstGeom prst="rect">
            <a:avLst/>
          </a:prstGeom>
          <a:noFill/>
        </p:spPr>
        <p:txBody>
          <a:bodyPr wrap="square" lIns="0" rIns="0" tIns="0" bIns="0" anchor="t">
            <a:noAutofit/>
          </a:bodyPr>
          <a:lstStyle/>
          <a:p>
            <a:r>
              <a:rPr sz="1000" b="0" i="0">
                <a:solidFill>
                  <a:srgbClr val="6B6B6B"/>
                </a:solidFill>
                <a:latin typeface="Arial"/>
              </a:rPr>
              <a:t>IndepenSense · 49</a:t>
            </a:r>
          </a:p>
        </p:txBody>
      </p:sp>
      <p:sp>
        <p:nvSpPr>
          <p:cNvPr id="5" name="Field 1 card"/>
          <p:cNvSpPr/>
          <p:nvPr/>
        </p:nvSpPr>
        <p:spPr>
          <a:xfrm>
            <a:off x="1280160" y="1371600"/>
            <a:ext cx="4780950" cy="4617720"/>
          </a:xfrm>
          <a:prstGeom prst="roundRect">
            <a:avLst>
              <a:gd name="adj" fmla="val 3564"/>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ield 1 text"/>
          <p:cNvSpPr txBox="1"/>
          <p:nvPr/>
        </p:nvSpPr>
        <p:spPr>
          <a:xfrm>
            <a:off x="1463039" y="1554480"/>
            <a:ext cx="4415190" cy="4251959"/>
          </a:xfrm>
          <a:prstGeom prst="rect">
            <a:avLst/>
          </a:prstGeom>
          <a:noFill/>
        </p:spPr>
        <p:txBody>
          <a:bodyPr wrap="square" lIns="0" rIns="0" tIns="0" bIns="0" anchor="t">
            <a:noAutofit/>
          </a:bodyPr>
          <a:lstStyle/>
          <a:p>
            <a:pPr marL="201168" indent="-201168">
              <a:spcAft>
                <a:spcPts val="684"/>
              </a:spcAft>
              <a:buClr>
                <a:srgbClr val="00943A"/>
              </a:buClr>
              <a:buFont typeface="Arial"/>
              <a:buChar char="•"/>
            </a:pPr>
            <a:r>
              <a:rPr sz="1800" b="1" i="0">
                <a:solidFill>
                  <a:srgbClr val="2B2B2B"/>
                </a:solidFill>
                <a:latin typeface="Arial"/>
              </a:rPr>
              <a:t>Measure first:</a:t>
            </a:r>
            <a:r>
              <a:rPr sz="1800" b="0" i="0">
                <a:solidFill>
                  <a:srgbClr val="2B2B2B"/>
                </a:solidFill>
                <a:latin typeface="Arial"/>
              </a:rPr>
              <a:t> publish a </a:t>
            </a:r>
            <a:r>
              <a:rPr sz="1800" b="1" i="0">
                <a:solidFill>
                  <a:srgbClr val="2B2B2B"/>
                </a:solidFill>
                <a:latin typeface="Arial"/>
              </a:rPr>
              <a:t>measured runtime</a:t>
            </a:r>
            <a:r>
              <a:rPr sz="1800" b="0" i="0">
                <a:solidFill>
                  <a:srgbClr val="2B2B2B"/>
                </a:solidFill>
                <a:latin typeface="Arial"/>
              </a:rPr>
              <a:t> under </a:t>
            </a:r>
            <a:r>
              <a:rPr sz="1800" b="1" i="0">
                <a:solidFill>
                  <a:srgbClr val="2B2B2B"/>
                </a:solidFill>
                <a:latin typeface="Arial"/>
              </a:rPr>
              <a:t>idle, walking, vision and alert</a:t>
            </a:r>
            <a:r>
              <a:rPr sz="1800" b="0" i="0">
                <a:solidFill>
                  <a:srgbClr val="2B2B2B"/>
                </a:solidFill>
                <a:latin typeface="Arial"/>
              </a:rPr>
              <a:t> profiles</a:t>
            </a:r>
          </a:p>
          <a:p>
            <a:pPr marL="201168" indent="-201168">
              <a:spcAft>
                <a:spcPts val="684"/>
              </a:spcAft>
              <a:buClr>
                <a:srgbClr val="00943A"/>
              </a:buClr>
              <a:buFont typeface="Arial"/>
              <a:buChar char="•"/>
            </a:pPr>
            <a:r>
              <a:rPr sz="1800" b="1" i="0">
                <a:solidFill>
                  <a:srgbClr val="2B2B2B"/>
                </a:solidFill>
                <a:latin typeface="Arial"/>
              </a:rPr>
              <a:t>Compute:</a:t>
            </a:r>
            <a:r>
              <a:rPr sz="1800" b="0" i="0">
                <a:solidFill>
                  <a:srgbClr val="2B2B2B"/>
                </a:solidFill>
                <a:latin typeface="Arial"/>
              </a:rPr>
              <a:t> quantized vision (Rec. 1) and </a:t>
            </a:r>
            <a:r>
              <a:rPr sz="1800" b="1" i="0">
                <a:solidFill>
                  <a:srgbClr val="2B2B2B"/>
                </a:solidFill>
                <a:latin typeface="Arial"/>
              </a:rPr>
              <a:t>CPU frequency governor</a:t>
            </a:r>
            <a:r>
              <a:rPr sz="1800" b="0" i="0">
                <a:solidFill>
                  <a:srgbClr val="2B2B2B"/>
                </a:solidFill>
                <a:latin typeface="Arial"/>
              </a:rPr>
              <a:t> scaling at idle</a:t>
            </a:r>
          </a:p>
          <a:p>
            <a:pPr marL="201168" indent="-201168">
              <a:spcAft>
                <a:spcPts val="684"/>
              </a:spcAft>
              <a:buClr>
                <a:srgbClr val="00943A"/>
              </a:buClr>
              <a:buFont typeface="Arial"/>
              <a:buChar char="•"/>
            </a:pPr>
            <a:r>
              <a:rPr sz="1800" b="1" i="0">
                <a:solidFill>
                  <a:srgbClr val="2B2B2B"/>
                </a:solidFill>
                <a:latin typeface="Arial"/>
              </a:rPr>
              <a:t>Peripherals:</a:t>
            </a:r>
            <a:r>
              <a:rPr sz="1800" b="0" i="0">
                <a:solidFill>
                  <a:srgbClr val="2B2B2B"/>
                </a:solidFill>
                <a:latin typeface="Arial"/>
              </a:rPr>
              <a:t> power-gate the </a:t>
            </a:r>
            <a:r>
              <a:rPr sz="1800" b="1" i="0">
                <a:solidFill>
                  <a:srgbClr val="2B2B2B"/>
                </a:solidFill>
                <a:latin typeface="Arial"/>
              </a:rPr>
              <a:t>camera</a:t>
            </a:r>
            <a:r>
              <a:rPr sz="1800" b="0" i="0">
                <a:solidFill>
                  <a:srgbClr val="2B2B2B"/>
                </a:solidFill>
                <a:latin typeface="Arial"/>
              </a:rPr>
              <a:t> between requests and duty-cycle the </a:t>
            </a:r>
            <a:r>
              <a:rPr sz="1800" b="1" i="0">
                <a:solidFill>
                  <a:srgbClr val="2B2B2B"/>
                </a:solidFill>
                <a:latin typeface="Arial"/>
              </a:rPr>
              <a:t>SIM7600</a:t>
            </a:r>
            <a:r>
              <a:rPr sz="1800" b="0" i="0">
                <a:solidFill>
                  <a:srgbClr val="2B2B2B"/>
                </a:solidFill>
                <a:latin typeface="Arial"/>
              </a:rPr>
              <a:t> where latency allows</a:t>
            </a:r>
          </a:p>
        </p:txBody>
      </p:sp>
      <p:sp>
        <p:nvSpPr>
          <p:cNvPr id="7" name="Field 2 card"/>
          <p:cNvSpPr/>
          <p:nvPr/>
        </p:nvSpPr>
        <p:spPr>
          <a:xfrm>
            <a:off x="6317142" y="1371600"/>
            <a:ext cx="5432897" cy="4617720"/>
          </a:xfrm>
          <a:prstGeom prst="roundRect">
            <a:avLst>
              <a:gd name="adj" fmla="val 3564"/>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Field 2 text"/>
          <p:cNvSpPr txBox="1"/>
          <p:nvPr/>
        </p:nvSpPr>
        <p:spPr>
          <a:xfrm>
            <a:off x="6500022" y="1554480"/>
            <a:ext cx="5067137" cy="4251959"/>
          </a:xfrm>
          <a:prstGeom prst="rect">
            <a:avLst/>
          </a:prstGeom>
          <a:noFill/>
        </p:spPr>
        <p:txBody>
          <a:bodyPr wrap="square" lIns="0" rIns="0" tIns="0" bIns="0" anchor="t">
            <a:noAutofit/>
          </a:bodyPr>
          <a:lstStyle/>
          <a:p>
            <a:pPr marL="201168" indent="-201168">
              <a:spcAft>
                <a:spcPts val="684"/>
              </a:spcAft>
              <a:buClr>
                <a:srgbClr val="00943A"/>
              </a:buClr>
              <a:buFont typeface="Arial"/>
              <a:buChar char="•"/>
            </a:pPr>
            <a:r>
              <a:rPr sz="1800" b="1" i="0">
                <a:solidFill>
                  <a:srgbClr val="2B2B2B"/>
                </a:solidFill>
                <a:latin typeface="Arial"/>
              </a:rPr>
              <a:t>Storage:</a:t>
            </a:r>
            <a:r>
              <a:rPr sz="1800" b="0" i="0">
                <a:solidFill>
                  <a:srgbClr val="2B2B2B"/>
                </a:solidFill>
                <a:latin typeface="Arial"/>
              </a:rPr>
              <a:t> replace the </a:t>
            </a:r>
            <a:r>
              <a:rPr sz="1800" b="1" i="0">
                <a:solidFill>
                  <a:srgbClr val="2B2B2B"/>
                </a:solidFill>
                <a:latin typeface="Arial"/>
              </a:rPr>
              <a:t>SD card</a:t>
            </a:r>
            <a:r>
              <a:rPr sz="1800" b="0" i="0">
                <a:solidFill>
                  <a:srgbClr val="2B2B2B"/>
                </a:solidFill>
                <a:latin typeface="Arial"/>
              </a:rPr>
              <a:t> with </a:t>
            </a:r>
            <a:r>
              <a:rPr sz="1800" b="1" i="0">
                <a:solidFill>
                  <a:srgbClr val="2B2B2B"/>
                </a:solidFill>
                <a:latin typeface="Arial"/>
              </a:rPr>
              <a:t>NVMe / high-endurance media</a:t>
            </a:r>
            <a:r>
              <a:rPr sz="1800" b="0" i="0">
                <a:solidFill>
                  <a:srgbClr val="2B2B2B"/>
                </a:solidFill>
                <a:latin typeface="Arial"/>
              </a:rPr>
              <a:t>. Model loading took </a:t>
            </a:r>
            <a:r>
              <a:rPr sz="1800" b="1" i="0">
                <a:solidFill>
                  <a:srgbClr val="2B2B2B"/>
                </a:solidFill>
                <a:latin typeface="Arial"/>
              </a:rPr>
              <a:t>~200 s</a:t>
            </a:r>
            <a:r>
              <a:rPr sz="1800" b="0" i="0">
                <a:solidFill>
                  <a:srgbClr val="2B2B2B"/>
                </a:solidFill>
                <a:latin typeface="Arial"/>
              </a:rPr>
              <a:t> and the card </a:t>
            </a:r>
            <a:r>
              <a:rPr sz="1800" b="1" i="0">
                <a:solidFill>
                  <a:srgbClr val="2B2B2B"/>
                </a:solidFill>
                <a:latin typeface="Arial"/>
              </a:rPr>
              <a:t>failed read-back checks</a:t>
            </a:r>
          </a:p>
          <a:p>
            <a:pPr marL="201168" indent="-201168">
              <a:spcAft>
                <a:spcPts val="684"/>
              </a:spcAft>
              <a:buClr>
                <a:srgbClr val="00943A"/>
              </a:buClr>
              <a:buFont typeface="Arial"/>
              <a:buChar char="•"/>
            </a:pPr>
            <a:r>
              <a:rPr sz="1800" b="1" i="0">
                <a:solidFill>
                  <a:srgbClr val="2B2B2B"/>
                </a:solidFill>
                <a:latin typeface="Arial"/>
              </a:rPr>
              <a:t>Gauge:</a:t>
            </a:r>
            <a:r>
              <a:rPr sz="1800" b="0" i="0">
                <a:solidFill>
                  <a:srgbClr val="2B2B2B"/>
                </a:solidFill>
                <a:latin typeface="Arial"/>
              </a:rPr>
              <a:t> a </a:t>
            </a:r>
            <a:r>
              <a:rPr sz="1800" b="1" i="0">
                <a:solidFill>
                  <a:srgbClr val="2B2B2B"/>
                </a:solidFill>
                <a:latin typeface="Arial"/>
              </a:rPr>
              <a:t>calibrated fuel-gauge curve</a:t>
            </a:r>
            <a:r>
              <a:rPr sz="1800" b="0" i="0">
                <a:solidFill>
                  <a:srgbClr val="2B2B2B"/>
                </a:solidFill>
                <a:latin typeface="Arial"/>
              </a:rPr>
              <a:t> for the </a:t>
            </a:r>
            <a:r>
              <a:rPr sz="1800" b="1" i="0">
                <a:solidFill>
                  <a:srgbClr val="2B2B2B"/>
                </a:solidFill>
                <a:latin typeface="Arial"/>
              </a:rPr>
              <a:t>4× 21700</a:t>
            </a:r>
            <a:r>
              <a:rPr sz="1800" b="0" i="0">
                <a:solidFill>
                  <a:srgbClr val="2B2B2B"/>
                </a:solidFill>
                <a:latin typeface="Arial"/>
              </a:rPr>
              <a:t> pack (the raw gauge reads ~58% when empty)</a:t>
            </a:r>
          </a:p>
          <a:p>
            <a:pPr marL="201168" indent="-201168">
              <a:spcAft>
                <a:spcPts val="684"/>
              </a:spcAft>
              <a:buClr>
                <a:srgbClr val="00943A"/>
              </a:buClr>
              <a:buFont typeface="Arial"/>
              <a:buChar char="•"/>
            </a:pPr>
            <a:r>
              <a:rPr sz="1800" b="1" i="0">
                <a:solidFill>
                  <a:srgbClr val="2B2B2B"/>
                </a:solidFill>
                <a:latin typeface="Arial"/>
              </a:rPr>
              <a:t>Baseline:</a:t>
            </a:r>
            <a:r>
              <a:rPr sz="1800" b="0" i="0">
                <a:solidFill>
                  <a:srgbClr val="2B2B2B"/>
                </a:solidFill>
                <a:latin typeface="Arial"/>
              </a:rPr>
              <a:t> </a:t>
            </a:r>
            <a:r>
              <a:rPr sz="1800" b="1" i="0">
                <a:solidFill>
                  <a:srgbClr val="2B2B2B"/>
                </a:solidFill>
                <a:latin typeface="Arial"/>
              </a:rPr>
              <a:t>≈ 11.7 W typical</a:t>
            </a:r>
            <a:r>
              <a:rPr sz="1800" b="0" i="0">
                <a:solidFill>
                  <a:srgbClr val="2B2B2B"/>
                </a:solidFill>
                <a:latin typeface="Arial"/>
              </a:rPr>
              <a:t> (Table 2 sum)</a:t>
            </a:r>
          </a:p>
          <a:p>
            <a:pPr marL="201168" indent="-201168">
              <a:spcAft>
                <a:spcPts val="684"/>
              </a:spcAft>
              <a:buClr>
                <a:srgbClr val="00943A"/>
              </a:buClr>
              <a:buFont typeface="Arial"/>
              <a:buChar char="•"/>
            </a:pPr>
            <a:r>
              <a:rPr sz="1800" b="1" i="0">
                <a:solidFill>
                  <a:srgbClr val="2B2B2B"/>
                </a:solidFill>
                <a:latin typeface="Arial"/>
              </a:rPr>
              <a:t>Target:</a:t>
            </a:r>
            <a:r>
              <a:rPr sz="1800" b="0" i="0">
                <a:solidFill>
                  <a:srgbClr val="2B2B2B"/>
                </a:solidFill>
                <a:latin typeface="Arial"/>
              </a:rPr>
              <a:t> a </a:t>
            </a:r>
            <a:r>
              <a:rPr sz="1800" b="1" i="0">
                <a:solidFill>
                  <a:srgbClr val="2B2B2B"/>
                </a:solidFill>
                <a:latin typeface="Arial"/>
              </a:rPr>
              <a:t>full day of use</a:t>
            </a:r>
            <a:r>
              <a:rPr sz="1800" b="0" i="0">
                <a:solidFill>
                  <a:srgbClr val="2B2B2B"/>
                </a:solidFill>
                <a:latin typeface="Arial"/>
              </a:rPr>
              <a:t> on one charge</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tion kicker"/>
          <p:cNvSpPr txBox="1"/>
          <p:nvPr/>
        </p:nvSpPr>
        <p:spPr>
          <a:xfrm>
            <a:off x="1280160" y="292608"/>
            <a:ext cx="8686800" cy="256032"/>
          </a:xfrm>
          <a:prstGeom prst="rect">
            <a:avLst/>
          </a:prstGeom>
          <a:noFill/>
        </p:spPr>
        <p:txBody>
          <a:bodyPr wrap="square" lIns="0" rIns="0" tIns="0" bIns="0" anchor="t">
            <a:noAutofit/>
          </a:bodyPr>
          <a:lstStyle/>
          <a:p>
            <a:r>
              <a:rPr sz="1100" b="1" i="0">
                <a:solidFill>
                  <a:srgbClr val="6B6B6B"/>
                </a:solidFill>
                <a:latin typeface="Arial"/>
              </a:rPr>
              <a:t>RECOMMENDATIONS</a:t>
            </a:r>
          </a:p>
        </p:txBody>
      </p:sp>
      <p:sp>
        <p:nvSpPr>
          <p:cNvPr id="3" name="Title"/>
          <p:cNvSpPr txBox="1"/>
          <p:nvPr/>
        </p:nvSpPr>
        <p:spPr>
          <a:xfrm>
            <a:off x="1280160" y="502920"/>
            <a:ext cx="10469880" cy="731520"/>
          </a:xfrm>
          <a:prstGeom prst="rect">
            <a:avLst/>
          </a:prstGeom>
          <a:noFill/>
        </p:spPr>
        <p:txBody>
          <a:bodyPr wrap="square" lIns="0" rIns="0" tIns="0" bIns="0" anchor="ctr">
            <a:noAutofit/>
          </a:bodyPr>
          <a:lstStyle/>
          <a:p>
            <a:r>
              <a:rPr sz="2800" b="1" i="0">
                <a:solidFill>
                  <a:srgbClr val="00943A"/>
                </a:solidFill>
                <a:latin typeface="Arial"/>
              </a:rPr>
              <a:t>Recommendation 4: Adjustable Physical Cane Length</a:t>
            </a:r>
          </a:p>
        </p:txBody>
      </p:sp>
      <p:sp>
        <p:nvSpPr>
          <p:cNvPr id="4" name="Slide number"/>
          <p:cNvSpPr txBox="1"/>
          <p:nvPr/>
        </p:nvSpPr>
        <p:spPr>
          <a:xfrm>
            <a:off x="1280160" y="6327648"/>
            <a:ext cx="2286000" cy="274320"/>
          </a:xfrm>
          <a:prstGeom prst="rect">
            <a:avLst/>
          </a:prstGeom>
          <a:noFill/>
        </p:spPr>
        <p:txBody>
          <a:bodyPr wrap="square" lIns="0" rIns="0" tIns="0" bIns="0" anchor="t">
            <a:noAutofit/>
          </a:bodyPr>
          <a:lstStyle/>
          <a:p>
            <a:r>
              <a:rPr sz="1000" b="0" i="0">
                <a:solidFill>
                  <a:srgbClr val="6B6B6B"/>
                </a:solidFill>
                <a:latin typeface="Arial"/>
              </a:rPr>
              <a:t>IndepenSense · 50</a:t>
            </a:r>
          </a:p>
        </p:txBody>
      </p:sp>
      <p:sp>
        <p:nvSpPr>
          <p:cNvPr id="5" name="Field 1 card"/>
          <p:cNvSpPr/>
          <p:nvPr/>
        </p:nvSpPr>
        <p:spPr>
          <a:xfrm>
            <a:off x="1280160" y="1371600"/>
            <a:ext cx="4445229" cy="4617720"/>
          </a:xfrm>
          <a:prstGeom prst="roundRect">
            <a:avLst>
              <a:gd name="adj" fmla="val 3702"/>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ield 1 text"/>
          <p:cNvSpPr txBox="1"/>
          <p:nvPr/>
        </p:nvSpPr>
        <p:spPr>
          <a:xfrm>
            <a:off x="1463039" y="1554480"/>
            <a:ext cx="4079469" cy="4251959"/>
          </a:xfrm>
          <a:prstGeom prst="rect">
            <a:avLst/>
          </a:prstGeom>
          <a:noFill/>
        </p:spPr>
        <p:txBody>
          <a:bodyPr wrap="square" lIns="0" rIns="0" tIns="0" bIns="0" anchor="t">
            <a:noAutofit/>
          </a:bodyPr>
          <a:lstStyle/>
          <a:p>
            <a:pPr marL="201168" indent="-201168">
              <a:spcAft>
                <a:spcPts val="684"/>
              </a:spcAft>
              <a:buClr>
                <a:srgbClr val="00943A"/>
              </a:buClr>
              <a:buFont typeface="Arial"/>
              <a:buChar char="•"/>
            </a:pPr>
            <a:r>
              <a:rPr sz="1800" b="1" i="0">
                <a:solidFill>
                  <a:srgbClr val="2B2B2B"/>
                </a:solidFill>
                <a:latin typeface="Arial"/>
              </a:rPr>
              <a:t>Finding:</a:t>
            </a:r>
            <a:r>
              <a:rPr sz="1800" b="0" i="0">
                <a:solidFill>
                  <a:srgbClr val="2B2B2B"/>
                </a:solidFill>
                <a:latin typeface="Arial"/>
              </a:rPr>
              <a:t> the participant identified the </a:t>
            </a:r>
            <a:r>
              <a:rPr sz="1800" b="1" i="0">
                <a:solidFill>
                  <a:srgbClr val="2B2B2B"/>
                </a:solidFill>
                <a:latin typeface="Arial"/>
              </a:rPr>
              <a:t>overall dimensions of the cane</a:t>
            </a:r>
            <a:r>
              <a:rPr sz="1800" b="0" i="0">
                <a:solidFill>
                  <a:srgbClr val="2B2B2B"/>
                </a:solidFill>
                <a:latin typeface="Arial"/>
              </a:rPr>
              <a:t> as needing improvement</a:t>
            </a:r>
          </a:p>
          <a:p>
            <a:pPr marL="201168" indent="-201168">
              <a:spcAft>
                <a:spcPts val="684"/>
              </a:spcAft>
              <a:buClr>
                <a:srgbClr val="00943A"/>
              </a:buClr>
              <a:buFont typeface="Arial"/>
              <a:buChar char="•"/>
            </a:pPr>
            <a:r>
              <a:rPr sz="1800" b="1" i="0">
                <a:solidFill>
                  <a:srgbClr val="2B2B2B"/>
                </a:solidFill>
                <a:latin typeface="Arial"/>
              </a:rPr>
              <a:t>Why length matters:</a:t>
            </a:r>
            <a:r>
              <a:rPr sz="1800" b="0" i="0">
                <a:solidFill>
                  <a:srgbClr val="2B2B2B"/>
                </a:solidFill>
                <a:latin typeface="Arial"/>
              </a:rPr>
              <a:t> it sets the </a:t>
            </a:r>
            <a:r>
              <a:rPr sz="1800" b="1" i="0">
                <a:solidFill>
                  <a:srgbClr val="2B2B2B"/>
                </a:solidFill>
                <a:latin typeface="Arial"/>
              </a:rPr>
              <a:t>sweep arc</a:t>
            </a:r>
            <a:r>
              <a:rPr sz="1800" b="0" i="0">
                <a:solidFill>
                  <a:srgbClr val="2B2B2B"/>
                </a:solidFill>
                <a:latin typeface="Arial"/>
              </a:rPr>
              <a:t>, </a:t>
            </a:r>
            <a:r>
              <a:rPr sz="1800" b="1" i="0">
                <a:solidFill>
                  <a:srgbClr val="2B2B2B"/>
                </a:solidFill>
                <a:latin typeface="Arial"/>
              </a:rPr>
              <a:t>wrist angle</a:t>
            </a:r>
            <a:r>
              <a:rPr sz="1800" b="0" i="0">
                <a:solidFill>
                  <a:srgbClr val="2B2B2B"/>
                </a:solidFill>
                <a:latin typeface="Arial"/>
              </a:rPr>
              <a:t> and, critically, the </a:t>
            </a:r>
            <a:r>
              <a:rPr sz="1800" b="1" i="0">
                <a:solidFill>
                  <a:srgbClr val="2B2B2B"/>
                </a:solidFill>
                <a:latin typeface="Arial"/>
              </a:rPr>
              <a:t>sensor aim</a:t>
            </a:r>
          </a:p>
          <a:p>
            <a:pPr marL="201168" indent="-201168">
              <a:spcAft>
                <a:spcPts val="684"/>
              </a:spcAft>
              <a:buClr>
                <a:srgbClr val="00943A"/>
              </a:buClr>
              <a:buFont typeface="Arial"/>
              <a:buChar char="•"/>
            </a:pPr>
            <a:r>
              <a:rPr sz="1800" b="0" i="0">
                <a:solidFill>
                  <a:srgbClr val="2B2B2B"/>
                </a:solidFill>
                <a:latin typeface="Arial"/>
              </a:rPr>
              <a:t>The ultrasonic heights (</a:t>
            </a:r>
            <a:r>
              <a:rPr sz="1800" b="1" i="0">
                <a:solidFill>
                  <a:srgbClr val="2B2B2B"/>
                </a:solidFill>
                <a:latin typeface="Arial"/>
              </a:rPr>
              <a:t>ankle level and upper body</a:t>
            </a:r>
            <a:r>
              <a:rPr sz="1800" b="0" i="0">
                <a:solidFill>
                  <a:srgbClr val="2B2B2B"/>
                </a:solidFill>
                <a:latin typeface="Arial"/>
              </a:rPr>
              <a:t>) shift with cane length and grip</a:t>
            </a:r>
          </a:p>
        </p:txBody>
      </p:sp>
      <p:sp>
        <p:nvSpPr>
          <p:cNvPr id="7" name="Field 2 card"/>
          <p:cNvSpPr/>
          <p:nvPr/>
        </p:nvSpPr>
        <p:spPr>
          <a:xfrm>
            <a:off x="5981421" y="1371600"/>
            <a:ext cx="5768618" cy="4617720"/>
          </a:xfrm>
          <a:prstGeom prst="roundRect">
            <a:avLst>
              <a:gd name="adj" fmla="val 3564"/>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Field 2 text"/>
          <p:cNvSpPr txBox="1"/>
          <p:nvPr/>
        </p:nvSpPr>
        <p:spPr>
          <a:xfrm>
            <a:off x="6164301" y="1554480"/>
            <a:ext cx="5402858" cy="4251959"/>
          </a:xfrm>
          <a:prstGeom prst="rect">
            <a:avLst/>
          </a:prstGeom>
          <a:noFill/>
        </p:spPr>
        <p:txBody>
          <a:bodyPr wrap="square" lIns="0" rIns="0" tIns="0" bIns="0" anchor="t">
            <a:noAutofit/>
          </a:bodyPr>
          <a:lstStyle/>
          <a:p>
            <a:pPr marL="201168" indent="-201168">
              <a:spcAft>
                <a:spcPts val="684"/>
              </a:spcAft>
              <a:buClr>
                <a:srgbClr val="00943A"/>
              </a:buClr>
              <a:buFont typeface="Arial"/>
              <a:buChar char="•"/>
            </a:pPr>
            <a:r>
              <a:rPr sz="1800" b="1" i="0">
                <a:solidFill>
                  <a:srgbClr val="2B2B2B"/>
                </a:solidFill>
                <a:latin typeface="Arial"/>
              </a:rPr>
              <a:t>Telescoping shaft</a:t>
            </a:r>
            <a:r>
              <a:rPr sz="1800" b="0" i="0">
                <a:solidFill>
                  <a:srgbClr val="2B2B2B"/>
                </a:solidFill>
                <a:latin typeface="Arial"/>
              </a:rPr>
              <a:t> with </a:t>
            </a:r>
            <a:r>
              <a:rPr sz="1800" b="1" i="0">
                <a:solidFill>
                  <a:srgbClr val="2B2B2B"/>
                </a:solidFill>
                <a:latin typeface="Arial"/>
              </a:rPr>
              <a:t>detented length stops</a:t>
            </a:r>
            <a:r>
              <a:rPr sz="1800" b="0" i="0">
                <a:solidFill>
                  <a:srgbClr val="2B2B2B"/>
                </a:solidFill>
                <a:latin typeface="Arial"/>
              </a:rPr>
              <a:t>, sized to user height</a:t>
            </a:r>
          </a:p>
          <a:p>
            <a:pPr marL="201168" indent="-201168">
              <a:spcAft>
                <a:spcPts val="684"/>
              </a:spcAft>
              <a:buClr>
                <a:srgbClr val="00943A"/>
              </a:buClr>
              <a:buFont typeface="Arial"/>
              <a:buChar char="•"/>
            </a:pPr>
            <a:r>
              <a:rPr sz="1800" b="1" i="0">
                <a:solidFill>
                  <a:srgbClr val="2B2B2B"/>
                </a:solidFill>
                <a:latin typeface="Arial"/>
              </a:rPr>
              <a:t>Sensor mounts that hold their angle</a:t>
            </a:r>
            <a:r>
              <a:rPr sz="1800" b="0" i="0">
                <a:solidFill>
                  <a:srgbClr val="2B2B2B"/>
                </a:solidFill>
                <a:latin typeface="Arial"/>
              </a:rPr>
              <a:t> across lengths, or </a:t>
            </a:r>
            <a:r>
              <a:rPr sz="1800" b="1" i="0">
                <a:solidFill>
                  <a:srgbClr val="2B2B2B"/>
                </a:solidFill>
                <a:latin typeface="Arial"/>
              </a:rPr>
              <a:t>tilt-adjustable brackets</a:t>
            </a:r>
          </a:p>
          <a:p>
            <a:pPr marL="201168" indent="-201168">
              <a:spcAft>
                <a:spcPts val="684"/>
              </a:spcAft>
              <a:buClr>
                <a:srgbClr val="00943A"/>
              </a:buClr>
              <a:buFont typeface="Arial"/>
              <a:buChar char="•"/>
            </a:pPr>
            <a:r>
              <a:rPr sz="1800" b="1" i="0">
                <a:solidFill>
                  <a:srgbClr val="2B2B2B"/>
                </a:solidFill>
                <a:latin typeface="Arial"/>
              </a:rPr>
              <a:t>Software:</a:t>
            </a:r>
            <a:r>
              <a:rPr sz="1800" b="0" i="0">
                <a:solidFill>
                  <a:srgbClr val="2B2B2B"/>
                </a:solidFill>
                <a:latin typeface="Arial"/>
              </a:rPr>
              <a:t> a </a:t>
            </a:r>
            <a:r>
              <a:rPr sz="1800" b="1" i="0">
                <a:solidFill>
                  <a:srgbClr val="2B2B2B"/>
                </a:solidFill>
                <a:latin typeface="Arial"/>
              </a:rPr>
              <a:t>per-user height setting</a:t>
            </a:r>
            <a:r>
              <a:rPr sz="1800" b="0" i="0">
                <a:solidFill>
                  <a:srgbClr val="2B2B2B"/>
                </a:solidFill>
                <a:latin typeface="Arial"/>
              </a:rPr>
              <a:t> in config.py to rescale the obstacle thresholds</a:t>
            </a:r>
          </a:p>
          <a:p>
            <a:pPr marL="201168" indent="-201168">
              <a:spcAft>
                <a:spcPts val="684"/>
              </a:spcAft>
              <a:buClr>
                <a:srgbClr val="00943A"/>
              </a:buClr>
              <a:buFont typeface="Arial"/>
              <a:buChar char="•"/>
            </a:pPr>
            <a:r>
              <a:rPr sz="1800" b="1" i="0">
                <a:solidFill>
                  <a:srgbClr val="2B2B2B"/>
                </a:solidFill>
                <a:latin typeface="Arial"/>
              </a:rPr>
              <a:t>Harness:</a:t>
            </a:r>
            <a:r>
              <a:rPr sz="1800" b="0" i="0">
                <a:solidFill>
                  <a:srgbClr val="2B2B2B"/>
                </a:solidFill>
                <a:latin typeface="Arial"/>
              </a:rPr>
              <a:t> cane-to-vest </a:t>
            </a:r>
            <a:r>
              <a:rPr sz="1800" b="1" i="0">
                <a:solidFill>
                  <a:srgbClr val="2B2B2B"/>
                </a:solidFill>
                <a:latin typeface="Arial"/>
              </a:rPr>
              <a:t>cable slack</a:t>
            </a:r>
            <a:r>
              <a:rPr sz="1800" b="0" i="0">
                <a:solidFill>
                  <a:srgbClr val="2B2B2B"/>
                </a:solidFill>
                <a:latin typeface="Arial"/>
              </a:rPr>
              <a:t> sized for the longest setting</a:t>
            </a:r>
          </a:p>
          <a:p>
            <a:pPr marL="201168" indent="-201168">
              <a:spcAft>
                <a:spcPts val="684"/>
              </a:spcAft>
              <a:buClr>
                <a:srgbClr val="00943A"/>
              </a:buClr>
              <a:buFont typeface="Arial"/>
              <a:buChar char="•"/>
            </a:pPr>
            <a:r>
              <a:rPr sz="1800" b="1" i="0">
                <a:solidFill>
                  <a:srgbClr val="2B2B2B"/>
                </a:solidFill>
                <a:latin typeface="Arial"/>
              </a:rPr>
              <a:t>Validate</a:t>
            </a:r>
            <a:r>
              <a:rPr sz="1800" b="0" i="0">
                <a:solidFill>
                  <a:srgbClr val="2B2B2B"/>
                </a:solidFill>
                <a:latin typeface="Arial"/>
              </a:rPr>
              <a:t> with </a:t>
            </a:r>
            <a:r>
              <a:rPr sz="1800" b="1" i="0">
                <a:solidFill>
                  <a:srgbClr val="2B2B2B"/>
                </a:solidFill>
                <a:latin typeface="Arial"/>
              </a:rPr>
              <a:t>multiple users of different heights</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tion kicker"/>
          <p:cNvSpPr txBox="1"/>
          <p:nvPr/>
        </p:nvSpPr>
        <p:spPr>
          <a:xfrm>
            <a:off x="1280160" y="292608"/>
            <a:ext cx="8686800" cy="256032"/>
          </a:xfrm>
          <a:prstGeom prst="rect">
            <a:avLst/>
          </a:prstGeom>
          <a:noFill/>
        </p:spPr>
        <p:txBody>
          <a:bodyPr wrap="square" lIns="0" rIns="0" tIns="0" bIns="0" anchor="t">
            <a:noAutofit/>
          </a:bodyPr>
          <a:lstStyle/>
          <a:p>
            <a:r>
              <a:rPr sz="1100" b="1" i="0">
                <a:solidFill>
                  <a:srgbClr val="6B6B6B"/>
                </a:solidFill>
                <a:latin typeface="Arial"/>
              </a:rPr>
              <a:t>RECOMMENDATIONS</a:t>
            </a:r>
          </a:p>
        </p:txBody>
      </p:sp>
      <p:sp>
        <p:nvSpPr>
          <p:cNvPr id="3" name="Title"/>
          <p:cNvSpPr txBox="1"/>
          <p:nvPr/>
        </p:nvSpPr>
        <p:spPr>
          <a:xfrm>
            <a:off x="1280160" y="502920"/>
            <a:ext cx="10469880" cy="731520"/>
          </a:xfrm>
          <a:prstGeom prst="rect">
            <a:avLst/>
          </a:prstGeom>
          <a:noFill/>
        </p:spPr>
        <p:txBody>
          <a:bodyPr wrap="square" lIns="0" rIns="0" tIns="0" bIns="0" anchor="ctr">
            <a:noAutofit/>
          </a:bodyPr>
          <a:lstStyle/>
          <a:p>
            <a:r>
              <a:rPr sz="2800" b="1" i="0">
                <a:solidFill>
                  <a:srgbClr val="00943A"/>
                </a:solidFill>
                <a:latin typeface="Arial"/>
              </a:rPr>
              <a:t>Recommendation 5: Localized, Natural Audio Models</a:t>
            </a:r>
          </a:p>
        </p:txBody>
      </p:sp>
      <p:sp>
        <p:nvSpPr>
          <p:cNvPr id="4" name="Slide number"/>
          <p:cNvSpPr txBox="1"/>
          <p:nvPr/>
        </p:nvSpPr>
        <p:spPr>
          <a:xfrm>
            <a:off x="1280160" y="6327648"/>
            <a:ext cx="2286000" cy="274320"/>
          </a:xfrm>
          <a:prstGeom prst="rect">
            <a:avLst/>
          </a:prstGeom>
          <a:noFill/>
        </p:spPr>
        <p:txBody>
          <a:bodyPr wrap="square" lIns="0" rIns="0" tIns="0" bIns="0" anchor="t">
            <a:noAutofit/>
          </a:bodyPr>
          <a:lstStyle/>
          <a:p>
            <a:r>
              <a:rPr sz="1000" b="0" i="0">
                <a:solidFill>
                  <a:srgbClr val="6B6B6B"/>
                </a:solidFill>
                <a:latin typeface="Arial"/>
              </a:rPr>
              <a:t>IndepenSense · 51</a:t>
            </a:r>
          </a:p>
        </p:txBody>
      </p:sp>
      <p:sp>
        <p:nvSpPr>
          <p:cNvPr id="5" name="Field 1 card"/>
          <p:cNvSpPr/>
          <p:nvPr/>
        </p:nvSpPr>
        <p:spPr>
          <a:xfrm>
            <a:off x="1280160" y="1371600"/>
            <a:ext cx="5174416" cy="4617720"/>
          </a:xfrm>
          <a:prstGeom prst="roundRect">
            <a:avLst>
              <a:gd name="adj" fmla="val 3564"/>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ield 1 text"/>
          <p:cNvSpPr txBox="1"/>
          <p:nvPr/>
        </p:nvSpPr>
        <p:spPr>
          <a:xfrm>
            <a:off x="1463039" y="1554480"/>
            <a:ext cx="4808656" cy="4251959"/>
          </a:xfrm>
          <a:prstGeom prst="rect">
            <a:avLst/>
          </a:prstGeom>
          <a:noFill/>
        </p:spPr>
        <p:txBody>
          <a:bodyPr wrap="square" lIns="0" rIns="0" tIns="0" bIns="0" anchor="t">
            <a:noAutofit/>
          </a:bodyPr>
          <a:lstStyle/>
          <a:p>
            <a:pPr>
              <a:spcAft>
                <a:spcPts val="765"/>
              </a:spcAft>
              <a:buNone/>
            </a:pPr>
            <a:r>
              <a:rPr sz="1900" b="1" i="0">
                <a:solidFill>
                  <a:srgbClr val="006B2A"/>
                </a:solidFill>
                <a:latin typeface="Arial"/>
              </a:rPr>
              <a:t>Speech output (accent)</a:t>
            </a:r>
          </a:p>
          <a:p>
            <a:pPr marL="201168" indent="-201168">
              <a:spcAft>
                <a:spcPts val="646"/>
              </a:spcAft>
              <a:buClr>
                <a:srgbClr val="00943A"/>
              </a:buClr>
              <a:buFont typeface="Arial"/>
              <a:buChar char="•"/>
            </a:pPr>
            <a:r>
              <a:rPr sz="1700" b="0" i="0">
                <a:solidFill>
                  <a:srgbClr val="2B2B2B"/>
                </a:solidFill>
                <a:latin typeface="Arial"/>
              </a:rPr>
              <a:t>Field finding: </a:t>
            </a:r>
            <a:r>
              <a:rPr sz="1700" b="1" i="0">
                <a:solidFill>
                  <a:srgbClr val="2B2B2B"/>
                </a:solidFill>
                <a:latin typeface="Arial"/>
              </a:rPr>
              <a:t>heavy accent</a:t>
            </a:r>
            <a:r>
              <a:rPr sz="1700" b="0" i="0">
                <a:solidFill>
                  <a:srgbClr val="2B2B2B"/>
                </a:solidFill>
                <a:latin typeface="Arial"/>
              </a:rPr>
              <a:t> (TC-ONS-06)</a:t>
            </a:r>
          </a:p>
          <a:p>
            <a:pPr marL="201168" indent="-201168">
              <a:spcAft>
                <a:spcPts val="646"/>
              </a:spcAft>
              <a:buClr>
                <a:srgbClr val="00943A"/>
              </a:buClr>
              <a:buFont typeface="Arial"/>
              <a:buChar char="•"/>
            </a:pPr>
            <a:r>
              <a:rPr sz="1700" b="0" i="0">
                <a:solidFill>
                  <a:srgbClr val="2B2B2B"/>
                </a:solidFill>
                <a:latin typeface="Arial"/>
              </a:rPr>
              <a:t>Train or fine-tune a </a:t>
            </a:r>
            <a:r>
              <a:rPr sz="1700" b="1" i="0">
                <a:solidFill>
                  <a:srgbClr val="2B2B2B"/>
                </a:solidFill>
                <a:latin typeface="Arial"/>
              </a:rPr>
              <a:t>Filipino-English and Tagalog voice</a:t>
            </a:r>
            <a:r>
              <a:rPr sz="1700" b="0" i="0">
                <a:solidFill>
                  <a:srgbClr val="2B2B2B"/>
                </a:solidFill>
                <a:latin typeface="Arial"/>
              </a:rPr>
              <a:t> on </a:t>
            </a:r>
            <a:r>
              <a:rPr sz="1700" b="1" i="0">
                <a:solidFill>
                  <a:srgbClr val="2B2B2B"/>
                </a:solidFill>
                <a:latin typeface="Arial"/>
              </a:rPr>
              <a:t>local speakers</a:t>
            </a:r>
          </a:p>
          <a:p>
            <a:pPr marL="201168" indent="-201168">
              <a:spcAft>
                <a:spcPts val="646"/>
              </a:spcAft>
              <a:buClr>
                <a:srgbClr val="00943A"/>
              </a:buClr>
              <a:buFont typeface="Arial"/>
              <a:buChar char="•"/>
            </a:pPr>
            <a:r>
              <a:rPr sz="1700" b="0" i="0">
                <a:solidFill>
                  <a:srgbClr val="2B2B2B"/>
                </a:solidFill>
                <a:latin typeface="Arial"/>
              </a:rPr>
              <a:t>Run it </a:t>
            </a:r>
            <a:r>
              <a:rPr sz="1700" b="1" i="0">
                <a:solidFill>
                  <a:srgbClr val="2B2B2B"/>
                </a:solidFill>
                <a:latin typeface="Arial"/>
              </a:rPr>
              <a:t>on device</a:t>
            </a:r>
            <a:r>
              <a:rPr sz="1700" b="0" i="0">
                <a:solidFill>
                  <a:srgbClr val="2B2B2B"/>
                </a:solidFill>
                <a:latin typeface="Arial"/>
              </a:rPr>
              <a:t>, so quality does not depend on the network (the cloud Filipino voice currently falls back to </a:t>
            </a:r>
            <a:r>
              <a:rPr sz="1700" b="1" i="0">
                <a:solidFill>
                  <a:srgbClr val="2B2B2B"/>
                </a:solidFill>
                <a:latin typeface="Arial"/>
              </a:rPr>
              <a:t>MMS</a:t>
            </a:r>
            <a:r>
              <a:rPr sz="1700" b="0" i="0">
                <a:solidFill>
                  <a:srgbClr val="2B2B2B"/>
                </a:solidFill>
                <a:latin typeface="Arial"/>
              </a:rPr>
              <a:t>)</a:t>
            </a:r>
          </a:p>
          <a:p>
            <a:pPr marL="201168" indent="-201168">
              <a:spcAft>
                <a:spcPts val="646"/>
              </a:spcAft>
              <a:buClr>
                <a:srgbClr val="00943A"/>
              </a:buClr>
              <a:buFont typeface="Arial"/>
              <a:buChar char="•"/>
            </a:pPr>
            <a:r>
              <a:rPr sz="1700" b="1" i="0">
                <a:solidFill>
                  <a:srgbClr val="2B2B2B"/>
                </a:solidFill>
                <a:latin typeface="Arial"/>
              </a:rPr>
              <a:t>User-selectable voice and speaking rate</a:t>
            </a:r>
          </a:p>
          <a:p>
            <a:pPr marL="201168" indent="-201168">
              <a:spcAft>
                <a:spcPts val="646"/>
              </a:spcAft>
              <a:buClr>
                <a:srgbClr val="00943A"/>
              </a:buClr>
              <a:buFont typeface="Arial"/>
              <a:buChar char="•"/>
            </a:pPr>
            <a:r>
              <a:rPr sz="1700" b="1" i="0">
                <a:solidFill>
                  <a:srgbClr val="2B2B2B"/>
                </a:solidFill>
                <a:latin typeface="Arial"/>
              </a:rPr>
              <a:t>Listening tests</a:t>
            </a:r>
            <a:r>
              <a:rPr sz="1700" b="0" i="0">
                <a:solidFill>
                  <a:srgbClr val="2B2B2B"/>
                </a:solidFill>
                <a:latin typeface="Arial"/>
              </a:rPr>
              <a:t> with visually impaired users (MOS scoring)</a:t>
            </a:r>
          </a:p>
        </p:txBody>
      </p:sp>
      <p:sp>
        <p:nvSpPr>
          <p:cNvPr id="7" name="Field 2 card"/>
          <p:cNvSpPr/>
          <p:nvPr/>
        </p:nvSpPr>
        <p:spPr>
          <a:xfrm>
            <a:off x="6710608" y="1371600"/>
            <a:ext cx="5039431" cy="4617720"/>
          </a:xfrm>
          <a:prstGeom prst="roundRect">
            <a:avLst>
              <a:gd name="adj" fmla="val 3564"/>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Field 2 text"/>
          <p:cNvSpPr txBox="1"/>
          <p:nvPr/>
        </p:nvSpPr>
        <p:spPr>
          <a:xfrm>
            <a:off x="6893488" y="1554480"/>
            <a:ext cx="4673671" cy="4251959"/>
          </a:xfrm>
          <a:prstGeom prst="rect">
            <a:avLst/>
          </a:prstGeom>
          <a:noFill/>
        </p:spPr>
        <p:txBody>
          <a:bodyPr wrap="square" lIns="0" rIns="0" tIns="0" bIns="0" anchor="t">
            <a:noAutofit/>
          </a:bodyPr>
          <a:lstStyle/>
          <a:p>
            <a:pPr>
              <a:spcAft>
                <a:spcPts val="765"/>
              </a:spcAft>
              <a:buNone/>
            </a:pPr>
            <a:r>
              <a:rPr sz="1900" b="1" i="0">
                <a:solidFill>
                  <a:srgbClr val="006B2A"/>
                </a:solidFill>
                <a:latin typeface="Arial"/>
              </a:rPr>
              <a:t>Speech input (capture)</a:t>
            </a:r>
          </a:p>
          <a:p>
            <a:pPr marL="201168" indent="-201168">
              <a:spcAft>
                <a:spcPts val="646"/>
              </a:spcAft>
              <a:buClr>
                <a:srgbClr val="00943A"/>
              </a:buClr>
              <a:buFont typeface="Arial"/>
              <a:buChar char="•"/>
            </a:pPr>
            <a:r>
              <a:rPr sz="1700" b="0" i="0">
                <a:solidFill>
                  <a:srgbClr val="2B2B2B"/>
                </a:solidFill>
                <a:latin typeface="Arial"/>
              </a:rPr>
              <a:t>Bench failures </a:t>
            </a:r>
            <a:r>
              <a:rPr sz="1700" b="1" i="0">
                <a:solidFill>
                  <a:srgbClr val="2B2B2B"/>
                </a:solidFill>
                <a:latin typeface="Arial"/>
              </a:rPr>
              <a:t>AUD-002</a:t>
            </a:r>
            <a:r>
              <a:rPr sz="1700" b="0" i="0">
                <a:solidFill>
                  <a:srgbClr val="2B2B2B"/>
                </a:solidFill>
                <a:latin typeface="Arial"/>
              </a:rPr>
              <a:t> (low volume) and </a:t>
            </a:r>
            <a:r>
              <a:rPr sz="1700" b="1" i="0">
                <a:solidFill>
                  <a:srgbClr val="2B2B2B"/>
                </a:solidFill>
                <a:latin typeface="Arial"/>
              </a:rPr>
              <a:t>AUD-004</a:t>
            </a:r>
            <a:r>
              <a:rPr sz="1700" b="0" i="0">
                <a:solidFill>
                  <a:srgbClr val="2B2B2B"/>
                </a:solidFill>
                <a:latin typeface="Arial"/>
              </a:rPr>
              <a:t> (noise)</a:t>
            </a:r>
          </a:p>
          <a:p>
            <a:pPr marL="201168" indent="-201168">
              <a:spcAft>
                <a:spcPts val="646"/>
              </a:spcAft>
              <a:buClr>
                <a:srgbClr val="00943A"/>
              </a:buClr>
              <a:buFont typeface="Arial"/>
              <a:buChar char="•"/>
            </a:pPr>
            <a:r>
              <a:rPr sz="1700" b="1" i="0">
                <a:solidFill>
                  <a:srgbClr val="2B2B2B"/>
                </a:solidFill>
                <a:latin typeface="Arial"/>
              </a:rPr>
              <a:t>Noise suppression / beamforming</a:t>
            </a:r>
            <a:r>
              <a:rPr sz="1700" b="0" i="0">
                <a:solidFill>
                  <a:srgbClr val="2B2B2B"/>
                </a:solidFill>
                <a:latin typeface="Arial"/>
              </a:rPr>
              <a:t> before transcription</a:t>
            </a:r>
          </a:p>
          <a:p>
            <a:pPr marL="201168" indent="-201168">
              <a:spcAft>
                <a:spcPts val="646"/>
              </a:spcAft>
              <a:buClr>
                <a:srgbClr val="00943A"/>
              </a:buClr>
              <a:buFont typeface="Arial"/>
              <a:buChar char="•"/>
            </a:pPr>
            <a:r>
              <a:rPr sz="1700" b="1" i="0">
                <a:solidFill>
                  <a:srgbClr val="2B2B2B"/>
                </a:solidFill>
                <a:latin typeface="Arial"/>
              </a:rPr>
              <a:t>Voice-activity detection</a:t>
            </a:r>
            <a:r>
              <a:rPr sz="1700" b="0" i="0">
                <a:solidFill>
                  <a:srgbClr val="2B2B2B"/>
                </a:solidFill>
                <a:latin typeface="Arial"/>
              </a:rPr>
              <a:t> to trim silence and noise</a:t>
            </a:r>
          </a:p>
          <a:p>
            <a:pPr marL="201168" indent="-201168">
              <a:spcAft>
                <a:spcPts val="646"/>
              </a:spcAft>
              <a:buClr>
                <a:srgbClr val="00943A"/>
              </a:buClr>
              <a:buFont typeface="Arial"/>
              <a:buChar char="•"/>
            </a:pPr>
            <a:r>
              <a:rPr sz="1700" b="0" i="0">
                <a:solidFill>
                  <a:srgbClr val="2B2B2B"/>
                </a:solidFill>
                <a:latin typeface="Arial"/>
              </a:rPr>
              <a:t>A </a:t>
            </a:r>
            <a:r>
              <a:rPr sz="1700" b="1" i="0">
                <a:solidFill>
                  <a:srgbClr val="2B2B2B"/>
                </a:solidFill>
                <a:latin typeface="Arial"/>
              </a:rPr>
              <a:t>directional or boom microphone</a:t>
            </a:r>
            <a:r>
              <a:rPr sz="1700" b="0" i="0">
                <a:solidFill>
                  <a:srgbClr val="2B2B2B"/>
                </a:solidFill>
                <a:latin typeface="Arial"/>
              </a:rPr>
              <a:t> that keeps </a:t>
            </a:r>
            <a:r>
              <a:rPr sz="1700" b="1" i="0">
                <a:solidFill>
                  <a:srgbClr val="2B2B2B"/>
                </a:solidFill>
                <a:latin typeface="Arial"/>
              </a:rPr>
              <a:t>open-ear output</a:t>
            </a:r>
          </a:p>
          <a:p>
            <a:pPr marL="201168" indent="-201168">
              <a:spcAft>
                <a:spcPts val="646"/>
              </a:spcAft>
              <a:buClr>
                <a:srgbClr val="00943A"/>
              </a:buClr>
              <a:buFont typeface="Arial"/>
              <a:buChar char="•"/>
            </a:pPr>
            <a:r>
              <a:rPr sz="1700" b="1" i="0">
                <a:solidFill>
                  <a:srgbClr val="2B2B2B"/>
                </a:solidFill>
                <a:latin typeface="Arial"/>
              </a:rPr>
              <a:t>Local Tagalog STT</a:t>
            </a:r>
            <a:r>
              <a:rPr sz="1700" b="0" i="0">
                <a:solidFill>
                  <a:srgbClr val="2B2B2B"/>
                </a:solidFill>
                <a:latin typeface="Arial"/>
              </a:rPr>
              <a:t> that runs in </a:t>
            </a:r>
            <a:r>
              <a:rPr sz="1700" b="1" i="0">
                <a:solidFill>
                  <a:srgbClr val="2B2B2B"/>
                </a:solidFill>
                <a:latin typeface="Arial"/>
              </a:rPr>
              <a:t>real time</a:t>
            </a:r>
            <a:r>
              <a:rPr sz="1700" b="0" i="0">
                <a:solidFill>
                  <a:srgbClr val="2B2B2B"/>
                </a:solidFill>
                <a:latin typeface="Arial"/>
              </a:rPr>
              <a:t> (on-device Tagalog Whisper small runs at an </a:t>
            </a:r>
            <a:r>
              <a:rPr sz="1700" b="1" i="0">
                <a:solidFill>
                  <a:srgbClr val="2B2B2B"/>
                </a:solidFill>
                <a:latin typeface="Arial"/>
              </a:rPr>
              <a:t>RTF of 2.23×</a:t>
            </a:r>
            <a:r>
              <a:rPr sz="1700" b="0" i="0">
                <a:solidFill>
                  <a:srgbClr val="2B2B2B"/>
                </a:solidFill>
                <a:latin typeface="Arial"/>
              </a:rPr>
              <a:t>)</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tion kicker"/>
          <p:cNvSpPr txBox="1"/>
          <p:nvPr/>
        </p:nvSpPr>
        <p:spPr>
          <a:xfrm>
            <a:off x="1280160" y="292608"/>
            <a:ext cx="8686800" cy="256032"/>
          </a:xfrm>
          <a:prstGeom prst="rect">
            <a:avLst/>
          </a:prstGeom>
          <a:noFill/>
        </p:spPr>
        <p:txBody>
          <a:bodyPr wrap="square" lIns="0" rIns="0" tIns="0" bIns="0" anchor="t">
            <a:noAutofit/>
          </a:bodyPr>
          <a:lstStyle/>
          <a:p>
            <a:r>
              <a:rPr sz="1100" b="1" i="0">
                <a:solidFill>
                  <a:srgbClr val="6B6B6B"/>
                </a:solidFill>
                <a:latin typeface="Arial"/>
              </a:rPr>
              <a:t>RECOMMENDATIONS</a:t>
            </a:r>
          </a:p>
        </p:txBody>
      </p:sp>
      <p:sp>
        <p:nvSpPr>
          <p:cNvPr id="3" name="Title"/>
          <p:cNvSpPr txBox="1"/>
          <p:nvPr/>
        </p:nvSpPr>
        <p:spPr>
          <a:xfrm>
            <a:off x="1280160" y="502920"/>
            <a:ext cx="10469880" cy="731520"/>
          </a:xfrm>
          <a:prstGeom prst="rect">
            <a:avLst/>
          </a:prstGeom>
          <a:noFill/>
        </p:spPr>
        <p:txBody>
          <a:bodyPr wrap="square" lIns="0" rIns="0" tIns="0" bIns="0" anchor="ctr">
            <a:noAutofit/>
          </a:bodyPr>
          <a:lstStyle/>
          <a:p>
            <a:r>
              <a:rPr sz="2800" b="1" i="0">
                <a:solidFill>
                  <a:srgbClr val="00943A"/>
                </a:solidFill>
                <a:latin typeface="Arial"/>
              </a:rPr>
              <a:t>Recommendation 6: Validation and Platform Extensions</a:t>
            </a:r>
          </a:p>
        </p:txBody>
      </p:sp>
      <p:sp>
        <p:nvSpPr>
          <p:cNvPr id="4" name="Slide number"/>
          <p:cNvSpPr txBox="1"/>
          <p:nvPr/>
        </p:nvSpPr>
        <p:spPr>
          <a:xfrm>
            <a:off x="1280160" y="6327648"/>
            <a:ext cx="2286000" cy="274320"/>
          </a:xfrm>
          <a:prstGeom prst="rect">
            <a:avLst/>
          </a:prstGeom>
          <a:noFill/>
        </p:spPr>
        <p:txBody>
          <a:bodyPr wrap="square" lIns="0" rIns="0" tIns="0" bIns="0" anchor="t">
            <a:noAutofit/>
          </a:bodyPr>
          <a:lstStyle/>
          <a:p>
            <a:r>
              <a:rPr sz="1000" b="0" i="0">
                <a:solidFill>
                  <a:srgbClr val="6B6B6B"/>
                </a:solidFill>
                <a:latin typeface="Arial"/>
              </a:rPr>
              <a:t>IndepenSense · 52</a:t>
            </a:r>
          </a:p>
        </p:txBody>
      </p:sp>
      <p:sp>
        <p:nvSpPr>
          <p:cNvPr id="5" name="Card 1 card"/>
          <p:cNvSpPr/>
          <p:nvPr/>
        </p:nvSpPr>
        <p:spPr>
          <a:xfrm>
            <a:off x="1280160" y="1371600"/>
            <a:ext cx="3319271" cy="2180844"/>
          </a:xfrm>
          <a:prstGeom prst="roundRect">
            <a:avLst>
              <a:gd name="adj" fmla="val 7547"/>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Card 1 text"/>
          <p:cNvSpPr txBox="1"/>
          <p:nvPr/>
        </p:nvSpPr>
        <p:spPr>
          <a:xfrm>
            <a:off x="1463039" y="1554480"/>
            <a:ext cx="2953511" cy="1815084"/>
          </a:xfrm>
          <a:prstGeom prst="rect">
            <a:avLst/>
          </a:prstGeom>
          <a:noFill/>
        </p:spPr>
        <p:txBody>
          <a:bodyPr wrap="square" lIns="0" rIns="0" tIns="0" bIns="0" anchor="t">
            <a:noAutofit/>
          </a:bodyPr>
          <a:lstStyle/>
          <a:p>
            <a:pPr>
              <a:spcAft>
                <a:spcPts val="630"/>
              </a:spcAft>
              <a:buNone/>
            </a:pPr>
            <a:r>
              <a:rPr sz="1600" b="1" i="0">
                <a:solidFill>
                  <a:srgbClr val="006B2A"/>
                </a:solidFill>
                <a:latin typeface="Arial"/>
              </a:rPr>
              <a:t>More participants and environments</a:t>
            </a:r>
          </a:p>
          <a:p>
            <a:pPr>
              <a:spcAft>
                <a:spcPts val="532"/>
              </a:spcAft>
              <a:buNone/>
            </a:pPr>
            <a:r>
              <a:rPr sz="1400" b="0" i="0">
                <a:solidFill>
                  <a:srgbClr val="2B2B2B"/>
                </a:solidFill>
                <a:latin typeface="Arial"/>
              </a:rPr>
              <a:t>move beyond </a:t>
            </a:r>
            <a:r>
              <a:rPr sz="1400" b="1" i="0">
                <a:solidFill>
                  <a:srgbClr val="2B2B2B"/>
                </a:solidFill>
                <a:latin typeface="Arial"/>
              </a:rPr>
              <a:t>n = 1</a:t>
            </a:r>
            <a:r>
              <a:rPr sz="1400" b="0" i="0">
                <a:solidFill>
                  <a:srgbClr val="2B2B2B"/>
                </a:solidFill>
                <a:latin typeface="Arial"/>
              </a:rPr>
              <a:t>, covering outdoor streets, night and rain</a:t>
            </a:r>
          </a:p>
        </p:txBody>
      </p:sp>
      <p:sp>
        <p:nvSpPr>
          <p:cNvPr id="7" name="Card 2 card"/>
          <p:cNvSpPr/>
          <p:nvPr/>
        </p:nvSpPr>
        <p:spPr>
          <a:xfrm>
            <a:off x="4855463" y="1371600"/>
            <a:ext cx="3319271" cy="2180844"/>
          </a:xfrm>
          <a:prstGeom prst="roundRect">
            <a:avLst>
              <a:gd name="adj" fmla="val 7547"/>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Card 2 text"/>
          <p:cNvSpPr txBox="1"/>
          <p:nvPr/>
        </p:nvSpPr>
        <p:spPr>
          <a:xfrm>
            <a:off x="5038343" y="1554480"/>
            <a:ext cx="2953511" cy="1815084"/>
          </a:xfrm>
          <a:prstGeom prst="rect">
            <a:avLst/>
          </a:prstGeom>
          <a:noFill/>
        </p:spPr>
        <p:txBody>
          <a:bodyPr wrap="square" lIns="0" rIns="0" tIns="0" bIns="0" anchor="t">
            <a:noAutofit/>
          </a:bodyPr>
          <a:lstStyle/>
          <a:p>
            <a:pPr>
              <a:spcAft>
                <a:spcPts val="630"/>
              </a:spcAft>
              <a:buNone/>
            </a:pPr>
            <a:r>
              <a:rPr sz="1600" b="1" i="0">
                <a:solidFill>
                  <a:srgbClr val="006B2A"/>
                </a:solidFill>
                <a:latin typeface="Arial"/>
              </a:rPr>
              <a:t>Fall detection validation</a:t>
            </a:r>
          </a:p>
          <a:p>
            <a:pPr>
              <a:spcAft>
                <a:spcPts val="532"/>
              </a:spcAft>
              <a:buNone/>
            </a:pPr>
            <a:r>
              <a:rPr sz="1400" b="0" i="0">
                <a:solidFill>
                  <a:srgbClr val="2B2B2B"/>
                </a:solidFill>
                <a:latin typeface="Arial"/>
              </a:rPr>
              <a:t>controlled trials with </a:t>
            </a:r>
            <a:r>
              <a:rPr sz="1400" b="1" i="0">
                <a:solidFill>
                  <a:srgbClr val="2B2B2B"/>
                </a:solidFill>
                <a:latin typeface="Arial"/>
              </a:rPr>
              <a:t>sighted volunteers on crash mats</a:t>
            </a:r>
            <a:r>
              <a:rPr sz="1400" b="0" i="0">
                <a:solidFill>
                  <a:srgbClr val="2B2B2B"/>
                </a:solidFill>
                <a:latin typeface="Arial"/>
              </a:rPr>
              <a:t>, reporting </a:t>
            </a:r>
            <a:r>
              <a:rPr sz="1400" b="1" i="0">
                <a:solidFill>
                  <a:srgbClr val="2B2B2B"/>
                </a:solidFill>
                <a:latin typeface="Arial"/>
              </a:rPr>
              <a:t>sensitivity / specificity</a:t>
            </a:r>
            <a:r>
              <a:rPr sz="1400" b="0" i="0">
                <a:solidFill>
                  <a:srgbClr val="2B2B2B"/>
                </a:solidFill>
                <a:latin typeface="Arial"/>
              </a:rPr>
              <a:t>, plus </a:t>
            </a:r>
            <a:r>
              <a:rPr sz="1400" b="1" i="0">
                <a:solidFill>
                  <a:srgbClr val="2B2B2B"/>
                </a:solidFill>
                <a:latin typeface="Arial"/>
              </a:rPr>
              <a:t>multi-hour IMU soak tests</a:t>
            </a:r>
            <a:r>
              <a:rPr sz="1400" b="0" i="0">
                <a:solidFill>
                  <a:srgbClr val="2B2B2B"/>
                </a:solidFill>
                <a:latin typeface="Arial"/>
              </a:rPr>
              <a:t> (MPU-008)</a:t>
            </a:r>
          </a:p>
        </p:txBody>
      </p:sp>
      <p:sp>
        <p:nvSpPr>
          <p:cNvPr id="9" name="Card 3 card"/>
          <p:cNvSpPr/>
          <p:nvPr/>
        </p:nvSpPr>
        <p:spPr>
          <a:xfrm>
            <a:off x="8430767" y="1371600"/>
            <a:ext cx="3319271" cy="2180844"/>
          </a:xfrm>
          <a:prstGeom prst="roundRect">
            <a:avLst>
              <a:gd name="adj" fmla="val 7547"/>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Card 3 text"/>
          <p:cNvSpPr txBox="1"/>
          <p:nvPr/>
        </p:nvSpPr>
        <p:spPr>
          <a:xfrm>
            <a:off x="8613647" y="1554480"/>
            <a:ext cx="2953511" cy="1815084"/>
          </a:xfrm>
          <a:prstGeom prst="rect">
            <a:avLst/>
          </a:prstGeom>
          <a:noFill/>
        </p:spPr>
        <p:txBody>
          <a:bodyPr wrap="square" lIns="0" rIns="0" tIns="0" bIns="0" anchor="t">
            <a:noAutofit/>
          </a:bodyPr>
          <a:lstStyle/>
          <a:p>
            <a:pPr>
              <a:spcAft>
                <a:spcPts val="630"/>
              </a:spcAft>
              <a:buNone/>
            </a:pPr>
            <a:r>
              <a:rPr sz="1600" b="1" i="0">
                <a:solidFill>
                  <a:srgbClr val="006B2A"/>
                </a:solidFill>
                <a:latin typeface="Arial"/>
              </a:rPr>
              <a:t>GNSS accuracy</a:t>
            </a:r>
          </a:p>
          <a:p>
            <a:pPr>
              <a:spcAft>
                <a:spcPts val="532"/>
              </a:spcAft>
              <a:buNone/>
            </a:pPr>
            <a:r>
              <a:rPr sz="1400" b="1" i="0">
                <a:solidFill>
                  <a:srgbClr val="2B2B2B"/>
                </a:solidFill>
                <a:latin typeface="Arial"/>
              </a:rPr>
              <a:t>external active antenna</a:t>
            </a:r>
            <a:r>
              <a:rPr sz="1400" b="0" i="0">
                <a:solidFill>
                  <a:srgbClr val="2B2B2B"/>
                </a:solidFill>
                <a:latin typeface="Arial"/>
              </a:rPr>
              <a:t> at the shoulder, measured </a:t>
            </a:r>
            <a:r>
              <a:rPr sz="1400" b="1" i="0">
                <a:solidFill>
                  <a:srgbClr val="2B2B2B"/>
                </a:solidFill>
                <a:latin typeface="Arial"/>
              </a:rPr>
              <a:t>CEP against surveyed points</a:t>
            </a:r>
            <a:r>
              <a:rPr sz="1400" b="0" i="0">
                <a:solidFill>
                  <a:srgbClr val="2B2B2B"/>
                </a:solidFill>
                <a:latin typeface="Arial"/>
              </a:rPr>
              <a:t>, and </a:t>
            </a:r>
            <a:r>
              <a:rPr sz="1400" b="1" i="0">
                <a:solidFill>
                  <a:srgbClr val="2B2B2B"/>
                </a:solidFill>
                <a:latin typeface="Arial"/>
              </a:rPr>
              <a:t>sensor fusion</a:t>
            </a:r>
            <a:r>
              <a:rPr sz="1400" b="0" i="0">
                <a:solidFill>
                  <a:srgbClr val="2B2B2B"/>
                </a:solidFill>
                <a:latin typeface="Arial"/>
              </a:rPr>
              <a:t> with IMU/compass dead-reckoning</a:t>
            </a:r>
          </a:p>
        </p:txBody>
      </p:sp>
      <p:sp>
        <p:nvSpPr>
          <p:cNvPr id="11" name="Card 4 card"/>
          <p:cNvSpPr/>
          <p:nvPr/>
        </p:nvSpPr>
        <p:spPr>
          <a:xfrm>
            <a:off x="1280160" y="3808476"/>
            <a:ext cx="3319271" cy="2180844"/>
          </a:xfrm>
          <a:prstGeom prst="roundRect">
            <a:avLst>
              <a:gd name="adj" fmla="val 7547"/>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Card 4 text"/>
          <p:cNvSpPr txBox="1"/>
          <p:nvPr/>
        </p:nvSpPr>
        <p:spPr>
          <a:xfrm>
            <a:off x="1463039" y="3991356"/>
            <a:ext cx="2953511" cy="1815084"/>
          </a:xfrm>
          <a:prstGeom prst="rect">
            <a:avLst/>
          </a:prstGeom>
          <a:noFill/>
        </p:spPr>
        <p:txBody>
          <a:bodyPr wrap="square" lIns="0" rIns="0" tIns="0" bIns="0" anchor="t">
            <a:noAutofit/>
          </a:bodyPr>
          <a:lstStyle/>
          <a:p>
            <a:pPr>
              <a:spcAft>
                <a:spcPts val="630"/>
              </a:spcAft>
              <a:buNone/>
            </a:pPr>
            <a:r>
              <a:rPr sz="1600" b="1" i="0">
                <a:solidFill>
                  <a:srgbClr val="006B2A"/>
                </a:solidFill>
                <a:latin typeface="Arial"/>
              </a:rPr>
              <a:t>Guardian app</a:t>
            </a:r>
          </a:p>
          <a:p>
            <a:pPr>
              <a:spcAft>
                <a:spcPts val="532"/>
              </a:spcAft>
              <a:buNone/>
            </a:pPr>
            <a:r>
              <a:rPr sz="1400" b="0" i="0">
                <a:solidFill>
                  <a:srgbClr val="2B2B2B"/>
                </a:solidFill>
                <a:latin typeface="Arial"/>
              </a:rPr>
              <a:t>richer monitoring, </a:t>
            </a:r>
            <a:r>
              <a:rPr sz="1400" b="1" i="0">
                <a:solidFill>
                  <a:srgbClr val="2B2B2B"/>
                </a:solidFill>
                <a:latin typeface="Arial"/>
              </a:rPr>
              <a:t>notification acknowledgement</a:t>
            </a:r>
            <a:r>
              <a:rPr sz="1400" b="0" i="0">
                <a:solidFill>
                  <a:srgbClr val="2B2B2B"/>
                </a:solidFill>
                <a:latin typeface="Arial"/>
              </a:rPr>
              <a:t>, a guardian-friendly interface</a:t>
            </a:r>
          </a:p>
        </p:txBody>
      </p:sp>
      <p:sp>
        <p:nvSpPr>
          <p:cNvPr id="13" name="Card 5 card"/>
          <p:cNvSpPr/>
          <p:nvPr/>
        </p:nvSpPr>
        <p:spPr>
          <a:xfrm>
            <a:off x="4855463" y="3808476"/>
            <a:ext cx="3319271" cy="2180844"/>
          </a:xfrm>
          <a:prstGeom prst="roundRect">
            <a:avLst>
              <a:gd name="adj" fmla="val 7547"/>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Card 5 text"/>
          <p:cNvSpPr txBox="1"/>
          <p:nvPr/>
        </p:nvSpPr>
        <p:spPr>
          <a:xfrm>
            <a:off x="5038343" y="3991356"/>
            <a:ext cx="2953511" cy="1815084"/>
          </a:xfrm>
          <a:prstGeom prst="rect">
            <a:avLst/>
          </a:prstGeom>
          <a:noFill/>
        </p:spPr>
        <p:txBody>
          <a:bodyPr wrap="square" lIns="0" rIns="0" tIns="0" bIns="0" anchor="t">
            <a:noAutofit/>
          </a:bodyPr>
          <a:lstStyle/>
          <a:p>
            <a:pPr>
              <a:spcAft>
                <a:spcPts val="630"/>
              </a:spcAft>
              <a:buNone/>
            </a:pPr>
            <a:r>
              <a:rPr sz="1600" b="1" i="0">
                <a:solidFill>
                  <a:srgbClr val="006B2A"/>
                </a:solidFill>
                <a:latin typeface="Arial"/>
              </a:rPr>
              <a:t>Navigation test protocol</a:t>
            </a:r>
          </a:p>
          <a:p>
            <a:pPr>
              <a:spcAft>
                <a:spcPts val="532"/>
              </a:spcAft>
              <a:buNone/>
            </a:pPr>
            <a:r>
              <a:rPr sz="1400" b="0" i="0">
                <a:solidFill>
                  <a:srgbClr val="2B2B2B"/>
                </a:solidFill>
                <a:latin typeface="Arial"/>
              </a:rPr>
              <a:t>a </a:t>
            </a:r>
            <a:r>
              <a:rPr sz="1400" b="1" i="0">
                <a:solidFill>
                  <a:srgbClr val="2B2B2B"/>
                </a:solidFill>
                <a:latin typeface="Arial"/>
              </a:rPr>
              <a:t>turn-by-turn route test</a:t>
            </a:r>
            <a:r>
              <a:rPr sz="1400" b="0" i="0">
                <a:solidFill>
                  <a:srgbClr val="2B2B2B"/>
                </a:solidFill>
                <a:latin typeface="Arial"/>
              </a:rPr>
              <a:t> to close the evidence gap on </a:t>
            </a:r>
            <a:r>
              <a:rPr sz="1400" b="1" i="0">
                <a:solidFill>
                  <a:srgbClr val="2B2B2B"/>
                </a:solidFill>
                <a:latin typeface="Arial"/>
              </a:rPr>
              <a:t>SO4</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Figure 1" descr="p65_X241.jpg"/>
          <p:cNvPicPr>
            <a:picLocks noChangeAspect="1"/>
          </p:cNvPicPr>
          <p:nvPr/>
        </p:nvPicPr>
        <p:blipFill>
          <a:blip r:embed="rId2"/>
          <a:stretch>
            <a:fillRect/>
          </a:stretch>
        </p:blipFill>
        <p:spPr>
          <a:xfrm>
            <a:off x="7818120" y="1371600"/>
            <a:ext cx="3931920" cy="3931920"/>
          </a:xfrm>
          <a:prstGeom prst="rect">
            <a:avLst/>
          </a:prstGeom>
          <a:ln w="9525">
            <a:solidFill>
              <a:srgbClr val="D9D9D9"/>
            </a:solidFill>
          </a:ln>
        </p:spPr>
      </p:pic>
      <p:sp>
        <p:nvSpPr>
          <p:cNvPr id="3" name="Kicker"/>
          <p:cNvSpPr txBox="1"/>
          <p:nvPr/>
        </p:nvSpPr>
        <p:spPr>
          <a:xfrm>
            <a:off x="1280160" y="685800"/>
            <a:ext cx="6080759" cy="320040"/>
          </a:xfrm>
          <a:prstGeom prst="rect">
            <a:avLst/>
          </a:prstGeom>
          <a:noFill/>
        </p:spPr>
        <p:txBody>
          <a:bodyPr wrap="square" lIns="0" rIns="0" tIns="0" bIns="0" anchor="t">
            <a:noAutofit/>
          </a:bodyPr>
          <a:lstStyle/>
          <a:p>
            <a:r>
              <a:rPr sz="1200" b="1" i="0">
                <a:solidFill>
                  <a:srgbClr val="6B6B6B"/>
                </a:solidFill>
                <a:latin typeface="Arial"/>
              </a:rPr>
              <a:t>THANK YOU</a:t>
            </a:r>
          </a:p>
        </p:txBody>
      </p:sp>
      <p:sp>
        <p:nvSpPr>
          <p:cNvPr id="4" name="Title"/>
          <p:cNvSpPr txBox="1"/>
          <p:nvPr/>
        </p:nvSpPr>
        <p:spPr>
          <a:xfrm>
            <a:off x="1280160" y="1097280"/>
            <a:ext cx="6080759" cy="1188720"/>
          </a:xfrm>
          <a:prstGeom prst="rect">
            <a:avLst/>
          </a:prstGeom>
          <a:noFill/>
        </p:spPr>
        <p:txBody>
          <a:bodyPr wrap="square" lIns="0" rIns="0" tIns="0" bIns="0" anchor="t">
            <a:noAutofit/>
          </a:bodyPr>
          <a:lstStyle/>
          <a:p>
            <a:r>
              <a:rPr sz="6000" b="1" i="0">
                <a:solidFill>
                  <a:srgbClr val="00943A"/>
                </a:solidFill>
                <a:latin typeface="Arial"/>
              </a:rPr>
              <a:t>Thank You</a:t>
            </a:r>
          </a:p>
        </p:txBody>
      </p:sp>
      <p:sp>
        <p:nvSpPr>
          <p:cNvPr id="5" name="Institution"/>
          <p:cNvSpPr txBox="1"/>
          <p:nvPr/>
        </p:nvSpPr>
        <p:spPr>
          <a:xfrm>
            <a:off x="1280160" y="2514600"/>
            <a:ext cx="6080759" cy="819149"/>
          </a:xfrm>
          <a:prstGeom prst="rect">
            <a:avLst/>
          </a:prstGeom>
          <a:noFill/>
        </p:spPr>
        <p:txBody>
          <a:bodyPr wrap="square" lIns="0" rIns="0" tIns="0" bIns="0" anchor="t">
            <a:noAutofit/>
          </a:bodyPr>
          <a:lstStyle/>
          <a:p>
            <a:pPr>
              <a:spcAft>
                <a:spcPts val="500"/>
              </a:spcAft>
            </a:pPr>
            <a:r>
              <a:rPr sz="1500" b="1" i="0">
                <a:solidFill>
                  <a:srgbClr val="006B2A"/>
                </a:solidFill>
                <a:latin typeface="Arial"/>
              </a:rPr>
              <a:t>IndepenSense:</a:t>
            </a:r>
            <a:r>
              <a:rPr sz="1500" b="0" i="0">
                <a:solidFill>
                  <a:srgbClr val="2B2B2B"/>
                </a:solidFill>
                <a:latin typeface="Arial"/>
              </a:rPr>
              <a:t> IoT-Based Smart Cane with Computer Vision and Remote Guardian Monitoring</a:t>
            </a:r>
          </a:p>
          <a:p>
            <a:pPr>
              <a:spcAft>
                <a:spcPts val="500"/>
              </a:spcAft>
            </a:pPr>
            <a:r>
              <a:rPr sz="1500" b="1" i="0">
                <a:solidFill>
                  <a:srgbClr val="006B2A"/>
                </a:solidFill>
                <a:latin typeface="Arial"/>
              </a:rPr>
              <a:t>De La Salle Lipa · CITE · Computer Engineering Department</a:t>
            </a:r>
          </a:p>
        </p:txBody>
      </p:sp>
      <p:sp>
        <p:nvSpPr>
          <p:cNvPr id="6" name="Authors"/>
          <p:cNvSpPr txBox="1"/>
          <p:nvPr/>
        </p:nvSpPr>
        <p:spPr>
          <a:xfrm>
            <a:off x="1280160" y="3608070"/>
            <a:ext cx="6080759" cy="2381250"/>
          </a:xfrm>
          <a:prstGeom prst="rect">
            <a:avLst/>
          </a:prstGeom>
          <a:noFill/>
        </p:spPr>
        <p:txBody>
          <a:bodyPr wrap="square" lIns="0" rIns="0" tIns="0" bIns="0" anchor="t">
            <a:noAutofit/>
          </a:bodyPr>
          <a:lstStyle/>
          <a:p>
            <a:pPr>
              <a:spcAft>
                <a:spcPts val="300"/>
              </a:spcAft>
            </a:pPr>
            <a:r>
              <a:rPr sz="1400" b="1" i="0">
                <a:solidFill>
                  <a:srgbClr val="2B2B2B"/>
                </a:solidFill>
                <a:latin typeface="Arial"/>
              </a:rPr>
              <a:t>Lubay, Cian Eythan Jeremy · Odi, Mearck Francis Voughn · Rivera, Katelyn Denise</a:t>
            </a:r>
          </a:p>
          <a:p>
            <a:pPr>
              <a:spcAft>
                <a:spcPts val="300"/>
              </a:spcAft>
            </a:pPr>
            <a:r>
              <a:rPr sz="1400" b="1" i="0">
                <a:solidFill>
                  <a:srgbClr val="2B2B2B"/>
                </a:solidFill>
                <a:latin typeface="Arial"/>
              </a:rPr>
              <a:t>Group 5 · October 2026</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1280160" y="2468880"/>
            <a:ext cx="10469880" cy="914400"/>
          </a:xfrm>
          <a:prstGeom prst="rect">
            <a:avLst/>
          </a:prstGeom>
          <a:noFill/>
        </p:spPr>
        <p:txBody>
          <a:bodyPr wrap="square" lIns="0" rIns="0" tIns="0" bIns="0" anchor="ctr">
            <a:noAutofit/>
          </a:bodyPr>
          <a:lstStyle/>
          <a:p>
            <a:r>
              <a:rPr sz="4400" b="1" i="0">
                <a:solidFill>
                  <a:srgbClr val="00943A"/>
                </a:solidFill>
                <a:latin typeface="Arial"/>
              </a:rPr>
              <a:t>Backup Slides</a:t>
            </a:r>
          </a:p>
        </p:txBody>
      </p:sp>
      <p:sp>
        <p:nvSpPr>
          <p:cNvPr id="3" name="Subtitle"/>
          <p:cNvSpPr txBox="1"/>
          <p:nvPr/>
        </p:nvSpPr>
        <p:spPr>
          <a:xfrm>
            <a:off x="1280160" y="3429000"/>
            <a:ext cx="10469880" cy="548640"/>
          </a:xfrm>
          <a:prstGeom prst="rect">
            <a:avLst/>
          </a:prstGeom>
          <a:noFill/>
        </p:spPr>
        <p:txBody>
          <a:bodyPr wrap="square" lIns="0" rIns="0" tIns="0" bIns="0" anchor="t">
            <a:noAutofit/>
          </a:bodyPr>
          <a:lstStyle/>
          <a:p>
            <a:r>
              <a:rPr sz="1800" b="0" i="0">
                <a:solidFill>
                  <a:srgbClr val="6B6B6B"/>
                </a:solidFill>
                <a:latin typeface="Arial"/>
              </a:rPr>
              <a:t>For the question-and-answer portion</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tion kicker"/>
          <p:cNvSpPr txBox="1"/>
          <p:nvPr/>
        </p:nvSpPr>
        <p:spPr>
          <a:xfrm>
            <a:off x="1280160" y="292608"/>
            <a:ext cx="8686800" cy="256032"/>
          </a:xfrm>
          <a:prstGeom prst="rect">
            <a:avLst/>
          </a:prstGeom>
          <a:noFill/>
        </p:spPr>
        <p:txBody>
          <a:bodyPr wrap="square" lIns="0" rIns="0" tIns="0" bIns="0" anchor="t">
            <a:noAutofit/>
          </a:bodyPr>
          <a:lstStyle/>
          <a:p>
            <a:r>
              <a:rPr sz="1100" b="1" i="0">
                <a:solidFill>
                  <a:srgbClr val="6B6B6B"/>
                </a:solidFill>
                <a:latin typeface="Arial"/>
              </a:rPr>
              <a:t>BACKUP</a:t>
            </a:r>
          </a:p>
        </p:txBody>
      </p:sp>
      <p:sp>
        <p:nvSpPr>
          <p:cNvPr id="3" name="Title"/>
          <p:cNvSpPr txBox="1"/>
          <p:nvPr/>
        </p:nvSpPr>
        <p:spPr>
          <a:xfrm>
            <a:off x="1280160" y="502920"/>
            <a:ext cx="10469880" cy="731520"/>
          </a:xfrm>
          <a:prstGeom prst="rect">
            <a:avLst/>
          </a:prstGeom>
          <a:noFill/>
        </p:spPr>
        <p:txBody>
          <a:bodyPr wrap="square" lIns="0" rIns="0" tIns="0" bIns="0" anchor="ctr">
            <a:noAutofit/>
          </a:bodyPr>
          <a:lstStyle/>
          <a:p>
            <a:r>
              <a:rPr sz="3200" b="1" i="0">
                <a:solidFill>
                  <a:srgbClr val="00943A"/>
                </a:solidFill>
                <a:latin typeface="Arial"/>
              </a:rPr>
              <a:t>Theoretical Framework of IndepenSense</a:t>
            </a:r>
          </a:p>
        </p:txBody>
      </p:sp>
      <p:sp>
        <p:nvSpPr>
          <p:cNvPr id="4" name="Slide number"/>
          <p:cNvSpPr txBox="1"/>
          <p:nvPr/>
        </p:nvSpPr>
        <p:spPr>
          <a:xfrm>
            <a:off x="1280160" y="6327648"/>
            <a:ext cx="2286000" cy="274320"/>
          </a:xfrm>
          <a:prstGeom prst="rect">
            <a:avLst/>
          </a:prstGeom>
          <a:noFill/>
        </p:spPr>
        <p:txBody>
          <a:bodyPr wrap="square" lIns="0" rIns="0" tIns="0" bIns="0" anchor="t">
            <a:noAutofit/>
          </a:bodyPr>
          <a:lstStyle/>
          <a:p>
            <a:r>
              <a:rPr sz="1000" b="0" i="0">
                <a:solidFill>
                  <a:srgbClr val="6B6B6B"/>
                </a:solidFill>
                <a:latin typeface="Arial"/>
              </a:rPr>
              <a:t>IndepenSense · B1</a:t>
            </a:r>
          </a:p>
        </p:txBody>
      </p:sp>
      <p:pic>
        <p:nvPicPr>
          <p:cNvPr id="5" name="Figure 1" descr="p18_X106.png"/>
          <p:cNvPicPr>
            <a:picLocks noChangeAspect="1"/>
          </p:cNvPicPr>
          <p:nvPr/>
        </p:nvPicPr>
        <p:blipFill>
          <a:blip r:embed="rId2"/>
          <a:stretch>
            <a:fillRect/>
          </a:stretch>
        </p:blipFill>
        <p:spPr>
          <a:xfrm>
            <a:off x="10185143" y="1371600"/>
            <a:ext cx="1564896" cy="4325112"/>
          </a:xfrm>
          <a:prstGeom prst="rect">
            <a:avLst/>
          </a:prstGeom>
          <a:ln w="9525">
            <a:solidFill>
              <a:srgbClr val="D9D9D9"/>
            </a:solidFill>
          </a:ln>
        </p:spPr>
      </p:pic>
      <p:sp>
        <p:nvSpPr>
          <p:cNvPr id="6" name="Figure 1 caption"/>
          <p:cNvSpPr txBox="1"/>
          <p:nvPr/>
        </p:nvSpPr>
        <p:spPr>
          <a:xfrm>
            <a:off x="10093703" y="5742431"/>
            <a:ext cx="1747776" cy="274320"/>
          </a:xfrm>
          <a:prstGeom prst="rect">
            <a:avLst/>
          </a:prstGeom>
          <a:noFill/>
        </p:spPr>
        <p:txBody>
          <a:bodyPr wrap="square" lIns="0" rIns="0" tIns="0" bIns="0" anchor="t">
            <a:noAutofit/>
          </a:bodyPr>
          <a:lstStyle/>
          <a:p>
            <a:pPr algn="ctr"/>
            <a:r>
              <a:rPr sz="1000" b="0" i="1">
                <a:solidFill>
                  <a:srgbClr val="6B6B6B"/>
                </a:solidFill>
                <a:latin typeface="Arial"/>
              </a:rPr>
              <a:t>Theoretical framework</a:t>
            </a:r>
          </a:p>
        </p:txBody>
      </p:sp>
      <p:sp>
        <p:nvSpPr>
          <p:cNvPr id="7" name="Field 1 card"/>
          <p:cNvSpPr/>
          <p:nvPr/>
        </p:nvSpPr>
        <p:spPr>
          <a:xfrm>
            <a:off x="1280160" y="1371600"/>
            <a:ext cx="4346052" cy="4617720"/>
          </a:xfrm>
          <a:prstGeom prst="roundRect">
            <a:avLst>
              <a:gd name="adj" fmla="val 3787"/>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Field 1 text"/>
          <p:cNvSpPr txBox="1"/>
          <p:nvPr/>
        </p:nvSpPr>
        <p:spPr>
          <a:xfrm>
            <a:off x="1463039" y="1554480"/>
            <a:ext cx="3980292" cy="4251959"/>
          </a:xfrm>
          <a:prstGeom prst="rect">
            <a:avLst/>
          </a:prstGeom>
          <a:noFill/>
        </p:spPr>
        <p:txBody>
          <a:bodyPr wrap="square" lIns="0" rIns="0" tIns="0" bIns="0" anchor="t">
            <a:noAutofit/>
          </a:bodyPr>
          <a:lstStyle/>
          <a:p>
            <a:pPr marL="201168" indent="-201168">
              <a:spcAft>
                <a:spcPts val="684"/>
              </a:spcAft>
              <a:buClr>
                <a:srgbClr val="00943A"/>
              </a:buClr>
              <a:buFont typeface="Arial"/>
              <a:buChar char="•"/>
            </a:pPr>
            <a:r>
              <a:rPr sz="1800" b="1" i="0">
                <a:solidFill>
                  <a:srgbClr val="2B2B2B"/>
                </a:solidFill>
                <a:latin typeface="Arial"/>
              </a:rPr>
              <a:t>HAAT Model:</a:t>
            </a:r>
            <a:r>
              <a:rPr sz="1800" b="0" i="0">
                <a:solidFill>
                  <a:srgbClr val="2B2B2B"/>
                </a:solidFill>
                <a:latin typeface="Arial"/>
              </a:rPr>
              <a:t> </a:t>
            </a:r>
            <a:r>
              <a:rPr sz="1800" b="1" i="0">
                <a:solidFill>
                  <a:srgbClr val="2B2B2B"/>
                </a:solidFill>
                <a:latin typeface="Arial"/>
              </a:rPr>
              <a:t>Human</a:t>
            </a:r>
            <a:r>
              <a:rPr sz="1800" b="0" i="0">
                <a:solidFill>
                  <a:srgbClr val="2B2B2B"/>
                </a:solidFill>
                <a:latin typeface="Arial"/>
              </a:rPr>
              <a:t> (visually impaired user) · </a:t>
            </a:r>
            <a:r>
              <a:rPr sz="1800" b="1" i="0">
                <a:solidFill>
                  <a:srgbClr val="2B2B2B"/>
                </a:solidFill>
                <a:latin typeface="Arial"/>
              </a:rPr>
              <a:t>Activity</a:t>
            </a:r>
            <a:r>
              <a:rPr sz="1800" b="0" i="0">
                <a:solidFill>
                  <a:srgbClr val="2B2B2B"/>
                </a:solidFill>
                <a:latin typeface="Arial"/>
              </a:rPr>
              <a:t> (independent mobility) · </a:t>
            </a:r>
            <a:r>
              <a:rPr sz="1800" b="1" i="0">
                <a:solidFill>
                  <a:srgbClr val="2B2B2B"/>
                </a:solidFill>
                <a:latin typeface="Arial"/>
              </a:rPr>
              <a:t>Assistive Technology</a:t>
            </a:r>
            <a:r>
              <a:rPr sz="1800" b="0" i="0">
                <a:solidFill>
                  <a:srgbClr val="2B2B2B"/>
                </a:solidFill>
                <a:latin typeface="Arial"/>
              </a:rPr>
              <a:t> (smart cane) · </a:t>
            </a:r>
            <a:r>
              <a:rPr sz="1800" b="1" i="0">
                <a:solidFill>
                  <a:srgbClr val="2B2B2B"/>
                </a:solidFill>
                <a:latin typeface="Arial"/>
              </a:rPr>
              <a:t>Context</a:t>
            </a:r>
            <a:r>
              <a:rPr sz="1800" b="0" i="0">
                <a:solidFill>
                  <a:srgbClr val="2B2B2B"/>
                </a:solidFill>
                <a:latin typeface="Arial"/>
              </a:rPr>
              <a:t> (physical and social, including guardians)</a:t>
            </a:r>
          </a:p>
          <a:p>
            <a:pPr marL="201168" indent="-201168">
              <a:spcAft>
                <a:spcPts val="684"/>
              </a:spcAft>
              <a:buClr>
                <a:srgbClr val="00943A"/>
              </a:buClr>
              <a:buFont typeface="Arial"/>
              <a:buChar char="•"/>
            </a:pPr>
            <a:r>
              <a:rPr sz="1800" b="1" i="0">
                <a:solidFill>
                  <a:srgbClr val="2B2B2B"/>
                </a:solidFill>
                <a:latin typeface="Arial"/>
              </a:rPr>
              <a:t>Multi-Sensor Data Fusion:</a:t>
            </a:r>
            <a:r>
              <a:rPr sz="1800" b="0" i="0">
                <a:solidFill>
                  <a:srgbClr val="2B2B2B"/>
                </a:solidFill>
                <a:latin typeface="Arial"/>
              </a:rPr>
              <a:t> ultrasonic + camera + GPS + IMU are </a:t>
            </a:r>
            <a:r>
              <a:rPr sz="1800" b="1" i="0">
                <a:solidFill>
                  <a:srgbClr val="2B2B2B"/>
                </a:solidFill>
                <a:latin typeface="Arial"/>
              </a:rPr>
              <a:t>complementary</a:t>
            </a:r>
            <a:r>
              <a:rPr sz="1800" b="0" i="0">
                <a:solidFill>
                  <a:srgbClr val="2B2B2B"/>
                </a:solidFill>
                <a:latin typeface="Arial"/>
              </a:rPr>
              <a:t>, each covering another's blind spot</a:t>
            </a:r>
          </a:p>
        </p:txBody>
      </p:sp>
      <p:sp>
        <p:nvSpPr>
          <p:cNvPr id="9" name="Field 2 card"/>
          <p:cNvSpPr/>
          <p:nvPr/>
        </p:nvSpPr>
        <p:spPr>
          <a:xfrm>
            <a:off x="5882244" y="1371600"/>
            <a:ext cx="4046867" cy="4617720"/>
          </a:xfrm>
          <a:prstGeom prst="roundRect">
            <a:avLst>
              <a:gd name="adj" fmla="val 4067"/>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Field 2 text"/>
          <p:cNvSpPr txBox="1"/>
          <p:nvPr/>
        </p:nvSpPr>
        <p:spPr>
          <a:xfrm>
            <a:off x="6065124" y="1554480"/>
            <a:ext cx="3681107" cy="4251959"/>
          </a:xfrm>
          <a:prstGeom prst="rect">
            <a:avLst/>
          </a:prstGeom>
          <a:noFill/>
        </p:spPr>
        <p:txBody>
          <a:bodyPr wrap="square" lIns="0" rIns="0" tIns="0" bIns="0" anchor="t">
            <a:noAutofit/>
          </a:bodyPr>
          <a:lstStyle/>
          <a:p>
            <a:pPr marL="201168" indent="-201168">
              <a:spcAft>
                <a:spcPts val="684"/>
              </a:spcAft>
              <a:buClr>
                <a:srgbClr val="00943A"/>
              </a:buClr>
              <a:buFont typeface="Arial"/>
              <a:buChar char="•"/>
            </a:pPr>
            <a:r>
              <a:rPr sz="1800" b="1" i="0">
                <a:solidFill>
                  <a:srgbClr val="2B2B2B"/>
                </a:solidFill>
                <a:latin typeface="Arial"/>
              </a:rPr>
              <a:t>Edge/Hybrid Computing:</a:t>
            </a:r>
            <a:r>
              <a:rPr sz="1800" b="0" i="0">
                <a:solidFill>
                  <a:srgbClr val="2B2B2B"/>
                </a:solidFill>
                <a:latin typeface="Arial"/>
              </a:rPr>
              <a:t> safety-critical work at the </a:t>
            </a:r>
            <a:r>
              <a:rPr sz="1800" b="1" i="0">
                <a:solidFill>
                  <a:srgbClr val="2B2B2B"/>
                </a:solidFill>
                <a:latin typeface="Arial"/>
              </a:rPr>
              <a:t>edge</a:t>
            </a:r>
            <a:r>
              <a:rPr sz="1800" b="0" i="0">
                <a:solidFill>
                  <a:srgbClr val="2B2B2B"/>
                </a:solidFill>
                <a:latin typeface="Arial"/>
              </a:rPr>
              <a:t>, heavy intelligence in the </a:t>
            </a:r>
            <a:r>
              <a:rPr sz="1800" b="1" i="0">
                <a:solidFill>
                  <a:srgbClr val="2B2B2B"/>
                </a:solidFill>
                <a:latin typeface="Arial"/>
              </a:rPr>
              <a:t>cloud</a:t>
            </a:r>
            <a:r>
              <a:rPr sz="1800" b="0" i="0">
                <a:solidFill>
                  <a:srgbClr val="2B2B2B"/>
                </a:solidFill>
                <a:latin typeface="Arial"/>
              </a:rPr>
              <a:t> when available</a:t>
            </a:r>
          </a:p>
          <a:p>
            <a:pPr marL="201168" indent="-201168">
              <a:spcAft>
                <a:spcPts val="684"/>
              </a:spcAft>
              <a:buClr>
                <a:srgbClr val="00943A"/>
              </a:buClr>
              <a:buFont typeface="Arial"/>
              <a:buChar char="•"/>
            </a:pPr>
            <a:r>
              <a:rPr sz="1800" b="1" i="0">
                <a:solidFill>
                  <a:srgbClr val="2B2B2B"/>
                </a:solidFill>
                <a:latin typeface="Arial"/>
              </a:rPr>
              <a:t>Cognitive Load Theory:</a:t>
            </a:r>
            <a:r>
              <a:rPr sz="1800" b="0" i="0">
                <a:solidFill>
                  <a:srgbClr val="2B2B2B"/>
                </a:solidFill>
                <a:latin typeface="Arial"/>
              </a:rPr>
              <a:t> </a:t>
            </a:r>
            <a:r>
              <a:rPr sz="1800" b="1" i="0">
                <a:solidFill>
                  <a:srgbClr val="2B2B2B"/>
                </a:solidFill>
                <a:latin typeface="Arial"/>
              </a:rPr>
              <a:t>filter and prioritise</a:t>
            </a:r>
            <a:r>
              <a:rPr sz="1800" b="0" i="0">
                <a:solidFill>
                  <a:srgbClr val="2B2B2B"/>
                </a:solidFill>
                <a:latin typeface="Arial"/>
              </a:rPr>
              <a:t>, so only actionable information is delivered</a:t>
            </a:r>
          </a:p>
          <a:p>
            <a:pPr marL="201168" indent="-201168">
              <a:spcAft>
                <a:spcPts val="684"/>
              </a:spcAft>
              <a:buClr>
                <a:srgbClr val="00943A"/>
              </a:buClr>
              <a:buFont typeface="Arial"/>
              <a:buChar char="•"/>
            </a:pPr>
            <a:r>
              <a:rPr sz="1800" b="1" i="0">
                <a:solidFill>
                  <a:srgbClr val="2B2B2B"/>
                </a:solidFill>
                <a:latin typeface="Arial"/>
              </a:rPr>
              <a:t>Multimodal Interaction:</a:t>
            </a:r>
            <a:r>
              <a:rPr sz="1800" b="0" i="0">
                <a:solidFill>
                  <a:srgbClr val="2B2B2B"/>
                </a:solidFill>
                <a:latin typeface="Arial"/>
              </a:rPr>
              <a:t> </a:t>
            </a:r>
            <a:r>
              <a:rPr sz="1800" b="1" i="0">
                <a:solidFill>
                  <a:srgbClr val="2B2B2B"/>
                </a:solidFill>
                <a:latin typeface="Arial"/>
              </a:rPr>
              <a:t>haptic for urgency</a:t>
            </a:r>
            <a:r>
              <a:rPr sz="1800" b="0" i="0">
                <a:solidFill>
                  <a:srgbClr val="2B2B2B"/>
                </a:solidFill>
                <a:latin typeface="Arial"/>
              </a:rPr>
              <a:t>, </a:t>
            </a:r>
            <a:r>
              <a:rPr sz="1800" b="1" i="0">
                <a:solidFill>
                  <a:srgbClr val="2B2B2B"/>
                </a:solidFill>
                <a:latin typeface="Arial"/>
              </a:rPr>
              <a:t>audio for description</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tion kicker"/>
          <p:cNvSpPr txBox="1"/>
          <p:nvPr/>
        </p:nvSpPr>
        <p:spPr>
          <a:xfrm>
            <a:off x="1280160" y="292608"/>
            <a:ext cx="8686800" cy="256032"/>
          </a:xfrm>
          <a:prstGeom prst="rect">
            <a:avLst/>
          </a:prstGeom>
          <a:noFill/>
        </p:spPr>
        <p:txBody>
          <a:bodyPr wrap="square" lIns="0" rIns="0" tIns="0" bIns="0" anchor="t">
            <a:noAutofit/>
          </a:bodyPr>
          <a:lstStyle/>
          <a:p>
            <a:r>
              <a:rPr sz="1100" b="1" i="0">
                <a:solidFill>
                  <a:srgbClr val="6B6B6B"/>
                </a:solidFill>
                <a:latin typeface="Arial"/>
              </a:rPr>
              <a:t>BACKUP</a:t>
            </a:r>
          </a:p>
        </p:txBody>
      </p:sp>
      <p:sp>
        <p:nvSpPr>
          <p:cNvPr id="3" name="Title"/>
          <p:cNvSpPr txBox="1"/>
          <p:nvPr/>
        </p:nvSpPr>
        <p:spPr>
          <a:xfrm>
            <a:off x="1280160" y="502920"/>
            <a:ext cx="10469880" cy="731520"/>
          </a:xfrm>
          <a:prstGeom prst="rect">
            <a:avLst/>
          </a:prstGeom>
          <a:noFill/>
        </p:spPr>
        <p:txBody>
          <a:bodyPr wrap="square" lIns="0" rIns="0" tIns="0" bIns="0" anchor="ctr">
            <a:noAutofit/>
          </a:bodyPr>
          <a:lstStyle/>
          <a:p>
            <a:r>
              <a:rPr sz="3200" b="1" i="0">
                <a:solidFill>
                  <a:srgbClr val="00943A"/>
                </a:solidFill>
                <a:latin typeface="Arial"/>
              </a:rPr>
              <a:t>Voice Intent Classification Performance</a:t>
            </a:r>
          </a:p>
        </p:txBody>
      </p:sp>
      <p:sp>
        <p:nvSpPr>
          <p:cNvPr id="4" name="Slide number"/>
          <p:cNvSpPr txBox="1"/>
          <p:nvPr/>
        </p:nvSpPr>
        <p:spPr>
          <a:xfrm>
            <a:off x="1280160" y="6327648"/>
            <a:ext cx="2286000" cy="274320"/>
          </a:xfrm>
          <a:prstGeom prst="rect">
            <a:avLst/>
          </a:prstGeom>
          <a:noFill/>
        </p:spPr>
        <p:txBody>
          <a:bodyPr wrap="square" lIns="0" rIns="0" tIns="0" bIns="0" anchor="t">
            <a:noAutofit/>
          </a:bodyPr>
          <a:lstStyle/>
          <a:p>
            <a:r>
              <a:rPr sz="1000" b="0" i="0">
                <a:solidFill>
                  <a:srgbClr val="6B6B6B"/>
                </a:solidFill>
                <a:latin typeface="Arial"/>
              </a:rPr>
              <a:t>IndepenSense · B2</a:t>
            </a:r>
          </a:p>
        </p:txBody>
      </p:sp>
      <p:sp>
        <p:nvSpPr>
          <p:cNvPr id="5" name="Field 1 card"/>
          <p:cNvSpPr/>
          <p:nvPr/>
        </p:nvSpPr>
        <p:spPr>
          <a:xfrm>
            <a:off x="1280160" y="1371600"/>
            <a:ext cx="4234312" cy="4617720"/>
          </a:xfrm>
          <a:prstGeom prst="roundRect">
            <a:avLst>
              <a:gd name="adj" fmla="val 3887"/>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ield 1 text"/>
          <p:cNvSpPr txBox="1"/>
          <p:nvPr/>
        </p:nvSpPr>
        <p:spPr>
          <a:xfrm>
            <a:off x="1463039" y="1554480"/>
            <a:ext cx="3868552" cy="4251959"/>
          </a:xfrm>
          <a:prstGeom prst="rect">
            <a:avLst/>
          </a:prstGeom>
          <a:noFill/>
        </p:spPr>
        <p:txBody>
          <a:bodyPr wrap="square" lIns="0" rIns="0" tIns="0" bIns="0" anchor="t">
            <a:noAutofit/>
          </a:bodyPr>
          <a:lstStyle/>
          <a:p>
            <a:pPr marL="201168" indent="-201168">
              <a:spcAft>
                <a:spcPts val="646"/>
              </a:spcAft>
              <a:buClr>
                <a:srgbClr val="00943A"/>
              </a:buClr>
              <a:buFont typeface="Arial"/>
              <a:buChar char="•"/>
            </a:pPr>
            <a:r>
              <a:rPr sz="1700" b="1" i="0">
                <a:solidFill>
                  <a:srgbClr val="2B2B2B"/>
                </a:solidFill>
                <a:latin typeface="Arial"/>
              </a:rPr>
              <a:t>Three-stage parser</a:t>
            </a:r>
            <a:r>
              <a:rPr sz="1700" b="0" i="0">
                <a:solidFill>
                  <a:srgbClr val="2B2B2B"/>
                </a:solidFill>
                <a:latin typeface="Arial"/>
              </a:rPr>
              <a:t>: </a:t>
            </a:r>
            <a:r>
              <a:rPr sz="1700" b="1" i="0">
                <a:solidFill>
                  <a:srgbClr val="2B2B2B"/>
                </a:solidFill>
                <a:latin typeface="Arial"/>
              </a:rPr>
              <a:t>embedding fast path → Mistral (cloud) → Qwen 3 1.7B (local)</a:t>
            </a:r>
          </a:p>
          <a:p>
            <a:pPr marL="201168" indent="-201168">
              <a:spcAft>
                <a:spcPts val="646"/>
              </a:spcAft>
              <a:buClr>
                <a:srgbClr val="00943A"/>
              </a:buClr>
              <a:buFont typeface="Arial"/>
              <a:buChar char="•"/>
            </a:pPr>
            <a:r>
              <a:rPr sz="1700" b="1" i="0">
                <a:solidFill>
                  <a:srgbClr val="2B2B2B"/>
                </a:solidFill>
                <a:latin typeface="Arial"/>
              </a:rPr>
              <a:t>Fast path:</a:t>
            </a:r>
            <a:r>
              <a:rPr sz="1700" b="0" i="0">
                <a:solidFill>
                  <a:srgbClr val="2B2B2B"/>
                </a:solidFill>
                <a:latin typeface="Arial"/>
              </a:rPr>
              <a:t> answers </a:t>
            </a:r>
            <a:r>
              <a:rPr sz="1700" b="1" i="0">
                <a:solidFill>
                  <a:srgbClr val="2B2B2B"/>
                </a:solidFill>
                <a:latin typeface="Arial"/>
              </a:rPr>
              <a:t>~52%</a:t>
            </a:r>
            <a:r>
              <a:rPr sz="1700" b="0" i="0">
                <a:solidFill>
                  <a:srgbClr val="2B2B2B"/>
                </a:solidFill>
                <a:latin typeface="Arial"/>
              </a:rPr>
              <a:t> of utterances in </a:t>
            </a:r>
            <a:r>
              <a:rPr sz="1700" b="1" i="0">
                <a:solidFill>
                  <a:srgbClr val="2B2B2B"/>
                </a:solidFill>
                <a:latin typeface="Arial"/>
              </a:rPr>
              <a:t>~30 ms</a:t>
            </a:r>
            <a:r>
              <a:rPr sz="1700" b="0" i="0">
                <a:solidFill>
                  <a:srgbClr val="2B2B2B"/>
                </a:solidFill>
                <a:latin typeface="Arial"/>
              </a:rPr>
              <a:t>, on device, for </a:t>
            </a:r>
            <a:r>
              <a:rPr sz="1700" b="1" i="0">
                <a:solidFill>
                  <a:srgbClr val="2B2B2B"/>
                </a:solidFill>
                <a:latin typeface="Arial"/>
              </a:rPr>
              <a:t>closed intents only</a:t>
            </a:r>
          </a:p>
          <a:p>
            <a:pPr marL="201168" indent="-201168">
              <a:spcAft>
                <a:spcPts val="646"/>
              </a:spcAft>
              <a:buClr>
                <a:srgbClr val="00943A"/>
              </a:buClr>
              <a:buFont typeface="Arial"/>
              <a:buChar char="•"/>
            </a:pPr>
            <a:r>
              <a:rPr sz="1700" b="1" i="0">
                <a:solidFill>
                  <a:srgbClr val="2B2B2B"/>
                </a:solidFill>
                <a:latin typeface="Arial"/>
              </a:rPr>
              <a:t>Benchmark:</a:t>
            </a:r>
            <a:r>
              <a:rPr sz="1700" b="0" i="0">
                <a:solidFill>
                  <a:srgbClr val="2B2B2B"/>
                </a:solidFill>
                <a:latin typeface="Arial"/>
              </a:rPr>
              <a:t> </a:t>
            </a:r>
            <a:r>
              <a:rPr sz="1700" b="1" i="0">
                <a:solidFill>
                  <a:srgbClr val="2B2B2B"/>
                </a:solidFill>
                <a:latin typeface="Arial"/>
              </a:rPr>
              <a:t>226 test utterances</a:t>
            </a:r>
            <a:r>
              <a:rPr sz="1700" b="0" i="0">
                <a:solidFill>
                  <a:srgbClr val="2B2B2B"/>
                </a:solidFill>
                <a:latin typeface="Arial"/>
              </a:rPr>
              <a:t> across </a:t>
            </a:r>
            <a:r>
              <a:rPr sz="1700" b="1" i="0">
                <a:solidFill>
                  <a:srgbClr val="2B2B2B"/>
                </a:solidFill>
                <a:latin typeface="Arial"/>
              </a:rPr>
              <a:t>English, Tagalog and adversarial</a:t>
            </a:r>
            <a:r>
              <a:rPr sz="1700" b="0" i="0">
                <a:solidFill>
                  <a:srgbClr val="2B2B2B"/>
                </a:solidFill>
                <a:latin typeface="Arial"/>
              </a:rPr>
              <a:t> groups</a:t>
            </a:r>
          </a:p>
          <a:p>
            <a:pPr marL="201168" indent="-201168">
              <a:spcAft>
                <a:spcPts val="646"/>
              </a:spcAft>
              <a:buClr>
                <a:srgbClr val="00943A"/>
              </a:buClr>
              <a:buFont typeface="Arial"/>
              <a:buChar char="•"/>
            </a:pPr>
            <a:r>
              <a:rPr sz="1700" b="1" i="0">
                <a:solidFill>
                  <a:srgbClr val="2B2B2B"/>
                </a:solidFill>
                <a:latin typeface="Arial"/>
              </a:rPr>
              <a:t>Cloud 98.7%</a:t>
            </a:r>
            <a:r>
              <a:rPr sz="1700" b="0" i="0">
                <a:solidFill>
                  <a:srgbClr val="2B2B2B"/>
                </a:solidFill>
                <a:latin typeface="Arial"/>
              </a:rPr>
              <a:t> vs </a:t>
            </a:r>
            <a:r>
              <a:rPr sz="1700" b="1" i="0">
                <a:solidFill>
                  <a:srgbClr val="2B2B2B"/>
                </a:solidFill>
                <a:latin typeface="Arial"/>
              </a:rPr>
              <a:t>local 82.3%</a:t>
            </a:r>
          </a:p>
          <a:p>
            <a:pPr marL="201168" indent="-201168">
              <a:spcAft>
                <a:spcPts val="646"/>
              </a:spcAft>
              <a:buClr>
                <a:srgbClr val="00943A"/>
              </a:buClr>
              <a:buFont typeface="Arial"/>
              <a:buChar char="•"/>
            </a:pPr>
            <a:r>
              <a:rPr sz="1700" b="1" i="0">
                <a:solidFill>
                  <a:srgbClr val="2B2B2B"/>
                </a:solidFill>
                <a:latin typeface="Arial"/>
              </a:rPr>
              <a:t>Adversarial group: 66.7% → 100%</a:t>
            </a:r>
          </a:p>
        </p:txBody>
      </p:sp>
      <p:sp>
        <p:nvSpPr>
          <p:cNvPr id="7" name="Field 2 card"/>
          <p:cNvSpPr/>
          <p:nvPr/>
        </p:nvSpPr>
        <p:spPr>
          <a:xfrm>
            <a:off x="5770504" y="1371600"/>
            <a:ext cx="5979535" cy="4617720"/>
          </a:xfrm>
          <a:prstGeom prst="roundRect">
            <a:avLst>
              <a:gd name="adj" fmla="val 3564"/>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Field 2 text"/>
          <p:cNvSpPr txBox="1"/>
          <p:nvPr/>
        </p:nvSpPr>
        <p:spPr>
          <a:xfrm>
            <a:off x="5953384" y="1554480"/>
            <a:ext cx="5613775" cy="4251959"/>
          </a:xfrm>
          <a:prstGeom prst="rect">
            <a:avLst/>
          </a:prstGeom>
          <a:noFill/>
        </p:spPr>
        <p:txBody>
          <a:bodyPr wrap="square" lIns="0" rIns="0" tIns="0" bIns="0" anchor="t">
            <a:noAutofit/>
          </a:bodyPr>
          <a:lstStyle/>
          <a:p>
            <a:pPr marL="201168" indent="-201168">
              <a:spcAft>
                <a:spcPts val="646"/>
              </a:spcAft>
              <a:buClr>
                <a:srgbClr val="00943A"/>
              </a:buClr>
              <a:buFont typeface="Arial"/>
              <a:buChar char="•"/>
            </a:pPr>
            <a:r>
              <a:rPr sz="1700" b="1" i="0">
                <a:solidFill>
                  <a:srgbClr val="2B2B2B"/>
                </a:solidFill>
                <a:latin typeface="Arial"/>
              </a:rPr>
              <a:t>Cloud timeout 2.5 s</a:t>
            </a:r>
            <a:r>
              <a:rPr sz="1700" b="0" i="0">
                <a:solidFill>
                  <a:srgbClr val="2B2B2B"/>
                </a:solidFill>
                <a:latin typeface="Arial"/>
              </a:rPr>
              <a:t>, then local fallback</a:t>
            </a:r>
          </a:p>
          <a:p>
            <a:pPr marL="201168" indent="-201168">
              <a:spcAft>
                <a:spcPts val="646"/>
              </a:spcAft>
              <a:buClr>
                <a:srgbClr val="00943A"/>
              </a:buClr>
              <a:buFont typeface="Arial"/>
              <a:buChar char="•"/>
            </a:pPr>
            <a:r>
              <a:rPr sz="1700" b="0" i="0">
                <a:solidFill>
                  <a:srgbClr val="2B2B2B"/>
                </a:solidFill>
                <a:latin typeface="Arial"/>
              </a:rPr>
              <a:t>The fallback triggers on a </a:t>
            </a:r>
            <a:r>
              <a:rPr sz="1700" b="1" i="0">
                <a:solidFill>
                  <a:srgbClr val="2B2B2B"/>
                </a:solidFill>
                <a:latin typeface="Arial"/>
              </a:rPr>
              <a:t>transport failure only</a:t>
            </a:r>
            <a:r>
              <a:rPr sz="1700" b="0" i="0">
                <a:solidFill>
                  <a:srgbClr val="2B2B2B"/>
                </a:solidFill>
                <a:latin typeface="Arial"/>
              </a:rPr>
              <a:t>, never on a correct "unknown"</a:t>
            </a:r>
          </a:p>
          <a:p>
            <a:pPr marL="201168" indent="-201168">
              <a:spcAft>
                <a:spcPts val="646"/>
              </a:spcAft>
              <a:buClr>
                <a:srgbClr val="00943A"/>
              </a:buClr>
              <a:buFont typeface="Arial"/>
              <a:buChar char="•"/>
            </a:pPr>
            <a:r>
              <a:rPr sz="1700" b="1" i="0">
                <a:solidFill>
                  <a:srgbClr val="2B2B2B"/>
                </a:solidFill>
                <a:latin typeface="Arial"/>
              </a:rPr>
              <a:t>Cautious intents:</a:t>
            </a:r>
            <a:r>
              <a:rPr sz="1700" b="0" i="0">
                <a:solidFill>
                  <a:srgbClr val="2B2B2B"/>
                </a:solidFill>
                <a:latin typeface="Arial"/>
              </a:rPr>
              <a:t> system.shutdown, place.delete, guardian.status_ok, and a </a:t>
            </a:r>
            <a:r>
              <a:rPr sz="1700" b="0" i="1">
                <a:solidFill>
                  <a:srgbClr val="2B2B2B"/>
                </a:solidFill>
                <a:latin typeface="Arial"/>
              </a:rPr>
              <a:t>missed</a:t>
            </a:r>
            <a:r>
              <a:rPr sz="1700" b="0" i="0">
                <a:solidFill>
                  <a:srgbClr val="2B2B2B"/>
                </a:solidFill>
                <a:latin typeface="Arial"/>
              </a:rPr>
              <a:t> emergency.trigger</a:t>
            </a:r>
          </a:p>
          <a:p>
            <a:pPr marL="201168" indent="-201168">
              <a:spcAft>
                <a:spcPts val="646"/>
              </a:spcAft>
              <a:buClr>
                <a:srgbClr val="00943A"/>
              </a:buClr>
              <a:buFont typeface="Arial"/>
              <a:buChar char="•"/>
            </a:pPr>
            <a:r>
              <a:rPr sz="1700" b="1" i="0">
                <a:solidFill>
                  <a:srgbClr val="2B2B2B"/>
                </a:solidFill>
                <a:latin typeface="Arial"/>
              </a:rPr>
              <a:t>Speech-to-text latency:</a:t>
            </a:r>
            <a:r>
              <a:rPr sz="1700" b="0" i="0">
                <a:solidFill>
                  <a:srgbClr val="2B2B2B"/>
                </a:solidFill>
                <a:latin typeface="Arial"/>
              </a:rPr>
              <a:t> English Whisper tiny </a:t>
            </a:r>
            <a:r>
              <a:rPr sz="1700" b="1" i="0">
                <a:solidFill>
                  <a:srgbClr val="2B2B2B"/>
                </a:solidFill>
                <a:latin typeface="Arial"/>
              </a:rPr>
              <a:t>1.13 s</a:t>
            </a:r>
            <a:r>
              <a:rPr sz="1700" b="0" i="0">
                <a:solidFill>
                  <a:srgbClr val="2B2B2B"/>
                </a:solidFill>
                <a:latin typeface="Arial"/>
              </a:rPr>
              <a:t> on device · Tagalog Whisper small </a:t>
            </a:r>
            <a:r>
              <a:rPr sz="1700" b="1" i="0">
                <a:solidFill>
                  <a:srgbClr val="2B2B2B"/>
                </a:solidFill>
                <a:latin typeface="Arial"/>
              </a:rPr>
              <a:t>5.29 s</a:t>
            </a:r>
            <a:r>
              <a:rPr sz="1700" b="0" i="0">
                <a:solidFill>
                  <a:srgbClr val="2B2B2B"/>
                </a:solidFill>
                <a:latin typeface="Arial"/>
              </a:rPr>
              <a:t> locally (RTF </a:t>
            </a:r>
            <a:r>
              <a:rPr sz="1700" b="1" i="0">
                <a:solidFill>
                  <a:srgbClr val="2B2B2B"/>
                </a:solidFill>
                <a:latin typeface="Arial"/>
              </a:rPr>
              <a:t>2.23×</a:t>
            </a:r>
            <a:r>
              <a:rPr sz="1700" b="0" i="0">
                <a:solidFill>
                  <a:srgbClr val="2B2B2B"/>
                </a:solidFill>
                <a:latin typeface="Arial"/>
              </a:rPr>
              <a:t>) → cloud</a:t>
            </a:r>
          </a:p>
          <a:p>
            <a:pPr marL="201168" indent="-201168">
              <a:spcAft>
                <a:spcPts val="646"/>
              </a:spcAft>
              <a:buClr>
                <a:srgbClr val="00943A"/>
              </a:buClr>
              <a:buFont typeface="Arial"/>
              <a:buChar char="•"/>
            </a:pPr>
            <a:r>
              <a:rPr sz="1700" b="0" i="1">
                <a:solidFill>
                  <a:srgbClr val="2B2B2B"/>
                </a:solidFill>
                <a:latin typeface="Arial"/>
              </a:rPr>
              <a:t>Source: llm_probe / latency_bench, measured on the Pi; not yet in the manuscript</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tion kicker"/>
          <p:cNvSpPr txBox="1"/>
          <p:nvPr/>
        </p:nvSpPr>
        <p:spPr>
          <a:xfrm>
            <a:off x="1280160" y="292608"/>
            <a:ext cx="8686800" cy="256032"/>
          </a:xfrm>
          <a:prstGeom prst="rect">
            <a:avLst/>
          </a:prstGeom>
          <a:noFill/>
        </p:spPr>
        <p:txBody>
          <a:bodyPr wrap="square" lIns="0" rIns="0" tIns="0" bIns="0" anchor="t">
            <a:noAutofit/>
          </a:bodyPr>
          <a:lstStyle/>
          <a:p>
            <a:r>
              <a:rPr sz="1100" b="1" i="0">
                <a:solidFill>
                  <a:srgbClr val="6B6B6B"/>
                </a:solidFill>
                <a:latin typeface="Arial"/>
              </a:rPr>
              <a:t>BACKUP</a:t>
            </a:r>
          </a:p>
        </p:txBody>
      </p:sp>
      <p:sp>
        <p:nvSpPr>
          <p:cNvPr id="3" name="Title"/>
          <p:cNvSpPr txBox="1"/>
          <p:nvPr/>
        </p:nvSpPr>
        <p:spPr>
          <a:xfrm>
            <a:off x="1280160" y="502920"/>
            <a:ext cx="10469880" cy="731520"/>
          </a:xfrm>
          <a:prstGeom prst="rect">
            <a:avLst/>
          </a:prstGeom>
          <a:noFill/>
        </p:spPr>
        <p:txBody>
          <a:bodyPr wrap="square" lIns="0" rIns="0" tIns="0" bIns="0" anchor="ctr">
            <a:noAutofit/>
          </a:bodyPr>
          <a:lstStyle/>
          <a:p>
            <a:r>
              <a:rPr sz="3200" b="1" i="0">
                <a:solidFill>
                  <a:srgbClr val="00943A"/>
                </a:solidFill>
                <a:latin typeface="Arial"/>
              </a:rPr>
              <a:t>Offline Behaviour and Graceful Degradation</a:t>
            </a:r>
          </a:p>
        </p:txBody>
      </p:sp>
      <p:sp>
        <p:nvSpPr>
          <p:cNvPr id="4" name="Slide number"/>
          <p:cNvSpPr txBox="1"/>
          <p:nvPr/>
        </p:nvSpPr>
        <p:spPr>
          <a:xfrm>
            <a:off x="1280160" y="6327648"/>
            <a:ext cx="2286000" cy="274320"/>
          </a:xfrm>
          <a:prstGeom prst="rect">
            <a:avLst/>
          </a:prstGeom>
          <a:noFill/>
        </p:spPr>
        <p:txBody>
          <a:bodyPr wrap="square" lIns="0" rIns="0" tIns="0" bIns="0" anchor="t">
            <a:noAutofit/>
          </a:bodyPr>
          <a:lstStyle/>
          <a:p>
            <a:r>
              <a:rPr sz="1000" b="0" i="0">
                <a:solidFill>
                  <a:srgbClr val="6B6B6B"/>
                </a:solidFill>
                <a:latin typeface="Arial"/>
              </a:rPr>
              <a:t>IndepenSense · B3</a:t>
            </a:r>
          </a:p>
        </p:txBody>
      </p:sp>
      <p:graphicFrame>
        <p:nvGraphicFramePr>
          <p:cNvPr id="5" name="Results table"/>
          <p:cNvGraphicFramePr>
            <a:graphicFrameLocks noGrp="1"/>
          </p:cNvGraphicFramePr>
          <p:nvPr/>
        </p:nvGraphicFramePr>
        <p:xfrm>
          <a:off x="1280160" y="1371600"/>
          <a:ext cx="6922006" cy="4194048"/>
        </p:xfrm>
        <a:graphic>
          <a:graphicData uri="http://schemas.openxmlformats.org/drawingml/2006/table">
            <a:tbl>
              <a:tblPr firstRow="0" bandRow="0">
                <a:tableStyleId>{5C22544A-7EE6-4342-B048-85BDC9FD1C3A}</a:tableStyleId>
              </a:tblPr>
              <a:tblGrid>
                <a:gridCol w="2517093"/>
                <a:gridCol w="988858"/>
                <a:gridCol w="3416055"/>
              </a:tblGrid>
              <a:tr h="323088">
                <a:tc>
                  <a:txBody>
                    <a:bodyPr wrap="square"/>
                    <a:lstStyle/>
                    <a:p>
                      <a:r>
                        <a:rPr sz="1400" b="1" i="0">
                          <a:solidFill>
                            <a:srgbClr val="FFFFFF"/>
                          </a:solidFill>
                          <a:latin typeface="Arial"/>
                        </a:rPr>
                        <a:t>Function</a:t>
                      </a:r>
                    </a:p>
                  </a:txBody>
                  <a:tcPr marL="73152" marR="73152" marT="45720" marB="45720" anchor="ctr">
                    <a:solidFill>
                      <a:srgbClr val="00943A"/>
                    </a:solidFill>
                  </a:tcPr>
                </a:tc>
                <a:tc>
                  <a:txBody>
                    <a:bodyPr wrap="square"/>
                    <a:lstStyle/>
                    <a:p>
                      <a:r>
                        <a:rPr sz="1400" b="1" i="0">
                          <a:solidFill>
                            <a:srgbClr val="FFFFFF"/>
                          </a:solidFill>
                          <a:latin typeface="Arial"/>
                        </a:rPr>
                        <a:t>Online</a:t>
                      </a:r>
                    </a:p>
                  </a:txBody>
                  <a:tcPr marL="73152" marR="73152" marT="45720" marB="45720" anchor="ctr">
                    <a:solidFill>
                      <a:srgbClr val="00943A"/>
                    </a:solidFill>
                  </a:tcPr>
                </a:tc>
                <a:tc>
                  <a:txBody>
                    <a:bodyPr wrap="square"/>
                    <a:lstStyle/>
                    <a:p>
                      <a:r>
                        <a:rPr sz="1400" b="1" i="0">
                          <a:solidFill>
                            <a:srgbClr val="FFFFFF"/>
                          </a:solidFill>
                          <a:latin typeface="Arial"/>
                        </a:rPr>
                        <a:t>Offline</a:t>
                      </a:r>
                    </a:p>
                  </a:txBody>
                  <a:tcPr marL="73152" marR="73152" marT="45720" marB="45720" anchor="ctr">
                    <a:solidFill>
                      <a:srgbClr val="00943A"/>
                    </a:solidFill>
                  </a:tcPr>
                </a:tc>
              </a:tr>
              <a:tr h="323088">
                <a:tc>
                  <a:txBody>
                    <a:bodyPr wrap="square"/>
                    <a:lstStyle/>
                    <a:p>
                      <a:r>
                        <a:rPr sz="1400" b="0" i="0">
                          <a:solidFill>
                            <a:srgbClr val="2B2B2B"/>
                          </a:solidFill>
                          <a:latin typeface="Arial"/>
                        </a:rPr>
                        <a:t>Obstacle warnings</a:t>
                      </a:r>
                    </a:p>
                  </a:txBody>
                  <a:tcPr marL="73152" marR="73152" marT="45720" marB="45720" anchor="ctr">
                    <a:solidFill>
                      <a:srgbClr val="FFFFFF"/>
                    </a:solidFill>
                  </a:tcPr>
                </a:tc>
                <a:tc>
                  <a:txBody>
                    <a:bodyPr wrap="square"/>
                    <a:lstStyle/>
                    <a:p>
                      <a:r>
                        <a:rPr sz="1400" b="0" i="0">
                          <a:solidFill>
                            <a:srgbClr val="006B2A"/>
                          </a:solidFill>
                          <a:latin typeface="Arial"/>
                        </a:rPr>
                        <a:t>✔</a:t>
                      </a:r>
                    </a:p>
                  </a:txBody>
                  <a:tcPr marL="73152" marR="73152" marT="45720" marB="45720" anchor="ctr">
                    <a:solidFill>
                      <a:srgbClr val="E6F4EA"/>
                    </a:solidFill>
                  </a:tcPr>
                </a:tc>
                <a:tc>
                  <a:txBody>
                    <a:bodyPr wrap="square"/>
                    <a:lstStyle/>
                    <a:p>
                      <a:r>
                        <a:rPr sz="1400" b="1" i="0">
                          <a:solidFill>
                            <a:srgbClr val="006B2A"/>
                          </a:solidFill>
                          <a:latin typeface="Arial"/>
                        </a:rPr>
                        <a:t>✔</a:t>
                      </a:r>
                    </a:p>
                  </a:txBody>
                  <a:tcPr marL="73152" marR="73152" marT="45720" marB="45720" anchor="ctr">
                    <a:solidFill>
                      <a:srgbClr val="E6F4EA"/>
                    </a:solidFill>
                  </a:tcPr>
                </a:tc>
              </a:tr>
              <a:tr h="536448">
                <a:tc>
                  <a:txBody>
                    <a:bodyPr wrap="square"/>
                    <a:lstStyle/>
                    <a:p>
                      <a:r>
                        <a:rPr sz="1400" b="0" i="0">
                          <a:solidFill>
                            <a:srgbClr val="2B2B2B"/>
                          </a:solidFill>
                          <a:latin typeface="Arial"/>
                        </a:rPr>
                        <a:t>Fall detection + local alarm</a:t>
                      </a:r>
                    </a:p>
                  </a:txBody>
                  <a:tcPr marL="73152" marR="73152" marT="45720" marB="45720" anchor="ctr">
                    <a:solidFill>
                      <a:srgbClr val="F6F8F6"/>
                    </a:solidFill>
                  </a:tcPr>
                </a:tc>
                <a:tc>
                  <a:txBody>
                    <a:bodyPr wrap="square"/>
                    <a:lstStyle/>
                    <a:p>
                      <a:r>
                        <a:rPr sz="1400" b="0" i="0">
                          <a:solidFill>
                            <a:srgbClr val="006B2A"/>
                          </a:solidFill>
                          <a:latin typeface="Arial"/>
                        </a:rPr>
                        <a:t>✔</a:t>
                      </a:r>
                    </a:p>
                  </a:txBody>
                  <a:tcPr marL="73152" marR="73152" marT="45720" marB="45720" anchor="ctr">
                    <a:solidFill>
                      <a:srgbClr val="E6F4EA"/>
                    </a:solidFill>
                  </a:tcPr>
                </a:tc>
                <a:tc>
                  <a:txBody>
                    <a:bodyPr wrap="square"/>
                    <a:lstStyle/>
                    <a:p>
                      <a:r>
                        <a:rPr sz="1400" b="1" i="0">
                          <a:solidFill>
                            <a:srgbClr val="006B2A"/>
                          </a:solidFill>
                          <a:latin typeface="Arial"/>
                        </a:rPr>
                        <a:t>✔</a:t>
                      </a:r>
                    </a:p>
                  </a:txBody>
                  <a:tcPr marL="73152" marR="73152" marT="45720" marB="45720" anchor="ctr">
                    <a:solidFill>
                      <a:srgbClr val="E6F4EA"/>
                    </a:solidFill>
                  </a:tcPr>
                </a:tc>
              </a:tr>
              <a:tr h="323088">
                <a:tc>
                  <a:txBody>
                    <a:bodyPr wrap="square"/>
                    <a:lstStyle/>
                    <a:p>
                      <a:r>
                        <a:rPr sz="1400" b="0" i="0">
                          <a:solidFill>
                            <a:srgbClr val="2B2B2B"/>
                          </a:solidFill>
                          <a:latin typeface="Arial"/>
                        </a:rPr>
                        <a:t>SOS buzzer + motors</a:t>
                      </a:r>
                    </a:p>
                  </a:txBody>
                  <a:tcPr marL="73152" marR="73152" marT="45720" marB="45720" anchor="ctr">
                    <a:solidFill>
                      <a:srgbClr val="FFFFFF"/>
                    </a:solidFill>
                  </a:tcPr>
                </a:tc>
                <a:tc>
                  <a:txBody>
                    <a:bodyPr wrap="square"/>
                    <a:lstStyle/>
                    <a:p>
                      <a:r>
                        <a:rPr sz="1400" b="0" i="0">
                          <a:solidFill>
                            <a:srgbClr val="006B2A"/>
                          </a:solidFill>
                          <a:latin typeface="Arial"/>
                        </a:rPr>
                        <a:t>✔</a:t>
                      </a:r>
                    </a:p>
                  </a:txBody>
                  <a:tcPr marL="73152" marR="73152" marT="45720" marB="45720" anchor="ctr">
                    <a:solidFill>
                      <a:srgbClr val="E6F4EA"/>
                    </a:solidFill>
                  </a:tcPr>
                </a:tc>
                <a:tc>
                  <a:txBody>
                    <a:bodyPr wrap="square"/>
                    <a:lstStyle/>
                    <a:p>
                      <a:r>
                        <a:rPr sz="1400" b="1" i="0">
                          <a:solidFill>
                            <a:srgbClr val="006B2A"/>
                          </a:solidFill>
                          <a:latin typeface="Arial"/>
                        </a:rPr>
                        <a:t>✔</a:t>
                      </a:r>
                    </a:p>
                  </a:txBody>
                  <a:tcPr marL="73152" marR="73152" marT="45720" marB="45720" anchor="ctr">
                    <a:solidFill>
                      <a:srgbClr val="E6F4EA"/>
                    </a:solidFill>
                  </a:tcPr>
                </a:tc>
              </a:tr>
              <a:tr h="323088">
                <a:tc>
                  <a:txBody>
                    <a:bodyPr wrap="square"/>
                    <a:lstStyle/>
                    <a:p>
                      <a:r>
                        <a:rPr sz="1400" b="0" i="0">
                          <a:solidFill>
                            <a:srgbClr val="2B2B2B"/>
                          </a:solidFill>
                          <a:latin typeface="Arial"/>
                        </a:rPr>
                        <a:t>Emergency SMS</a:t>
                      </a:r>
                    </a:p>
                  </a:txBody>
                  <a:tcPr marL="73152" marR="73152" marT="45720" marB="45720" anchor="ctr">
                    <a:solidFill>
                      <a:srgbClr val="F6F8F6"/>
                    </a:solidFill>
                  </a:tcPr>
                </a:tc>
                <a:tc>
                  <a:txBody>
                    <a:bodyPr wrap="square"/>
                    <a:lstStyle/>
                    <a:p>
                      <a:r>
                        <a:rPr sz="1400" b="0" i="0">
                          <a:solidFill>
                            <a:srgbClr val="006B2A"/>
                          </a:solidFill>
                          <a:latin typeface="Arial"/>
                        </a:rPr>
                        <a:t>✔</a:t>
                      </a:r>
                    </a:p>
                  </a:txBody>
                  <a:tcPr marL="73152" marR="73152" marT="45720" marB="45720" anchor="ctr">
                    <a:solidFill>
                      <a:srgbClr val="E6F4EA"/>
                    </a:solidFill>
                  </a:tcPr>
                </a:tc>
                <a:tc>
                  <a:txBody>
                    <a:bodyPr wrap="square"/>
                    <a:lstStyle/>
                    <a:p>
                      <a:r>
                        <a:rPr sz="1400" b="1" i="0">
                          <a:solidFill>
                            <a:srgbClr val="2B2B2B"/>
                          </a:solidFill>
                          <a:latin typeface="Arial"/>
                        </a:rPr>
                        <a:t>✔</a:t>
                      </a:r>
                      <a:r>
                        <a:rPr sz="1400" b="0" i="0">
                          <a:solidFill>
                            <a:srgbClr val="2B2B2B"/>
                          </a:solidFill>
                          <a:latin typeface="Arial"/>
                        </a:rPr>
                        <a:t> (needs cell signal, not data)</a:t>
                      </a:r>
                    </a:p>
                  </a:txBody>
                  <a:tcPr marL="73152" marR="73152" marT="45720" marB="45720" anchor="ctr">
                    <a:solidFill>
                      <a:srgbClr val="F6F8F6"/>
                    </a:solidFill>
                  </a:tcPr>
                </a:tc>
              </a:tr>
              <a:tr h="323088">
                <a:tc>
                  <a:txBody>
                    <a:bodyPr wrap="square"/>
                    <a:lstStyle/>
                    <a:p>
                      <a:r>
                        <a:rPr sz="1400" b="0" i="0">
                          <a:solidFill>
                            <a:srgbClr val="2B2B2B"/>
                          </a:solidFill>
                          <a:latin typeface="Arial"/>
                        </a:rPr>
                        <a:t>Routing + geocoding</a:t>
                      </a:r>
                    </a:p>
                  </a:txBody>
                  <a:tcPr marL="73152" marR="73152" marT="45720" marB="45720" anchor="ctr">
                    <a:solidFill>
                      <a:srgbClr val="FFFFFF"/>
                    </a:solidFill>
                  </a:tcPr>
                </a:tc>
                <a:tc>
                  <a:txBody>
                    <a:bodyPr wrap="square"/>
                    <a:lstStyle/>
                    <a:p>
                      <a:r>
                        <a:rPr sz="1400" b="0" i="0">
                          <a:solidFill>
                            <a:srgbClr val="006B2A"/>
                          </a:solidFill>
                          <a:latin typeface="Arial"/>
                        </a:rPr>
                        <a:t>✔</a:t>
                      </a:r>
                    </a:p>
                  </a:txBody>
                  <a:tcPr marL="73152" marR="73152" marT="45720" marB="45720" anchor="ctr">
                    <a:solidFill>
                      <a:srgbClr val="E6F4EA"/>
                    </a:solidFill>
                  </a:tcPr>
                </a:tc>
                <a:tc>
                  <a:txBody>
                    <a:bodyPr wrap="square"/>
                    <a:lstStyle/>
                    <a:p>
                      <a:r>
                        <a:rPr sz="1400" b="1" i="0">
                          <a:solidFill>
                            <a:srgbClr val="2B2B2B"/>
                          </a:solidFill>
                          <a:latin typeface="Arial"/>
                        </a:rPr>
                        <a:t>✔</a:t>
                      </a:r>
                      <a:r>
                        <a:rPr sz="1400" b="0" i="0">
                          <a:solidFill>
                            <a:srgbClr val="2B2B2B"/>
                          </a:solidFill>
                          <a:latin typeface="Arial"/>
                        </a:rPr>
                        <a:t> (GraphHopper + Photon on Pi)</a:t>
                      </a:r>
                    </a:p>
                  </a:txBody>
                  <a:tcPr marL="73152" marR="73152" marT="45720" marB="45720" anchor="ctr">
                    <a:solidFill>
                      <a:srgbClr val="FFFFFF"/>
                    </a:solidFill>
                  </a:tcPr>
                </a:tc>
              </a:tr>
              <a:tr h="323088">
                <a:tc>
                  <a:txBody>
                    <a:bodyPr wrap="square"/>
                    <a:lstStyle/>
                    <a:p>
                      <a:r>
                        <a:rPr sz="1400" b="0" i="0">
                          <a:solidFill>
                            <a:srgbClr val="2B2B2B"/>
                          </a:solidFill>
                          <a:latin typeface="Arial"/>
                        </a:rPr>
                        <a:t>English speech in/out</a:t>
                      </a:r>
                    </a:p>
                  </a:txBody>
                  <a:tcPr marL="73152" marR="73152" marT="45720" marB="45720" anchor="ctr">
                    <a:solidFill>
                      <a:srgbClr val="F6F8F6"/>
                    </a:solidFill>
                  </a:tcPr>
                </a:tc>
                <a:tc>
                  <a:txBody>
                    <a:bodyPr wrap="square"/>
                    <a:lstStyle/>
                    <a:p>
                      <a:r>
                        <a:rPr sz="1400" b="0" i="0">
                          <a:solidFill>
                            <a:srgbClr val="006B2A"/>
                          </a:solidFill>
                          <a:latin typeface="Arial"/>
                        </a:rPr>
                        <a:t>✔</a:t>
                      </a:r>
                    </a:p>
                  </a:txBody>
                  <a:tcPr marL="73152" marR="73152" marT="45720" marB="45720" anchor="ctr">
                    <a:solidFill>
                      <a:srgbClr val="E6F4EA"/>
                    </a:solidFill>
                  </a:tcPr>
                </a:tc>
                <a:tc>
                  <a:txBody>
                    <a:bodyPr wrap="square"/>
                    <a:lstStyle/>
                    <a:p>
                      <a:r>
                        <a:rPr sz="1400" b="1" i="0">
                          <a:solidFill>
                            <a:srgbClr val="006B2A"/>
                          </a:solidFill>
                          <a:latin typeface="Arial"/>
                        </a:rPr>
                        <a:t>✔</a:t>
                      </a:r>
                    </a:p>
                  </a:txBody>
                  <a:tcPr marL="73152" marR="73152" marT="45720" marB="45720" anchor="ctr">
                    <a:solidFill>
                      <a:srgbClr val="E6F4EA"/>
                    </a:solidFill>
                  </a:tcPr>
                </a:tc>
              </a:tr>
              <a:tr h="536448">
                <a:tc>
                  <a:txBody>
                    <a:bodyPr wrap="square"/>
                    <a:lstStyle/>
                    <a:p>
                      <a:r>
                        <a:rPr sz="1400" b="0" i="0">
                          <a:solidFill>
                            <a:srgbClr val="2B2B2B"/>
                          </a:solidFill>
                          <a:latin typeface="Arial"/>
                        </a:rPr>
                        <a:t>Tagalog speech</a:t>
                      </a:r>
                    </a:p>
                  </a:txBody>
                  <a:tcPr marL="73152" marR="73152" marT="45720" marB="45720" anchor="ctr">
                    <a:solidFill>
                      <a:srgbClr val="FFFFFF"/>
                    </a:solidFill>
                  </a:tcPr>
                </a:tc>
                <a:tc>
                  <a:txBody>
                    <a:bodyPr wrap="square"/>
                    <a:lstStyle/>
                    <a:p>
                      <a:r>
                        <a:rPr sz="1400" b="0" i="0">
                          <a:solidFill>
                            <a:srgbClr val="2B2B2B"/>
                          </a:solidFill>
                          <a:latin typeface="Arial"/>
                        </a:rPr>
                        <a:t>Cloud</a:t>
                      </a:r>
                    </a:p>
                  </a:txBody>
                  <a:tcPr marL="73152" marR="73152" marT="45720" marB="45720" anchor="ctr">
                    <a:solidFill>
                      <a:srgbClr val="FFFFFF"/>
                    </a:solidFill>
                  </a:tcPr>
                </a:tc>
                <a:tc>
                  <a:txBody>
                    <a:bodyPr wrap="square"/>
                    <a:lstStyle/>
                    <a:p>
                      <a:r>
                        <a:rPr sz="1400" b="0" i="0">
                          <a:solidFill>
                            <a:srgbClr val="2B2B2B"/>
                          </a:solidFill>
                          <a:latin typeface="Arial"/>
                        </a:rPr>
                        <a:t>Local fallback (slower, lower quality)</a:t>
                      </a:r>
                    </a:p>
                  </a:txBody>
                  <a:tcPr marL="73152" marR="73152" marT="45720" marB="45720" anchor="ctr">
                    <a:solidFill>
                      <a:srgbClr val="FFFFFF"/>
                    </a:solidFill>
                  </a:tcPr>
                </a:tc>
              </a:tr>
              <a:tr h="536448">
                <a:tc>
                  <a:txBody>
                    <a:bodyPr wrap="square"/>
                    <a:lstStyle/>
                    <a:p>
                      <a:r>
                        <a:rPr sz="1400" b="0" i="0">
                          <a:solidFill>
                            <a:srgbClr val="2B2B2B"/>
                          </a:solidFill>
                          <a:latin typeface="Arial"/>
                        </a:rPr>
                        <a:t>Intent parsing</a:t>
                      </a:r>
                    </a:p>
                  </a:txBody>
                  <a:tcPr marL="73152" marR="73152" marT="45720" marB="45720" anchor="ctr">
                    <a:solidFill>
                      <a:srgbClr val="F6F8F6"/>
                    </a:solidFill>
                  </a:tcPr>
                </a:tc>
                <a:tc>
                  <a:txBody>
                    <a:bodyPr wrap="square"/>
                    <a:lstStyle/>
                    <a:p>
                      <a:r>
                        <a:rPr sz="1400" b="0" i="0">
                          <a:solidFill>
                            <a:srgbClr val="2B2B2B"/>
                          </a:solidFill>
                          <a:latin typeface="Arial"/>
                        </a:rPr>
                        <a:t>Cloud 98.7%</a:t>
                      </a:r>
                    </a:p>
                  </a:txBody>
                  <a:tcPr marL="73152" marR="73152" marT="45720" marB="45720" anchor="ctr">
                    <a:solidFill>
                      <a:srgbClr val="F6F8F6"/>
                    </a:solidFill>
                  </a:tcPr>
                </a:tc>
                <a:tc>
                  <a:txBody>
                    <a:bodyPr wrap="square"/>
                    <a:lstStyle/>
                    <a:p>
                      <a:r>
                        <a:rPr sz="1400" b="0" i="0">
                          <a:solidFill>
                            <a:srgbClr val="2B2B2B"/>
                          </a:solidFill>
                          <a:latin typeface="Arial"/>
                        </a:rPr>
                        <a:t>Local 82.3%</a:t>
                      </a:r>
                    </a:p>
                  </a:txBody>
                  <a:tcPr marL="73152" marR="73152" marT="45720" marB="45720" anchor="ctr">
                    <a:solidFill>
                      <a:srgbClr val="F6F8F6"/>
                    </a:solidFill>
                  </a:tcPr>
                </a:tc>
              </a:tr>
              <a:tr h="323088">
                <a:tc>
                  <a:txBody>
                    <a:bodyPr wrap="square"/>
                    <a:lstStyle/>
                    <a:p>
                      <a:r>
                        <a:rPr sz="1400" b="0" i="0">
                          <a:solidFill>
                            <a:srgbClr val="2B2B2B"/>
                          </a:solidFill>
                          <a:latin typeface="Arial"/>
                        </a:rPr>
                        <a:t>Guardian dashboard</a:t>
                      </a:r>
                    </a:p>
                  </a:txBody>
                  <a:tcPr marL="73152" marR="73152" marT="45720" marB="45720" anchor="ctr">
                    <a:solidFill>
                      <a:srgbClr val="FFFFFF"/>
                    </a:solidFill>
                  </a:tcPr>
                </a:tc>
                <a:tc>
                  <a:txBody>
                    <a:bodyPr wrap="square"/>
                    <a:lstStyle/>
                    <a:p>
                      <a:r>
                        <a:rPr sz="1400" b="0" i="0">
                          <a:solidFill>
                            <a:srgbClr val="006B2A"/>
                          </a:solidFill>
                          <a:latin typeface="Arial"/>
                        </a:rPr>
                        <a:t>✔</a:t>
                      </a:r>
                    </a:p>
                  </a:txBody>
                  <a:tcPr marL="73152" marR="73152" marT="45720" marB="45720" anchor="ctr">
                    <a:solidFill>
                      <a:srgbClr val="E6F4EA"/>
                    </a:solidFill>
                  </a:tcPr>
                </a:tc>
                <a:tc>
                  <a:txBody>
                    <a:bodyPr wrap="square"/>
                    <a:lstStyle/>
                    <a:p>
                      <a:r>
                        <a:rPr sz="1400" b="0" i="0">
                          <a:solidFill>
                            <a:srgbClr val="2B2B2B"/>
                          </a:solidFill>
                          <a:latin typeface="Arial"/>
                        </a:rPr>
                        <a:t>✘, buffered and retried</a:t>
                      </a:r>
                    </a:p>
                  </a:txBody>
                  <a:tcPr marL="73152" marR="73152" marT="45720" marB="45720" anchor="ctr">
                    <a:solidFill>
                      <a:srgbClr val="FFFFFF"/>
                    </a:solidFill>
                  </a:tcPr>
                </a:tc>
              </a:tr>
              <a:tr h="323088">
                <a:tc>
                  <a:txBody>
                    <a:bodyPr wrap="square"/>
                    <a:lstStyle/>
                    <a:p>
                      <a:r>
                        <a:rPr sz="1400" b="0" i="0">
                          <a:solidFill>
                            <a:srgbClr val="2B2B2B"/>
                          </a:solidFill>
                          <a:latin typeface="Arial"/>
                        </a:rPr>
                        <a:t>Open questions</a:t>
                      </a:r>
                    </a:p>
                  </a:txBody>
                  <a:tcPr marL="73152" marR="73152" marT="45720" marB="45720" anchor="ctr">
                    <a:solidFill>
                      <a:srgbClr val="F6F8F6"/>
                    </a:solidFill>
                  </a:tcPr>
                </a:tc>
                <a:tc>
                  <a:txBody>
                    <a:bodyPr wrap="square"/>
                    <a:lstStyle/>
                    <a:p>
                      <a:r>
                        <a:rPr sz="1400" b="0" i="0">
                          <a:solidFill>
                            <a:srgbClr val="006B2A"/>
                          </a:solidFill>
                          <a:latin typeface="Arial"/>
                        </a:rPr>
                        <a:t>✔</a:t>
                      </a:r>
                    </a:p>
                  </a:txBody>
                  <a:tcPr marL="73152" marR="73152" marT="45720" marB="45720" anchor="ctr">
                    <a:solidFill>
                      <a:srgbClr val="E6F4EA"/>
                    </a:solidFill>
                  </a:tcPr>
                </a:tc>
                <a:tc>
                  <a:txBody>
                    <a:bodyPr wrap="square"/>
                    <a:lstStyle/>
                    <a:p>
                      <a:r>
                        <a:rPr sz="1400" b="0" i="0">
                          <a:solidFill>
                            <a:srgbClr val="2B2B2B"/>
                          </a:solidFill>
                          <a:latin typeface="Arial"/>
                        </a:rPr>
                        <a:t>✘, "needs internet"</a:t>
                      </a:r>
                    </a:p>
                  </a:txBody>
                  <a:tcPr marL="73152" marR="73152" marT="45720" marB="45720" anchor="ctr">
                    <a:solidFill>
                      <a:srgbClr val="F6F8F6"/>
                    </a:solidFill>
                  </a:tcPr>
                </a:tc>
              </a:tr>
            </a:tbl>
          </a:graphicData>
        </a:graphic>
      </p:graphicFrame>
      <p:sp>
        <p:nvSpPr>
          <p:cNvPr id="6" name="Field callouts card"/>
          <p:cNvSpPr/>
          <p:nvPr/>
        </p:nvSpPr>
        <p:spPr>
          <a:xfrm>
            <a:off x="8458199" y="1371600"/>
            <a:ext cx="3291840" cy="4617720"/>
          </a:xfrm>
          <a:prstGeom prst="roundRect">
            <a:avLst>
              <a:gd name="adj" fmla="val 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Field callouts text"/>
          <p:cNvSpPr txBox="1"/>
          <p:nvPr/>
        </p:nvSpPr>
        <p:spPr>
          <a:xfrm>
            <a:off x="8641079" y="1554480"/>
            <a:ext cx="2926080" cy="4251959"/>
          </a:xfrm>
          <a:prstGeom prst="rect">
            <a:avLst/>
          </a:prstGeom>
          <a:noFill/>
        </p:spPr>
        <p:txBody>
          <a:bodyPr wrap="square" lIns="0" rIns="0" tIns="0" bIns="0" anchor="t">
            <a:noAutofit/>
          </a:bodyPr>
          <a:lstStyle/>
          <a:p>
            <a:pPr marL="201168" indent="-201168">
              <a:spcAft>
                <a:spcPts val="570"/>
              </a:spcAft>
              <a:buClr>
                <a:srgbClr val="00943A"/>
              </a:buClr>
              <a:buFont typeface="Arial"/>
              <a:buChar char="•"/>
            </a:pPr>
            <a:r>
              <a:rPr sz="1500" b="1" i="0">
                <a:solidFill>
                  <a:srgbClr val="2B2B2B"/>
                </a:solidFill>
                <a:latin typeface="Arial"/>
              </a:rPr>
              <a:t>DNS stall fix:</a:t>
            </a:r>
            <a:r>
              <a:rPr sz="1500" b="0" i="0">
                <a:solidFill>
                  <a:srgbClr val="2B2B2B"/>
                </a:solidFill>
                <a:latin typeface="Arial"/>
              </a:rPr>
              <a:t> </a:t>
            </a:r>
            <a:r>
              <a:rPr sz="1500" b="1" i="0">
                <a:solidFill>
                  <a:srgbClr val="2B2B2B"/>
                </a:solidFill>
                <a:latin typeface="Arial"/>
              </a:rPr>
              <a:t>20 s</a:t>
            </a:r>
            <a:r>
              <a:rPr sz="1500" b="0" i="0">
                <a:solidFill>
                  <a:srgbClr val="2B2B2B"/>
                </a:solidFill>
                <a:latin typeface="Arial"/>
              </a:rPr>
              <a:t> per lookup on a dead link → bounded to </a:t>
            </a:r>
            <a:r>
              <a:rPr sz="1500" b="1" i="0">
                <a:solidFill>
                  <a:srgbClr val="2B2B2B"/>
                </a:solidFill>
                <a:latin typeface="Arial"/>
              </a:rPr>
              <a:t>2 s</a:t>
            </a:r>
          </a:p>
          <a:p>
            <a:pPr marL="201168" indent="-201168">
              <a:spcAft>
                <a:spcPts val="570"/>
              </a:spcAft>
              <a:buClr>
                <a:srgbClr val="00943A"/>
              </a:buClr>
              <a:buFont typeface="Arial"/>
              <a:buChar char="•"/>
            </a:pPr>
            <a:r>
              <a:rPr sz="1500" b="1" i="0">
                <a:solidFill>
                  <a:srgbClr val="2B2B2B"/>
                </a:solidFill>
                <a:latin typeface="Arial"/>
              </a:rPr>
              <a:t>Circuit breaker:</a:t>
            </a:r>
            <a:r>
              <a:rPr sz="1500" b="0" i="0">
                <a:solidFill>
                  <a:srgbClr val="2B2B2B"/>
                </a:solidFill>
                <a:latin typeface="Arial"/>
              </a:rPr>
              <a:t> a failed host is skipped for </a:t>
            </a:r>
            <a:r>
              <a:rPr sz="1500" b="1" i="0">
                <a:solidFill>
                  <a:srgbClr val="2B2B2B"/>
                </a:solidFill>
                <a:latin typeface="Arial"/>
              </a:rPr>
              <a:t>30 s</a:t>
            </a:r>
            <a:r>
              <a:rPr sz="1500" b="0" i="0">
                <a:solidFill>
                  <a:srgbClr val="2B2B2B"/>
                </a:solidFill>
                <a:latin typeface="Arial"/>
              </a:rPr>
              <a:t>, giving "one slow command, then local"</a:t>
            </a:r>
          </a:p>
          <a:p>
            <a:pPr marL="201168" indent="-201168">
              <a:spcAft>
                <a:spcPts val="570"/>
              </a:spcAft>
              <a:buClr>
                <a:srgbClr val="00943A"/>
              </a:buClr>
              <a:buFont typeface="Arial"/>
              <a:buChar char="•"/>
            </a:pPr>
            <a:r>
              <a:rPr sz="1500" b="1" i="0">
                <a:solidFill>
                  <a:srgbClr val="2B2B2B"/>
                </a:solidFill>
                <a:latin typeface="Arial"/>
              </a:rPr>
              <a:t>Route pre-check</a:t>
            </a:r>
            <a:r>
              <a:rPr sz="1500" b="0" i="0">
                <a:solidFill>
                  <a:srgbClr val="2B2B2B"/>
                </a:solidFill>
                <a:latin typeface="Arial"/>
              </a:rPr>
              <a:t> answers in </a:t>
            </a:r>
            <a:r>
              <a:rPr sz="1500" b="1" i="0">
                <a:solidFill>
                  <a:srgbClr val="2B2B2B"/>
                </a:solidFill>
                <a:latin typeface="Arial"/>
              </a:rPr>
              <a:t>~0.2 ms</a:t>
            </a:r>
            <a:r>
              <a:rPr sz="1500" b="0" i="0">
                <a:solidFill>
                  <a:srgbClr val="2B2B2B"/>
                </a:solidFill>
                <a:latin typeface="Arial"/>
              </a:rPr>
              <a:t>, with no packets sent</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ection kicker"/>
          <p:cNvSpPr txBox="1"/>
          <p:nvPr/>
        </p:nvSpPr>
        <p:spPr>
          <a:xfrm>
            <a:off x="1280160" y="292608"/>
            <a:ext cx="8686800" cy="256032"/>
          </a:xfrm>
          <a:prstGeom prst="rect">
            <a:avLst/>
          </a:prstGeom>
          <a:noFill/>
        </p:spPr>
        <p:txBody>
          <a:bodyPr wrap="square" lIns="0" rIns="0" tIns="0" bIns="0" anchor="t">
            <a:noAutofit/>
          </a:bodyPr>
          <a:lstStyle/>
          <a:p>
            <a:r>
              <a:rPr sz="1100" b="1" i="0">
                <a:solidFill>
                  <a:srgbClr val="6B6B6B"/>
                </a:solidFill>
                <a:latin typeface="Arial"/>
              </a:rPr>
              <a:t>BACKUP</a:t>
            </a:r>
          </a:p>
        </p:txBody>
      </p:sp>
      <p:sp>
        <p:nvSpPr>
          <p:cNvPr id="3" name="Title"/>
          <p:cNvSpPr txBox="1"/>
          <p:nvPr/>
        </p:nvSpPr>
        <p:spPr>
          <a:xfrm>
            <a:off x="1280160" y="502920"/>
            <a:ext cx="10469880" cy="731520"/>
          </a:xfrm>
          <a:prstGeom prst="rect">
            <a:avLst/>
          </a:prstGeom>
          <a:noFill/>
        </p:spPr>
        <p:txBody>
          <a:bodyPr wrap="square" lIns="0" rIns="0" tIns="0" bIns="0" anchor="ctr">
            <a:noAutofit/>
          </a:bodyPr>
          <a:lstStyle/>
          <a:p>
            <a:r>
              <a:rPr sz="3200" b="1" i="0">
                <a:solidFill>
                  <a:srgbClr val="00943A"/>
                </a:solidFill>
                <a:latin typeface="Arial"/>
              </a:rPr>
              <a:t>Anticipated Panel Questions and Answers</a:t>
            </a:r>
          </a:p>
        </p:txBody>
      </p:sp>
      <p:sp>
        <p:nvSpPr>
          <p:cNvPr id="4" name="Slide number"/>
          <p:cNvSpPr txBox="1"/>
          <p:nvPr/>
        </p:nvSpPr>
        <p:spPr>
          <a:xfrm>
            <a:off x="1280160" y="6327648"/>
            <a:ext cx="2286000" cy="274320"/>
          </a:xfrm>
          <a:prstGeom prst="rect">
            <a:avLst/>
          </a:prstGeom>
          <a:noFill/>
        </p:spPr>
        <p:txBody>
          <a:bodyPr wrap="square" lIns="0" rIns="0" tIns="0" bIns="0" anchor="t">
            <a:noAutofit/>
          </a:bodyPr>
          <a:lstStyle/>
          <a:p>
            <a:r>
              <a:rPr sz="1000" b="0" i="0">
                <a:solidFill>
                  <a:srgbClr val="6B6B6B"/>
                </a:solidFill>
                <a:latin typeface="Arial"/>
              </a:rPr>
              <a:t>IndepenSense · B4</a:t>
            </a:r>
          </a:p>
        </p:txBody>
      </p:sp>
      <p:sp>
        <p:nvSpPr>
          <p:cNvPr id="5" name="Field 1 card"/>
          <p:cNvSpPr/>
          <p:nvPr/>
        </p:nvSpPr>
        <p:spPr>
          <a:xfrm>
            <a:off x="1280160" y="1371600"/>
            <a:ext cx="3881262" cy="4617720"/>
          </a:xfrm>
          <a:prstGeom prst="roundRect">
            <a:avLst>
              <a:gd name="adj" fmla="val 424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ield 1 text"/>
          <p:cNvSpPr txBox="1"/>
          <p:nvPr/>
        </p:nvSpPr>
        <p:spPr>
          <a:xfrm>
            <a:off x="1463039" y="1554480"/>
            <a:ext cx="3515502" cy="4251959"/>
          </a:xfrm>
          <a:prstGeom prst="rect">
            <a:avLst/>
          </a:prstGeom>
          <a:noFill/>
        </p:spPr>
        <p:txBody>
          <a:bodyPr wrap="square" lIns="0" rIns="0" tIns="0" bIns="0" anchor="t">
            <a:noAutofit/>
          </a:bodyPr>
          <a:lstStyle/>
          <a:p>
            <a:pPr marL="201168" indent="-201168">
              <a:spcAft>
                <a:spcPts val="532"/>
              </a:spcAft>
              <a:buClr>
                <a:srgbClr val="00943A"/>
              </a:buClr>
              <a:buFont typeface="Arial"/>
              <a:buChar char="•"/>
            </a:pPr>
            <a:r>
              <a:rPr sz="1400" b="1" i="0">
                <a:solidFill>
                  <a:srgbClr val="2B2B2B"/>
                </a:solidFill>
                <a:latin typeface="Arial"/>
              </a:rPr>
              <a:t>Q1.</a:t>
            </a:r>
            <a:r>
              <a:rPr sz="1400" b="0" i="0">
                <a:solidFill>
                  <a:srgbClr val="2B2B2B"/>
                </a:solidFill>
                <a:latin typeface="Arial"/>
              </a:rPr>
              <a:t> Why test an </a:t>
            </a:r>
            <a:r>
              <a:rPr sz="1400" b="1" i="0">
                <a:solidFill>
                  <a:srgbClr val="2B2B2B"/>
                </a:solidFill>
                <a:latin typeface="Arial"/>
              </a:rPr>
              <a:t>outdoor-scoped</a:t>
            </a:r>
            <a:r>
              <a:rPr sz="1400" b="0" i="0">
                <a:solidFill>
                  <a:srgbClr val="2B2B2B"/>
                </a:solidFill>
                <a:latin typeface="Arial"/>
              </a:rPr>
              <a:t> device </a:t>
            </a:r>
            <a:r>
              <a:rPr sz="1400" b="1" i="0">
                <a:solidFill>
                  <a:srgbClr val="2B2B2B"/>
                </a:solidFill>
                <a:latin typeface="Arial"/>
              </a:rPr>
              <a:t>inside a mall</a:t>
            </a:r>
            <a:r>
              <a:rPr sz="1400" b="0" i="0">
                <a:solidFill>
                  <a:srgbClr val="2B2B2B"/>
                </a:solidFill>
                <a:latin typeface="Arial"/>
              </a:rPr>
              <a:t>?</a:t>
            </a:r>
          </a:p>
          <a:p>
            <a:pPr marL="201168" indent="-201168">
              <a:spcAft>
                <a:spcPts val="532"/>
              </a:spcAft>
              <a:buClr>
                <a:srgbClr val="00943A"/>
              </a:buClr>
              <a:buFont typeface="Arial"/>
              <a:buChar char="•"/>
            </a:pPr>
            <a:r>
              <a:rPr sz="1400" b="1" i="0">
                <a:solidFill>
                  <a:srgbClr val="2B2B2B"/>
                </a:solidFill>
                <a:latin typeface="Arial"/>
              </a:rPr>
              <a:t>Q2.</a:t>
            </a:r>
            <a:r>
              <a:rPr sz="1400" b="0" i="0">
                <a:solidFill>
                  <a:srgbClr val="2B2B2B"/>
                </a:solidFill>
                <a:latin typeface="Arial"/>
              </a:rPr>
              <a:t> Is </a:t>
            </a:r>
            <a:r>
              <a:rPr sz="1400" b="1" i="0">
                <a:solidFill>
                  <a:srgbClr val="2B2B2B"/>
                </a:solidFill>
                <a:latin typeface="Arial"/>
              </a:rPr>
              <a:t>n = 1</a:t>
            </a:r>
            <a:r>
              <a:rPr sz="1400" b="0" i="0">
                <a:solidFill>
                  <a:srgbClr val="2B2B2B"/>
                </a:solidFill>
                <a:latin typeface="Arial"/>
              </a:rPr>
              <a:t> enough to conclude usability?</a:t>
            </a:r>
          </a:p>
          <a:p>
            <a:pPr marL="201168" indent="-201168">
              <a:spcAft>
                <a:spcPts val="532"/>
              </a:spcAft>
              <a:buClr>
                <a:srgbClr val="00943A"/>
              </a:buClr>
              <a:buFont typeface="Arial"/>
              <a:buChar char="•"/>
            </a:pPr>
            <a:r>
              <a:rPr sz="1400" b="1" i="0">
                <a:solidFill>
                  <a:srgbClr val="2B2B2B"/>
                </a:solidFill>
                <a:latin typeface="Arial"/>
              </a:rPr>
              <a:t>Q3.</a:t>
            </a:r>
            <a:r>
              <a:rPr sz="1400" b="0" i="0">
                <a:solidFill>
                  <a:srgbClr val="2B2B2B"/>
                </a:solidFill>
                <a:latin typeface="Arial"/>
              </a:rPr>
              <a:t> Fall detection marked PASSED but </a:t>
            </a:r>
            <a:r>
              <a:rPr sz="1400" b="1" i="0">
                <a:solidFill>
                  <a:srgbClr val="2B2B2B"/>
                </a:solidFill>
                <a:latin typeface="Arial"/>
              </a:rPr>
              <a:t>unconfirmed</a:t>
            </a:r>
            <a:r>
              <a:rPr sz="1400" b="0" i="0">
                <a:solidFill>
                  <a:srgbClr val="2B2B2B"/>
                </a:solidFill>
                <a:latin typeface="Arial"/>
              </a:rPr>
              <a:t>. Which is it?</a:t>
            </a:r>
          </a:p>
          <a:p>
            <a:pPr marL="201168" indent="-201168">
              <a:spcAft>
                <a:spcPts val="532"/>
              </a:spcAft>
              <a:buClr>
                <a:srgbClr val="00943A"/>
              </a:buClr>
              <a:buFont typeface="Arial"/>
              <a:buChar char="•"/>
            </a:pPr>
            <a:r>
              <a:rPr sz="1400" b="1" i="0">
                <a:solidFill>
                  <a:srgbClr val="2B2B2B"/>
                </a:solidFill>
                <a:latin typeface="Arial"/>
              </a:rPr>
              <a:t>Q4.</a:t>
            </a:r>
            <a:r>
              <a:rPr sz="1400" b="0" i="0">
                <a:solidFill>
                  <a:srgbClr val="2B2B2B"/>
                </a:solidFill>
                <a:latin typeface="Arial"/>
              </a:rPr>
              <a:t> How long does the battery last?</a:t>
            </a:r>
          </a:p>
          <a:p>
            <a:pPr marL="201168" indent="-201168">
              <a:spcAft>
                <a:spcPts val="532"/>
              </a:spcAft>
              <a:buClr>
                <a:srgbClr val="00943A"/>
              </a:buClr>
              <a:buFont typeface="Arial"/>
              <a:buChar char="•"/>
            </a:pPr>
            <a:r>
              <a:rPr sz="1400" b="1" i="0">
                <a:solidFill>
                  <a:srgbClr val="2B2B2B"/>
                </a:solidFill>
                <a:latin typeface="Arial"/>
              </a:rPr>
              <a:t>Q5.</a:t>
            </a:r>
            <a:r>
              <a:rPr sz="1400" b="0" i="0">
                <a:solidFill>
                  <a:srgbClr val="2B2B2B"/>
                </a:solidFill>
                <a:latin typeface="Arial"/>
              </a:rPr>
              <a:t> Why not vibrate </a:t>
            </a:r>
            <a:r>
              <a:rPr sz="1400" b="1" i="0">
                <a:solidFill>
                  <a:srgbClr val="2B2B2B"/>
                </a:solidFill>
                <a:latin typeface="Arial"/>
              </a:rPr>
              <a:t>left/right</a:t>
            </a:r>
            <a:r>
              <a:rPr sz="1400" b="0" i="0">
                <a:solidFill>
                  <a:srgbClr val="2B2B2B"/>
                </a:solidFill>
                <a:latin typeface="Arial"/>
              </a:rPr>
              <a:t> for navigation?</a:t>
            </a:r>
          </a:p>
          <a:p>
            <a:pPr marL="201168" indent="-201168">
              <a:spcAft>
                <a:spcPts val="532"/>
              </a:spcAft>
              <a:buClr>
                <a:srgbClr val="00943A"/>
              </a:buClr>
              <a:buFont typeface="Arial"/>
              <a:buChar char="•"/>
            </a:pPr>
            <a:r>
              <a:rPr sz="1400" b="1" i="0">
                <a:solidFill>
                  <a:srgbClr val="2B2B2B"/>
                </a:solidFill>
                <a:latin typeface="Arial"/>
              </a:rPr>
              <a:t>Q6.</a:t>
            </a:r>
            <a:r>
              <a:rPr sz="1400" b="0" i="0">
                <a:solidFill>
                  <a:srgbClr val="2B2B2B"/>
                </a:solidFill>
                <a:latin typeface="Arial"/>
              </a:rPr>
              <a:t> Why a Raspberry Pi 5 and not a cheaper microcontroller?</a:t>
            </a:r>
          </a:p>
          <a:p>
            <a:pPr marL="201168" indent="-201168">
              <a:spcAft>
                <a:spcPts val="532"/>
              </a:spcAft>
              <a:buClr>
                <a:srgbClr val="00943A"/>
              </a:buClr>
              <a:buFont typeface="Arial"/>
              <a:buChar char="•"/>
            </a:pPr>
            <a:r>
              <a:rPr sz="1400" b="1" i="0">
                <a:solidFill>
                  <a:srgbClr val="2B2B2B"/>
                </a:solidFill>
                <a:latin typeface="Arial"/>
              </a:rPr>
              <a:t>Q7.</a:t>
            </a:r>
            <a:r>
              <a:rPr sz="1400" b="0" i="0">
                <a:solidFill>
                  <a:srgbClr val="2B2B2B"/>
                </a:solidFill>
                <a:latin typeface="Arial"/>
              </a:rPr>
              <a:t> SIM-008 passed but TC-GPS-03 failed. Contradiction?</a:t>
            </a:r>
          </a:p>
        </p:txBody>
      </p:sp>
      <p:sp>
        <p:nvSpPr>
          <p:cNvPr id="7" name="Field 2 card"/>
          <p:cNvSpPr/>
          <p:nvPr/>
        </p:nvSpPr>
        <p:spPr>
          <a:xfrm>
            <a:off x="5417454" y="1371600"/>
            <a:ext cx="6332585" cy="4617720"/>
          </a:xfrm>
          <a:prstGeom prst="roundRect">
            <a:avLst>
              <a:gd name="adj" fmla="val 3564"/>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Field 2 text"/>
          <p:cNvSpPr txBox="1"/>
          <p:nvPr/>
        </p:nvSpPr>
        <p:spPr>
          <a:xfrm>
            <a:off x="5600334" y="1554480"/>
            <a:ext cx="5966825" cy="4251959"/>
          </a:xfrm>
          <a:prstGeom prst="rect">
            <a:avLst/>
          </a:prstGeom>
          <a:noFill/>
        </p:spPr>
        <p:txBody>
          <a:bodyPr wrap="square" lIns="0" rIns="0" tIns="0" bIns="0" anchor="t">
            <a:noAutofit/>
          </a:bodyPr>
          <a:lstStyle/>
          <a:p>
            <a:pPr marL="201168" indent="-201168">
              <a:spcAft>
                <a:spcPts val="532"/>
              </a:spcAft>
              <a:buClr>
                <a:srgbClr val="00943A"/>
              </a:buClr>
              <a:buFont typeface="Arial"/>
              <a:buChar char="•"/>
            </a:pPr>
            <a:r>
              <a:rPr sz="1400" b="1" i="0">
                <a:solidFill>
                  <a:srgbClr val="2B2B2B"/>
                </a:solidFill>
                <a:latin typeface="Arial"/>
              </a:rPr>
              <a:t>A1.</a:t>
            </a:r>
            <a:r>
              <a:rPr sz="1400" b="0" i="0">
                <a:solidFill>
                  <a:srgbClr val="2B2B2B"/>
                </a:solidFill>
                <a:latin typeface="Arial"/>
              </a:rPr>
              <a:t> Participant </a:t>
            </a:r>
            <a:r>
              <a:rPr sz="1400" b="1" i="0">
                <a:solidFill>
                  <a:srgbClr val="2B2B2B"/>
                </a:solidFill>
                <a:latin typeface="Arial"/>
              </a:rPr>
              <a:t>safety and accessibility</a:t>
            </a:r>
            <a:r>
              <a:rPr sz="1400" b="0" i="0">
                <a:solidFill>
                  <a:srgbClr val="2B2B2B"/>
                </a:solidFill>
                <a:latin typeface="Arial"/>
              </a:rPr>
              <a:t>. Obstacle, vision and alert features are </a:t>
            </a:r>
            <a:r>
              <a:rPr sz="1400" b="1" i="0">
                <a:solidFill>
                  <a:srgbClr val="2B2B2B"/>
                </a:solidFill>
                <a:latin typeface="Arial"/>
              </a:rPr>
              <a:t>location-agnostic</a:t>
            </a:r>
            <a:r>
              <a:rPr sz="1400" b="0" i="0">
                <a:solidFill>
                  <a:srgbClr val="2B2B2B"/>
                </a:solidFill>
                <a:latin typeface="Arial"/>
              </a:rPr>
              <a:t>, and indoor/outdoor transitions </a:t>
            </a:r>
            <a:r>
              <a:rPr sz="1400" b="1" i="0">
                <a:solidFill>
                  <a:srgbClr val="2B2B2B"/>
                </a:solidFill>
                <a:latin typeface="Arial"/>
              </a:rPr>
              <a:t>exercised GNSS recovery</a:t>
            </a:r>
          </a:p>
          <a:p>
            <a:pPr marL="201168" indent="-201168">
              <a:spcAft>
                <a:spcPts val="532"/>
              </a:spcAft>
              <a:buClr>
                <a:srgbClr val="00943A"/>
              </a:buClr>
              <a:buFont typeface="Arial"/>
              <a:buChar char="•"/>
            </a:pPr>
            <a:r>
              <a:rPr sz="1400" b="1" i="0">
                <a:solidFill>
                  <a:srgbClr val="2B2B2B"/>
                </a:solidFill>
                <a:latin typeface="Arial"/>
              </a:rPr>
              <a:t>A2.</a:t>
            </a:r>
            <a:r>
              <a:rPr sz="1400" b="0" i="0">
                <a:solidFill>
                  <a:srgbClr val="2B2B2B"/>
                </a:solidFill>
                <a:latin typeface="Arial"/>
              </a:rPr>
              <a:t> No. It establishes </a:t>
            </a:r>
            <a:r>
              <a:rPr sz="1400" b="1" i="0">
                <a:solidFill>
                  <a:srgbClr val="2B2B2B"/>
                </a:solidFill>
                <a:latin typeface="Arial"/>
              </a:rPr>
              <a:t>feasibility</a:t>
            </a:r>
            <a:r>
              <a:rPr sz="1400" b="0" i="0">
                <a:solidFill>
                  <a:srgbClr val="2B2B2B"/>
                </a:solidFill>
                <a:latin typeface="Arial"/>
              </a:rPr>
              <a:t>, and we list it as a </a:t>
            </a:r>
            <a:r>
              <a:rPr sz="1400" b="1" i="0">
                <a:solidFill>
                  <a:srgbClr val="2B2B2B"/>
                </a:solidFill>
                <a:latin typeface="Arial"/>
              </a:rPr>
              <a:t>threat to validity</a:t>
            </a:r>
            <a:r>
              <a:rPr sz="1400" b="0" i="0">
                <a:solidFill>
                  <a:srgbClr val="2B2B2B"/>
                </a:solidFill>
                <a:latin typeface="Arial"/>
              </a:rPr>
              <a:t> and recommend a larger study</a:t>
            </a:r>
          </a:p>
          <a:p>
            <a:pPr marL="201168" indent="-201168">
              <a:spcAft>
                <a:spcPts val="532"/>
              </a:spcAft>
              <a:buClr>
                <a:srgbClr val="00943A"/>
              </a:buClr>
              <a:buFont typeface="Arial"/>
              <a:buChar char="•"/>
            </a:pPr>
            <a:r>
              <a:rPr sz="1400" b="1" i="0">
                <a:solidFill>
                  <a:srgbClr val="2B2B2B"/>
                </a:solidFill>
                <a:latin typeface="Arial"/>
              </a:rPr>
              <a:t>A3.</a:t>
            </a:r>
            <a:r>
              <a:rPr sz="1400" b="0" i="0">
                <a:solidFill>
                  <a:srgbClr val="2B2B2B"/>
                </a:solidFill>
                <a:latin typeface="Arial"/>
              </a:rPr>
              <a:t> It </a:t>
            </a:r>
            <a:r>
              <a:rPr sz="1400" b="1" i="0">
                <a:solidFill>
                  <a:srgbClr val="2B2B2B"/>
                </a:solidFill>
                <a:latin typeface="Arial"/>
              </a:rPr>
              <a:t>triggered on simulated movements</a:t>
            </a:r>
            <a:r>
              <a:rPr sz="1400" b="0" i="0">
                <a:solidFill>
                  <a:srgbClr val="2B2B2B"/>
                </a:solidFill>
                <a:latin typeface="Arial"/>
              </a:rPr>
              <a:t>, but </a:t>
            </a:r>
            <a:r>
              <a:rPr sz="1400" b="1" i="0">
                <a:solidFill>
                  <a:srgbClr val="2B2B2B"/>
                </a:solidFill>
                <a:latin typeface="Arial"/>
              </a:rPr>
              <a:t>live accuracy is unconfirmed</a:t>
            </a:r>
            <a:r>
              <a:rPr sz="1400" b="0" i="0">
                <a:solidFill>
                  <a:srgbClr val="2B2B2B"/>
                </a:solidFill>
                <a:latin typeface="Arial"/>
              </a:rPr>
              <a:t>, because a real fall cannot be ethically induced</a:t>
            </a:r>
          </a:p>
          <a:p>
            <a:pPr marL="201168" indent="-201168">
              <a:spcAft>
                <a:spcPts val="532"/>
              </a:spcAft>
              <a:buClr>
                <a:srgbClr val="00943A"/>
              </a:buClr>
              <a:buFont typeface="Arial"/>
              <a:buChar char="•"/>
            </a:pPr>
            <a:r>
              <a:rPr sz="1400" b="1" i="0">
                <a:solidFill>
                  <a:srgbClr val="2B2B2B"/>
                </a:solidFill>
                <a:latin typeface="Arial"/>
              </a:rPr>
              <a:t>A4.</a:t>
            </a:r>
            <a:r>
              <a:rPr sz="1400" b="0" i="0">
                <a:solidFill>
                  <a:srgbClr val="2B2B2B"/>
                </a:solidFill>
                <a:latin typeface="Arial"/>
              </a:rPr>
              <a:t> </a:t>
            </a:r>
            <a:r>
              <a:rPr sz="1400" b="0" i="1">
                <a:solidFill>
                  <a:srgbClr val="2B2B2B"/>
                </a:solidFill>
                <a:latin typeface="Arial"/>
              </a:rPr>
              <a:t>(Fill in the measured runtime.)</a:t>
            </a:r>
            <a:r>
              <a:rPr sz="1400" b="0" i="0">
                <a:solidFill>
                  <a:srgbClr val="2B2B2B"/>
                </a:solidFill>
                <a:latin typeface="Arial"/>
              </a:rPr>
              <a:t> Estimated load ≈ </a:t>
            </a:r>
            <a:r>
              <a:rPr sz="1400" b="1" i="0">
                <a:solidFill>
                  <a:srgbClr val="2B2B2B"/>
                </a:solidFill>
                <a:latin typeface="Arial"/>
              </a:rPr>
              <a:t>11.7 W</a:t>
            </a:r>
          </a:p>
          <a:p>
            <a:pPr marL="201168" indent="-201168">
              <a:spcAft>
                <a:spcPts val="532"/>
              </a:spcAft>
              <a:buClr>
                <a:srgbClr val="00943A"/>
              </a:buClr>
              <a:buFont typeface="Arial"/>
              <a:buChar char="•"/>
            </a:pPr>
            <a:r>
              <a:rPr sz="1400" b="1" i="0">
                <a:solidFill>
                  <a:srgbClr val="2B2B2B"/>
                </a:solidFill>
                <a:latin typeface="Arial"/>
              </a:rPr>
              <a:t>A5.</a:t>
            </a:r>
            <a:r>
              <a:rPr sz="1400" b="0" i="0">
                <a:solidFill>
                  <a:srgbClr val="2B2B2B"/>
                </a:solidFill>
                <a:latin typeface="Arial"/>
              </a:rPr>
              <a:t> All three motors share </a:t>
            </a:r>
            <a:r>
              <a:rPr sz="1400" b="1" i="0">
                <a:solidFill>
                  <a:srgbClr val="2B2B2B"/>
                </a:solidFill>
                <a:latin typeface="Arial"/>
              </a:rPr>
              <a:t>one handle</a:t>
            </a:r>
            <a:r>
              <a:rPr sz="1400" b="0" i="0">
                <a:solidFill>
                  <a:srgbClr val="2B2B2B"/>
                </a:solidFill>
                <a:latin typeface="Arial"/>
              </a:rPr>
              <a:t>, and the hand </a:t>
            </a:r>
            <a:r>
              <a:rPr sz="1400" b="1" i="0">
                <a:solidFill>
                  <a:srgbClr val="2B2B2B"/>
                </a:solidFill>
                <a:latin typeface="Arial"/>
              </a:rPr>
              <a:t>cannot distinguish them</a:t>
            </a:r>
            <a:r>
              <a:rPr sz="1400" b="0" i="0">
                <a:solidFill>
                  <a:srgbClr val="2B2B2B"/>
                </a:solidFill>
                <a:latin typeface="Arial"/>
              </a:rPr>
              <a:t>. Navigation is spoken</a:t>
            </a:r>
          </a:p>
          <a:p>
            <a:pPr marL="201168" indent="-201168">
              <a:spcAft>
                <a:spcPts val="532"/>
              </a:spcAft>
              <a:buClr>
                <a:srgbClr val="00943A"/>
              </a:buClr>
              <a:buFont typeface="Arial"/>
              <a:buChar char="•"/>
            </a:pPr>
            <a:r>
              <a:rPr sz="1400" b="1" i="0">
                <a:solidFill>
                  <a:srgbClr val="2B2B2B"/>
                </a:solidFill>
                <a:latin typeface="Arial"/>
              </a:rPr>
              <a:t>A6.</a:t>
            </a:r>
            <a:r>
              <a:rPr sz="1400" b="0" i="0">
                <a:solidFill>
                  <a:srgbClr val="2B2B2B"/>
                </a:solidFill>
                <a:latin typeface="Arial"/>
              </a:rPr>
              <a:t> </a:t>
            </a:r>
            <a:r>
              <a:rPr sz="1400" b="1" i="0">
                <a:solidFill>
                  <a:srgbClr val="2B2B2B"/>
                </a:solidFill>
                <a:latin typeface="Arial"/>
              </a:rPr>
              <a:t>Local vision and speech recognition</a:t>
            </a:r>
            <a:r>
              <a:rPr sz="1400" b="0" i="0">
                <a:solidFill>
                  <a:srgbClr val="2B2B2B"/>
                </a:solidFill>
                <a:latin typeface="Arial"/>
              </a:rPr>
              <a:t> need an application processor. A microcontroller would push </a:t>
            </a:r>
            <a:r>
              <a:rPr sz="1400" b="1" i="0">
                <a:solidFill>
                  <a:srgbClr val="2B2B2B"/>
                </a:solidFill>
                <a:latin typeface="Arial"/>
              </a:rPr>
              <a:t>all</a:t>
            </a:r>
            <a:r>
              <a:rPr sz="1400" b="0" i="0">
                <a:solidFill>
                  <a:srgbClr val="2B2B2B"/>
                </a:solidFill>
                <a:latin typeface="Arial"/>
              </a:rPr>
              <a:t> of that to the cloud, and </a:t>
            </a:r>
            <a:r>
              <a:rPr sz="1400" b="1" i="0">
                <a:solidFill>
                  <a:srgbClr val="2B2B2B"/>
                </a:solidFill>
                <a:latin typeface="Arial"/>
              </a:rPr>
              <a:t>offline</a:t>
            </a:r>
            <a:r>
              <a:rPr sz="1400" b="0" i="0">
                <a:solidFill>
                  <a:srgbClr val="2B2B2B"/>
                </a:solidFill>
                <a:latin typeface="Arial"/>
              </a:rPr>
              <a:t> use would be lost</a:t>
            </a:r>
          </a:p>
          <a:p>
            <a:pPr marL="201168" indent="-201168">
              <a:spcAft>
                <a:spcPts val="532"/>
              </a:spcAft>
              <a:buClr>
                <a:srgbClr val="00943A"/>
              </a:buClr>
              <a:buFont typeface="Arial"/>
              <a:buChar char="•"/>
            </a:pPr>
            <a:r>
              <a:rPr sz="1400" b="1" i="0">
                <a:solidFill>
                  <a:srgbClr val="2B2B2B"/>
                </a:solidFill>
                <a:latin typeface="Arial"/>
              </a:rPr>
              <a:t>A7.</a:t>
            </a:r>
            <a:r>
              <a:rPr sz="1400" b="0" i="0">
                <a:solidFill>
                  <a:srgbClr val="2B2B2B"/>
                </a:solidFill>
                <a:latin typeface="Arial"/>
              </a:rPr>
              <a:t> SIM-008 tested that a </a:t>
            </a:r>
            <a:r>
              <a:rPr sz="1400" b="1" i="0">
                <a:solidFill>
                  <a:srgbClr val="2B2B2B"/>
                </a:solidFill>
                <a:latin typeface="Arial"/>
              </a:rPr>
              <a:t>fix is returned</a:t>
            </a:r>
            <a:r>
              <a:rPr sz="1400" b="0" i="0">
                <a:solidFill>
                  <a:srgbClr val="2B2B2B"/>
                </a:solidFill>
                <a:latin typeface="Arial"/>
              </a:rPr>
              <a:t>, while TC-GPS-03 tested </a:t>
            </a:r>
            <a:r>
              <a:rPr sz="1400" b="1" i="0">
                <a:solidFill>
                  <a:srgbClr val="2B2B2B"/>
                </a:solidFill>
                <a:latin typeface="Arial"/>
              </a:rPr>
              <a:t>accuracy</a:t>
            </a:r>
            <a:r>
              <a:rPr sz="1400" b="0" i="0">
                <a:solidFill>
                  <a:srgbClr val="2B2B2B"/>
                </a:solidFill>
                <a:latin typeface="Arial"/>
              </a:rPr>
              <a:t>. They are different criteria (fix the wording, item 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IndepenSense Final Defense</dc:title>
  <dc:subject/>
  <dc:creator>Group 5 — Lubay, Odi, Rivera</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